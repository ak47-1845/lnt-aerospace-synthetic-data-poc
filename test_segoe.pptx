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0066CC"/>
                </a:solidFill>
                <a:latin typeface="Segoe UI"/>
              </a:rPr>
              <a:t>MODULE 1 · COMMERCIAL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1072591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0A2540"/>
                </a:solidFill>
                <a:latin typeface="Segoe UI"/>
              </a:rPr>
              <a:t>Commercial Maturity Framework: Scale vs. Pilots vs. Demos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475569"/>
                </a:solidFill>
                <a:latin typeface="Segoe UI"/>
              </a:rPr>
              <a:t>Three-tier classification separating commercial revenue scale from qualified enterprise pilots and staged lab claims.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392424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2057400"/>
            <a:ext cx="2286000" cy="256032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F766E"/>
                </a:solidFill>
                <a:latin typeface="Segoe UI"/>
              </a:rPr>
              <a:t>TIER 1 · PRODUCTION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23160"/>
            <a:ext cx="29352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0A2540"/>
                </a:solidFill>
                <a:latin typeface="Segoe UI"/>
              </a:rPr>
              <a:t>Commercial Production at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71800"/>
            <a:ext cx="2935224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0A2540"/>
                </a:solidFill>
                <a:latin typeface="Segoe UI"/>
              </a:rPr>
              <a:t>Core Criteria: </a:t>
            </a:r>
            <a:r>
              <a:rPr sz="1150">
                <a:solidFill>
                  <a:srgbClr val="1E293B"/>
                </a:solidFill>
                <a:latin typeface="Segoe UI"/>
              </a:rPr>
              <a:t>Proven revenue at commercial scale, continuous paid operation without safety drivers, regulatory operating approval, and contractual uptime guarantees.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0A2540"/>
                </a:solidFill>
                <a:latin typeface="Segoe UI"/>
              </a:rPr>
              <a:t>Waymo (Alphabet): </a:t>
            </a:r>
            <a:r>
              <a:rPr sz="1150">
                <a:solidFill>
                  <a:srgbClr val="1E293B"/>
                </a:solidFill>
                <a:latin typeface="Segoe UI"/>
              </a:rPr>
              <a:t>&gt;150,000 paid commercial trips/week and &gt;1,000,000 autonomous commercial miles weekly across San Francisco, Phoenix, and Los Angeles.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0A2540"/>
                </a:solidFill>
                <a:latin typeface="Segoe UI"/>
              </a:rPr>
              <a:t>Tesla FSD: </a:t>
            </a:r>
            <a:r>
              <a:rPr sz="1150">
                <a:solidFill>
                  <a:srgbClr val="1E293B"/>
                </a:solidFill>
                <a:latin typeface="Segoe UI"/>
              </a:rPr>
              <a:t>&gt;2.0 billion cumulative miles operated on End-to-End neural networks (FSD v12+), validating mass visual scaling.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0A2540"/>
                </a:solidFill>
                <a:latin typeface="Segoe UI"/>
              </a:rPr>
              <a:t>TSMC Semiconductor: </a:t>
            </a:r>
            <a:r>
              <a:rPr sz="1150">
                <a:solidFill>
                  <a:srgbClr val="1E293B"/>
                </a:solidFill>
                <a:latin typeface="Segoe UI"/>
              </a:rPr>
              <a:t>Physics-informed neural networks operating in production EUV lithography and wafer defect classification with nanometer precision.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