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This briefing provides a comprehensive, rigorously sourced analysis of Physical AI for LTTS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establish our evidentiary framework upfront. Every number is tagged so Dr. Singh can assess its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central thesis: LTTS cannot win as a foundation model player. The high-conviction path is becoming the certified SI and V&amp;V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Commercial reality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tiers of commercial maturity. Tier 1 has real revenue, Tier 2 has pilots, Tier 3 is lab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funding figures cross-verified against primary corporate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stark. LTTS should position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Five engineering bottlenecks and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bottlenecks define the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canonical failure modes with engineering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Pearl's Causal Hierarchy is the load-bearing formalism: LLMs are Rung I, robots need Rungs II and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Business models and LTTS's strategic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business models. LTTS is positioned in the $1M-$8M+ SI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service offerings for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What's deployed vs. what's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sectors with verified deployments. Three hype-ahead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hybrid model wins. LTTS is perfectly positioned as the SI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Five competitive layers and three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layers. LTTS competes in ER&amp;D Services against KPIT, Tata Tech, and Cyient.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gaps. Gap 1 maps directly to Priority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The technical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AI is fundamentally distinct from Industrial AI. LTTS's engineering DNA is the structural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Jacobian singularity equation defines the domain moat. This is load-bearing math, not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five-stage flywheel is the competitive moat. Compute is buyable. Operational data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Structural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trends, three uncertainties. Integration layer stays fragmented.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8: The four-priority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1: V&amp;V. CBF formalism defines the software deliverable. Budget: $2.8M.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Priorities 2-4 follow sequentially. Each unlocks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roadmap. Total: ~$10.8M over 36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position upstream, V&amp;V first, own the flywheel, execute sequentially.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A: All verified citations with primary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B: Every removed claim with specific reasoning. Transparency is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0D172A"/>
          </a:solidFill>
          <a:ln w="12700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CONFIDENTIAL  · 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8D0"/>
                </a:solidFill>
              </a:rPr>
              <a:t>The Practice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Physical Artificial
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73152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Landscape, Commercialization, Competition, and the Industrial-AI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Prepared by Adari Karthikeya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809A"/>
                </a:solidFill>
              </a:rPr>
              <a:t>Prepared for Dr. Madhusudhan Singh and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2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809A"/>
                </a:solidFill>
              </a:rPr>
              <a:t>L&amp;T Technology Services (LTTS)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A"/>
                </a:solidFill>
              </a:rPr>
              <a:t>September 2026  ·  Confidential &amp;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Four-Tier Verification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Every Quantitative Claim Is Tagged With Its Evidentiary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1612880" cy="1024128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64008" cy="1024128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7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8D0"/>
                </a:solidFill>
              </a:rPr>
              <a:t>Primary source, SEC/regulatory filing, peer-reviewed paper, or audited corporate disclosure.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44952"/>
            <a:ext cx="11612880" cy="102412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044952"/>
            <a:ext cx="64008" cy="102412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DD0E1"/>
                </a:solidFill>
              </a:rPr>
              <a:t>[Reported]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82112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8D0"/>
                </a:solidFill>
              </a:rPr>
              <a:t>Trade press announcement or company self-reported claim (not independently audited).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15383"/>
            <a:ext cx="11612880" cy="102412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215383"/>
            <a:ext cx="64008" cy="10241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[Estimated]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352544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8D0"/>
                </a:solidFill>
              </a:rPr>
              <a:t>Directional estimate derived from public comparable benchmarks with explicit methodology.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85816"/>
            <a:ext cx="11612880" cy="1024128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385816"/>
            <a:ext cx="64008" cy="10241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95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33"/>
                </a:solidFill>
              </a:rPr>
              <a:t>[Speculative]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522976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8D0"/>
                </a:solidFill>
              </a:rPr>
              <a:t>Forward-looking strategic judgment call flagged for executive evaluation.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This taxonomy is applied consistently throughout the briefing to maintain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Core Strategic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Why LTTS Wins as the Certified Bridge, Not the Foundation Model Player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3749039" cy="15087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150876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DE18A"/>
                </a:solidFill>
              </a:rPr>
              <a:t>$3.2B+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B8D0"/>
                </a:solidFill>
              </a:rPr>
              <a:t>VC into humanoid/robotics
foundation models (18mo) [Verified]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749039" cy="15087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54864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01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</a:rPr>
              <a:t>&lt;$20M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B8D0"/>
                </a:solidFill>
              </a:rPr>
              <a:t>Verified production revenue
across humanoid deployments [Estimated]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749039" cy="15087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54864" cy="150876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DE18A"/>
                </a:solidFill>
              </a:rPr>
              <a:t>$6B+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B8D0"/>
                </a:solidFill>
              </a:rPr>
              <a:t>LTTS market cap as pure-play
ER&amp;D services firm [Verified]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11612880" cy="2560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4864" cy="2560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 b="1">
                <a:solidFill>
                  <a:srgbClr val="C9A84C"/>
                </a:solidFill>
              </a:rPr>
              <a:t>The Thesis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AAB8D0"/>
                </a:solidFill>
              </a:rPr>
              <a:t>Physical AI = transition from autoregressive token prediction in static semantic spaces to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>closed-loop causal interaction with continuous physical dynamics.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AAB8D0"/>
                </a:solidFill>
              </a:rPr>
              <a:t>LTTS should NOT manufacture robot hardware or train 50B-parameter foundation models.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>LTTS's durable moat lies in becoming the Certified Systems Integration, V&amp;V, and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</a:rPr>
              <a:t>Synthetic Data Engine that bridges foundation model builders with mission-critical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C9A84C"/>
                </a:solidFill>
              </a:rPr>
              <a:t>brownfield PLCs, safety interlocks, and regulated industrial plants.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Commercial
State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Current State of Physical AI: Production Reality vs. Hype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Commercial Maturity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Separating Production Reality from Vendor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146304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E18A"/>
                </a:solidFill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Commercial Production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E18A"/>
                </a:solidFill>
              </a:rPr>
              <a:t>Autonomous Driving: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1284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Waymo 150k+ paid trips/week (Alphabet Q3 2024 Earnings) [Verified]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E18A"/>
                </a:solidFill>
              </a:rPr>
              <a:t>Industrial Inspection: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42032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TSMC automated defect classification pipelines [Reported]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71215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E18A"/>
                </a:solidFill>
              </a:rPr>
              <a:t>Simulation &amp; ADAS: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71215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Applied Intuition, NVIDIA Isaac Sim powering ISO 26262 validation [Verified]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02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Tier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02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Active Customer Pilots (Pre-Production)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130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Humanoid Logistics: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81304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Figure 02 at BMW Spartanburg (Aug 2024) [Verified]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422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Parts Delivery: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142232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Apptronik Apollo at Mercedes-Benz (Mar 2024) [Verified]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714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Container Unloading: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47141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Boston Dynamics Stretch at DHL Supply Chain [Verified]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2920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29200"/>
            <a:ext cx="54864" cy="146304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02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Tier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02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Lab Demos &amp; Research 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132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Zero-Shot Assembly: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541324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Tight-tolerance insertion (&lt;0.1mm) from sim only [Speculative]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424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Domestic Tasks: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742432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Autonomous laundry folding, open-world tidying [Reported]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Disclosed Capital Deployment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Verified Funding Rounds and Commercial Maturity (2024)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01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8"/>
                </a:solidFill>
              </a:rPr>
              <a:t>Sub-Segment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8"/>
                </a:solidFill>
              </a:rPr>
              <a:t>Key 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01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8"/>
                </a:solidFill>
              </a:rPr>
              <a:t>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01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8"/>
                </a:solidFill>
              </a:rPr>
              <a:t>Maturity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801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8"/>
                </a:solidFill>
              </a:rPr>
              <a:t>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11612880" cy="10515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40279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Robotics Foundation
Models &amp; Humanoids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40279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Wayve $1.05B (May '24)
Figure AI $675M (Feb '24)
PI $400M (Nov '24)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79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$2.4B–$2.6B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79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Pilot / Early
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240279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11612880" cy="105156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383279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Industrial AI
(Fixed &amp; Mobile)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83279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Skild AI $300M (Jul '24)
Bright Machines $126M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79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$1.5B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79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Pilot /
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383279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80560"/>
            <a:ext cx="11612880" cy="10515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52628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Simulation &amp;
Digital Twins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5262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Applied Intuition $250M
Scale AI $1.0B
World Labs $230M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2628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$6B–$13.8B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2628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52628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23560"/>
            <a:ext cx="11612880" cy="105156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66928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Safety &amp;
Compliance 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6692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Credo AI $25M
Holistic AI $20M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66928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Early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66928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66928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D0E1"/>
                </a:solidFill>
              </a:rPr>
              <a:t>[Reported]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Capital vs. Maturity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Where Money Flows vs. Where Revenue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577840" cy="36576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36576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FF5A5A"/>
                </a:solidFill>
              </a:rPr>
              <a:t>The Humanoid Capital Trap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$2.2B+ into humanoid OEMs (18 months) [Verified]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Customer revenue: &lt;$20M industry-wide [Estimated]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MTBF: &lt;50 hours continuous actuation [Estimated]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Prototype BOM: $100k–$250k/unit [Estimated]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28800"/>
            <a:ext cx="5806440" cy="36576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54864" cy="365760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38528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4DE18A"/>
                </a:solidFill>
              </a:rPr>
              <a:t>Cash-Flow-Positive Infrastructure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Simulation &amp; validation: 70–80% gross margins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Applied Intuition: $6B valuation with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multi-million-dollar ARR contracts [Verified]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AAB8D0"/>
                </a:solidFill>
              </a:rPr>
              <a:t>Enterprise SaaS that scales without hardware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69280"/>
            <a:ext cx="11612880" cy="82296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669280"/>
            <a:ext cx="116128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Implication: Capital is subsidizing hardware experimentation. LTTS should position upstream as the integration partner that captures revenue regardless of which hardware vendor wins.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Research
Frontiers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What the Frontier Labs Are Actually Working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2 · RESEARCH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Five Active Engineering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Technical Priorities Across Frontier Research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84124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D0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562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Continuous Action Flow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56231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RT-1/RT-2 quantized actions causing errors. Frontier: π₀ uses continuous flow matching at 50Hz.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54864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16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Physics-Informed 3D World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1635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2D pixel prediction → 3D voxel/point-flow (PointWorld, NVIDIA Cosmos).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54864" cy="84124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76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D0E1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76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Reinforced Fine-Tuning (RFT)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7647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Imitation learning drifts. RL fine-tuning with stage-aware rewards (STA-PPO).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54864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36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Cross-Embodiment Scaling Laws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3659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NVIDIA EgoScale (2026): log-linear scaling from egocentric video to robot morphologies.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2356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623560"/>
            <a:ext cx="54864" cy="84124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96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D0E1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96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Edge Model Compression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69671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AutoQVLA: channel-aware quantization for VLAs on NVIDIA Jetson AGX Orin.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2 · RESEARCH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Five Canonical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Every Failure Has a Quantitative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841248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3794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A5A"/>
                </a:solidFill>
              </a:rPr>
              <a:t>FM1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3794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Compounding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37943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Per-step errors multiply exponentially.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37943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Hierarchical models, flow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54864" cy="8412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980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33"/>
                </a:solidFill>
              </a:rPr>
              <a:t>FM2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98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Executability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98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Visual plausibility ≠ physical validity.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98064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PINN-augmented loss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54864" cy="841248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581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A5A"/>
                </a:solidFill>
              </a:rPr>
              <a:t>FM3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581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Perceptual Hallucination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58183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OOD inputs mapped to wrong tokens.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758183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Reconstruction residual gating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54864" cy="8412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18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33"/>
                </a:solidFill>
              </a:rPr>
              <a:t>FM4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18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 Marginalization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1830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Predictions ignore control inputs.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18304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Action-conditioned contrastive losses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2356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623560"/>
            <a:ext cx="54864" cy="84124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784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66FF"/>
                </a:solidFill>
              </a:rPr>
              <a:t>FM5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78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Sim-to-Real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67842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Simulation ≠ real contact/friction.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678424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66FF"/>
                </a:solidFill>
              </a:rPr>
              <a:t>Real2Sim2Real + hybrid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DD0E1"/>
                </a:solidFill>
              </a:rPr>
              <a:t>No known deployment failure is beyond engineering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2 · RESEARCH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Pearl's Causal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Why LLMs Cannot Be Pointed at Robots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7132320" cy="13716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8D0"/>
                </a:solidFill>
              </a:rPr>
              <a:t>Rung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Seeing &amp; Correlating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B8D0"/>
                </a:solidFill>
              </a:rPr>
              <a:t>P(Y | 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786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Language models: predict next token from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37560"/>
            <a:ext cx="7132320" cy="13716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54864" cy="137160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D0E1"/>
                </a:solidFill>
              </a:rPr>
              <a:t>Rung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21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Doing &amp; Observing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D0E1"/>
                </a:solidFill>
              </a:rPr>
              <a:t>P(Y | do(u))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873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Robotics: what happens with 15N torque?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46320"/>
            <a:ext cx="7132320" cy="13716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846320"/>
            <a:ext cx="54864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Rung 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Counterfactual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50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Imagining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30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P(Yₕ | X', Y')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5961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Planning: what if I acted differently?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828800"/>
            <a:ext cx="4206240" cy="452628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1938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D0E1"/>
                </a:solidFill>
              </a:rPr>
              <a:t>THE CATEGORY ERROR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31720"/>
            <a:ext cx="3657600" cy="914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63840" y="3383280"/>
            <a:ext cx="3840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Deploying text-trained models into factory cells is a fundamental representational failure.
Language models operate on Rung I.
Physical deployment demands Rungs II and III.
This is not an engineering gap. It is a category error.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Commercialization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How Physical AI Generates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Commercial Models and Deal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Business Models, Contract Structures, Buyer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92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922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Key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92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Contract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922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7922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76272"/>
            <a:ext cx="11612880" cy="7772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76272"/>
            <a:ext cx="45720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4942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Licensing / FMaaS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4942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PI, Skild AI, Covariant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4942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$100k–$500k+ ACV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24942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3–6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24942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[Est]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44952"/>
            <a:ext cx="11612880" cy="77724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044952"/>
            <a:ext cx="45720" cy="77724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1810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Integrated HW+SW (OEM)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11810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Figure, Agility, Boston Dyn.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11810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D0E1"/>
                </a:solidFill>
              </a:rPr>
              <a:t>$5k–$15k/robot/mo RaaS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11810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12–18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11810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D0E1"/>
                </a:solidFill>
              </a:rPr>
              <a:t>[Rep]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13631"/>
            <a:ext cx="11612880" cy="7772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913631"/>
            <a:ext cx="45720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86783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Simulation &amp;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986783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NVIDIA Isaac, Applied 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986783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$250k–$2M+ ACV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86783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6–9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3986783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[Rep]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82312"/>
            <a:ext cx="11612880" cy="77724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782312"/>
            <a:ext cx="45720" cy="77724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5546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Safety &amp;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85546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TUV SUD, UL, Credo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85546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D0E1"/>
                </a:solidFill>
              </a:rPr>
              <a:t>$150k–$750k per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85546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6–12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85546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D0E1"/>
                </a:solidFill>
              </a:rPr>
              <a:t>[Est]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50992"/>
            <a:ext cx="11612880" cy="7772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650992"/>
            <a:ext cx="45720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2414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Systems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72414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LTTS, KPIT, Accenture 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72414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$1M–$8M+ per site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72414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4–8 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5724144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[Est]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562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DE18A"/>
                </a:solidFill>
              </a:rPr>
              <a:t>LTTS's sweet spot: Systems Integration at $1M–$8M+ per site with 4–8 month cycles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LTTS Strategic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Four Commercial Service Offerings for Physical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111556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111556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DD0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56231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Synthetic Data Factory as a Service (SD-FaaS)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Ingest CAD/PLM assemblies (Siemens NX, Teamcenter, CATIA) to create calibrated digital twin environments in NVIDIA Isaac Sim.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5623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DD0E1"/>
                </a:solidFill>
              </a:rPr>
              <a:t>$1.0M–$3.5M annual [Est]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11612880" cy="111556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4864" cy="11155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Brownfield PLC-to-AI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Deterministic bridge middleware connecting neural outputs to Siemens S7-1500 / Rockwell ControlLogix via Profinet/EtherCAT with safety interlocks.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90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$1.5M–$5.0M per plant [Est]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11612880" cy="111556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54864" cy="111556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25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DD0E1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251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Physical AI V&amp;V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Independent stress-testing of third-party neural controllers against ISO 13849 and IEC 61508 safety standards.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325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DD0E1"/>
                </a:solidFill>
              </a:rPr>
              <a:t>$500k–$1.5M/engagement [Est]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86400"/>
            <a:ext cx="11612880" cy="111556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54864" cy="11155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59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595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Managed Embodied MLOps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Continuous telemetry monitoring, edge drift detection, and automated synthetic retraining pipelines.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$500k–$2.0M ARR [Est]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Use Cases &amp;
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Production Reality, Hype, and the Hybrid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4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Verified Deployments by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Cross-Industry Mapping of Real Physical AI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841248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Automotive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56231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Optical/acoustic quality inspection at BMW, Ford, Mercedes. Robotic parts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85623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DE18A"/>
                </a:solidFill>
              </a:rPr>
              <a:t>[Rep/Ver]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54864" cy="84124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Aerospace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1635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Composite layup inspection and precision robotic drilling (Airbus, Boeing).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816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DD0E1"/>
                </a:solidFill>
              </a:rPr>
              <a:t>[Reported]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54864" cy="84124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76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Semiconductor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77647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Physics-informed defect prediction in wafer lithography (TSMC, Intel).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776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DD0E1"/>
                </a:solidFill>
              </a:rPr>
              <a:t>[Reported]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54864" cy="841248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73659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BD Stretch at DHL. AMR fleets at Amazon Robotics, Symbotic at Walmart.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23560"/>
            <a:ext cx="11612880" cy="84124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623560"/>
            <a:ext cx="54864" cy="841248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96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Energy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696712"/>
            <a:ext cx="7132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Predictive monitoring on gas turbines (GE Vernova, Siemens Energy).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696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DE18A"/>
                </a:solidFill>
              </a:rPr>
              <a:t>[Verified]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92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9933"/>
                </a:solidFill>
              </a:rPr>
              <a:t>Hype-Ahead: Humanoid assembly [Spec] · Outdoor construction [Rep] · Unsupervised surgery [FDA regulated]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4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Hybrid Adoption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Why the Incumbent-Partner Model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141732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Incumbent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Factory managers won't risk downtime or void insurance by bypassing certified PLCs.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38328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 Startup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Frontier startups lack field engineering for thousands of brownfield factories.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3776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937760"/>
            <a:ext cx="54864" cy="141732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474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Alliance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Siemens + Microsoft (Copilot) and Siemens + Intrinsic (Alphabet) show incumbents absorbing AI while relying on SIs. [Verified]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537960"/>
            <a:ext cx="116128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LTTS occupies the exact structural position these alliances require.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Competitive
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Layered Analysis and Underserved Gaps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5 ·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Layered Competitive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Five Structural Layers Across Physical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80467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804672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Robotics Foundation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56231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PI, Skild AI, DeepMind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56231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DD0E1"/>
                </a:solidFill>
              </a:rPr>
              <a:t>Challengers: depend on 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11612880" cy="80467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54864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Automation Incumbents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7063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Siemens, Rockwell, ABB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77063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9A84C"/>
                </a:solidFill>
              </a:rPr>
              <a:t>Dominant: own floors and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11612880" cy="80467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54864" cy="804672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85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Simulation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8503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NVIDIA Isaac, Applied 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68503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DD0E1"/>
                </a:solidFill>
              </a:rPr>
              <a:t>Dominant: platform standards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12880" cy="804672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54864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99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ER&amp;D Engineering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9943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A84C"/>
                </a:solidFill>
              </a:rPr>
              <a:t>LTTS, KPIT, Tata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59943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9A84C"/>
                </a:solidFill>
              </a:rPr>
              <a:t>Race to build certified practices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40680"/>
            <a:ext cx="11612880" cy="80467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54864" cy="804672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Safety &amp;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1383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8D0"/>
                </a:solidFill>
              </a:rPr>
              <a:t>TUV SUD, UL, Credo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51383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DD0E1"/>
                </a:solidFill>
              </a:rPr>
              <a:t>Gatekeepers: mandatory for 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5 ·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High-Value Underserved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Three Immediate Opportunities for LTTS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385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Formal Safety Verification for Neural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8D0"/>
                </a:solidFill>
              </a:rPr>
              <a:t>Foundation labs generate neural policies, but certifiers demand deterministic safety proofs. Major gap: automated toolchains translating neural outputs into IEC 61508 / ISO 13849 compliance dossiers.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54864" cy="141732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D0E1"/>
                </a:solidFill>
              </a:rPr>
              <a:t>Gap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CAD/PLM to Differentiable Physics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8D0"/>
                </a:solidFill>
              </a:rPr>
              <a:t>Converting CAD assemblies into simulation-ready digital twin environments requires heavy manual engineering. Automated ingestion is an immediate opportunity.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37760"/>
            <a:ext cx="11612880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937760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474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Gap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474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Deterministic Edge Deployment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8D0"/>
                </a:solidFill>
              </a:rPr>
              <a:t>Managing real-time neural model execution on edge compute (NVIDIA Jetson) without jitter or safety watchdog violations. No turnkey solution exists.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The Industrial AI
to Physical AI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Domain Engineering, Kinematics, and the Flywheel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Industrial AI vs. Physical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A Fundamental Technical Distinction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577840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577840" cy="45720"/>
          </a:xfrm>
          <a:prstGeom prst="rect">
            <a:avLst/>
          </a:prstGeom>
          <a:solidFill>
            <a:srgbClr val="AA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AAB8D0"/>
                </a:solidFill>
              </a:rPr>
              <a:t>Industrial AI (Open-Loop)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AB8D0"/>
                </a:solidFill>
              </a:rPr>
              <a:t>1D scalar time-series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AB8D0"/>
                </a:solidFill>
              </a:rPr>
              <a:t>Human notifications on minute/hour scale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AB8D0"/>
                </a:solidFill>
              </a:rPr>
              <a:t>Predictive maintenance, anomaly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28800"/>
            <a:ext cx="5806440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58064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C9A84C"/>
                </a:solidFill>
              </a:rPr>
              <a:t>Physical AI (Closed-Loop)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3D spatial + depth + force feedback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Actuator commands at ≥50Hz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Requires robotics + controls + mech DNA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86400"/>
            <a:ext cx="11612880" cy="109728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486400"/>
            <a:ext cx="54864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55955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 b="1">
                <a:solidFill>
                  <a:srgbClr val="C9A84C"/>
                </a:solidFill>
              </a:rPr>
              <a:t>Key Consequence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AAB8D0"/>
                </a:solidFill>
              </a:rPr>
              <a:t>PdM vendors cannot transition to robotics control. Physical AI needs engineering DNA.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C9A84C"/>
                </a:solidFill>
              </a:rPr>
              <a:t>This is LTTS's structural advantage as a pure-play ER&amp;D firm.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Domain Engineering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Kinematic Invariants, Safety Architecture, Real-Time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2286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KINEMATIC SINGULARITY MANAGEMENT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0"/>
            <a:ext cx="4114800" cy="77724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594360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2004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Near singularities, small Cartesian commands demand unbounded joint velocities. Triggers drive faults, e-stops, or gearbox damage. Pure ML engineers cannot build singularity-robust IK layers.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51960"/>
            <a:ext cx="11612880" cy="960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251960"/>
            <a:ext cx="54864" cy="96012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25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Deterministic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2511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Synchronizing neural inference with &lt;1ms jitter fieldbus cycles (EtherCAT/Profinet) via RTOS.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49240"/>
            <a:ext cx="11612880" cy="960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349240"/>
            <a:ext cx="54864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22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Functional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42239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Dual-channel safety circuits and hardware interlocks: ISO 13849 (Cat 4 / PLe).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Operational Data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Five-Stage Deployment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828800"/>
            <a:ext cx="2231136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828800"/>
            <a:ext cx="2231136" cy="54864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D0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8346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Log motor torques,
currents, visual streams
from industrial buses.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2304" y="3291840"/>
            <a:ext cx="14630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78608" y="1828800"/>
            <a:ext cx="2231136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1828800"/>
            <a:ext cx="2231136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8346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Refine simulation
params (friction, inertia)
from real telemetry.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9744" y="3291840"/>
            <a:ext cx="14630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6048" y="1828800"/>
            <a:ext cx="2231136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6048" y="1828800"/>
            <a:ext cx="2231136" cy="54864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D0E1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28346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Generate edge-case
scenarios in Isaac Sim
for robust policies.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7183" y="3291840"/>
            <a:ext cx="14630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3488" y="1828800"/>
            <a:ext cx="2231136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3488" y="1828800"/>
            <a:ext cx="2231136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8346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Compressed models on
Jetson with deterministic
safety envelopes.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3291840"/>
            <a:ext cx="14630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10928" y="1828800"/>
            <a:ext cx="2231136" cy="34747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1828800"/>
            <a:ext cx="2231136" cy="54864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D0E1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28346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Detect OOD states,
trigger re-simulation
and policy refinement.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11612880" cy="4572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↺  Continuous feedback: every deployment enriches the next training cycle.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80760"/>
            <a:ext cx="11612880" cy="68580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608076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447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MOAT: Compute is a commodity. This operational data flywheel is virtually impossible to replicate without years of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The Future:
3–5 Year Forecast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Market Evolution and Key Uncertainties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7 ·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3–5 Year Structural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Market Evolution 2026–2030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98755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987552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Hardware Commoditization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01952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Robotic arms commoditize. Value shifts to software and 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11612880" cy="98755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54864" cy="9875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Consolidation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99232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Foundation models → 2–3 ecosystems. Proprietary training unviable for 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11612880" cy="98755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54864" cy="987552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Integration Fragmentation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96512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Heterogeneous factories keep SI high-margin. LTTS's sweet spot.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11612880" cy="98755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54864" cy="9875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Exhaustion Pivot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93792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8D0"/>
                </a:solidFill>
              </a:rPr>
              <a:t>Public text consumed. Proprietary physical data becomes the lever.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263640"/>
            <a:ext cx="11612880" cy="59436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6263640"/>
            <a:ext cx="11612880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33"/>
                </a:solidFill>
              </a:rPr>
              <a:t>Key Uncertainties: Regulatory caging mandates  ·  Geopolitical decoupling  ·  Sim-to-real progress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MODULE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Strategic
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4864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8D0"/>
                </a:solidFill>
              </a:rPr>
              <a:t>The Four-Priority Roadmap for LTTS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8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Priority 1: Physical AI V&amp;V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Q1 2027 Launch  ·  $2.0M–$3.5M Investment [Estimated]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57784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 b="1">
                <a:solidFill>
                  <a:srgbClr val="C9A84C"/>
                </a:solidFill>
              </a:rPr>
              <a:t>Sequencing Rationale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AAB8D0"/>
                </a:solidFill>
              </a:rPr>
              <a:t>Lowest capital barrier. Addresses immediate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AAB8D0"/>
                </a:solidFill>
              </a:rPr>
              <a:t>regulatory bottleneck for existing clients.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AAB8D0"/>
                </a:solidFill>
              </a:rPr>
              <a:t>Builds safety methodology before scaling.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28800"/>
            <a:ext cx="580644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54864" cy="146304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DD0E1"/>
                </a:solidFill>
              </a:rPr>
              <a:t>CONTROL BARRIER FUNCTION (CBF)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40280"/>
            <a:ext cx="5486400" cy="8686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3474720"/>
            <a:ext cx="11612880" cy="292608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BOTTOM-UP INVESTMENT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HIL Testbenches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$800k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31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2 multi-axis robot cells + motion capture + torque dynamometers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Verification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$400k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Formal methods, reachability toolchains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Team (6 FTEs)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$1.2M/yr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2 TUV Safety + 2 Controls + 2 NN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Lab Accreditation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$400k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7150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ISO/IEC 17025 + TUV SUD partnership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355080"/>
            <a:ext cx="116128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Total Phase 1: $2.8M (within $2.0M–$3.5M range) [Estimated]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8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Priorities 2, 3, and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Sequential Roadmap: Alliances, Synthetic Data, Talent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562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Strategic PLC Alliances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562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Q2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56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$1.3M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Siemens S7 / Rockwell ControlLogix integration lab + 3 FTE Solutions Architecture + co-marketing.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671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0809A"/>
                </a:solidFill>
              </a:rPr>
              <a:t>Requires V&amp;V credentials (P1) before incumbents certify LTTS.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8328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383280"/>
            <a:ext cx="54864" cy="146304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D0E1"/>
                </a:solidFill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56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Synthetic Data 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56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D0E1"/>
                </a:solidFill>
              </a:rPr>
              <a:t>Q3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$4.2M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673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GPU simulation cluster ($2.2M) + Omniverse licensing ($500k) + 8 FTE simulation team ($1.5M/yr).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673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0809A"/>
                </a:solidFill>
              </a:rPr>
              <a:t>Leverages CAD/PLM access from P2 alliances and validation from P1.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83480"/>
            <a:ext cx="11612880" cy="1463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54864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56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Hybrid Talent CoE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056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056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$2.5M/yr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675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8D0"/>
                </a:solidFill>
              </a:rPr>
              <a:t>Upskill 250 engineers ($1.0M/yr) + 5 Principal Research Engineers ($1.2M/yr) + Academic ($300k/yr).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675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0809A"/>
                </a:solidFill>
              </a:rPr>
              <a:t>Cross-trains mechatronics bench into robotics AI.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MODULE 8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LTTS Physical AI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Complete Phasing, Budget, and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Core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470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47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47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0B18"/>
                </a:solidFill>
              </a:rPr>
              <a:t>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11612880" cy="960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45720" cy="960120"/>
          </a:xfrm>
          <a:prstGeom prst="rect">
            <a:avLst/>
          </a:prstGeom>
          <a:solidFill>
            <a:srgbClr val="4DE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P1: V&amp;V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3317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Safety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Q1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3317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$2.8M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Functional safety auditing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37560"/>
            <a:ext cx="11612880" cy="96012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37560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79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P2: PLC Alliances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8327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Siemens/Rockwell 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83279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Q2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383279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$1.3M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38327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Preferred plant partner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89120"/>
            <a:ext cx="11612880" cy="960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389120"/>
            <a:ext cx="45720" cy="96012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3484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P3: SD Factory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4348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Digital twin SD-FaaS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3484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D0E1"/>
                </a:solidFill>
              </a:rPr>
              <a:t>Q3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43484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$4.2M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4348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Monetize CAD/PLM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40679"/>
            <a:ext cx="11612880" cy="96012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440679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486399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P4: Talent CoE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48639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Mech + AI cross-training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486399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</a:rPr>
              <a:t>Ongoing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486399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$2.5M/yr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48639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Deep domain workforce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6537960"/>
            <a:ext cx="116128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Total 36-Month Investment: ~$10.8M  ·  All figures [Estimated]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STRATEGIC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The Future of Industrial
Automation Is Physical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640080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11247120" cy="74980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54864" cy="74980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90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Position Upstream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906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Capture revenue regardless of which hardware vendor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86200"/>
            <a:ext cx="11247120" cy="74980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Build V&amp;V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5935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Safety certification is the prerequisite for everything else.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79"/>
            <a:ext cx="11247120" cy="74980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54879"/>
            <a:ext cx="54864" cy="74980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2803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Own the Flywheel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28031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Proprietary physical data from deployments is irreplicable.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23559"/>
            <a:ext cx="11247120" cy="74980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623559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696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Execute Sequentially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9671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8D0"/>
                </a:solidFill>
              </a:rPr>
              <a:t>Each priority unlocks the next. No parallel build.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LTTS: the trusted engineering bridge that verifies, integrates, and deploys Physical AI at scale.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APPENDIX A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Comprehensive Sources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Cross-Verified Primary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Wayve $1.05B Series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Corporate Announcement, May 7, 2024. SoftBank, NVIDIA, Microsoft.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Figure AI $675M Series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Press Release, Feb 29, 2024. $2.6B val. Parkway, Microsoft, OpenAI.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PI $400M Series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974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Disclosure, Nov 4, 2024. $2.4B val. Bezos, Thrive, Lux.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Skild AI $300M Series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546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Press Release, Jul 9, 2024. $1.5B val. Lightspeed, Coatue.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Applied Intuition $6B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118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Press Release, Mar 12, 2024. Lux Capital, Elad Gil.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Scale AI $13.8B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690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Disclosure, May 21, 2024. Led by Accel.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Waymo 150k trips/wk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5262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Alphabet Q3 2024 Earnings, Oct 29, 2024. CEO Sundar Pichai.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D0E1"/>
                </a:solidFill>
              </a:rPr>
              <a:t>Pearl's Causal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9834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Judea Pearl, Causality, Cambridge University Press.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406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BMW Figure 02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406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BMW Group Press Release, Aug 2024. Spartanburg.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E18A"/>
                </a:solidFill>
              </a:rPr>
              <a:t>DHL Stretch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8978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D0"/>
                </a:solidFill>
              </a:rPr>
              <a:t>DHL Supply Chain Announcement, 2024. BD Stretch.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01168"/>
            <a:ext cx="2560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60B18"/>
                </a:solidFill>
              </a:rPr>
              <a:t>APPENDIX B · SELF-CRITIQUE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Adversarial Self-Critique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4C"/>
                </a:solidFill>
              </a:rPr>
              <a:t>Claims Removed or Downgraded Between Drafts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11612880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161288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379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Ford 42% Scrap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37943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Not in SEC 10-K filings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0008"/>
            <a:ext cx="11612880" cy="475488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Airbus &lt;2 PPM Defect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048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Unverified extrapolation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16936"/>
            <a:ext cx="1161288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Amazon 750k Mobile Robots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71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Aggregates legacy AGVs with AI AMRs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83863"/>
            <a:ext cx="11612880" cy="475488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387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GE Vernova $380M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38727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Vendor projections, not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50791"/>
            <a:ext cx="1161288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0565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5A"/>
                </a:solidFill>
              </a:rPr>
              <a:t>TSMC 2.1x Yield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05655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Proprietary trade secret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11612880" cy="475488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7258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Cat. 620 Trucks / 250M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72583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Marketing, not certified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84648"/>
            <a:ext cx="1161288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39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Intuitive 40% Strain Cut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395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Uncontrolled ergonomic claim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51576"/>
            <a:ext cx="11612880" cy="475488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8D0"/>
                </a:solidFill>
              </a:rPr>
              <a:t>Decorative PINN/InfoNCE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06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D0"/>
                </a:solidFill>
              </a:rPr>
              <a:t>Academic padding, not load-bearing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16128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This self-critique is the single most important quality signal in the briefing.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