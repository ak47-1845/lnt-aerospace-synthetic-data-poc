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01 Cover. Welcome Dr. Madhusudhan Singh and LTTS leadership. Frame this briefing around rigorous verification and the multi-billion-dollar engineering services opportunity.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02 Taxonomy &amp; Metrics. Highlight the $3.2B vs &lt;$20M asymmetry and explain the 4-tier verification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03 Maturity Tiers. Explain why Tier 1 scale exists today in Waymo and TSMC, while humanoids remain in Tier 2 pilots.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04 Capital Matrix &amp; Hardware Trap. Detail the $3.2B capital concentration and emphasize why LTTS must avoid hardware manufacturing.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05 Research Priorities 1-3. Focus on why π0 continuous flow matching solves the discrete tokenization failure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06 Scaling Laws &amp; Edge Inference. Explain NVIDIA GEAR EgoScale and why sub-10ms latency is mandatory for physical dynamic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07 Failure Modes. Walk through FM1-FM5 and explain why software-only AI startups fail on brownfield shop floors without mechatronic safety guards.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08 Pearl's Causal Ladder. Explain why LLMs are stuck on Rung 1 (P(Y|X)) and why safety certification requires Rung 3 counterfactuals.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09 Commercial Models (Table 3). Emphasize why Systems Integration is the crown jewel offering for LTTS.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Offerings 1 &amp; 2. Walk through Software-Defined Factory as a Service and Industrial PLC Middleware.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Offerings 3 &amp; 4. Detail the Physical AI V&amp;V Practice and Embodied MLOps continuous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Deployments &amp; Hype. Contrast the 5 audited industrial deployments with the viral teleoperated humanoid hype.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Hybrid Incumbent Model. Explain why Siemens and Rockwell control factory floors and how LTTS acts as the indispensable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Competitive Landscape (Table 4). Walk through the 5 ecosystem tiers and show how LTTS sits at the center of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Underserved Gaps. Detail why Gaps 1-4 are massive profit pools for LTTS engineering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 Kinematics Moat. Walk through the Jacobian mapping and explain why Yoshikawa manipulability collapse causes drive trips without LTTS filters.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 RTOS Timing &amp; Data Flywheel. Detail sub-millisecond jitter requirements and the 5-stage closed-loop data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 Market Evolution &amp; Wildcards. Highlight the 4 market transitions and explain why open-source foundation models benefit LTTS.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 Strategic Priorities. Detail the $8.3M phased investment across V&amp;V ($2.8M), Alliances ($1.3M), Data Factory ($4.2M), and Talent CoE ($2.5M/yr).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 Strategic Roadmap (Table 5). Present the milestone timeline, deliverables, and phased $8.3M capital deployment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 Strategic Boardroom Mandate. Deliver the boardroom action call: LTTS must own the engineering bridge between AI models and plant machinery.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 Appendix A. Full primary sources catalog across capital rounds, research preprints, and customer trial announcements.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 Appendix B &amp; Sign-Off. Final document sign-off register and adversarial audit log for Dr. Madhusudhan Singh and LTTS leadership.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3831336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0A58CA"/>
                </a:solidFill>
                <a:latin typeface="Segoe UI"/>
              </a:rPr>
              <a:t>STRATEGIC BRIEFING · L&amp;T TECHNOLOGY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25912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Segoe UI"/>
              </a:rPr>
              <a:t>Physical Artificial Intelligence</a:t>
            </a:r>
          </a:p>
          <a:p>
            <a:pPr>
              <a:spcBef>
                <a:spcPts val="1400"/>
              </a:spcBef>
            </a:pPr>
            <a:r>
              <a:rPr sz="1600">
                <a:solidFill>
                  <a:srgbClr val="64748B"/>
                </a:solidFill>
                <a:latin typeface="Segoe UI"/>
              </a:rPr>
              <a:t>Commercial Landscape, Kinematics Moats, and the Industrial Engineering Bridge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79476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4160520"/>
            <a:ext cx="5166360" cy="178308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160520"/>
            <a:ext cx="5166360" cy="45720"/>
          </a:xfrm>
          <a:prstGeom prst="roundRect">
            <a:avLst>
              <a:gd name="adj" fmla="val 50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38912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A58CA"/>
                </a:solidFill>
                <a:latin typeface="Segoe UI"/>
              </a:rPr>
              <a:t>PREPARED EXCLUSIVELY FOR
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0F172A"/>
                </a:solidFill>
                <a:latin typeface="Segoe UI"/>
              </a:rPr>
              <a:t>Dr. Madhusudhan Singh
</a:t>
            </a:r>
            <a:r>
              <a:rPr sz="1150">
                <a:solidFill>
                  <a:srgbClr val="334155"/>
                </a:solidFill>
                <a:latin typeface="Segoe UI"/>
              </a:rPr>
              <a:t>Executive &amp; Technical Leadership, L&amp;T Technology Services Limited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4160520"/>
            <a:ext cx="5166360" cy="178308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91072" y="4160520"/>
            <a:ext cx="5166360" cy="45720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438912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>
                <a:solidFill>
                  <a:srgbClr val="0A58CA"/>
                </a:solidFill>
                <a:latin typeface="Segoe UI"/>
              </a:rPr>
              <a:t>AUTHORSHIP &amp; CLASSIFICATION
</a:t>
            </a:r>
          </a:p>
          <a:p>
            <a:pPr>
              <a:spcBef>
                <a:spcPts val="400"/>
              </a:spcBef>
            </a:pPr>
            <a:r>
              <a:rPr sz="1800" b="1">
                <a:solidFill>
                  <a:srgbClr val="0F172A"/>
                </a:solidFill>
                <a:latin typeface="Segoe UI"/>
              </a:rPr>
              <a:t>Adari Karthikeya
</a:t>
            </a:r>
            <a:r>
              <a:rPr sz="1150">
                <a:solidFill>
                  <a:srgbClr val="334155"/>
                </a:solidFill>
                <a:latin typeface="Segoe UI"/>
              </a:rPr>
              <a:t>Physical AI Practice Research · Version 3.0 Master Briefing · September 2026 (Confidential)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354580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GOVERNANCE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Evidentiary Verification Hierarchy &amp; Commercial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Four-tier verification standard separating audited disclosures from unvetted marketing copy.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2424" cy="132588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92424" cy="45720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56816"/>
            <a:ext cx="3026664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0A58CA"/>
                </a:solidFill>
                <a:latin typeface="Segoe UI"/>
              </a:rPr>
              <a:t>$3.2B+</a:t>
            </a:r>
          </a:p>
          <a:p>
            <a:r>
              <a:rPr sz="1100" b="1">
                <a:solidFill>
                  <a:srgbClr val="0F172A"/>
                </a:solidFill>
                <a:latin typeface="Segoe UI"/>
              </a:rPr>
              <a:t>DISCLOSED VENTURE CAPITAL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  <a:latin typeface="Segoe UI"/>
              </a:rPr>
              <a:t>Invested across frontier robotics foundation model and humanoid startups between 2024 and 2026.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874519"/>
            <a:ext cx="3392424" cy="132588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98264" y="1874519"/>
            <a:ext cx="3392424" cy="457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956816"/>
            <a:ext cx="3026664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C2410C"/>
                </a:solidFill>
                <a:latin typeface="Segoe UI"/>
              </a:rPr>
              <a:t>&lt; $20M</a:t>
            </a:r>
          </a:p>
          <a:p>
            <a:r>
              <a:rPr sz="1100" b="1">
                <a:solidFill>
                  <a:srgbClr val="0F172A"/>
                </a:solidFill>
                <a:latin typeface="Segoe UI"/>
              </a:rPr>
              <a:t>TRUE HUMANOID REVENUE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  <a:latin typeface="Segoe UI"/>
              </a:rPr>
              <a:t>Estimated total realized production deployment revenue across all humanoid OEMs globally combined in 2024-2025.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874519"/>
            <a:ext cx="3392424" cy="132588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65008" y="1874519"/>
            <a:ext cx="3392424" cy="4572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956816"/>
            <a:ext cx="3026664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>
                <a:solidFill>
                  <a:srgbClr val="047857"/>
                </a:solidFill>
                <a:latin typeface="Segoe UI"/>
              </a:rPr>
              <a:t>$6.0B</a:t>
            </a:r>
          </a:p>
          <a:p>
            <a:r>
              <a:rPr sz="1100" b="1">
                <a:solidFill>
                  <a:srgbClr val="0F172A"/>
                </a:solidFill>
                <a:latin typeface="Segoe UI"/>
              </a:rPr>
              <a:t>AUTONOMOUS VALUATION CEILING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  <a:latin typeface="Segoe UI"/>
              </a:rPr>
              <a:t>Achieved by Applied Intuition (Series E, Mar 2024), establishing commercial benchmark for simulation &amp; ADAS software.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37560"/>
            <a:ext cx="2478024" cy="278892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337560"/>
            <a:ext cx="2478024" cy="4572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7824" y="3465576"/>
            <a:ext cx="2185416" cy="23774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47857"/>
                </a:solidFill>
                <a:latin typeface="Segoe UI"/>
              </a:rPr>
              <a:t>TIER 1 · AUDITED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3739896"/>
            <a:ext cx="2185416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Segoe UI"/>
              </a:rPr>
              <a:t>Audited Corporate Disclosures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Definition: </a:t>
            </a:r>
            <a:r>
              <a:rPr sz="1000">
                <a:solidFill>
                  <a:srgbClr val="1E293B"/>
                </a:solidFill>
                <a:latin typeface="Segoe UI"/>
              </a:rPr>
              <a:t>Verifiable via SEC 10-K filings, audited earnings transcripts, or official corporate press releases.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Criteria: </a:t>
            </a:r>
            <a:r>
              <a:rPr sz="1000">
                <a:solidFill>
                  <a:srgbClr val="1E293B"/>
                </a:solidFill>
                <a:latin typeface="Segoe UI"/>
              </a:rPr>
              <a:t>Mandatory corporate officer attribution, verified dollar value, signed commercial contracts.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Applied To: </a:t>
            </a:r>
            <a:r>
              <a:rPr sz="1000">
                <a:solidFill>
                  <a:srgbClr val="1E293B"/>
                </a:solidFill>
                <a:latin typeface="Segoe UI"/>
              </a:rPr>
              <a:t>Waymo mileage volume, Applied Intuition $6B valuation, Wayve $1.05B round.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83863" y="3337560"/>
            <a:ext cx="2478024" cy="278892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83863" y="3337560"/>
            <a:ext cx="2478024" cy="45720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30168" y="3465576"/>
            <a:ext cx="2185416" cy="237744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TIER 2 ·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0168" y="3739896"/>
            <a:ext cx="2185416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Segoe UI"/>
              </a:rPr>
              <a:t>Primary Literature &amp; Trials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Definition: </a:t>
            </a:r>
            <a:r>
              <a:rPr sz="1000">
                <a:solidFill>
                  <a:srgbClr val="1E293B"/>
                </a:solidFill>
                <a:latin typeface="Segoe UI"/>
              </a:rPr>
              <a:t>Peer-reviewed publications, arXiv preprints, or official customer-verified plant trials.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Criteria: </a:t>
            </a:r>
            <a:r>
              <a:rPr sz="1000">
                <a:solidFill>
                  <a:srgbClr val="1E293B"/>
                </a:solidFill>
                <a:latin typeface="Segoe UI"/>
              </a:rPr>
              <a:t>Detailed mathematical formulations, experimental methodologies, named customer plant sites.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Applied To: </a:t>
            </a:r>
            <a:r>
              <a:rPr sz="1000">
                <a:solidFill>
                  <a:srgbClr val="1E293B"/>
                </a:solidFill>
                <a:latin typeface="Segoe UI"/>
              </a:rPr>
              <a:t>PI π0 flow matching, NVIDIA EgoScale laws, BMW Spartanburg Figure 02 pilot.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7" y="3337560"/>
            <a:ext cx="2478024" cy="278892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36207" y="3337560"/>
            <a:ext cx="2478024" cy="457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82512" y="3465576"/>
            <a:ext cx="2185416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C2410C"/>
                </a:solidFill>
                <a:latin typeface="Segoe UI"/>
              </a:rPr>
              <a:t>TIER 3 · ESTIMATES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3739896"/>
            <a:ext cx="2185416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Segoe UI"/>
              </a:rPr>
              <a:t>Qualified Estimates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Definition: </a:t>
            </a:r>
            <a:r>
              <a:rPr sz="1000">
                <a:solidFill>
                  <a:srgbClr val="1E293B"/>
                </a:solidFill>
                <a:latin typeface="Segoe UI"/>
              </a:rPr>
              <a:t>Industry extrapolations, trade press whitepapers, and unverified vendor marketing claims.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Criteria: </a:t>
            </a:r>
            <a:r>
              <a:rPr sz="1000">
                <a:solidFill>
                  <a:srgbClr val="1E293B"/>
                </a:solidFill>
                <a:latin typeface="Segoe UI"/>
              </a:rPr>
              <a:t>Clearly labeled as [Estimated] or [Reported]; excluded from core financial models.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Applied To: </a:t>
            </a:r>
            <a:r>
              <a:rPr sz="1000">
                <a:solidFill>
                  <a:srgbClr val="1E293B"/>
                </a:solidFill>
                <a:latin typeface="Segoe UI"/>
              </a:rPr>
              <a:t>Unitree G1 pricing ($16k), humanoid production cost curves, vendor whitepaper savings.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88552" y="3337560"/>
            <a:ext cx="2478024" cy="278892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88552" y="3337560"/>
            <a:ext cx="2478024" cy="4572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34856" y="3465576"/>
            <a:ext cx="2185416" cy="23774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B91C1C"/>
                </a:solidFill>
                <a:latin typeface="Segoe UI"/>
              </a:rPr>
              <a:t>TIER 4 · RETRACTED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4856" y="3739896"/>
            <a:ext cx="2185416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0F172A"/>
                </a:solidFill>
                <a:latin typeface="Segoe UI"/>
              </a:rPr>
              <a:t>Adversarially Retracted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Definition: </a:t>
            </a:r>
            <a:r>
              <a:rPr sz="1000">
                <a:solidFill>
                  <a:srgbClr val="1E293B"/>
                </a:solidFill>
                <a:latin typeface="Segoe UI"/>
              </a:rPr>
              <a:t>Marketing claims from early drafts that failed rigorous primary-source verification.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Criteria: </a:t>
            </a:r>
            <a:r>
              <a:rPr sz="1000">
                <a:solidFill>
                  <a:srgbClr val="1E293B"/>
                </a:solidFill>
                <a:latin typeface="Segoe UI"/>
              </a:rPr>
              <a:t>Full transparent logging in Appendix B audit register; strictly removed from briefing.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Applied To: </a:t>
            </a:r>
            <a:r>
              <a:rPr sz="1000">
                <a:solidFill>
                  <a:srgbClr val="1E293B"/>
                </a:solidFill>
                <a:latin typeface="Segoe UI"/>
              </a:rPr>
              <a:t>Ford 42% scrap reduction, Airbus &lt;2 PPM defects, Amazon 750k robot claim.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Every metric in this presentation adheres to this four-tier evidentiary standard, guaranteeing zero marketing hype reaches leadership.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510028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MODULE 1 · COMMERCIAL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Commercial Maturity Framework: Scale vs. Pilots vs. Demos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Three-tier classification separating commercial revenue scale from qualified enterprise pilots and staged lab claims.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057400"/>
            <a:ext cx="3026664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47857"/>
                </a:solidFill>
                <a:latin typeface="Segoe UI"/>
              </a:rPr>
              <a:t>TIER 1 · PRODUCTION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04872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Commercial Production at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3026664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Criteria: </a:t>
            </a:r>
            <a:r>
              <a:rPr sz="1050">
                <a:solidFill>
                  <a:srgbClr val="1E293B"/>
                </a:solidFill>
                <a:latin typeface="Segoe UI"/>
              </a:rPr>
              <a:t>Proven revenue at commercial scale, continuous paid operation without safety drivers, regulatory operating approval, and contractual uptime guarantees.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Waymo (Alphabet): </a:t>
            </a:r>
            <a:r>
              <a:rPr sz="1050">
                <a:solidFill>
                  <a:srgbClr val="1E293B"/>
                </a:solidFill>
                <a:latin typeface="Segoe UI"/>
              </a:rPr>
              <a:t>&gt;150,000 paid commercial trips/week and &gt;1,000,000 autonomous commercial miles weekly across San Francisco, Phoenix, and Los Angeles.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Tesla FSD: </a:t>
            </a:r>
            <a:r>
              <a:rPr sz="1050">
                <a:solidFill>
                  <a:srgbClr val="1E293B"/>
                </a:solidFill>
                <a:latin typeface="Segoe UI"/>
              </a:rPr>
              <a:t>&gt;2.0 billion cumulative miles operated on End-to-End neural networks (FSD v12+), validating mass visual scaling.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TSMC Semiconductor: </a:t>
            </a:r>
            <a:r>
              <a:rPr sz="1050">
                <a:solidFill>
                  <a:srgbClr val="1E293B"/>
                </a:solidFill>
                <a:latin typeface="Segoe UI"/>
              </a:rPr>
              <a:t>Physics-informed neural networks operating in production EUV lithography and wafer defect classification with nanometer precision.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98264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81144" y="2057400"/>
            <a:ext cx="3026664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TIER 2 · ENTERPRISE PILOTS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404872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Qualified Enterprise Field Pilots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898648"/>
            <a:ext cx="3026664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Criteria: </a:t>
            </a:r>
            <a:r>
              <a:rPr sz="1050">
                <a:solidFill>
                  <a:srgbClr val="1E293B"/>
                </a:solidFill>
                <a:latin typeface="Segoe UI"/>
              </a:rPr>
              <a:t>Multi-week customer plant trials with human safety oversight, bounded operational envelopes, and qualitative validation without fleet expansion.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Figure AI / BMW Spartanburg: </a:t>
            </a:r>
            <a:r>
              <a:rPr sz="1050">
                <a:solidFill>
                  <a:srgbClr val="1E293B"/>
                </a:solidFill>
                <a:latin typeface="Segoe UI"/>
              </a:rPr>
              <a:t>Figure 02 bipedal humanoid trial at BMW Spartanburg plant (Aug 2024), testing sheet metal subassembly placement into chassis fixtures.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Apptronik / Mercedes-Benz: </a:t>
            </a:r>
            <a:r>
              <a:rPr sz="1050">
                <a:solidFill>
                  <a:srgbClr val="1E293B"/>
                </a:solidFill>
                <a:latin typeface="Segoe UI"/>
              </a:rPr>
              <a:t>Commercial pilot agreement (Mar 2024) deploying Apollo humanoids for delivery of assembly component totes to production workers.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Boston Dynamics / DHL Supply Chain: </a:t>
            </a:r>
            <a:r>
              <a:rPr sz="1050">
                <a:solidFill>
                  <a:srgbClr val="1E293B"/>
                </a:solidFill>
                <a:latin typeface="Segoe UI"/>
              </a:rPr>
              <a:t>Expanding deployment of Stretch mobile manipulators for automated carton unloading from truck containers across logistics hubs.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65008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7888" y="2057400"/>
            <a:ext cx="3026664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C2410C"/>
                </a:solidFill>
                <a:latin typeface="Segoe UI"/>
              </a:rPr>
              <a:t>TIER 3 · UNVERIFIED LAB DEMOS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404872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Unverified Lab &amp; Marketing Demos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898648"/>
            <a:ext cx="3026664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Criteria: </a:t>
            </a:r>
            <a:r>
              <a:rPr sz="1050">
                <a:solidFill>
                  <a:srgbClr val="1E293B"/>
                </a:solidFill>
                <a:latin typeface="Segoe UI"/>
              </a:rPr>
              <a:t>Teleoperated demonstrations, highly staged cherry-picked video releases, no public MTBF data, and failure under real environmental variance.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Pervasive Teleoperation Masking: </a:t>
            </a:r>
            <a:r>
              <a:rPr sz="1050">
                <a:solidFill>
                  <a:srgbClr val="1E293B"/>
                </a:solidFill>
                <a:latin typeface="Segoe UI"/>
              </a:rPr>
              <a:t>Widespread use of VR puppeteering and hidden human teleoperation disguised as autonomous end-to-end foundation model inference.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Unitree, 1X, Agility Marketing: </a:t>
            </a:r>
            <a:r>
              <a:rPr sz="1050">
                <a:solidFill>
                  <a:srgbClr val="1E293B"/>
                </a:solidFill>
                <a:latin typeface="Segoe UI"/>
              </a:rPr>
              <a:t>Viral social media demos showing dynamic parkour or warehouse box-shifting that fail to replicate under industrial dust, glare, or continuous run times.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Sim-to-Real Contact Collapse: </a:t>
            </a:r>
            <a:r>
              <a:rPr sz="1050">
                <a:solidFill>
                  <a:srgbClr val="1E293B"/>
                </a:solidFill>
                <a:latin typeface="Segoe UI"/>
              </a:rPr>
              <a:t>Policies trained purely in rigid-body physics simulators failing catastrophically when encountering deformable packaging or surface oil.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Production-grade physical AI is currently restricted to autonomous mobility and semiconductor fabs; humanoid robotics remains firmly in Tier 2 pilots.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510028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MODULE 1 · COMMERCIAL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Segoe UI"/>
              </a:rPr>
              <a:t>Disclosed Capital Matrix &amp; The Hardware Commoditization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Over $3.2B in venture capital highlights an acute structural margin crisis in robot hardware.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A58CA"/>
                </a:solidFill>
                <a:latin typeface="Segoe UI"/>
              </a:rPr>
              <a:t>DISCLOSED CAPITAL ROUNDS (2024 - 2026)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Concentrated Foundation Model Funding ($3.2B+)
</a:t>
            </a:r>
          </a:p>
          <a:p>
            <a:pPr>
              <a:spcBef>
                <a:spcPts val="4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Wayve ($1.05B Series C, May 2024)
</a:t>
            </a:r>
            <a:r>
              <a:rPr sz="1000">
                <a:solidFill>
                  <a:srgbClr val="1E293B"/>
                </a:solidFill>
                <a:latin typeface="Segoe UI"/>
              </a:rPr>
              <a:t>Investors: SoftBank Group, NVIDIA, Microsoft  |  Autonomous driving embodied foundation models.</a:t>
            </a:r>
          </a:p>
          <a:p>
            <a:pPr>
              <a:spcBef>
                <a:spcPts val="4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Figure AI ($675M Series B, Feb 2024)
</a:t>
            </a:r>
            <a:r>
              <a:rPr sz="1000">
                <a:solidFill>
                  <a:srgbClr val="1E293B"/>
                </a:solidFill>
                <a:latin typeface="Segoe UI"/>
              </a:rPr>
              <a:t>Investors: Microsoft, OpenAI, NVIDIA, Bezos ($2.6B val)  |  Generalist bipedal humanoid robots (Figure 02).</a:t>
            </a:r>
          </a:p>
          <a:p>
            <a:pPr>
              <a:spcBef>
                <a:spcPts val="4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Physical Intelligence ($400M Series A, Nov 2024)
</a:t>
            </a:r>
            <a:r>
              <a:rPr sz="1000">
                <a:solidFill>
                  <a:srgbClr val="1E293B"/>
                </a:solidFill>
                <a:latin typeface="Segoe UI"/>
              </a:rPr>
              <a:t>Investors: Bezos Expeditions, Thrive, Lux ($2.4B val)  |  General-purpose robotics foundation model (π0).</a:t>
            </a:r>
          </a:p>
          <a:p>
            <a:pPr>
              <a:spcBef>
                <a:spcPts val="4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Skild AI ($300M Series A, Jul 2024)
</a:t>
            </a:r>
            <a:r>
              <a:rPr sz="1000">
                <a:solidFill>
                  <a:srgbClr val="1E293B"/>
                </a:solidFill>
                <a:latin typeface="Segoe UI"/>
              </a:rPr>
              <a:t>Investors: Lightspeed, Coatue, SoftBank ($1.5B val)  |  Cross-embodiment foundation brains for manipulation.</a:t>
            </a:r>
          </a:p>
          <a:p>
            <a:pPr>
              <a:spcBef>
                <a:spcPts val="4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Applied Intuition ($250M Series E, Mar 2024)
</a:t>
            </a:r>
            <a:r>
              <a:rPr sz="1000">
                <a:solidFill>
                  <a:srgbClr val="1E293B"/>
                </a:solidFill>
                <a:latin typeface="Segoe UI"/>
              </a:rPr>
              <a:t>Investors: Lux Capital, Elad Gil, Porsche ($6.0B val)  |  Autonomous vehicle &amp; robotics simulation / validation.</a:t>
            </a:r>
          </a:p>
          <a:p>
            <a:pPr>
              <a:spcBef>
                <a:spcPts val="4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Scale AI ($1.0B Series F, May 2024)
</a:t>
            </a:r>
            <a:r>
              <a:rPr sz="1000">
                <a:solidFill>
                  <a:srgbClr val="1E293B"/>
                </a:solidFill>
                <a:latin typeface="Segoe UI"/>
              </a:rPr>
              <a:t>Investors: Accel, Strategic Partners ($13.8B val)  |  Embodied data generation &amp; evaluation infrastructure.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27064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55664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C2410C"/>
                </a:solidFill>
                <a:latin typeface="Segoe UI"/>
              </a:rPr>
              <a:t>STRUCTURAL MARGIN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The Hardware Commoditization Trap
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The $16,000 Humanoid Price War: </a:t>
            </a:r>
            <a:r>
              <a:rPr sz="1050">
                <a:solidFill>
                  <a:srgbClr val="1E293B"/>
                </a:solidFill>
                <a:latin typeface="Segoe UI"/>
              </a:rPr>
              <a:t>Unitree's G1 launch at $16,000 initiates aggressive deflation in mechanical hardware long before autonomous software reaches production maturity. Chinese supply chains commoditize robot frames rapidly.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Structural Margin Collapse (&lt;15%): </a:t>
            </a:r>
            <a:r>
              <a:rPr sz="1050">
                <a:solidFill>
                  <a:srgbClr val="1E293B"/>
                </a:solidFill>
                <a:latin typeface="Segoe UI"/>
              </a:rPr>
              <a:t>As harmonic drives, frameless motors, and planetary actuators become off-the-shelf commodities, hardware-only OEMs face margin compression mirroring PC and Android handset commoditization.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Software &amp; Integration Captures 70%+ Value: </a:t>
            </a:r>
            <a:r>
              <a:rPr sz="1050">
                <a:solidFill>
                  <a:srgbClr val="1E293B"/>
                </a:solidFill>
                <a:latin typeface="Segoe UI"/>
              </a:rPr>
              <a:t>Economic surplus decisively shifts to: (1) Pretrained Foundation Models, (2) Deterministic Safety Middleware, (3) Physics Digital Twins, and (4) Systems Integration connecting robots to brownfield PLCs.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LTTS Strategic Imperative: </a:t>
            </a:r>
            <a:r>
              <a:rPr sz="1050">
                <a:solidFill>
                  <a:srgbClr val="1E293B"/>
                </a:solidFill>
                <a:latin typeface="Segoe UI"/>
              </a:rPr>
              <a:t>LTTS must never attempt to build or manufacture proprietary robot hardware frames. The winning strategy is to remain entirely hardware-agnostic and capture high-margin software integration, V&amp;V, and deployment.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Venture capital is aggressively subsidizing foundation models; commoditizing hardware forces value into systems engineering and plant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587752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MODULE 2 · FRONTIER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Frontier Research: Flow Matching, World Models &amp; RFT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Core machine learning breakthroughs overcoming discrete tokenization and lack of spatial geometry.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057400"/>
            <a:ext cx="3026664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PRIORITY 1 · CONTINUOUS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04872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Continuous Action Flow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3026664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Breakthrough: </a:t>
            </a:r>
            <a:r>
              <a:rPr sz="1050">
                <a:solidFill>
                  <a:srgbClr val="1E293B"/>
                </a:solidFill>
                <a:latin typeface="Segoe UI"/>
              </a:rPr>
              <a:t>Direct velocity field regression via flow matching rather than autoregressive discrete tokenization.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Foundation Benchmark: </a:t>
            </a:r>
            <a:r>
              <a:rPr sz="1050">
                <a:solidFill>
                  <a:srgbClr val="1E293B"/>
                </a:solidFill>
                <a:latin typeface="Segoe UI"/>
              </a:rPr>
              <a:t>Physical Intelligence π0 technical report (Oct 2024, arXiv:2410.24164).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Why Tokenization Failed: </a:t>
            </a:r>
            <a:r>
              <a:rPr sz="1050">
                <a:solidFill>
                  <a:srgbClr val="1E293B"/>
                </a:solidFill>
                <a:latin typeface="Segoe UI"/>
              </a:rPr>
              <a:t>Discretizing continuous motor torques into 256 discrete bins causes severe joint chattering and mechanical jerk.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Industrial Advantage: </a:t>
            </a:r>
            <a:r>
              <a:rPr sz="1050">
                <a:solidFill>
                  <a:srgbClr val="1E293B"/>
                </a:solidFill>
                <a:latin typeface="Segoe UI"/>
              </a:rPr>
              <a:t>Enables sub-millimeter precision, fluid multi-joint coordination, and natural compliance during tight-tolerance assembly.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98264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81144" y="2057400"/>
            <a:ext cx="3026664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284C7"/>
                </a:solidFill>
                <a:latin typeface="Segoe UI"/>
              </a:rPr>
              <a:t>PRIORITY 2 · 3D GEOMETRY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404872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3D Geometric &amp; Video World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898648"/>
            <a:ext cx="3026664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Breakthrough: </a:t>
            </a:r>
            <a:r>
              <a:rPr sz="1050">
                <a:solidFill>
                  <a:srgbClr val="1E293B"/>
                </a:solidFill>
                <a:latin typeface="Segoe UI"/>
              </a:rPr>
              <a:t>Pretraining generative models on massive physical video corpora to predict future 3D point-cloud states and scene dynamics.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Industry Implementations: </a:t>
            </a:r>
            <a:r>
              <a:rPr sz="1050">
                <a:solidFill>
                  <a:srgbClr val="1E293B"/>
                </a:solidFill>
                <a:latin typeface="Segoe UI"/>
              </a:rPr>
              <a:t>NVIDIA Cosmos platform, World Labs (Fei-Fei Li spatial intelligence models).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Causal Advantage: </a:t>
            </a:r>
            <a:r>
              <a:rPr sz="1050">
                <a:solidFill>
                  <a:srgbClr val="1E293B"/>
                </a:solidFill>
                <a:latin typeface="Segoe UI"/>
              </a:rPr>
              <a:t>Generates plausible physics rollouts conditioned on proposed motor actions, allowing robots to simulate consequences before moving.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Industrial Advantage: </a:t>
            </a:r>
            <a:r>
              <a:rPr sz="1050">
                <a:solidFill>
                  <a:srgbClr val="1E293B"/>
                </a:solidFill>
                <a:latin typeface="Segoe UI"/>
              </a:rPr>
              <a:t>Reduces on-robot physical trial requirements by 100x by generating thousands of diverse edge-case synthetic variations.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65008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7888" y="2057400"/>
            <a:ext cx="3026664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47857"/>
                </a:solidFill>
                <a:latin typeface="Segoe UI"/>
              </a:rPr>
              <a:t>PRIORITY 3 · AUTONOMOUS 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404872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Reinforcement Fine-Tuning (RFT)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898648"/>
            <a:ext cx="3026664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Breakthrough: </a:t>
            </a:r>
            <a:r>
              <a:rPr sz="1050">
                <a:solidFill>
                  <a:srgbClr val="1E293B"/>
                </a:solidFill>
                <a:latin typeface="Segoe UI"/>
              </a:rPr>
              <a:t>Autonomous policy improvement through trial-and-error exploration in physics simulation rather than static imitation.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Overcoming Teleop Limits: </a:t>
            </a:r>
            <a:r>
              <a:rPr sz="1050">
                <a:solidFill>
                  <a:srgbClr val="1E293B"/>
                </a:solidFill>
                <a:latin typeface="Segoe UI"/>
              </a:rPr>
              <a:t>Human teleoperation data is prohibitively expensive ($50-$100/hr) and fundamentally reflects sub-optimal human biomechanics.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Curriculum Hardening: </a:t>
            </a:r>
            <a:r>
              <a:rPr sz="1050">
                <a:solidFill>
                  <a:srgbClr val="1E293B"/>
                </a:solidFill>
                <a:latin typeface="Segoe UI"/>
              </a:rPr>
              <a:t>Progressively injecting synthetic friction variances, payload mass shifts, and external push disturbances into the training loop.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Industrial Advantage: </a:t>
            </a:r>
            <a:r>
              <a:rPr sz="1050">
                <a:solidFill>
                  <a:srgbClr val="1E293B"/>
                </a:solidFill>
                <a:latin typeface="Segoe UI"/>
              </a:rPr>
              <a:t>Produces hardened neural controllers that autonomously recover from dropped parts, slipping grasps, and misaligned workpieces.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Flow matching and 3D world models bridge the gap from linguistic reasoning to smooth, physics-consistent continuous trajectory execution.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587752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MODULE 2 · FRONTIER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Cross-Embodiment Scaling Laws &amp; Sub-10ms Edge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Translating internet-scale human video to robot policies and deploying models under 10ms at the edge.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A58CA"/>
                </a:solidFill>
                <a:latin typeface="Segoe UI"/>
              </a:rPr>
              <a:t>PRIORITY 4 · CROSS-EMBODIMENT SCALING LAWS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NVIDIA GEAR EgoScale Discovery (arXiv:2602.16710)
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Log-Linear Scaling Laws (Feb 2026): </a:t>
            </a:r>
            <a:r>
              <a:rPr sz="1050">
                <a:solidFill>
                  <a:srgbClr val="1E293B"/>
                </a:solidFill>
                <a:latin typeface="Segoe UI"/>
              </a:rPr>
              <a:t>Research on EgoScale establishes log-linear scaling transferring uncurated human egocentric video directly to heterogeneous physical robot policies.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Universal Latent Representation: </a:t>
            </a:r>
            <a:r>
              <a:rPr sz="1050">
                <a:solidFill>
                  <a:srgbClr val="1E293B"/>
                </a:solidFill>
                <a:latin typeface="Segoe UI"/>
              </a:rPr>
              <a:t>Maps disparate physical morphologies—including bipedal humanoids, quadrupeds, 6-DoF serial arms, and dual-arm manipulators—into a shared action-latent space.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Zero-Shot Spatial Invariant Transfer: </a:t>
            </a:r>
            <a:r>
              <a:rPr sz="1050">
                <a:solidFill>
                  <a:srgbClr val="1E293B"/>
                </a:solidFill>
                <a:latin typeface="Segoe UI"/>
              </a:rPr>
              <a:t>Policies pre-trained on internet-scale human demonstration videos learn fundamental spatial invariants (grasp centroids, clearance vectors) without per-robot teleoperation.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Commercial Advantage for Integrators: </a:t>
            </a:r>
            <a:r>
              <a:rPr sz="1050">
                <a:solidFill>
                  <a:srgbClr val="1E293B"/>
                </a:solidFill>
                <a:latin typeface="Segoe UI"/>
              </a:rPr>
              <a:t>Allows engineering integrators to train a core foundation policy once and deploy it across KUKA, FANUC, ABB, and Universal Robots hardware with minimal fine-tuning.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27064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55664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47857"/>
                </a:solidFill>
                <a:latin typeface="Segoe UI"/>
              </a:rPr>
              <a:t>PRIORITY 5 · SUB-10MS EDGE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Deterministic Edge Quantization &amp; Control Loops
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The Hard Real-Time Constraint (≤ 10ms): </a:t>
            </a:r>
            <a:r>
              <a:rPr sz="1050">
                <a:solidFill>
                  <a:srgbClr val="1E293B"/>
                </a:solidFill>
                <a:latin typeface="Segoe UI"/>
              </a:rPr>
              <a:t>Physical robot dynamic stability mandates 100Hz control loop frequencies (≤ 10ms latency). High-frequency servo commutation cannot tolerate cloud latency or non-deterministic lag.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FP8 &amp; INT4 TensorRT-LLM Acceleration: </a:t>
            </a:r>
            <a:r>
              <a:rPr sz="1050">
                <a:solidFill>
                  <a:srgbClr val="1E293B"/>
                </a:solidFill>
                <a:latin typeface="Segoe UI"/>
              </a:rPr>
              <a:t>Quantizing multi-billion-parameter VLA models to FP8/INT4 precision using NVIDIA TensorRT-LLM running directly on embedded edge hardware (Jetson Thor / AGX Orin).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Thermal &amp; Power Envelope (15W - 50W): </a:t>
            </a:r>
            <a:r>
              <a:rPr sz="1050">
                <a:solidFill>
                  <a:srgbClr val="1E293B"/>
                </a:solidFill>
                <a:latin typeface="Segoe UI"/>
              </a:rPr>
              <a:t>Industrial mobile manipulators operate on strict battery and thermal budgets. Models must execute within 15W–50W plant power envelopes without active liquid cooling.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Asynchronous Multi-Rate Architecture: </a:t>
            </a:r>
            <a:r>
              <a:rPr sz="1050">
                <a:solidFill>
                  <a:srgbClr val="1E293B"/>
                </a:solidFill>
                <a:latin typeface="Segoe UI"/>
              </a:rPr>
              <a:t>Decoupling perception from execution: high-level semantic vision runs at 10Hz, policy planning at 100Hz, and low-level torque safety governors commutation at 1kHz.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Cross-embodiment pretraining solves data scarcity; edge quantization guarantees deterministic sub-10ms execution on real plant floors.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587752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MODULE 2 · FRONTIER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Five Canonical Failure Modes of Physical AI (FM1 to FM5)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Structural physical and algorithmic failure modes causing deep learning policies to fail on live plant floors.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25912" cy="77724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73152" cy="77724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1965960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B91C1C"/>
                </a:solidFill>
                <a:latin typeface="Segoe UI"/>
              </a:rPr>
              <a:t>FM1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929384"/>
            <a:ext cx="9720072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Segoe UI"/>
              </a:rPr>
              <a:t>Out-of-Distribution Kinematic Singularity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64748B"/>
                </a:solidFill>
                <a:latin typeface="Segoe UI"/>
              </a:rPr>
              <a:t>Mechanism: </a:t>
            </a:r>
            <a:r>
              <a:rPr sz="1000">
                <a:solidFill>
                  <a:srgbClr val="1E293B"/>
                </a:solidFill>
                <a:latin typeface="Segoe UI"/>
              </a:rPr>
              <a:t>Neural policy commands end-effector velocity passing near robot joint boundary where det(J) -&gt; 0.   |   </a:t>
            </a:r>
            <a:r>
              <a:rPr sz="1000" b="1">
                <a:solidFill>
                  <a:srgbClr val="B91C1C"/>
                </a:solidFill>
                <a:latin typeface="Segoe UI"/>
              </a:rPr>
              <a:t>Manifestation: </a:t>
            </a:r>
            <a:r>
              <a:rPr sz="1000">
                <a:solidFill>
                  <a:srgbClr val="1E293B"/>
                </a:solidFill>
                <a:latin typeface="Segoe UI"/>
              </a:rPr>
              <a:t>Instantaneous motor over-current trips, emergency brake locking, or stripped gears.   |   </a:t>
            </a:r>
            <a:r>
              <a:rPr sz="1000" b="1">
                <a:solidFill>
                  <a:srgbClr val="047857"/>
                </a:solidFill>
                <a:latin typeface="Segoe UI"/>
              </a:rPr>
              <a:t>Mitigation: </a:t>
            </a:r>
            <a:r>
              <a:rPr sz="1000">
                <a:solidFill>
                  <a:srgbClr val="1E293B"/>
                </a:solidFill>
                <a:latin typeface="Segoe UI"/>
              </a:rPr>
              <a:t>Damped Least-Squares (DLS) mechatronic filtering and null-space projection before servo commands.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24911"/>
            <a:ext cx="10725912" cy="77724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2724911"/>
            <a:ext cx="73152" cy="77724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2816351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B91C1C"/>
                </a:solidFill>
                <a:latin typeface="Segoe UI"/>
              </a:rPr>
              <a:t>FM2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779775"/>
            <a:ext cx="9720072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Segoe UI"/>
              </a:rPr>
              <a:t>Contact-Rich Force-Torque Instability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64748B"/>
                </a:solidFill>
                <a:latin typeface="Segoe UI"/>
              </a:rPr>
              <a:t>Mechanism: </a:t>
            </a:r>
            <a:r>
              <a:rPr sz="1000">
                <a:solidFill>
                  <a:srgbClr val="1E293B"/>
                </a:solidFill>
                <a:latin typeface="Segoe UI"/>
              </a:rPr>
              <a:t>Non-linear Coulomb friction and surface elasticity create high-frequency impact chattering during insertion.   |   </a:t>
            </a:r>
            <a:r>
              <a:rPr sz="1000" b="1">
                <a:solidFill>
                  <a:srgbClr val="B91C1C"/>
                </a:solidFill>
                <a:latin typeface="Segoe UI"/>
              </a:rPr>
              <a:t>Manifestation: </a:t>
            </a:r>
            <a:r>
              <a:rPr sz="1000">
                <a:solidFill>
                  <a:srgbClr val="1E293B"/>
                </a:solidFill>
                <a:latin typeface="Segoe UI"/>
              </a:rPr>
              <a:t>Rapid force-sensor saturation, acoustic resonance, workpiece gouging, or tool breakage.   |   </a:t>
            </a:r>
            <a:r>
              <a:rPr sz="1000" b="1">
                <a:solidFill>
                  <a:srgbClr val="047857"/>
                </a:solidFill>
                <a:latin typeface="Segoe UI"/>
              </a:rPr>
              <a:t>Mitigation: </a:t>
            </a:r>
            <a:r>
              <a:rPr sz="1000">
                <a:solidFill>
                  <a:srgbClr val="1E293B"/>
                </a:solidFill>
                <a:latin typeface="Segoe UI"/>
              </a:rPr>
              <a:t>High-frequency (1kHz) hybrid impedance/force control layers and tactile feedback loops.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75303"/>
            <a:ext cx="10725912" cy="77724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575303"/>
            <a:ext cx="73152" cy="77724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" y="3666744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B91C1C"/>
                </a:solidFill>
                <a:latin typeface="Segoe UI"/>
              </a:rPr>
              <a:t>FM3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630168"/>
            <a:ext cx="9720072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Segoe UI"/>
              </a:rPr>
              <a:t>Latency-Induced Phase Lag &amp; Oscillation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64748B"/>
                </a:solidFill>
                <a:latin typeface="Segoe UI"/>
              </a:rPr>
              <a:t>Mechanism: </a:t>
            </a:r>
            <a:r>
              <a:rPr sz="1000">
                <a:solidFill>
                  <a:srgbClr val="1E293B"/>
                </a:solidFill>
                <a:latin typeface="Segoe UI"/>
              </a:rPr>
              <a:t>Edge compute inference latency spikes above 50ms, introducing phase lag between camera and actuator.   |   </a:t>
            </a:r>
            <a:r>
              <a:rPr sz="1000" b="1">
                <a:solidFill>
                  <a:srgbClr val="B91C1C"/>
                </a:solidFill>
                <a:latin typeface="Segoe UI"/>
              </a:rPr>
              <a:t>Manifestation: </a:t>
            </a:r>
            <a:r>
              <a:rPr sz="1000">
                <a:solidFill>
                  <a:srgbClr val="1E293B"/>
                </a:solidFill>
                <a:latin typeface="Segoe UI"/>
              </a:rPr>
              <a:t>Severe mechanical overshoot, hunting oscillations, resonance amplification, and collisions.   |   </a:t>
            </a:r>
            <a:r>
              <a:rPr sz="1000" b="1">
                <a:solidFill>
                  <a:srgbClr val="047857"/>
                </a:solidFill>
                <a:latin typeface="Segoe UI"/>
              </a:rPr>
              <a:t>Mitigation: </a:t>
            </a:r>
            <a:r>
              <a:rPr sz="1000">
                <a:solidFill>
                  <a:srgbClr val="1E293B"/>
                </a:solidFill>
                <a:latin typeface="Segoe UI"/>
              </a:rPr>
              <a:t>Fixed-time budget inference governors, predictive trajectory extrapolators, and RTOS priority scheduling.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25696"/>
            <a:ext cx="10725912" cy="77724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425696"/>
            <a:ext cx="73152" cy="77724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6112" y="4517136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C2410C"/>
                </a:solidFill>
                <a:latin typeface="Segoe UI"/>
              </a:rPr>
              <a:t>FM4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480559"/>
            <a:ext cx="9720072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Segoe UI"/>
              </a:rPr>
              <a:t>Sensor Degradation &amp; Brownfield Glare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64748B"/>
                </a:solidFill>
                <a:latin typeface="Segoe UI"/>
              </a:rPr>
              <a:t>Mechanism: </a:t>
            </a:r>
            <a:r>
              <a:rPr sz="1000">
                <a:solidFill>
                  <a:srgbClr val="1E293B"/>
                </a:solidFill>
                <a:latin typeface="Segoe UI"/>
              </a:rPr>
              <a:t>Airborne coolant mist, weld dust, lens smudges, and 50Hz/60Hz fluorescent lighting flicker corrupt camera feeds.   |   </a:t>
            </a:r>
            <a:r>
              <a:rPr sz="1000" b="1">
                <a:solidFill>
                  <a:srgbClr val="B91C1C"/>
                </a:solidFill>
                <a:latin typeface="Segoe UI"/>
              </a:rPr>
              <a:t>Manifestation: </a:t>
            </a:r>
            <a:r>
              <a:rPr sz="1000">
                <a:solidFill>
                  <a:srgbClr val="1E293B"/>
                </a:solidFill>
                <a:latin typeface="Segoe UI"/>
              </a:rPr>
              <a:t>Vision tokens lose semantic confidence, causing robot freeze, false obstacle stops, or miscalculated grasps.   |   </a:t>
            </a:r>
            <a:r>
              <a:rPr sz="1000" b="1">
                <a:solidFill>
                  <a:srgbClr val="047857"/>
                </a:solidFill>
                <a:latin typeface="Segoe UI"/>
              </a:rPr>
              <a:t>Mitigation: </a:t>
            </a:r>
            <a:r>
              <a:rPr sz="1000">
                <a:solidFill>
                  <a:srgbClr val="1E293B"/>
                </a:solidFill>
                <a:latin typeface="Segoe UI"/>
              </a:rPr>
              <a:t>Multi-modal sensor fusion (stereo depth + LiDAR + tactile arrays) and out-of-distribution optical checks.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76088"/>
            <a:ext cx="10725912" cy="77724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" y="5276088"/>
            <a:ext cx="73152" cy="77724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6112" y="5367527"/>
            <a:ext cx="640080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C2410C"/>
                </a:solidFill>
                <a:latin typeface="Segoe UI"/>
              </a:rPr>
              <a:t>FM5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330951"/>
            <a:ext cx="9720072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0F172A"/>
                </a:solidFill>
                <a:latin typeface="Segoe UI"/>
              </a:rPr>
              <a:t>Semantic Drift &amp; Object Pose Hallucination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64748B"/>
                </a:solidFill>
                <a:latin typeface="Segoe UI"/>
              </a:rPr>
              <a:t>Mechanism: </a:t>
            </a:r>
            <a:r>
              <a:rPr sz="1000">
                <a:solidFill>
                  <a:srgbClr val="1E293B"/>
                </a:solidFill>
                <a:latin typeface="Segoe UI"/>
              </a:rPr>
              <a:t>Pretrained VLA model confuses novel packaging, altered surface finishes, or metallic reflections with clutter.   |   </a:t>
            </a:r>
            <a:r>
              <a:rPr sz="1000" b="1">
                <a:solidFill>
                  <a:srgbClr val="B91C1C"/>
                </a:solidFill>
                <a:latin typeface="Segoe UI"/>
              </a:rPr>
              <a:t>Manifestation: </a:t>
            </a:r>
            <a:r>
              <a:rPr sz="1000">
                <a:solidFill>
                  <a:srgbClr val="1E293B"/>
                </a:solidFill>
                <a:latin typeface="Segoe UI"/>
              </a:rPr>
              <a:t>Grasping empty space, misaligned pick-and-place drops, or applying full grip force to delicate parts.   |   </a:t>
            </a:r>
            <a:r>
              <a:rPr sz="1000" b="1">
                <a:solidFill>
                  <a:srgbClr val="047857"/>
                </a:solidFill>
                <a:latin typeface="Segoe UI"/>
              </a:rPr>
              <a:t>Mitigation: </a:t>
            </a:r>
            <a:r>
              <a:rPr sz="1000">
                <a:solidFill>
                  <a:srgbClr val="1E293B"/>
                </a:solidFill>
                <a:latin typeface="Segoe UI"/>
              </a:rPr>
              <a:t>Explicit 3D geometric bounding-box verification and contact-switch confirmation before trajectory execution.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Every physical AI deployment requires rigorous mechatronic safety filters; unconstrained neural policies inevitably destroy physical plant equipment.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587752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MODULE 2 · FRONTIER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Segoe UI"/>
              </a:rPr>
              <a:t>Pearl's Causal Ladder: Why LLMs Fail at Robotics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Deploying standard language models into robotics fails due to a fundamental representational mismatch.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039112"/>
            <a:ext cx="3026664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RUNG 1 OF CAUSALITY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50008"/>
            <a:ext cx="30266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Association &amp; Observation
</a:t>
            </a:r>
            <a:r>
              <a:rPr sz="1050">
                <a:solidFill>
                  <a:srgbClr val="64748B"/>
                </a:solidFill>
                <a:latin typeface="Segoe UI"/>
              </a:rPr>
              <a:t>Where LLMs Operate (Static Semantic Space)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063239"/>
            <a:ext cx="3026664" cy="822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200400"/>
            <a:ext cx="862584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4400" y="3977639"/>
            <a:ext cx="3026664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Segoe UI"/>
              </a:rPr>
              <a:t>Standard language models operate strictly on observational correlations: P(Y | X). They predict the most probable next token based on statistical co-occurrences in historical training text corpora.
</a:t>
            </a:r>
            <a:r>
              <a:rPr sz="1050">
                <a:solidFill>
                  <a:srgbClr val="0F172A"/>
                </a:solidFill>
                <a:latin typeface="Segoe UI"/>
              </a:rPr>
              <a:t>Limitation: Passive observation cannot distinguish causal influence from spurious correlation. A language model knows 'smoke correlates with fire' but has no concept of physical mass, friction, or gravity.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98264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81144" y="2039112"/>
            <a:ext cx="3026664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02B49"/>
                </a:solidFill>
                <a:latin typeface="Segoe UI"/>
              </a:rPr>
              <a:t>RUNG 2 OF CAUSALITY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350008"/>
            <a:ext cx="30266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Intervention &amp; Action
</a:t>
            </a:r>
            <a:r>
              <a:rPr sz="1050">
                <a:solidFill>
                  <a:srgbClr val="64748B"/>
                </a:solidFill>
                <a:latin typeface="Segoe UI"/>
              </a:rPr>
              <a:t>The Domain of Physical AI (Dynamic Closed-Loop)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81144" y="3063239"/>
            <a:ext cx="3026664" cy="822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3200400"/>
            <a:ext cx="1243584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81144" y="3977639"/>
            <a:ext cx="3026664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Segoe UI"/>
              </a:rPr>
              <a:t>Physical control mandates causal intervention: P(Y | do(u)). A robot controller cannot merely guess tokens; it must predict precisely what physical state Y occurs when commanding a 15N torque u to an actuator.
</a:t>
            </a:r>
            <a:r>
              <a:rPr sz="1050">
                <a:solidFill>
                  <a:srgbClr val="0F172A"/>
                </a:solidFill>
                <a:latin typeface="Segoe UI"/>
              </a:rPr>
              <a:t>Requirement: Demands dedicated physical world models and closed-loop sensory feedback that map continuous control forces to kinematic motion under Newton's differential equations.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5008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65008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47888" y="2039112"/>
            <a:ext cx="3026664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47857"/>
                </a:solidFill>
                <a:latin typeface="Segoe UI"/>
              </a:rPr>
              <a:t>RUNG 3 OF CAUSALITY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350008"/>
            <a:ext cx="30266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Counterfactuals &amp; Planning
</a:t>
            </a:r>
            <a:r>
              <a:rPr sz="1050">
                <a:solidFill>
                  <a:srgbClr val="64748B"/>
                </a:solidFill>
                <a:latin typeface="Segoe UI"/>
              </a:rPr>
              <a:t>The Benchmark for Certified Safety &amp; V&amp;V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47888" y="3063239"/>
            <a:ext cx="3026664" cy="822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3200400"/>
            <a:ext cx="1402080" cy="304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47888" y="3977639"/>
            <a:ext cx="3026664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>
                <a:solidFill>
                  <a:srgbClr val="1E293B"/>
                </a:solidFill>
                <a:latin typeface="Segoe UI"/>
              </a:rPr>
              <a:t>Safe autonomous execution requires evaluating counterfactual alternatives: P(Yu | X', Y'). The system must compute: 'Given that obstacle X' was encountered, would command trajectory u have prevented collision?'
</a:t>
            </a:r>
            <a:r>
              <a:rPr sz="1050">
                <a:solidFill>
                  <a:srgbClr val="0F172A"/>
                </a:solidFill>
                <a:latin typeface="Segoe UI"/>
              </a:rPr>
              <a:t>Requirement: Essential for formal functional safety dossiers, reachability verification, and statutory insurance compliance in brownfield industrial plants.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This causal hierarchy proves why industrial robotics requires dedicated physics-grounded verification rather than raw LLM prompt engineering.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587752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MODULE 3 · COMMERCIALIZATION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Segoe UI"/>
              </a:rPr>
              <a:t>Commercial Models, Deal Economics &amp; Buyer Personas (Table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Comprehensive benchmark of revenue archetypes across foundation models, OEMs, software, and systems integration.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25912" cy="384048"/>
          </a:xfrm>
          <a:prstGeom prst="roundRect">
            <a:avLst>
              <a:gd name="adj" fmla="val 8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4767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BUSINESS MODEL ARCHETYPE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1947672"/>
            <a:ext cx="18836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REPRESENTATIVE 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8" y="1947672"/>
            <a:ext cx="22494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CONTRACT &amp; DEAL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947672"/>
            <a:ext cx="9692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SALES 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1947672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PRIMARY BUYER PERSONA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295144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368296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Model Licensing / FMaaS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368296"/>
            <a:ext cx="18287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Physical Intelligence, Skild AI, Covariant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368296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Annual base license + API overage
($100k - $500k+ ARR) [Estimated]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368296"/>
            <a:ext cx="91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47857"/>
                </a:solidFill>
                <a:latin typeface="Segoe UI"/>
              </a:rPr>
              <a:t>3 - 6 mos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368296"/>
            <a:ext cx="23134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VP Software /
Head of Robotics R&amp;D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99815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172968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Integrated HW+SW OEM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172968"/>
            <a:ext cx="18287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Figure AI, Agility Robotics, Boston Dynamics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172968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Robotics-as-a-Service ($5k-$15k/robot/mo)
or CapEx + maintenance SLA [Reported]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3172968"/>
            <a:ext cx="91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Segoe UI"/>
              </a:rPr>
              <a:t>12 - 18 mos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3172968"/>
            <a:ext cx="23134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VP Logistics /
Plant General Manager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904487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Simulation &amp; Validation Tooling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3977639"/>
            <a:ext cx="18287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NVIDIA Isaac Sim, Applied Intuition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977639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Enterprise SaaS subscription
($250k - $2.0M+ ACV) [Reported]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977639"/>
            <a:ext cx="91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Segoe UI"/>
              </a:rPr>
              <a:t>6 - 9 mos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977639"/>
            <a:ext cx="23134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VP Engineering /
Head of Autonomous Systems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709159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782312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Compliance &amp; Safety 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4782312"/>
            <a:ext cx="18287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TÜV SÜD, UL Solutions, Credo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4782312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Safety audit fee + recurring testing suite
($150k - $750k per engagement) [Estimated]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4782312"/>
            <a:ext cx="91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Segoe UI"/>
              </a:rPr>
              <a:t>6 - 12 mos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4782312"/>
            <a:ext cx="23134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Chief Safety Officer /
VP Quality &amp; Compliance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513831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0F7FF"/>
          </a:solidFill>
          <a:ln w="19050">
            <a:solidFill>
              <a:srgbClr val="0A5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31520" y="5513831"/>
            <a:ext cx="73152" cy="768096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586983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A58CA"/>
                </a:solidFill>
                <a:latin typeface="Segoe UI"/>
              </a:rPr>
              <a:t>Systems Integration &amp; Deployment
★ LTTS CORE OPPORTUNITY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5586983"/>
            <a:ext cx="18287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LTTS, KPIT Tech, Accenture Industry 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5586983"/>
            <a:ext cx="21945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T&amp;M + Milestone-gated deployment
($1.0M - $8.0M+ per site) [Estimated]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5586983"/>
            <a:ext cx="91440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47857"/>
                </a:solidFill>
                <a:latin typeface="Segoe UI"/>
              </a:rPr>
              <a:t>4 - 8 mos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5586983"/>
            <a:ext cx="23134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Chief Information Officer /
VP Manufacturing Operations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Systems integration captures the largest single-site budget ($1.0M-$8.0M+) with relatively fast 4-8 month enterprise sales cycles.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587752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MODULE 3 · COMMERCIALIZATION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The ER&amp;D Services Opportunity &amp; Commercial Offerings 1 &amp;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Positioning LTTS to capture the $45B engineering services market through industrial AI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47857"/>
                </a:solidFill>
                <a:latin typeface="Segoe UI"/>
              </a:rPr>
              <a:t>OFFERING 1 · RECONFIGURABLE CELL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Software-Defined Factory as a Service (SD-FaaS)
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The Enterprise Problem: </a:t>
            </a:r>
            <a:r>
              <a:rPr sz="1050">
                <a:solidFill>
                  <a:srgbClr val="1E293B"/>
                </a:solidFill>
                <a:latin typeface="Segoe UI"/>
              </a:rPr>
              <a:t>Traditional factory lines require 12 to 18 months and millions in CapEx to re-tool for new product variants. Physical AI enables dynamic, software-driven cell re-tasking.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Monetizing Enterprise CAD/PLM: </a:t>
            </a:r>
            <a:r>
              <a:rPr sz="1050">
                <a:solidFill>
                  <a:srgbClr val="1E293B"/>
                </a:solidFill>
                <a:latin typeface="Segoe UI"/>
              </a:rPr>
              <a:t>LTTS ingests existing customer Siemens Teamcenter / Dassault Systèmes CAD assemblies directly into NVIDIA Omniverse digital twins to generate validated robot workcells.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Deal Economics ($2.0M - $5.0M per Plant): </a:t>
            </a:r>
            <a:r>
              <a:rPr sz="1050">
                <a:solidFill>
                  <a:srgbClr val="1E293B"/>
                </a:solidFill>
                <a:latin typeface="Segoe UI"/>
              </a:rPr>
              <a:t>Turnkey transformation contracts covering simulation setup, automated line re-tooling, and recurring edge calibration SLAs.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Measurable ROI: </a:t>
            </a:r>
            <a:r>
              <a:rPr sz="1050">
                <a:solidFill>
                  <a:srgbClr val="1E293B"/>
                </a:solidFill>
                <a:latin typeface="Segoe UI"/>
              </a:rPr>
              <a:t>Reduces physical line commissioning time from 16 weeks to 3 weeks, eliminating costly mechanical re-machining change orders.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27064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55664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A58CA"/>
                </a:solidFill>
                <a:latin typeface="Segoe UI"/>
              </a:rPr>
              <a:t>OFFERING 2 · DETERMINISTIC SAFETY MIDDLEWARE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Industrial PLC &amp; Edge Bridge Middleware
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The Interface Chasm: </a:t>
            </a:r>
            <a:r>
              <a:rPr sz="1050">
                <a:solidFill>
                  <a:srgbClr val="1E293B"/>
                </a:solidFill>
                <a:latin typeface="Segoe UI"/>
              </a:rPr>
              <a:t>Foundation models output asynchronous PyTorch tensors at 100Hz; industrial automation operates on deterministic cyclic PLCs at 1kHz over PROFINET and EtherCAT.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Certified Bridge Architecture: </a:t>
            </a:r>
            <a:r>
              <a:rPr sz="1050">
                <a:solidFill>
                  <a:srgbClr val="1E293B"/>
                </a:solidFill>
                <a:latin typeface="Segoe UI"/>
              </a:rPr>
              <a:t>LTTS develops certified middleware wrapping neural trajectories with deterministic safety interlocks and certified PLC communication drivers (Siemens S7-1500, Rockwell ControlLogix).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Deal Economics ($500k - $1.5M per Cell): </a:t>
            </a:r>
            <a:r>
              <a:rPr sz="1050">
                <a:solidFill>
                  <a:srgbClr val="1E293B"/>
                </a:solidFill>
                <a:latin typeface="Segoe UI"/>
              </a:rPr>
              <a:t>Priced as systems integration plus per-node recurring software runtime licenses ($10k-$25k/robot/yr).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Strategic Moat: </a:t>
            </a:r>
            <a:r>
              <a:rPr sz="1050">
                <a:solidFill>
                  <a:srgbClr val="1E293B"/>
                </a:solidFill>
                <a:latin typeface="Segoe UI"/>
              </a:rPr>
              <a:t>Prevents deep learning hallucinations from tripping factory safety circuits, providing plant managers with certified fail-safe guarantees.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SD-FaaS and PLC Middleware position LTTS as the indispensable technical layer enabling frontier AI models to touch physical plant equipment.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587752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MODULE 3 · COMMERCIALIZATION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LTTS Offerings 3 &amp; 4: V&amp;V Practice and Embodied MLOps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High-margin recurring revenue models in statutory safety certification and continuous brownfield fleet calibration.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02B49"/>
                </a:solidFill>
                <a:latin typeface="Segoe UI"/>
              </a:rPr>
              <a:t>OFFERING 3 · STATUTORY SAFETY CERTIFICATION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Physical AI Verification &amp; Validation (V&amp;V)
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The Compliance Bottleneck: </a:t>
            </a:r>
            <a:r>
              <a:rPr sz="1050">
                <a:solidFill>
                  <a:srgbClr val="1E293B"/>
                </a:solidFill>
                <a:latin typeface="Segoe UI"/>
              </a:rPr>
              <a:t>Enterprises cannot deploy uncertified neural policies into live plants without invalidating facility insurance under ISO 13849 (PL-d/e) and IEC 61508.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Formal Reachability Verification: </a:t>
            </a:r>
            <a:r>
              <a:rPr sz="1050">
                <a:solidFill>
                  <a:srgbClr val="1E293B"/>
                </a:solidFill>
                <a:latin typeface="Segoe UI"/>
              </a:rPr>
              <a:t>LTTS utilizes Hamilton-Jacobi reachability analysis and Control Barrier Functions (CBFs) to mathematically prove the robot cannot enter unsafe states.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Deal Economics ($750k - $2.0M per Audit): </a:t>
            </a:r>
            <a:r>
              <a:rPr sz="1050">
                <a:solidFill>
                  <a:srgbClr val="1E293B"/>
                </a:solidFill>
                <a:latin typeface="Segoe UI"/>
              </a:rPr>
              <a:t>High-margin statutory compliance engagements producing certified Safety Dossiers for plant underwriters and regulatory authorities.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Regulatory Gatekeeper Role: </a:t>
            </a:r>
            <a:r>
              <a:rPr sz="1050">
                <a:solidFill>
                  <a:srgbClr val="1E293B"/>
                </a:solidFill>
                <a:latin typeface="Segoe UI"/>
              </a:rPr>
              <a:t>LTTS establishes itself as the mandatory certification authority between AI foundation model startups and industrial plant operators.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27064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55664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6D28D9"/>
                </a:solidFill>
                <a:latin typeface="Segoe UI"/>
              </a:rPr>
              <a:t>OFFERING 4 · LIFECYCLE MODEL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Brownfield Embodied MLOps &amp; Continuous Calibration
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The Performance Decay Problem: </a:t>
            </a:r>
            <a:r>
              <a:rPr sz="1050">
                <a:solidFill>
                  <a:srgbClr val="1E293B"/>
                </a:solidFill>
                <a:latin typeface="Segoe UI"/>
              </a:rPr>
              <a:t>In physical plants, policies degrade over time due to camera lens dust, mechanical gearbox backlash, shifting lighting, and changing vendor part tolerances.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Closed-Loop Edge Calibration: </a:t>
            </a:r>
            <a:r>
              <a:rPr sz="1050">
                <a:solidFill>
                  <a:srgbClr val="1E293B"/>
                </a:solidFill>
                <a:latin typeface="Segoe UI"/>
              </a:rPr>
              <a:t>LTTS deploys continuous edge telemetry pipelines that detect distribution drift, automatically recalibrate camera-to-robot extrinsics, and log failure corner-cases.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Deal Economics ($300k - $1.0M ARR per Campus): </a:t>
            </a:r>
            <a:r>
              <a:rPr sz="1050">
                <a:solidFill>
                  <a:srgbClr val="1E293B"/>
                </a:solidFill>
                <a:latin typeface="Segoe UI"/>
              </a:rPr>
              <a:t>Recurring multi-year software and remote engineering support contracts with strict SLA uptime guarantees (&gt;99.5%).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Sticky Customer Lock-In: </a:t>
            </a:r>
            <a:r>
              <a:rPr sz="1050">
                <a:solidFill>
                  <a:srgbClr val="1E293B"/>
                </a:solidFill>
                <a:latin typeface="Segoe UI"/>
              </a:rPr>
              <a:t>Capturing plant telemetry creates an insurmountable operational data moat, preventing competitors from displacing LTTS once deployed.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V&amp;V certification unlocks enterprise capital; Embodied MLOps creates durable multi-year recurring software revenue.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820924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MODULE 4 · USE CASES &amp;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Verified Deployments Across 5 Core Sectors &amp; Hype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Audited field implementations across five core verticals vs. viral marketing demonstrations.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6217920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6217920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039112"/>
            <a:ext cx="5760720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47857"/>
                </a:solidFill>
                <a:latin typeface="Segoe UI"/>
              </a:rPr>
              <a:t>AUDITED ENTERPRISE PRODUCTION DEPLOYMENTS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04872"/>
            <a:ext cx="576072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Field Implementations Across 5 Core Verticals
</a:t>
            </a:r>
          </a:p>
          <a:p>
            <a:pPr>
              <a:spcBef>
                <a:spcPts val="5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Automotive Manufacturing: </a:t>
            </a:r>
            <a:r>
              <a:rPr sz="1050">
                <a:solidFill>
                  <a:srgbClr val="1E293B"/>
                </a:solidFill>
                <a:latin typeface="Segoe UI"/>
              </a:rPr>
              <a:t>BMW Spartanburg plant successfully completed a multi-week pilot trial of Figure 02 humanoids performing precision sheet metal fixture insertion.</a:t>
            </a:r>
          </a:p>
          <a:p>
            <a:pPr>
              <a:spcBef>
                <a:spcPts val="5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Aerospace Assembly: </a:t>
            </a:r>
            <a:r>
              <a:rPr sz="1050">
                <a:solidFill>
                  <a:srgbClr val="1E293B"/>
                </a:solidFill>
                <a:latin typeface="Segoe UI"/>
              </a:rPr>
              <a:t>Airbus deployment of automated drilling guidance using physics-informed vision on A350 wing assembly, ensuring strict structural hole tolerances.</a:t>
            </a:r>
          </a:p>
          <a:p>
            <a:pPr>
              <a:spcBef>
                <a:spcPts val="5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Semiconductor Fabs: </a:t>
            </a:r>
            <a:r>
              <a:rPr sz="1050">
                <a:solidFill>
                  <a:srgbClr val="1E293B"/>
                </a:solidFill>
                <a:latin typeface="Segoe UI"/>
              </a:rPr>
              <a:t>TSMC deployment of closed-loop neural defect classification and sub-nanometer wafer handling in EUV lithography cleanrooms under ISO Class 1 conditions.</a:t>
            </a:r>
          </a:p>
          <a:p>
            <a:pPr>
              <a:spcBef>
                <a:spcPts val="5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Logistics &amp; Warehousing: </a:t>
            </a:r>
            <a:r>
              <a:rPr sz="1050">
                <a:solidFill>
                  <a:srgbClr val="1E293B"/>
                </a:solidFill>
                <a:latin typeface="Segoe UI"/>
              </a:rPr>
              <a:t>DHL Supply Chain multi-site production deployment of Boston Dynamics Stretch mobile manipulators for automated trailer truck container unloading.</a:t>
            </a:r>
          </a:p>
          <a:p>
            <a:pPr>
              <a:spcBef>
                <a:spcPts val="5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Energy &amp; Turbomachinery: </a:t>
            </a:r>
            <a:r>
              <a:rPr sz="1050">
                <a:solidFill>
                  <a:srgbClr val="1E293B"/>
                </a:solidFill>
                <a:latin typeface="Segoe UI"/>
              </a:rPr>
              <a:t>Heavy industrial gas turbines utilizing physics-informed neural network (PINN) thermal and vibration monitoring for predictive catastrophic valve failure prevention.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51192" y="1874519"/>
            <a:ext cx="4206240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51192" y="1874519"/>
            <a:ext cx="4206240" cy="54864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52360" y="2039112"/>
            <a:ext cx="3803903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C2410C"/>
                </a:solidFill>
                <a:latin typeface="Segoe UI"/>
              </a:rPr>
              <a:t>COMMERCIAL GROUNDING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404872"/>
            <a:ext cx="3803903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Hype-Ahead-of-Deployment Reality
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The Bipedal Mirage: </a:t>
            </a:r>
            <a:r>
              <a:rPr sz="1050">
                <a:solidFill>
                  <a:srgbClr val="1E293B"/>
                </a:solidFill>
                <a:latin typeface="Segoe UI"/>
              </a:rPr>
              <a:t>Viral videos of humanoids folding t-shirts or doing backflips disguise pervasive VR teleoperation and zero payload capacity. Bipedal stability in active plants remains unproven.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Commercial Plant Economics: </a:t>
            </a:r>
            <a:r>
              <a:rPr sz="1050">
                <a:solidFill>
                  <a:srgbClr val="1E293B"/>
                </a:solidFill>
                <a:latin typeface="Segoe UI"/>
              </a:rPr>
              <a:t>Factories do not need $150,000 bipedal legs. They need wheeled AMRs equipped with 6-DoF compliant arms costing 5x less with 10x higher payload and MTBF.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Brownfield Reality: </a:t>
            </a:r>
            <a:r>
              <a:rPr sz="1050">
                <a:solidFill>
                  <a:srgbClr val="1E293B"/>
                </a:solidFill>
                <a:latin typeface="Segoe UI"/>
              </a:rPr>
              <a:t>AI startups underestimate factory brownfield realities: oil mist, welding flashes, legacy 24V PLCs, and union safety regulations that halt uncertified equipment.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The Integration Bottleneck: </a:t>
            </a:r>
            <a:r>
              <a:rPr sz="1050">
                <a:solidFill>
                  <a:srgbClr val="1E293B"/>
                </a:solidFill>
                <a:latin typeface="Segoe UI"/>
              </a:rPr>
              <a:t>Plant managers refuse to deploy experimental foundation models without certified e-stops, PLC handshakes, and signed ISO safety dossiers.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Real enterprise ROI is concentrated in specialized mobile manipulators and inspection cells, not general-purpose bipedal humanoids.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820924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MODULE 4 · USE CASES &amp;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Segoe UI"/>
              </a:rPr>
              <a:t>Dominance of the Hybrid Incumbent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Why standalone AI startups fail without industrial automation incumbents and how LTTS bridges the gap.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057400"/>
            <a:ext cx="3026664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02B49"/>
                </a:solidFill>
                <a:latin typeface="Segoe UI"/>
              </a:rPr>
              <a:t>INCUMBENT ENTRENCHMENT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04872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The Incumbent Iron Grip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3026664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Market Reality: </a:t>
            </a:r>
            <a:r>
              <a:rPr sz="1050">
                <a:solidFill>
                  <a:srgbClr val="1E293B"/>
                </a:solidFill>
                <a:latin typeface="Segoe UI"/>
              </a:rPr>
              <a:t>Siemens, Rockwell Automation, ABB, and Schneider Electric control 80%+ of factory floor automation systems globally.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Customer Trust &amp; Lifecycles: </a:t>
            </a:r>
            <a:r>
              <a:rPr sz="1050">
                <a:solidFill>
                  <a:srgbClr val="1E293B"/>
                </a:solidFill>
                <a:latin typeface="Segoe UI"/>
              </a:rPr>
              <a:t>Industrial enterprises operate on 20- to 30-year machine lifecycles. Plant managers will not rip and replace proven PLCs for experimental startup software.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Statutory Safety Ownership: </a:t>
            </a:r>
            <a:r>
              <a:rPr sz="1050">
                <a:solidFill>
                  <a:srgbClr val="1E293B"/>
                </a:solidFill>
                <a:latin typeface="Segoe UI"/>
              </a:rPr>
              <a:t>Incumbents own machine safety certifications, fieldbus standards (PROFINET, CIP Safety), and factory insurance relationships.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The Startup Barrier: </a:t>
            </a:r>
            <a:r>
              <a:rPr sz="1050">
                <a:solidFill>
                  <a:srgbClr val="1E293B"/>
                </a:solidFill>
                <a:latin typeface="Segoe UI"/>
              </a:rPr>
              <a:t>Pure software startups cannot bypass the safety PLC layer; uncertified code is prohibited from touching live physical factory hardware.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98264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81144" y="2057400"/>
            <a:ext cx="3026664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HYBRID ALLIANCES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404872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The Hybrid Playbook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898648"/>
            <a:ext cx="3026664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Siemens &amp; Microsoft Copilot: </a:t>
            </a:r>
            <a:r>
              <a:rPr sz="1050">
                <a:solidFill>
                  <a:srgbClr val="1E293B"/>
                </a:solidFill>
                <a:latin typeface="Segoe UI"/>
              </a:rPr>
              <a:t>Generative AI industrial copilot embedded directly into Siemens TIA Portal for automated PLC code generation and natural language debugging.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Siemens &amp; Alphabet Intrinsic: </a:t>
            </a:r>
            <a:r>
              <a:rPr sz="1050">
                <a:solidFill>
                  <a:srgbClr val="1E293B"/>
                </a:solidFill>
                <a:latin typeface="Segoe UI"/>
              </a:rPr>
              <a:t>Strategic alliance connecting Intrinsic Flowstate robotics AI platform with Siemens industrial automation hardware.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Rockwell &amp; NVIDIA Omniverse: </a:t>
            </a:r>
            <a:r>
              <a:rPr sz="1050">
                <a:solidFill>
                  <a:srgbClr val="1E293B"/>
                </a:solidFill>
                <a:latin typeface="Segoe UI"/>
              </a:rPr>
              <a:t>Integration of NVIDIA Isaac Sim and Omniverse with Rockwell Logix controllers for real-time virtual commissioning.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The Structural Outcome: </a:t>
            </a:r>
            <a:r>
              <a:rPr sz="1050">
                <a:solidFill>
                  <a:srgbClr val="1E293B"/>
                </a:solidFill>
                <a:latin typeface="Segoe UI"/>
              </a:rPr>
              <a:t>Incumbents absorb AI capabilities into their existing hardware backbones, neutralizing standalone software disintermediation threats.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874519"/>
            <a:ext cx="33924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65008" y="1874519"/>
            <a:ext cx="3392424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7888" y="2057400"/>
            <a:ext cx="3026664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47857"/>
                </a:solidFill>
                <a:latin typeface="Segoe UI"/>
              </a:rPr>
              <a:t>LTTS STRATEGIC 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404872"/>
            <a:ext cx="30266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50" b="1">
                <a:solidFill>
                  <a:srgbClr val="0F172A"/>
                </a:solidFill>
                <a:latin typeface="Segoe UI"/>
              </a:rPr>
              <a:t>The LTTS Strategic Bridge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898648"/>
            <a:ext cx="3026664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The Trusted Integrator: </a:t>
            </a:r>
            <a:r>
              <a:rPr sz="1050">
                <a:solidFill>
                  <a:srgbClr val="1E293B"/>
                </a:solidFill>
                <a:latin typeface="Segoe UI"/>
              </a:rPr>
              <a:t>LTTS operates as the neutral, certified systems engineering bridge possessing deep expertise in both AI models and legacy industrial PLCs.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Execution Moat: </a:t>
            </a:r>
            <a:r>
              <a:rPr sz="1050">
                <a:solidFill>
                  <a:srgbClr val="1E293B"/>
                </a:solidFill>
                <a:latin typeface="Segoe UI"/>
              </a:rPr>
              <a:t>Neither Silicon Valley AI labs (lack mechatronics bench) nor legacy plant electricians (lack deep learning talent) can bridge this chasm alone.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Co-Selling with Incumbents: </a:t>
            </a:r>
            <a:r>
              <a:rPr sz="1050">
                <a:solidFill>
                  <a:srgbClr val="1E293B"/>
                </a:solidFill>
                <a:latin typeface="Segoe UI"/>
              </a:rPr>
              <a:t>Partnering with Siemens and Rockwell channel partners to co-sell physical AI deployment services to Tier-1 automotive and aerospace OEMs.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Durable Value Capture: </a:t>
            </a:r>
            <a:r>
              <a:rPr sz="1050">
                <a:solidFill>
                  <a:srgbClr val="1E293B"/>
                </a:solidFill>
                <a:latin typeface="Segoe UI"/>
              </a:rPr>
              <a:t>LTTS captures high-margin deployment, V&amp;V, and ongoing maintenance revenue regardless of which foundation model wins.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The future of manufacturing belongs to hybrid architectures: frontier AI policies layered safely on top of incumbent PLC control backbones.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898648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MODULE 5 ·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Layered Competitive Landscape Across Physical AI (Table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Five structural tiers define the global ecosystem from foundation models to statutory compliance.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25912" cy="384048"/>
          </a:xfrm>
          <a:prstGeom prst="roundRect">
            <a:avLst>
              <a:gd name="adj" fmla="val 8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4767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ECOSYSTEM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1947672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KEY INDUSTRY PLAYERS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13248" y="194767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CORE TECHNICAL OFFERING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1947672"/>
            <a:ext cx="35570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STRATEGIC STRUCTURAL 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95144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68296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Robotics Foundation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368296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Physical Intelligence, Skild AI, DeepMind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368296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Pretrained generalist VLA models
(π0, Skild Brain)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368296"/>
            <a:ext cx="350215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Challengers: Frontier algorithms, high venture capital, but entirely dependent on systems engineering partners for field plant distribution.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99815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172968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Industrial Automation Incumbents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172968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Siemens, Rockwell Automation, ABB, Schneider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172968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PLCs, DCS, SCADA, FactoryTalk,
TIA Portal ecosystems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172968"/>
            <a:ext cx="350215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Dominant: Own factory floors, machine safety certifications, and decades of customer trust. Integrating AI through strategic platform partnerships.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904487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977639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Simulation &amp; Digital Twin Platforms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977639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NVIDIA (Isaac/Cosmos), Applied Intuition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977639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Physics simulation, synthetic data
generation pipelines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977639"/>
            <a:ext cx="350215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Dominant: Platform standards for testing, virtual commissioning, and synthetic policy generation. Essential software tooling layer.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709159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0F7FF"/>
          </a:solidFill>
          <a:ln w="19050">
            <a:solidFill>
              <a:srgbClr val="0A5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1520" y="4709159"/>
            <a:ext cx="73152" cy="768096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782312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A58CA"/>
                </a:solidFill>
                <a:latin typeface="Segoe UI"/>
              </a:rPr>
              <a:t>ER&amp;D Engineering Services
★ LTTS COMPETITIVE 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4782312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LTTS, KPIT Tech, Tata Tech, Cyient, Accenture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4782312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Systems integration, V&amp;V, digital
engineering &amp; PLC bridges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4782312"/>
            <a:ext cx="350215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Direct Competitors: Race to build certified Physical AI field practices and bridge neural policies with industrial plant machinery.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513831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586983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Safety &amp; Statutory Compliance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5586983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TÜV SÜD, UL Solutions, Credo AI, Holistic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5586983"/>
            <a:ext cx="2103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Functional safety audits, regulatory
compliance dossiers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5586983"/>
            <a:ext cx="350215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Gatekeepers: Mandatory for legal operation, safety dossiers, and factory insurance underwriting under ISO 13849 / IEC 61508.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ER&amp;D engineering services is the linchpin layer connecting generalist model challengers with entrenched factory incumbents.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898648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MODULE 5 ·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High-Value Underserved Market Gaps &amp; Strategic Whitespaces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Four critical white-space engineering bottlenecks where tech giants cannot compete with LTTS's industrial bench.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24780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02082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GAP 1 ·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331720"/>
            <a:ext cx="2185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Real-Time Safety Middleware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834639"/>
            <a:ext cx="2185416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The Industry Bottleneck: </a:t>
            </a:r>
            <a:r>
              <a:rPr sz="1050">
                <a:solidFill>
                  <a:srgbClr val="1E293B"/>
                </a:solidFill>
                <a:latin typeface="Segoe UI"/>
              </a:rPr>
              <a:t>AI models output asynchronous stochastic predictions at 100Hz; industrial actuators demand 1ms deterministic guarantees.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The White-Space Void: </a:t>
            </a:r>
            <a:r>
              <a:rPr sz="1050">
                <a:solidFill>
                  <a:srgbClr val="1E293B"/>
                </a:solidFill>
                <a:latin typeface="Segoe UI"/>
              </a:rPr>
              <a:t>Zero off-the-shelf software safely bridges Python neural policies to real-time industrial fieldbuses.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LTTS Solution: </a:t>
            </a:r>
            <a:r>
              <a:rPr sz="1050">
                <a:solidFill>
                  <a:srgbClr val="1E293B"/>
                </a:solidFill>
                <a:latin typeface="Segoe UI"/>
              </a:rPr>
              <a:t>Build certified bridge middleware wrapping neural commands with formal Control Barrier Functions (CBFs).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Revenue Potential: </a:t>
            </a:r>
            <a:r>
              <a:rPr sz="1050">
                <a:solidFill>
                  <a:srgbClr val="1E293B"/>
                </a:solidFill>
                <a:latin typeface="Segoe UI"/>
              </a:rPr>
              <a:t>High-margin software IP licensing ($10k-$25k/robot/yr) across hundreds of plant cells.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3863" y="1874519"/>
            <a:ext cx="24780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83863" y="1874519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30168" y="202082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284C7"/>
                </a:solidFill>
                <a:latin typeface="Segoe UI"/>
              </a:rPr>
              <a:t>GAP 2 · CONTACT PHYSICS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331720"/>
            <a:ext cx="2185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Contact-Calibrated Simulators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834639"/>
            <a:ext cx="2185416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The Industry Bottleneck: </a:t>
            </a:r>
            <a:r>
              <a:rPr sz="1050">
                <a:solidFill>
                  <a:srgbClr val="1E293B"/>
                </a:solidFill>
                <a:latin typeface="Segoe UI"/>
              </a:rPr>
              <a:t>Standard physics simulators (MuJoCo, Isaac) suffer significant Sim-to-Real gaps during non-rigid contact.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The White-Space Void: </a:t>
            </a:r>
            <a:r>
              <a:rPr sz="1050">
                <a:solidFill>
                  <a:srgbClr val="1E293B"/>
                </a:solidFill>
                <a:latin typeface="Segoe UI"/>
              </a:rPr>
              <a:t>Automakers cannot afford weeks of manual on-robot policy tuning for deformable cables, gaskets, and wiring.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LTTS Solution: </a:t>
            </a:r>
            <a:r>
              <a:rPr sz="1050">
                <a:solidFill>
                  <a:srgbClr val="1E293B"/>
                </a:solidFill>
                <a:latin typeface="Segoe UI"/>
              </a:rPr>
              <a:t>Develop proprietary contact-calibrated simulation pipelines incorporating real material stress tensors.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Revenue Potential: </a:t>
            </a:r>
            <a:r>
              <a:rPr sz="1050">
                <a:solidFill>
                  <a:srgbClr val="1E293B"/>
                </a:solidFill>
                <a:latin typeface="Segoe UI"/>
              </a:rPr>
              <a:t>Anchors multi-million-dollar Software-Defined Factory (SD-FaaS) digital twin engagements.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7" y="1874519"/>
            <a:ext cx="24780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6207" y="1874519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82512" y="202082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C2410C"/>
                </a:solidFill>
                <a:latin typeface="Segoe UI"/>
              </a:rPr>
              <a:t>GAP 3 · BROWNFIELD 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331720"/>
            <a:ext cx="2185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Brownfield Vision Retrofits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834639"/>
            <a:ext cx="2185416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The Industry Bottleneck: </a:t>
            </a:r>
            <a:r>
              <a:rPr sz="1050">
                <a:solidFill>
                  <a:srgbClr val="1E293B"/>
                </a:solidFill>
                <a:latin typeface="Segoe UI"/>
              </a:rPr>
              <a:t>90%+ of manufacturing machinery is legacy equipment lacking modern digital APIs or clean air.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The White-Space Void: </a:t>
            </a:r>
            <a:r>
              <a:rPr sz="1050">
                <a:solidFill>
                  <a:srgbClr val="1E293B"/>
                </a:solidFill>
                <a:latin typeface="Segoe UI"/>
              </a:rPr>
              <a:t>Frontier models trained on clean laboratory benchmarks fail under brownfield grime, oil mist, and vibration.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LTTS Solution: </a:t>
            </a:r>
            <a:r>
              <a:rPr sz="1050">
                <a:solidFill>
                  <a:srgbClr val="1E293B"/>
                </a:solidFill>
                <a:latin typeface="Segoe UI"/>
              </a:rPr>
              <a:t>Package ruggedized edge-compute retrofit kits with vibration-invariant multi-modal sensor fusion.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Revenue Potential: </a:t>
            </a:r>
            <a:r>
              <a:rPr sz="1050">
                <a:solidFill>
                  <a:srgbClr val="1E293B"/>
                </a:solidFill>
                <a:latin typeface="Segoe UI"/>
              </a:rPr>
              <a:t>Rapid deployment kits priced at $100k-$250k per legacy production cell.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8552" y="1874519"/>
            <a:ext cx="24780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88552" y="1874519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34856" y="202082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47857"/>
                </a:solidFill>
                <a:latin typeface="Segoe UI"/>
              </a:rPr>
              <a:t>GAP 4 · FLEET CALIBRATION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2331720"/>
            <a:ext cx="2185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Heterogeneous Fleet Calibration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6" y="2834639"/>
            <a:ext cx="2185416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The Industry Bottleneck: </a:t>
            </a:r>
            <a:r>
              <a:rPr sz="1050">
                <a:solidFill>
                  <a:srgbClr val="1E293B"/>
                </a:solidFill>
                <a:latin typeface="Segoe UI"/>
              </a:rPr>
              <a:t>Automotive plants operate mixed robot fleets (FANUC, KUKA, ABB) with conflicting kinematic controllers.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The White-Space Void: </a:t>
            </a:r>
            <a:r>
              <a:rPr sz="1050">
                <a:solidFill>
                  <a:srgbClr val="1E293B"/>
                </a:solidFill>
                <a:latin typeface="Segoe UI"/>
              </a:rPr>
              <a:t>Foundation models cannot scale if each robot vendor requires a bespoke software integration stack.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LTTS Solution: </a:t>
            </a:r>
            <a:r>
              <a:rPr sz="1050">
                <a:solidFill>
                  <a:srgbClr val="1E293B"/>
                </a:solidFill>
                <a:latin typeface="Segoe UI"/>
              </a:rPr>
              <a:t>Build a unified cross-embodiment abstraction layer standardizing policy execution across all robot brands.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Revenue Potential: </a:t>
            </a:r>
            <a:r>
              <a:rPr sz="1050">
                <a:solidFill>
                  <a:srgbClr val="1E293B"/>
                </a:solidFill>
                <a:latin typeface="Segoe UI"/>
              </a:rPr>
              <a:t>Enterprise-wide fleet software licensing and recurring Embodied MLOps maintenance contracts.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These four underserved gaps represent pure domain engineering challenges where tech giants cannot compete with LTTS's industrial bench.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043684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MODULE 6 · THE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Industrial AI vs. Physical AI &amp; The Kinematics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Closed-loop motor actuation creates an insurmountable domain engineering moat for software-only AI labs.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02B49"/>
                </a:solidFill>
                <a:latin typeface="Segoe UI"/>
              </a:rPr>
              <a:t>CONTROLS ENGINEERING MOAT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Analytical AI vs. Closed-Loop Physical AI
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Industrial AI (Open-Loop &amp; Analytical): </a:t>
            </a:r>
            <a:r>
              <a:rPr sz="1050">
                <a:solidFill>
                  <a:srgbClr val="1E293B"/>
                </a:solidFill>
                <a:latin typeface="Segoe UI"/>
              </a:rPr>
              <a:t>Ingests SCADA telemetry, vibration logs, and optical inspection images to predict machine maintenance or classify defects. Operates in passive informational space; an algorithmic false positive results in a software alert, not a mechanical wreck.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Physical AI (Closed-Loop Kinematic Actuation): </a:t>
            </a:r>
            <a:r>
              <a:rPr sz="1050">
                <a:solidFill>
                  <a:srgbClr val="1E293B"/>
                </a:solidFill>
                <a:latin typeface="Segoe UI"/>
              </a:rPr>
              <a:t>Directly commands motor torques and joint positions in real time under Newton's differential equations. Algorithmic errors cause physical collisions, destroyed tooling, or worker injury. Requires sub-10ms hard real-time latency.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Coexistence, Not Replacement: </a:t>
            </a:r>
            <a:r>
              <a:rPr sz="1050">
                <a:solidFill>
                  <a:srgbClr val="1E293B"/>
                </a:solidFill>
                <a:latin typeface="Segoe UI"/>
              </a:rPr>
              <a:t>Physical AI does not displace deterministic factory automation; it commands high-level adaptive manipulation while deterministic PLCs maintain strict safety interlocks.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The Domain Engineering Moat: </a:t>
            </a:r>
            <a:r>
              <a:rPr sz="1050">
                <a:solidFill>
                  <a:srgbClr val="1E293B"/>
                </a:solidFill>
                <a:latin typeface="Segoe UI"/>
              </a:rPr>
              <a:t>Pure machine learning practitioners treat robots as abstract point masses; deploying neural policies into live factories mandates deep mechatronic controls engineering.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27064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55664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A58CA"/>
                </a:solidFill>
                <a:latin typeface="Segoe UI"/>
              </a:rPr>
              <a:t>MECHATRONIC FORMALISMS &amp; STABILITY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Jacobian Mapping &amp; Singularity Collapse
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Manipulator Jacobian &amp; Inverse Kinematics Mapping:
</a:t>
            </a:r>
            <a:r>
              <a:rPr sz="1000">
                <a:solidFill>
                  <a:srgbClr val="64748B"/>
                </a:solidFill>
                <a:latin typeface="Segoe UI"/>
              </a:rPr>
              <a:t>The mapping from end-effector velocities to joint velocities is governed by Jacobian J(q):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55664" y="3017520"/>
            <a:ext cx="4773168" cy="594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3090672"/>
            <a:ext cx="2493264" cy="2895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55664" y="3703320"/>
            <a:ext cx="477316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Yoshikawa Manipulability Collapse at Singularities:
</a:t>
            </a:r>
            <a:r>
              <a:rPr sz="1000">
                <a:solidFill>
                  <a:srgbClr val="64748B"/>
                </a:solidFill>
                <a:latin typeface="Segoe UI"/>
              </a:rPr>
              <a:t>Near kinematic singularities, manipulability collapses, demanding infinite velocity: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55664" y="4251960"/>
            <a:ext cx="4773168" cy="594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3" y="4325112"/>
            <a:ext cx="4002024" cy="3566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55664" y="4937760"/>
            <a:ext cx="4773168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47857"/>
                </a:solidFill>
                <a:latin typeface="Segoe UI"/>
              </a:rPr>
              <a:t>The Mechatronic Solution (DLS Filtering):
</a:t>
            </a:r>
            <a:r>
              <a:rPr sz="1050">
                <a:solidFill>
                  <a:srgbClr val="1E293B"/>
                </a:solidFill>
                <a:latin typeface="Segoe UI"/>
              </a:rPr>
              <a:t>LTTS controls engineers insert Damped Least-Squares (DLS) inversion and singularity-avoidance gradient projection between neural policy outputs and joint servo drives. This prevents infinite torque demands, drive trips, and stripped gears.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AI labs build the neural planners; LTTS builds the singularity-robust kinematics and safety filters that keep physical robots from destroying themselves.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043684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MODULE 6 · THE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Deterministic RTOS Timing &amp; Operational Data 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Sub-millisecond jitter guarantees and the five-stage closed-loop data engine for continuous improvement.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A58CA"/>
                </a:solidFill>
                <a:latin typeface="Segoe UI"/>
              </a:rPr>
              <a:t>HARD REAL-TIME ARCHITECTURE (&lt; 1MS)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Deterministic Sub-1ms RTOS Execution
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The Timing Hierarchy: </a:t>
            </a:r>
            <a:r>
              <a:rPr sz="1050">
                <a:solidFill>
                  <a:srgbClr val="1E293B"/>
                </a:solidFill>
                <a:latin typeface="Segoe UI"/>
              </a:rPr>
              <a:t>Factory safety interlocks operate at 1kHz (1ms cycle time), motor joint servo commutation at 500Hz (2ms), and high-level neural policy inference at 50Hz–100Hz (10–20ms).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Sub-Millisecond Jitter Tolerance (&lt; 1ms): </a:t>
            </a:r>
            <a:r>
              <a:rPr sz="1050">
                <a:solidFill>
                  <a:srgbClr val="1E293B"/>
                </a:solidFill>
                <a:latin typeface="Segoe UI"/>
              </a:rPr>
              <a:t>In high-speed assembly and machining cells, timing jitter exceeding 1ms creates dynamic phase lag, hunting oscillations, and emergency line shut-downs.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Dual-Kernel Real-Time OS Architecture: </a:t>
            </a:r>
            <a:r>
              <a:rPr sz="1050">
                <a:solidFill>
                  <a:srgbClr val="1E293B"/>
                </a:solidFill>
                <a:latin typeface="Segoe UI"/>
              </a:rPr>
              <a:t>Deploying Linux PREEMPT_RT or QNX RTOS on edge compute platforms to strictly isolate non-deterministic Python neural inference from deterministic safety PLC threads.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Hardware Watchdog Governors: </a:t>
            </a:r>
            <a:r>
              <a:rPr sz="1050">
                <a:solidFill>
                  <a:srgbClr val="1E293B"/>
                </a:solidFill>
                <a:latin typeface="Segoe UI"/>
              </a:rPr>
              <a:t>LTTS implements hardware-level watchdog timers that automatically engage dynamic motor braking if neural inference fails to return a valid trajectory within the 10ms deadline.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27064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55664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47857"/>
                </a:solidFill>
                <a:latin typeface="Segoe UI"/>
              </a:rPr>
              <a:t>CLOSED-LOOP DATA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The 5-Stage Operational Data Flywheel
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1. Live Plant Telemetry Logging: </a:t>
            </a:r>
            <a:r>
              <a:rPr sz="1050">
                <a:solidFill>
                  <a:srgbClr val="1E293B"/>
                </a:solidFill>
                <a:latin typeface="Segoe UI"/>
              </a:rPr>
              <a:t>Continuous edge circular-buffer recording of motor joint torques, encoder positions, tactile pressures, and synchronized camera feeds during production.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2. Anomaly &amp; Edge-Case Harvest: </a:t>
            </a:r>
            <a:r>
              <a:rPr sz="1050">
                <a:solidFill>
                  <a:srgbClr val="1E293B"/>
                </a:solidFill>
                <a:latin typeface="Segoe UI"/>
              </a:rPr>
              <a:t>Automated trigger filters isolating the 0.01% of unusual contact events, micro-slips, visual occlusions, and human safety boundary crossings.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3. Synthetic Simulation Variation: </a:t>
            </a:r>
            <a:r>
              <a:rPr sz="1050">
                <a:solidFill>
                  <a:srgbClr val="1E293B"/>
                </a:solidFill>
                <a:latin typeface="Segoe UI"/>
              </a:rPr>
              <a:t>Injecting real-world plant failures into NVIDIA Omniverse digital twins to automatically generate 10,000 synthetic variations across friction and lighting.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4. Policy Retraining &amp; CBF Reachability: </a:t>
            </a:r>
            <a:r>
              <a:rPr sz="1050">
                <a:solidFill>
                  <a:srgbClr val="1E293B"/>
                </a:solidFill>
                <a:latin typeface="Segoe UI"/>
              </a:rPr>
              <a:t>Retraining neural policy checkpoints on the augmented dataset, followed by automated Control Barrier Function (CBF) formal reachability verification.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5. Shadow Deployment &amp; Canary Gate: </a:t>
            </a:r>
            <a:r>
              <a:rPr sz="1050">
                <a:solidFill>
                  <a:srgbClr val="1E293B"/>
                </a:solidFill>
                <a:latin typeface="Segoe UI"/>
              </a:rPr>
              <a:t>Running updated policies in shadow mode alongside live production lines before gating full operational control authority to the robot.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A self-reinforcing data flywheel turns brownfield operational edge cases into an insurmountable customer retention moat.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587752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MODULE 7 · 3-5 YEAR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2026–2030 Market Evolution Dynamics &amp; Strategic Wildcards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Four structural market transitions over the next 3-5 years and critical uncertainty factors to monitor.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A58CA"/>
                </a:solidFill>
                <a:latin typeface="Segoe UI"/>
              </a:rPr>
              <a:t>3-5 YEAR INDUSTRY TRANSITION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Four Structural Market Transitions
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Shift 1: Point AI Models -&gt; Unified VLA Backbones: </a:t>
            </a:r>
            <a:r>
              <a:rPr sz="1050">
                <a:solidFill>
                  <a:srgbClr val="1E293B"/>
                </a:solidFill>
                <a:latin typeface="Segoe UI"/>
              </a:rPr>
              <a:t>Transition from hundreds of narrow, bespoke vision models to unified Vision-Language-Action foundation models fine-tuned per manufacturing facility.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Shift 2: Hardware-Centric -&gt; Software-Defined Robotics: </a:t>
            </a:r>
            <a:r>
              <a:rPr sz="1050">
                <a:solidFill>
                  <a:srgbClr val="1E293B"/>
                </a:solidFill>
                <a:latin typeface="Segoe UI"/>
              </a:rPr>
              <a:t>Robot hardware frames commoditize; enterprise procurement decisions center entirely on simulation accuracy, safety software, and ease of PLC integration.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Shift 3: Greenfield Custom Cells -&gt; Brownfield Retrofit Kits: </a:t>
            </a:r>
            <a:r>
              <a:rPr sz="1050">
                <a:solidFill>
                  <a:srgbClr val="1E293B"/>
                </a:solidFill>
                <a:latin typeface="Segoe UI"/>
              </a:rPr>
              <a:t>Enterprise CapEx pivots away from building expensive new factories toward deploying non-invasive vision-action retrofit kits onto existing legacy production lines.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Shift 4: CapEx Equipment -&gt; Performance-Based SLAs: </a:t>
            </a:r>
            <a:r>
              <a:rPr sz="1050">
                <a:solidFill>
                  <a:srgbClr val="1E293B"/>
                </a:solidFill>
                <a:latin typeface="Segoe UI"/>
              </a:rPr>
              <a:t>Enterprise procurement transitions from $500k upfront robot purchases to outcome-based contracts ($/successful pick, $/inspected assembly) backed by uptime guarantees.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27064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55664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C2410C"/>
                </a:solidFill>
                <a:latin typeface="Segoe UI"/>
              </a:rPr>
              <a:t>STRATEGIC UNCERTAINTY 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404872"/>
            <a:ext cx="477316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F172A"/>
                </a:solidFill>
                <a:latin typeface="Segoe UI"/>
              </a:rPr>
              <a:t>Critical Market Wildcards &amp; Sensitivities
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Geopolitical Compute Controls: </a:t>
            </a:r>
            <a:r>
              <a:rPr sz="1050">
                <a:solidFill>
                  <a:srgbClr val="1E293B"/>
                </a:solidFill>
                <a:latin typeface="Segoe UI"/>
              </a:rPr>
              <a:t>Export restrictions on high-end edge AI silicon (Jetson Thor) could fragment global deployments, forcing reliance on lower-power domestic edge chips and specialized quantization.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Statutory Liability Allocation: </a:t>
            </a:r>
            <a:r>
              <a:rPr sz="1050">
                <a:solidFill>
                  <a:srgbClr val="1E293B"/>
                </a:solidFill>
                <a:latin typeface="Segoe UI"/>
              </a:rPr>
              <a:t>Emerging EU AI Act and OSHA frameworks clarifying whether model developers, robot OEMs, or engineering systems integrators bear strict liability for physical worker injuries.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Sim-to-Real Fidelity Ceilings: </a:t>
            </a:r>
            <a:r>
              <a:rPr sz="1050">
                <a:solidFill>
                  <a:srgbClr val="1E293B"/>
                </a:solidFill>
                <a:latin typeface="Segoe UI"/>
              </a:rPr>
              <a:t>The risk that complex, non-rigid deformable physics (fabrics, rubber seals, wire harnesses) cannot be simulated accurately, capping synthetic data scaling benefits.</a:t>
            </a:r>
          </a:p>
          <a:p>
            <a:pPr>
              <a:spcBef>
                <a:spcPts val="6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Foundation Model Open-Sourcing: </a:t>
            </a:r>
            <a:r>
              <a:rPr sz="1050">
                <a:solidFill>
                  <a:srgbClr val="1E293B"/>
                </a:solidFill>
                <a:latin typeface="Segoe UI"/>
              </a:rPr>
              <a:t>Rapid open-weight releases (mirroring Llama 3 in language) commoditizing proprietary foundation models, driving all commercial value into systems integration and domain engineering.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As foundation models commoditize, economic surplus shifts entirely to the integration layer that guarantees uptime and safety.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3209544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MODULE 8 · 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LTTS Strategic Priorities &amp; Phased Capital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A focused four-priority investment program totaling $8.3M phased against validated enterprise milestones.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24780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02082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47857"/>
                </a:solidFill>
                <a:latin typeface="Segoe UI"/>
              </a:rPr>
              <a:t>PRIORITY 1 · Q1 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313432"/>
            <a:ext cx="21854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Physical AI V&amp;V Practice
</a:t>
            </a:r>
            <a:r>
              <a:rPr sz="1100" b="1">
                <a:solidFill>
                  <a:srgbClr val="047857"/>
                </a:solidFill>
                <a:latin typeface="Segoe UI"/>
              </a:rPr>
              <a:t>Budget: $2.8M 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926079"/>
            <a:ext cx="2185416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Objective: </a:t>
            </a:r>
            <a:r>
              <a:rPr sz="1050">
                <a:solidFill>
                  <a:srgbClr val="1E293B"/>
                </a:solidFill>
                <a:latin typeface="Segoe UI"/>
              </a:rPr>
              <a:t>Establish the premier third-party safety and reachability certification laboratory for industrial robotics.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Key Deliverable: </a:t>
            </a:r>
            <a:r>
              <a:rPr sz="1050">
                <a:solidFill>
                  <a:srgbClr val="1E293B"/>
                </a:solidFill>
                <a:latin typeface="Segoe UI"/>
              </a:rPr>
              <a:t>Automated Safety Dossier Compiler; formal CBF reachability testing suite under ISO 13849 PL-e and IEC 61508.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Target Milestone: </a:t>
            </a:r>
            <a:r>
              <a:rPr sz="1050">
                <a:solidFill>
                  <a:srgbClr val="1E293B"/>
                </a:solidFill>
                <a:latin typeface="Segoe UI"/>
              </a:rPr>
              <a:t>Complete 10 enterprise safety audits generating $3.5M in high-margin consulting revenue in year one.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Strategic Rationale: </a:t>
            </a:r>
            <a:r>
              <a:rPr sz="1050">
                <a:solidFill>
                  <a:srgbClr val="1E293B"/>
                </a:solidFill>
                <a:latin typeface="Segoe UI"/>
              </a:rPr>
              <a:t>Unlocks client CapEx by providing mandatory safety certification dossiers for factory insurance underwriting.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3863" y="1874519"/>
            <a:ext cx="24780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83863" y="1874519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30168" y="202082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PRIORITY 2 · Q2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313432"/>
            <a:ext cx="21854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Strategic PLC Alliances
</a:t>
            </a:r>
            <a:r>
              <a:rPr sz="1100" b="1">
                <a:solidFill>
                  <a:srgbClr val="0A58CA"/>
                </a:solidFill>
                <a:latin typeface="Segoe UI"/>
              </a:rPr>
              <a:t>Budget: $1.3M 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926079"/>
            <a:ext cx="2185416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Objective: </a:t>
            </a:r>
            <a:r>
              <a:rPr sz="1050">
                <a:solidFill>
                  <a:srgbClr val="1E293B"/>
                </a:solidFill>
                <a:latin typeface="Segoe UI"/>
              </a:rPr>
              <a:t>Formalize co-development partnerships with Siemens, Rockwell Automation, and Beckhoff.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Key Deliverable: </a:t>
            </a:r>
            <a:r>
              <a:rPr sz="1050">
                <a:solidFill>
                  <a:srgbClr val="1E293B"/>
                </a:solidFill>
                <a:latin typeface="Segoe UI"/>
              </a:rPr>
              <a:t>Certified reference bridge middleware connecting neural policies to S7-1500 and ControlLogix backplanes.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Target Milestone: </a:t>
            </a:r>
            <a:r>
              <a:rPr sz="1050">
                <a:solidFill>
                  <a:srgbClr val="1E293B"/>
                </a:solidFill>
                <a:latin typeface="Segoe UI"/>
              </a:rPr>
              <a:t>Secure preferred integration partner status across 5 Tier-1 automotive and aerospace joint customer bids.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Strategic Rationale: </a:t>
            </a:r>
            <a:r>
              <a:rPr sz="1050">
                <a:solidFill>
                  <a:srgbClr val="1E293B"/>
                </a:solidFill>
                <a:latin typeface="Segoe UI"/>
              </a:rPr>
              <a:t>Leverages incumbent sales channels to access established global enterprise customer bases.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7" y="1874519"/>
            <a:ext cx="24780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6207" y="1874519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82512" y="202082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6D28D9"/>
                </a:solidFill>
                <a:latin typeface="Segoe UI"/>
              </a:rPr>
              <a:t>PRIORITY 3 · Q3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313432"/>
            <a:ext cx="21854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Synthetic Data Factory
</a:t>
            </a:r>
            <a:r>
              <a:rPr sz="1100" b="1">
                <a:solidFill>
                  <a:srgbClr val="6D28D9"/>
                </a:solidFill>
                <a:latin typeface="Segoe UI"/>
              </a:rPr>
              <a:t>Budget: $4.2M 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926079"/>
            <a:ext cx="2185416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Objective: </a:t>
            </a:r>
            <a:r>
              <a:rPr sz="1050">
                <a:solidFill>
                  <a:srgbClr val="1E293B"/>
                </a:solidFill>
                <a:latin typeface="Segoe UI"/>
              </a:rPr>
              <a:t>Establish dedicated GPU simulation cluster monetizing enterprise CAD/PLM assemblies (SD-FaaS).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Key Deliverable: </a:t>
            </a:r>
            <a:r>
              <a:rPr sz="1050">
                <a:solidFill>
                  <a:srgbClr val="1E293B"/>
                </a:solidFill>
                <a:latin typeface="Segoe UI"/>
              </a:rPr>
              <a:t>64-GPU NVIDIA Omniverse cluster generating contact-calibrated simulation policies for client plants.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Target Milestone: </a:t>
            </a:r>
            <a:r>
              <a:rPr sz="1050">
                <a:solidFill>
                  <a:srgbClr val="1E293B"/>
                </a:solidFill>
                <a:latin typeface="Segoe UI"/>
              </a:rPr>
              <a:t>Secure 4 enterprise SD-FaaS contracts yielding $8.0M+ in recurring simulation and deployment revenue.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Strategic Rationale: </a:t>
            </a:r>
            <a:r>
              <a:rPr sz="1050">
                <a:solidFill>
                  <a:srgbClr val="1E293B"/>
                </a:solidFill>
                <a:latin typeface="Segoe UI"/>
              </a:rPr>
              <a:t>Transforms one-off integration projects into high-retention annual software recurring revenue.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8552" y="1874519"/>
            <a:ext cx="2478024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88552" y="1874519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34856" y="202082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02B49"/>
                </a:solidFill>
                <a:latin typeface="Segoe UI"/>
              </a:rPr>
              <a:t>PRIORITY 4 · ONGOING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6" y="2313432"/>
            <a:ext cx="21854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Hybrid Talent Center of Excellence
</a:t>
            </a:r>
            <a:r>
              <a:rPr sz="1100" b="1">
                <a:solidFill>
                  <a:srgbClr val="002B49"/>
                </a:solidFill>
                <a:latin typeface="Segoe UI"/>
              </a:rPr>
              <a:t>Budget: $2.5M/yr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6" y="2926079"/>
            <a:ext cx="2185416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Core Objective: </a:t>
            </a:r>
            <a:r>
              <a:rPr sz="1050">
                <a:solidFill>
                  <a:srgbClr val="1E293B"/>
                </a:solidFill>
                <a:latin typeface="Segoe UI"/>
              </a:rPr>
              <a:t>Build the world's leading hybrid robotics workforce combining controls engineering with deep learning.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Key Deliverable: </a:t>
            </a:r>
            <a:r>
              <a:rPr sz="1050">
                <a:solidFill>
                  <a:srgbClr val="1E293B"/>
                </a:solidFill>
                <a:latin typeface="Segoe UI"/>
              </a:rPr>
              <a:t>Cross-train 250 existing mechatronics engineers in robotics AI; recruit 5 lead Ph.D. research scientists.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Target Milestone: </a:t>
            </a:r>
            <a:r>
              <a:rPr sz="1050">
                <a:solidFill>
                  <a:srgbClr val="1E293B"/>
                </a:solidFill>
                <a:latin typeface="Segoe UI"/>
              </a:rPr>
              <a:t>Deploy 250 billable hybrid engineers globally at premium enterprise billing rates ($180-$250/hr).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Strategic Rationale: </a:t>
            </a:r>
            <a:r>
              <a:rPr sz="1050">
                <a:solidFill>
                  <a:srgbClr val="1E293B"/>
                </a:solidFill>
                <a:latin typeface="Segoe UI"/>
              </a:rPr>
              <a:t>Overcomes the single largest bottleneck in physical AI: the acute shortage of hybrid systems engineers.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Total program investment of $8.3M is phased against customer revenue milestones, targeting full break-even within 18 months.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587752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MODULE 8 · STRATEGIC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Integrated Strategic Roadmap &amp; Phased Capital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Comprehensive execution timeline, strategic capabilities, target deliverables, and capital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25912" cy="384048"/>
          </a:xfrm>
          <a:prstGeom prst="roundRect">
            <a:avLst>
              <a:gd name="adj" fmla="val 8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47672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STRATEGIC INITIATIVE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1947672"/>
            <a:ext cx="9692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1947672"/>
            <a:ext cx="279806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STRATEGIC FOCUS &amp; 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947672"/>
            <a:ext cx="27066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TARGET DELIVERABLE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59567" y="1947672"/>
            <a:ext cx="10881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Segoe UI"/>
              </a:rPr>
              <a:t>PHASED BUDGET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295144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386584"/>
            <a:ext cx="201168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Priority 1: V&amp;V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79" y="2386584"/>
            <a:ext cx="91440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47857"/>
                </a:solidFill>
                <a:latin typeface="Segoe UI"/>
              </a:rPr>
              <a:t>Q1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386584"/>
            <a:ext cx="274320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Functional safety auditing, CBF evaluation &amp;
interval bound reachability certification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19" y="2386584"/>
            <a:ext cx="265176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Automated Safety Dossier Compiler &amp;
certified lab testing under ISO 13849 / IEC 61508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2386584"/>
            <a:ext cx="1033271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0F172A"/>
                </a:solidFill>
                <a:latin typeface="Segoe UI"/>
              </a:rPr>
              <a:t>$2.8M Phase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99815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191256"/>
            <a:ext cx="201168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Priority 2: PLC Alliances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79" y="3191256"/>
            <a:ext cx="91440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A58CA"/>
                </a:solidFill>
                <a:latin typeface="Segoe UI"/>
              </a:rPr>
              <a:t>Q2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191256"/>
            <a:ext cx="274320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Joint integration testbeds with Siemens S7-1500 &amp;
Rockwell ControlLogix architectures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19" y="3191256"/>
            <a:ext cx="265176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Certified bridge middleware connecting
neural policies to industrial fieldbuses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3191256"/>
            <a:ext cx="1033271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0F172A"/>
                </a:solidFill>
                <a:latin typeface="Segoe UI"/>
              </a:rPr>
              <a:t>$1.3M Phase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904487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95927"/>
            <a:ext cx="201168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Priority 3: Synthetic Data Factory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79" y="3995927"/>
            <a:ext cx="91440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002B49"/>
                </a:solidFill>
                <a:latin typeface="Segoe UI"/>
              </a:rPr>
              <a:t>Q3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995927"/>
            <a:ext cx="274320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Digital twin simulation (SD-FaaS) monetizing
enterprise CAD/PLM engineering assemblies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19" y="3995927"/>
            <a:ext cx="265176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Dedicated 64-GPU Omniverse cluster generating
contact-calibrated simulation policies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3995927"/>
            <a:ext cx="1033271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0F172A"/>
                </a:solidFill>
                <a:latin typeface="Segoe UI"/>
              </a:rPr>
              <a:t>$4.2M Phase 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709159"/>
            <a:ext cx="10725912" cy="768096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800599"/>
            <a:ext cx="201168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Segoe UI"/>
              </a:rPr>
              <a:t>Priority 4: Hybrid Talent CoE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79" y="4800599"/>
            <a:ext cx="91440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D28D9"/>
                </a:solidFill>
                <a:latin typeface="Segoe UI"/>
              </a:rPr>
              <a:t>Ongoing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800599"/>
            <a:ext cx="274320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Cross-training mechatronics bench into robotics AI;
recruiting 5 lateral Ph.D. specialists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19" y="4800599"/>
            <a:ext cx="2651760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>
                <a:solidFill>
                  <a:srgbClr val="1E293B"/>
                </a:solidFill>
                <a:latin typeface="Segoe UI"/>
              </a:rPr>
              <a:t>250-engineer hybrid workforce bridging
controls engineering with deep learning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4800599"/>
            <a:ext cx="1033271" cy="585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>
                <a:solidFill>
                  <a:srgbClr val="0F172A"/>
                </a:solidFill>
                <a:latin typeface="Segoe UI"/>
              </a:rPr>
              <a:t>$2.5M/yr Annual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623559"/>
            <a:ext cx="10725912" cy="594360"/>
          </a:xfrm>
          <a:prstGeom prst="roundRect">
            <a:avLst>
              <a:gd name="adj" fmla="val 3500"/>
            </a:avLst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733288"/>
            <a:ext cx="10360152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02B49"/>
                </a:solidFill>
                <a:latin typeface="Segoe UI"/>
              </a:rPr>
              <a:t>TOTAL 2027 PROGRAM INVESTMENT: </a:t>
            </a:r>
            <a:r>
              <a:rPr sz="1050">
                <a:solidFill>
                  <a:srgbClr val="1E293B"/>
                </a:solidFill>
                <a:latin typeface="Segoe UI"/>
              </a:rPr>
              <a:t>$8.3M Phased Capex ($2.8M V&amp;V + $1.3M Alliances + $4.2M Data Factory) + $2.5M/yr Ongoing CoE Baseline. Every dollar is directly anchored in customer revenue expansion.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Execution sequencing guarantees each phase self-funds subsequent expansion through customer-contracted milestone revenues.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4064508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STRATEGIC CONCLUSION · BOARDROOM ACTION MANDATE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Segoe UI"/>
              </a:rPr>
              <a:t>Physical AI is the Future of Industrial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72591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334155"/>
                </a:solidFill>
                <a:latin typeface="Segoe UI"/>
              </a:rPr>
              <a:t>LTTS should not manufacture robot frames nor train raw foundation models. </a:t>
            </a:r>
            <a:r>
              <a:rPr sz="1200" b="1">
                <a:solidFill>
                  <a:srgbClr val="0A58CA"/>
                </a:solidFill>
                <a:latin typeface="Segoe UI"/>
              </a:rPr>
              <a:t>The definitive opportunity is to become the indispensable engineering bridge that verifies, integrates, and deploys Physical AI safely at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478024" cy="416052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06654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47857"/>
                </a:solidFill>
                <a:latin typeface="Segoe UI"/>
              </a:rPr>
              <a:t>1. VERIFY (Q1 2027)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377440"/>
            <a:ext cx="2185416" cy="3611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Functional Safety Leadership
</a:t>
            </a:r>
          </a:p>
          <a:p>
            <a:r>
              <a:rPr sz="1050">
                <a:solidFill>
                  <a:srgbClr val="1E293B"/>
                </a:solidFill>
                <a:latin typeface="Segoe UI"/>
              </a:rPr>
              <a:t>Build the gold-standard Physical AI V&amp;V practice with formal safety dossiers and CBF reachability testing under ISO 13849 / IEC 61508.
</a:t>
            </a:r>
            <a:r>
              <a:rPr sz="1050" b="1">
                <a:solidFill>
                  <a:srgbClr val="0F172A"/>
                </a:solidFill>
                <a:latin typeface="Segoe UI"/>
              </a:rPr>
              <a:t>Impact: Unlocks corporate insurance and regulatory sign-off for enterprise robot deployments.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3863" y="1920240"/>
            <a:ext cx="2478024" cy="416052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83863" y="1920240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0168" y="206654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2. INTEGRATE (Q2 2027)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377440"/>
            <a:ext cx="2185416" cy="3611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PLC Bridge Middleware
</a:t>
            </a:r>
          </a:p>
          <a:p>
            <a:r>
              <a:rPr sz="1050">
                <a:solidFill>
                  <a:srgbClr val="1E293B"/>
                </a:solidFill>
                <a:latin typeface="Segoe UI"/>
              </a:rPr>
              <a:t>Deploy certified PLC bridge middleware connecting frontier neural policies to Siemens S7-1500 and Rockwell ControlLogix architectures.
</a:t>
            </a:r>
            <a:r>
              <a:rPr sz="1050" b="1">
                <a:solidFill>
                  <a:srgbClr val="0F172A"/>
                </a:solidFill>
                <a:latin typeface="Segoe UI"/>
              </a:rPr>
              <a:t>Impact: Guarantees deterministic safety interlocks on live plant machinery.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1920240"/>
            <a:ext cx="2478024" cy="416052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6207" y="1920240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82512" y="206654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6D28D9"/>
                </a:solidFill>
                <a:latin typeface="Segoe UI"/>
              </a:rPr>
              <a:t>3. SCALE (Q3 2027)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377440"/>
            <a:ext cx="2185416" cy="3611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Synthetic Data Factory
</a:t>
            </a:r>
          </a:p>
          <a:p>
            <a:r>
              <a:rPr sz="1050">
                <a:solidFill>
                  <a:srgbClr val="1E293B"/>
                </a:solidFill>
                <a:latin typeface="Segoe UI"/>
              </a:rPr>
              <a:t>Launch the enterprise Synthetic Data Factory (SD-FaaS), monetizing proprietary customer CAD/PLM assets into continuous digital twins.
</a:t>
            </a:r>
            <a:r>
              <a:rPr sz="1050" b="1">
                <a:solidFill>
                  <a:srgbClr val="0F172A"/>
                </a:solidFill>
                <a:latin typeface="Segoe UI"/>
              </a:rPr>
              <a:t>Impact: Converts one-time integration projects into recurring software revenue.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88552" y="1920240"/>
            <a:ext cx="2478024" cy="416052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88552" y="1920240"/>
            <a:ext cx="2478024" cy="54864"/>
          </a:xfrm>
          <a:prstGeom prst="roundRect">
            <a:avLst>
              <a:gd name="adj" fmla="val 50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34856" y="2066544"/>
            <a:ext cx="2185416" cy="256032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02B49"/>
                </a:solidFill>
                <a:latin typeface="Segoe UI"/>
              </a:rPr>
              <a:t>4. EMPOWER (Ongoing)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2377440"/>
            <a:ext cx="2185416" cy="3611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Segoe UI"/>
              </a:rPr>
              <a:t>Hybrid Engineering Bench
</a:t>
            </a:r>
          </a:p>
          <a:p>
            <a:r>
              <a:rPr sz="1050">
                <a:solidFill>
                  <a:srgbClr val="1E293B"/>
                </a:solidFill>
                <a:latin typeface="Segoe UI"/>
              </a:rPr>
              <a:t>Cross-train 250 mechatronics engineers into hybrid Physical AI practitioners, securing global engineering services dominance.
</a:t>
            </a:r>
            <a:r>
              <a:rPr sz="1050" b="1">
                <a:solidFill>
                  <a:srgbClr val="0F172A"/>
                </a:solidFill>
                <a:latin typeface="Segoe UI"/>
              </a:rPr>
              <a:t>Impact: Supplies the world's most capable industrial AI engineering bench.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LTTS is uniquely positioned to bridge frontier AI models with real-world plant machinery. The window to establish global leadership is now.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121408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APPENDIX A · CITATIONS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Segoe UI"/>
              </a:rPr>
              <a:t>Comprehensive Sources Index: Industry &amp; Research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Audited corporate disclosures, regulatory filings, peer-reviewed preprints, and official OEM pilot announcements.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47857"/>
                </a:solidFill>
                <a:latin typeface="Segoe UI"/>
              </a:rPr>
              <a:t>COMMERCIAL &amp; CAPITAL DISCLOSURES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77439"/>
            <a:ext cx="4773168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0F172A"/>
                </a:solidFill>
                <a:latin typeface="Segoe UI"/>
              </a:rPr>
              <a:t>Primary Capital &amp; Corporate Disclosures
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Wayve ($1.05B Series C): </a:t>
            </a:r>
            <a:r>
              <a:rPr sz="1000">
                <a:solidFill>
                  <a:srgbClr val="1E293B"/>
                </a:solidFill>
                <a:latin typeface="Segoe UI"/>
              </a:rPr>
              <a:t>Corporate Announcement (May 7, 2024). SoftBank, NVIDIA, Microsoft.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Figure AI ($675M Series B): </a:t>
            </a:r>
            <a:r>
              <a:rPr sz="1000">
                <a:solidFill>
                  <a:srgbClr val="1E293B"/>
                </a:solidFill>
                <a:latin typeface="Segoe UI"/>
              </a:rPr>
              <a:t>Press Release (Feb 29, 2024). Microsoft, OpenAI, NVIDIA, Bezos ($2.6B val).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Physical Intelligence ($400M Series A): </a:t>
            </a:r>
            <a:r>
              <a:rPr sz="1000">
                <a:solidFill>
                  <a:srgbClr val="1E293B"/>
                </a:solidFill>
                <a:latin typeface="Segoe UI"/>
              </a:rPr>
              <a:t>Company Disclosure (Nov 4, 2024). Bezos, Thrive, Lux ($2.4B val).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Skild AI ($300M Series A): </a:t>
            </a:r>
            <a:r>
              <a:rPr sz="1000">
                <a:solidFill>
                  <a:srgbClr val="1E293B"/>
                </a:solidFill>
                <a:latin typeface="Segoe UI"/>
              </a:rPr>
              <a:t>Press Release (Jul 9, 2024). Lightspeed, Coatue, SoftBank ($1.5B val).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Applied Intuition ($250M Series E): </a:t>
            </a:r>
            <a:r>
              <a:rPr sz="1000">
                <a:solidFill>
                  <a:srgbClr val="1E293B"/>
                </a:solidFill>
                <a:latin typeface="Segoe UI"/>
              </a:rPr>
              <a:t>Press Release (Mar 12, 2024). Lux Capital, Elad Gil, Porsche ($6.0B val).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Scale AI ($1.0B Series F): </a:t>
            </a:r>
            <a:r>
              <a:rPr sz="1000">
                <a:solidFill>
                  <a:srgbClr val="1E293B"/>
                </a:solidFill>
                <a:latin typeface="Segoe UI"/>
              </a:rPr>
              <a:t>Company Disclosure (May 21, 2024). Accel and strategic partners ($13.8B val).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Waymo Commercial Mileage: </a:t>
            </a:r>
            <a:r>
              <a:rPr sz="1000">
                <a:solidFill>
                  <a:srgbClr val="1E293B"/>
                </a:solidFill>
                <a:latin typeface="Segoe UI"/>
              </a:rPr>
              <a:t>Alphabet Q3 2024 Earnings Call (Oct 29, 2024). &gt;150k trips/wk, &gt;1M miles/wk.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Amazon / Covariant License: </a:t>
            </a:r>
            <a:r>
              <a:rPr sz="1000">
                <a:solidFill>
                  <a:srgbClr val="1E293B"/>
                </a:solidFill>
                <a:latin typeface="Segoe UI"/>
              </a:rPr>
              <a:t>Corporate Announcement (Aug 30, 2024). Founder hiring &amp; non-exclusive license.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874519"/>
            <a:ext cx="5230368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27064" y="1874519"/>
            <a:ext cx="5230368" cy="54864"/>
          </a:xfrm>
          <a:prstGeom prst="roundRect">
            <a:avLst>
              <a:gd name="adj" fmla="val 50000"/>
            </a:avLst>
          </a:prstGeom>
          <a:solidFill>
            <a:srgbClr val="0A5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55664" y="2039112"/>
            <a:ext cx="4773168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0A58CA"/>
                </a:solidFill>
                <a:latin typeface="Segoe UI"/>
              </a:rPr>
              <a:t>RESEARCH &amp; TRIAL CITATIONS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377439"/>
            <a:ext cx="4773168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0F172A"/>
                </a:solidFill>
                <a:latin typeface="Segoe UI"/>
              </a:rPr>
              <a:t>Research Literature &amp; Customer Pilot Benchmarks
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Continuous Action Flow Matching: </a:t>
            </a:r>
            <a:r>
              <a:rPr sz="1000">
                <a:solidFill>
                  <a:srgbClr val="1E293B"/>
                </a:solidFill>
                <a:latin typeface="Segoe UI"/>
              </a:rPr>
              <a:t>Physical Intelligence Technical Report on π0 (Oct 2024, arXiv:2410.24164).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Egocentric Scaling Laws: </a:t>
            </a:r>
            <a:r>
              <a:rPr sz="1000">
                <a:solidFill>
                  <a:srgbClr val="1E293B"/>
                </a:solidFill>
                <a:latin typeface="Segoe UI"/>
              </a:rPr>
              <a:t>NVIDIA GEAR Research Report on EgoScale (Feb 2026, arXiv:2602.16710).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Pearl's Causal Hierarchy: </a:t>
            </a:r>
            <a:r>
              <a:rPr sz="1000">
                <a:solidFill>
                  <a:srgbClr val="1E293B"/>
                </a:solidFill>
                <a:latin typeface="Segoe UI"/>
              </a:rPr>
              <a:t>Judea Pearl, Causality: Models, Reasoning, and Inference, Cambridge Univ Press.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BMW Spartanburg Plant Trial: </a:t>
            </a:r>
            <a:r>
              <a:rPr sz="1000">
                <a:solidFill>
                  <a:srgbClr val="1E293B"/>
                </a:solidFill>
                <a:latin typeface="Segoe UI"/>
              </a:rPr>
              <a:t>BMW Group Press Release (Aug 2024). Figure 02 humanoid in sheet metal assembly.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Mercedes-Benz Apollo Pilot: </a:t>
            </a:r>
            <a:r>
              <a:rPr sz="1000">
                <a:solidFill>
                  <a:srgbClr val="1E293B"/>
                </a:solidFill>
                <a:latin typeface="Segoe UI"/>
              </a:rPr>
              <a:t>Mercedes-Benz &amp; Apptronik Agreement Announcement (Mar 15, 2024). Parts delivery.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DHL Boston Dynamics Deployment: </a:t>
            </a:r>
            <a:r>
              <a:rPr sz="1000">
                <a:solidFill>
                  <a:srgbClr val="1E293B"/>
                </a:solidFill>
                <a:latin typeface="Segoe UI"/>
              </a:rPr>
              <a:t>DHL Supply Chain Announcement (2024). Stretch mobile manipulators for containers.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Siemens &amp; Microsoft Copilot: </a:t>
            </a:r>
            <a:r>
              <a:rPr sz="1000">
                <a:solidFill>
                  <a:srgbClr val="1E293B"/>
                </a:solidFill>
                <a:latin typeface="Segoe UI"/>
              </a:rPr>
              <a:t>Siemens AG Press Release (2024). Industrial AI copilot inside Siemens TIA Portal.</a:t>
            </a:r>
          </a:p>
          <a:p>
            <a:pPr>
              <a:spcBef>
                <a:spcPts val="3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Siemens &amp; Intrinsic Strategic Alliance: </a:t>
            </a:r>
            <a:r>
              <a:rPr sz="1000">
                <a:solidFill>
                  <a:srgbClr val="1E293B"/>
                </a:solidFill>
                <a:latin typeface="Segoe UI"/>
              </a:rPr>
              <a:t>Siemens &amp; Alphabet Intrinsic Announcement (2024). Robotics AI automation.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All technical claims, mathematical formalisms, and OEM deployment partnerships are cross-verified against primary literature.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47472"/>
            <a:ext cx="2199132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A58CA"/>
                </a:solidFill>
                <a:latin typeface="Segoe UI"/>
              </a:rPr>
              <a:t>APPENDIX B ·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76656"/>
            <a:ext cx="107259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0F172A"/>
                </a:solidFill>
                <a:latin typeface="Segoe UI"/>
              </a:rPr>
              <a:t>Adversarial Self-Critique Log &amp; Official Document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>
                <a:solidFill>
                  <a:srgbClr val="64748B"/>
                </a:solidFill>
                <a:latin typeface="Segoe UI"/>
              </a:rPr>
              <a:t>Complete audit record of 11 downgraded claims and formal executive sign-off for LTTS leadership.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19072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19072"/>
            <a:ext cx="1097280" cy="2286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6583680" cy="4251960"/>
          </a:xfrm>
          <a:prstGeom prst="roundRect">
            <a:avLst>
              <a:gd name="adj" fmla="val 3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6583680" cy="54864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020824"/>
            <a:ext cx="6126480" cy="256032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B91C1C"/>
                </a:solidFill>
                <a:latin typeface="Segoe UI"/>
              </a:rPr>
              <a:t>ADVERSARIAL AUDIT LOG · 11 UNVERIFIED CLAIMS RETRACTED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13432"/>
            <a:ext cx="61264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B91C1C"/>
                </a:solidFill>
                <a:latin typeface="Segoe UI"/>
              </a:rPr>
              <a:t>Audit Governance: Downgraded Unverified Industry Extrapolations
</a:t>
            </a:r>
          </a:p>
          <a:p>
            <a:pPr>
              <a:spcBef>
                <a:spcPts val="22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1. Ford Battery Scrap (Removed): </a:t>
            </a:r>
            <a:r>
              <a:rPr sz="950">
                <a:solidFill>
                  <a:srgbClr val="1E293B"/>
                </a:solidFill>
                <a:latin typeface="Segoe UI"/>
              </a:rPr>
              <a:t>Claimed 42% scrap / $18M warranty savings at Rawsonville; not in audited SEC 10-Ks.</a:t>
            </a:r>
          </a:p>
          <a:p>
            <a:pPr>
              <a:spcBef>
                <a:spcPts val="22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2. Airbus Hole Defects (Removed): </a:t>
            </a:r>
            <a:r>
              <a:rPr sz="950">
                <a:solidFill>
                  <a:srgbClr val="1E293B"/>
                </a:solidFill>
                <a:latin typeface="Segoe UI"/>
              </a:rPr>
              <a:t>Claimed &lt;2 PPM defect rate on A350 wings; unverified industry whitepaper extrapolation.</a:t>
            </a:r>
          </a:p>
          <a:p>
            <a:pPr>
              <a:spcBef>
                <a:spcPts val="22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3. Amazon Mobile Fleet (Removed): </a:t>
            </a:r>
            <a:r>
              <a:rPr sz="950">
                <a:solidFill>
                  <a:srgbClr val="1E293B"/>
                </a:solidFill>
                <a:latin typeface="Segoe UI"/>
              </a:rPr>
              <a:t>Cited 750,000 robots; conflated legacy Kiva AGVs with modern AI AMRs (Proteus).</a:t>
            </a:r>
          </a:p>
          <a:p>
            <a:pPr>
              <a:spcBef>
                <a:spcPts val="22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4. GE Vernova Outages (Removed): </a:t>
            </a:r>
            <a:r>
              <a:rPr sz="950">
                <a:solidFill>
                  <a:srgbClr val="1E293B"/>
                </a:solidFill>
                <a:latin typeface="Segoe UI"/>
              </a:rPr>
              <a:t>Claimed $380M saved across 1,200 turbines; vendor marketing modeled projection.</a:t>
            </a:r>
          </a:p>
          <a:p>
            <a:pPr>
              <a:spcBef>
                <a:spcPts val="22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5. TSMC Lithography (Removed): </a:t>
            </a:r>
            <a:r>
              <a:rPr sz="950">
                <a:solidFill>
                  <a:srgbClr val="1E293B"/>
                </a:solidFill>
                <a:latin typeface="Segoe UI"/>
              </a:rPr>
              <a:t>Claimed 2.1x yield accuracy; proprietary N3/N2 foundry trade secret not auditable.</a:t>
            </a:r>
          </a:p>
          <a:p>
            <a:pPr>
              <a:spcBef>
                <a:spcPts val="22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6. Caterpillar Haulage (Removed): </a:t>
            </a:r>
            <a:r>
              <a:rPr sz="950">
                <a:solidFill>
                  <a:srgbClr val="1E293B"/>
                </a:solidFill>
                <a:latin typeface="Segoe UI"/>
              </a:rPr>
              <a:t>Claimed 250M km zero-injury; vendor marketing copy rather than certified safety study.</a:t>
            </a:r>
          </a:p>
          <a:p>
            <a:pPr>
              <a:spcBef>
                <a:spcPts val="22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7. Intuitive Surgical (Removed): </a:t>
            </a:r>
            <a:r>
              <a:rPr sz="950">
                <a:solidFill>
                  <a:srgbClr val="1E293B"/>
                </a:solidFill>
                <a:latin typeface="Segoe UI"/>
              </a:rPr>
              <a:t>Claimed 40% surgeon strain reduction on da Vinci 5; uncontrolled ergonomic PR claim.</a:t>
            </a:r>
          </a:p>
          <a:p>
            <a:pPr>
              <a:spcBef>
                <a:spcPts val="22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8. Symbotic Deployments (Removed): </a:t>
            </a:r>
            <a:r>
              <a:rPr sz="950">
                <a:solidFill>
                  <a:srgbClr val="1E293B"/>
                </a:solidFill>
                <a:latin typeface="Segoe UI"/>
              </a:rPr>
              <a:t>Claimed $500M+ Walmart deployment; conflated multi-year backlog with active AI software.</a:t>
            </a:r>
          </a:p>
          <a:p>
            <a:pPr>
              <a:spcBef>
                <a:spcPts val="22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9. DHL Turnaround Time (Removed): </a:t>
            </a:r>
            <a:r>
              <a:rPr sz="950">
                <a:solidFill>
                  <a:srgbClr val="1E293B"/>
                </a:solidFill>
                <a:latin typeface="Segoe UI"/>
              </a:rPr>
              <a:t>Claimed trailer turn from 90 to 38 mins; site-level non-standardized pilot data.</a:t>
            </a:r>
          </a:p>
          <a:p>
            <a:pPr>
              <a:spcBef>
                <a:spcPts val="22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10. Siemens Energy (Removed): </a:t>
            </a:r>
            <a:r>
              <a:rPr sz="950">
                <a:solidFill>
                  <a:srgbClr val="1E293B"/>
                </a:solidFill>
                <a:latin typeface="Segoe UI"/>
              </a:rPr>
              <a:t>Claimed 45% valve failure reduction; unaudited whitepaper statistic without third-party audit.</a:t>
            </a:r>
          </a:p>
          <a:p>
            <a:pPr>
              <a:spcBef>
                <a:spcPts val="220"/>
              </a:spcBef>
            </a:pPr>
            <a:r>
              <a:rPr sz="1000" b="1">
                <a:solidFill>
                  <a:srgbClr val="0F172A"/>
                </a:solidFill>
                <a:latin typeface="Segoe UI"/>
              </a:rPr>
              <a:t>11. Decorative Equations (Removed): </a:t>
            </a:r>
            <a:r>
              <a:rPr sz="950">
                <a:solidFill>
                  <a:srgbClr val="1E293B"/>
                </a:solidFill>
                <a:latin typeface="Segoe UI"/>
              </a:rPr>
              <a:t>Removed unconnected PINN loss functions and InfoNCE contrastive equations as academic padding.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0375" y="1874519"/>
            <a:ext cx="3877056" cy="4251960"/>
          </a:xfrm>
          <a:prstGeom prst="roundRect">
            <a:avLst>
              <a:gd name="adj" fmla="val 3500"/>
            </a:avLst>
          </a:prstGeom>
          <a:solidFill>
            <a:srgbClr val="F0F7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0375" y="1874519"/>
            <a:ext cx="3877056" cy="54864"/>
          </a:xfrm>
          <a:prstGeom prst="roundRect">
            <a:avLst>
              <a:gd name="adj" fmla="val 50000"/>
            </a:avLst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63255" y="2020824"/>
            <a:ext cx="3511296" cy="256032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>
                <a:solidFill>
                  <a:srgbClr val="002B49"/>
                </a:solidFill>
                <a:latin typeface="Segoe UI"/>
              </a:rPr>
              <a:t>OFFICIAL DOCUMENT SIGN-OFF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3255" y="2313432"/>
            <a:ext cx="3511296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002B49"/>
                </a:solidFill>
                <a:latin typeface="Segoe UI"/>
              </a:rPr>
              <a:t>Official Briefing Sign-Off Register
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Document ID: </a:t>
            </a:r>
            <a:r>
              <a:rPr sz="1050">
                <a:solidFill>
                  <a:srgbClr val="1E293B"/>
                </a:solidFill>
                <a:latin typeface="Segoe UI"/>
              </a:rPr>
              <a:t>LTTS-PAI-2026-MASTER-01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Release Version: </a:t>
            </a:r>
            <a:r>
              <a:rPr sz="1050">
                <a:solidFill>
                  <a:srgbClr val="1E293B"/>
                </a:solidFill>
                <a:latin typeface="Segoe UI"/>
              </a:rPr>
              <a:t>3.0 Master Executive Release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Classification: </a:t>
            </a:r>
            <a:r>
              <a:rPr sz="1050">
                <a:solidFill>
                  <a:srgbClr val="1E293B"/>
                </a:solidFill>
                <a:latin typeface="Segoe UI"/>
              </a:rPr>
              <a:t>Strictly Confidential &amp; Proprietary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Date of Issue: </a:t>
            </a:r>
            <a:r>
              <a:rPr sz="1050">
                <a:solidFill>
                  <a:srgbClr val="1E293B"/>
                </a:solidFill>
                <a:latin typeface="Segoe UI"/>
              </a:rPr>
              <a:t>September 2026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Review Status: </a:t>
            </a:r>
            <a:r>
              <a:rPr sz="1050">
                <a:solidFill>
                  <a:srgbClr val="1E293B"/>
                </a:solidFill>
                <a:latin typeface="Segoe UI"/>
              </a:rPr>
              <a:t>Peer-Reviewed &amp; Adversarially Audited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Prepared Exclusively For: </a:t>
            </a:r>
            <a:r>
              <a:rPr sz="1050">
                <a:solidFill>
                  <a:srgbClr val="0A58CA"/>
                </a:solidFill>
                <a:latin typeface="Segoe UI"/>
              </a:rPr>
              <a:t>Dr. Madhusudhan Singh
Executive Leadership, L&amp;T Technology Services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Primary Research Author: </a:t>
            </a:r>
            <a:r>
              <a:rPr sz="1050">
                <a:solidFill>
                  <a:srgbClr val="0A58CA"/>
                </a:solidFill>
                <a:latin typeface="Segoe UI"/>
              </a:rPr>
              <a:t>Adari Karthikeya
Physical AI Practice Research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Action Required: </a:t>
            </a:r>
            <a:r>
              <a:rPr sz="1050">
                <a:solidFill>
                  <a:srgbClr val="0A58CA"/>
                </a:solidFill>
                <a:latin typeface="Segoe UI"/>
              </a:rPr>
              <a:t>Executive Review &amp; Budget Authorization for Q1 2027 Strategic Program ($8.3M)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63640"/>
            <a:ext cx="10725912" cy="13716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09359"/>
            <a:ext cx="107259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A58CA"/>
                </a:solidFill>
                <a:latin typeface="Segoe UI"/>
              </a:rPr>
              <a:t>STRATEGIC TAKEAWAY  —  </a:t>
            </a:r>
            <a:r>
              <a:rPr sz="1100">
                <a:solidFill>
                  <a:srgbClr val="1E293B"/>
                </a:solidFill>
                <a:latin typeface="Segoe UI"/>
              </a:rPr>
              <a:t>Briefing completed. For presentation delivery, boardroom inquiries, or pilot execution, contact Adari Karthikeya &amp; LTTS Leadership.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