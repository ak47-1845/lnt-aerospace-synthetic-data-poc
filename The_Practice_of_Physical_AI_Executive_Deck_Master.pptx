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01 Cover. Welcome Dr. Madhusudhan Singh and LTTS leadership. Frame this briefing around rigorous verification and the multi-billion-dollar engineering services opportunity.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02 Taxonomy &amp; Metrics. Highlight the $3.2B vs &lt;$20M asymmetry and explain the 4-tier verification standard.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03 Maturity Tiers. Explain why Tier 1 scale exists today in Waymo and TSMC, while humanoids remain in Tier 2 pilots.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04 Capital Matrix &amp; Hardware Trap. Detail the $3.2B capital concentration and emphasize why LTTS must avoid hardware manufacturing.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05 Research Priorities 1-3. Focus on why π0 continuous flow matching solves the discrete tokenization failure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06 Scaling Laws &amp; Edge Inference. Explain NVIDIA GEAR EgoScale and why sub-10ms latency is mandatory for physical dynamic stability.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07 Failure Modes. Walk through FM1-FM5 and explain why software-only AI startups fail on brownfield shop floors without mechatronic safety guards.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08 Pearl's Causal Ladder. Explain why LLMs are stuck on Rung 1 (P(Y|X)) and why safety certification requires Rung 3 counterfactuals.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09 Commercial Models (Table 3). Emphasize why Systems Integration is the crown jewel offering for LTTS.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 Offerings 1 &amp; 2. Walk through Software-Defined Factory as a Service and Industrial PLC Middleware.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 Offerings 3 &amp; 4. Detail the Physical AI V&amp;V Practice and Embodied MLOps continuous calibration.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 Deployments &amp; Hype. Contrast the 5 audited industrial deployments with the viral teleoperated humanoid hype.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13 Hybrid Incumbent Model. Explain why Siemens and Rockwell control factory floors and how LTTS acts as the indispensable bridge.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14 Competitive Landscape (Table 4). Walk through the 5 ecosystem tiers and show how LTTS sits at the center of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15 Underserved Gaps. Detail why Gaps 1-4 are massive profit pools for LTTS engineering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16 Kinematics Moat. Walk through the Jacobian mapping and explain why Yoshikawa manipulability collapse causes drive trips without LTTS filters.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17 RTOS Timing &amp; Data Flywheel. Detail sub-millisecond jitter requirements and the 5-stage closed-loop data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18 Market Evolution &amp; Wildcards. Highlight the 4 market transitions and explain why open-source foundation models benefit LTTS.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19 Strategic Priorities. Detail the $8.3M phased investment across V&amp;V ($2.8M), Alliances ($1.3M), Data Factory ($4.2M), and Talent CoE ($2.5M/yr).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20 Strategic Roadmap (Table 5). Present the milestone timeline, deliverables, and phased $8.3M capital deployment schedule.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21 Strategic Boardroom Mandate. Deliver the boardroom action call: LTTS must own the engineering bridge between AI models and plant machinery.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22 Appendix A. Full primary sources catalog across capital rounds, research preprints, and customer trial announcements.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23 Appendix B &amp; Sign-Off. Final document sign-off register and adversarial audit log for Dr. Madhusudhan Singh and LTTS leadership.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0725912" cy="13716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2784348" cy="2011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002B49"/>
                </a:solidFill>
                <a:latin typeface="Calibri"/>
              </a:rPr>
              <a:t>CONFIDENTIAL · EXECUTIVE STRATEGIC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5912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>
                <a:solidFill>
                  <a:srgbClr val="64748B"/>
                </a:solidFill>
                <a:latin typeface="Calibri"/>
              </a:rPr>
              <a:t>The Practice of
</a:t>
            </a:r>
            <a:r>
              <a:rPr sz="3800" b="1">
                <a:solidFill>
                  <a:srgbClr val="0F172A"/>
                </a:solidFill>
                <a:latin typeface="Georgia"/>
              </a:rPr>
              <a:t>Physical Artificial Intelligence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0A58CA"/>
                </a:solidFill>
                <a:latin typeface="Calibri"/>
              </a:rPr>
              <a:t>Strategic Landscape, Commercial Economics, Competitive Frontiers, and the Industrial-AI Bridge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926080"/>
            <a:ext cx="5230368" cy="3063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926080"/>
            <a:ext cx="5230368" cy="27432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154680"/>
            <a:ext cx="4773168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002B49"/>
                </a:solidFill>
                <a:latin typeface="Calibri"/>
              </a:rPr>
              <a:t>EXECUTIVE DOCUMENT REGISTER
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F172A"/>
                </a:solidFill>
                <a:latin typeface="Calibri"/>
              </a:rPr>
              <a:t>Prepared Exclusively For: </a:t>
            </a:r>
            <a:r>
              <a:rPr sz="950">
                <a:solidFill>
                  <a:srgbClr val="334155"/>
                </a:solidFill>
                <a:latin typeface="Calibri"/>
              </a:rPr>
              <a:t>Dr. Madhusudhan Singh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F172A"/>
                </a:solidFill>
                <a:latin typeface="Calibri"/>
              </a:rPr>
              <a:t>Title &amp; Organization: </a:t>
            </a:r>
            <a:r>
              <a:rPr sz="950">
                <a:solidFill>
                  <a:srgbClr val="334155"/>
                </a:solidFill>
                <a:latin typeface="Calibri"/>
              </a:rPr>
              <a:t>Executive Leadership, L&amp;T Technology Services Limited (LTTS)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F172A"/>
                </a:solidFill>
                <a:latin typeface="Calibri"/>
              </a:rPr>
              <a:t>Primary Author &amp; Research: </a:t>
            </a:r>
            <a:r>
              <a:rPr sz="950">
                <a:solidFill>
                  <a:srgbClr val="334155"/>
                </a:solidFill>
                <a:latin typeface="Calibri"/>
              </a:rPr>
              <a:t>Adari Karthikeya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F172A"/>
                </a:solidFill>
                <a:latin typeface="Calibri"/>
              </a:rPr>
              <a:t>Practice Group: </a:t>
            </a:r>
            <a:r>
              <a:rPr sz="950">
                <a:solidFill>
                  <a:srgbClr val="334155"/>
                </a:solidFill>
                <a:latin typeface="Calibri"/>
              </a:rPr>
              <a:t>Physical AI Practice Research &amp; Corporate Strategy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F172A"/>
                </a:solidFill>
                <a:latin typeface="Calibri"/>
              </a:rPr>
              <a:t>Release Version &amp; Date: </a:t>
            </a:r>
            <a:r>
              <a:rPr sz="950">
                <a:solidFill>
                  <a:srgbClr val="334155"/>
                </a:solidFill>
                <a:latin typeface="Calibri"/>
              </a:rPr>
              <a:t>Version 3.0 Master Executive Briefing · September 2026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F172A"/>
                </a:solidFill>
                <a:latin typeface="Calibri"/>
              </a:rPr>
              <a:t>Classification: </a:t>
            </a:r>
            <a:r>
              <a:rPr sz="950">
                <a:solidFill>
                  <a:srgbClr val="334155"/>
                </a:solidFill>
                <a:latin typeface="Calibri"/>
              </a:rPr>
              <a:t>Strictly Confidential &amp; Proprietary · Boardroom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6227064" y="2926080"/>
            <a:ext cx="5230368" cy="3063240"/>
          </a:xfrm>
          <a:prstGeom prst="rect">
            <a:avLst/>
          </a:prstGeom>
          <a:solidFill>
            <a:srgbClr val="F0F7FF"/>
          </a:solidFill>
          <a:ln w="63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27064" y="2926080"/>
            <a:ext cx="5230368" cy="27432"/>
          </a:xfrm>
          <a:prstGeom prst="rect">
            <a:avLst/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3154680"/>
            <a:ext cx="4773168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0A58CA"/>
                </a:solidFill>
                <a:latin typeface="Calibri"/>
              </a:rPr>
              <a:t>CORE STRATEGIC THESIS
</a:t>
            </a:r>
          </a:p>
          <a:p>
            <a:r>
              <a:rPr sz="1000">
                <a:solidFill>
                  <a:srgbClr val="0F172A"/>
                </a:solidFill>
                <a:latin typeface="Calibri"/>
              </a:rPr>
              <a:t>Physical AI represents the transition of artificial intelligence from open-loop digital token generation to closed-loop causal interaction with physical mass, forces, and kinematics under Newton's laws.
</a:t>
            </a:r>
            <a:r>
              <a:rPr sz="950" b="1">
                <a:solidFill>
                  <a:srgbClr val="002B49"/>
                </a:solidFill>
                <a:latin typeface="Calibri"/>
              </a:rPr>
              <a:t>Briefing Roadmap across 23 Executive Exhibits:
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334155"/>
                </a:solidFill>
                <a:latin typeface="Calibri"/>
              </a:rPr>
              <a:t>•  1. Commercial Maturity &amp; Capital Reality (Tiers 1-3, $3.2B VC, Hardware Trap)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334155"/>
                </a:solidFill>
                <a:latin typeface="Calibri"/>
              </a:rPr>
              <a:t>•  2. Frontier Research &amp; Failure Modes (Flow Matching, EgoScale, FM1-FM5, Pearl's Ladder)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334155"/>
                </a:solidFill>
                <a:latin typeface="Calibri"/>
              </a:rPr>
              <a:t>•  3. Commercial Models &amp; Competitive Map (Table 3, Table 4, 4 Market Gaps, 4 Offerings)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334155"/>
                </a:solidFill>
                <a:latin typeface="Calibri"/>
              </a:rPr>
              <a:t>•  4. The Domain Moat &amp; Phased Roadmap (Jacobian Collapse, RTOS Flywheel, $8.3M Program)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309359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002B49"/>
                </a:solidFill>
                <a:latin typeface="Georgia"/>
              </a:rPr>
              <a:t>STRATEGIC TAKEAWAY  —  </a:t>
            </a:r>
            <a:r>
              <a:rPr sz="900">
                <a:solidFill>
                  <a:srgbClr val="334155"/>
                </a:solidFill>
                <a:latin typeface="Calibri"/>
              </a:rPr>
              <a:t>This briefing synthesizes 16 pages of audited primary research, commercial disclosures, and mechatronic formalisms into an executive decision framework.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9184"/>
            <a:ext cx="9144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002B49"/>
                </a:solidFill>
                <a:latin typeface="Calibri"/>
              </a:rPr>
              <a:t>GOVERNANCE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30352"/>
            <a:ext cx="10725912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Georgia"/>
              </a:rPr>
              <a:t>Evidentiary Verification Hierarchy &amp; Commercial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59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Calibri"/>
              </a:rPr>
              <a:t>Four-tier verification standard separating audited disclosures from unvetted marketing copy.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97280" cy="18288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392424" cy="12344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3392424" cy="22860"/>
          </a:xfrm>
          <a:prstGeom prst="rect">
            <a:avLst/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37360"/>
            <a:ext cx="3063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0A58CA"/>
                </a:solidFill>
                <a:latin typeface="Georgia"/>
              </a:rPr>
              <a:t>$3.2B+</a:t>
            </a:r>
          </a:p>
          <a:p>
            <a:r>
              <a:rPr sz="900" b="1">
                <a:solidFill>
                  <a:srgbClr val="0F172A"/>
                </a:solidFill>
                <a:latin typeface="Calibri"/>
              </a:rPr>
              <a:t>DISCLOSED VENTURE CAPITAL</a:t>
            </a:r>
          </a:p>
          <a:p>
            <a:r>
              <a:rPr sz="800">
                <a:solidFill>
                  <a:srgbClr val="64748B"/>
                </a:solidFill>
                <a:latin typeface="Calibri"/>
              </a:rPr>
              <a:t>Invested across frontier robotics foundation model and humanoid startups between 2024 and 2026.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8264" y="1645920"/>
            <a:ext cx="3392424" cy="12344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8264" y="1645920"/>
            <a:ext cx="3392424" cy="2286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5" y="1737360"/>
            <a:ext cx="3063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C2410C"/>
                </a:solidFill>
                <a:latin typeface="Georgia"/>
              </a:rPr>
              <a:t>&lt; $20M</a:t>
            </a:r>
          </a:p>
          <a:p>
            <a:r>
              <a:rPr sz="900" b="1">
                <a:solidFill>
                  <a:srgbClr val="0F172A"/>
                </a:solidFill>
                <a:latin typeface="Calibri"/>
              </a:rPr>
              <a:t>TRUE HUMANOID REVENUE</a:t>
            </a:r>
          </a:p>
          <a:p>
            <a:r>
              <a:rPr sz="800">
                <a:solidFill>
                  <a:srgbClr val="64748B"/>
                </a:solidFill>
                <a:latin typeface="Calibri"/>
              </a:rPr>
              <a:t>Estimated total realized production deployment revenue across all humanoid OEMs globally combined in 2024-2025.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65008" y="1645920"/>
            <a:ext cx="3392424" cy="12344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5008" y="1645920"/>
            <a:ext cx="3392424" cy="2286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737360"/>
            <a:ext cx="3063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047857"/>
                </a:solidFill>
                <a:latin typeface="Georgia"/>
              </a:rPr>
              <a:t>$6.0B</a:t>
            </a:r>
          </a:p>
          <a:p>
            <a:r>
              <a:rPr sz="900" b="1">
                <a:solidFill>
                  <a:srgbClr val="0F172A"/>
                </a:solidFill>
                <a:latin typeface="Calibri"/>
              </a:rPr>
              <a:t>AUTONOMOUS VALUATION CEILING</a:t>
            </a:r>
          </a:p>
          <a:p>
            <a:r>
              <a:rPr sz="800">
                <a:solidFill>
                  <a:srgbClr val="64748B"/>
                </a:solidFill>
                <a:latin typeface="Calibri"/>
              </a:rPr>
              <a:t>Achieved by Applied Intuition (Series E, Mar 2024), establishing the commercial benchmark for simulation &amp; ADAS software.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063240"/>
            <a:ext cx="2478024" cy="29718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063240"/>
            <a:ext cx="2478024" cy="2286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3200400"/>
            <a:ext cx="2185416" cy="2697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>
                <a:solidFill>
                  <a:srgbClr val="047857"/>
                </a:solidFill>
                <a:latin typeface="Calibri"/>
              </a:rPr>
              <a:t>TIER 1 · AUDITED
</a:t>
            </a:r>
            <a:r>
              <a:rPr sz="1050" b="1">
                <a:solidFill>
                  <a:srgbClr val="0F172A"/>
                </a:solidFill>
                <a:latin typeface="Georgia"/>
              </a:rPr>
              <a:t>Audited Corporate Disclosures
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1E293B"/>
                </a:solidFill>
                <a:latin typeface="Calibri"/>
              </a:rPr>
              <a:t>Definition: </a:t>
            </a:r>
            <a:r>
              <a:rPr sz="850">
                <a:solidFill>
                  <a:srgbClr val="334155"/>
                </a:solidFill>
                <a:latin typeface="Calibri"/>
              </a:rPr>
              <a:t>Directly verifiable via SEC 10-K filings, audited earnings transcripts, or official corporate press releases.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1E293B"/>
                </a:solidFill>
                <a:latin typeface="Calibri"/>
              </a:rPr>
              <a:t>Acceptance Criteria: </a:t>
            </a:r>
            <a:r>
              <a:rPr sz="850">
                <a:solidFill>
                  <a:srgbClr val="334155"/>
                </a:solidFill>
                <a:latin typeface="Calibri"/>
              </a:rPr>
              <a:t>Mandatory corporate officer attribution, verified dollar value, signed commercial contracts.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1E293B"/>
                </a:solidFill>
                <a:latin typeface="Calibri"/>
              </a:rPr>
              <a:t>Applied To: </a:t>
            </a:r>
            <a:r>
              <a:rPr sz="850">
                <a:solidFill>
                  <a:srgbClr val="334155"/>
                </a:solidFill>
                <a:latin typeface="Calibri"/>
              </a:rPr>
              <a:t>Waymo mileage volume, Applied Intuition $6B valuation, Wayve $1.05B funding round.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83863" y="3063240"/>
            <a:ext cx="2478024" cy="29718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83863" y="3063240"/>
            <a:ext cx="2478024" cy="22860"/>
          </a:xfrm>
          <a:prstGeom prst="rect">
            <a:avLst/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30168" y="3200400"/>
            <a:ext cx="2185416" cy="2697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>
                <a:solidFill>
                  <a:srgbClr val="0A58CA"/>
                </a:solidFill>
                <a:latin typeface="Calibri"/>
              </a:rPr>
              <a:t>TIER 2 · RESEARCH
</a:t>
            </a:r>
            <a:r>
              <a:rPr sz="1050" b="1">
                <a:solidFill>
                  <a:srgbClr val="0F172A"/>
                </a:solidFill>
                <a:latin typeface="Georgia"/>
              </a:rPr>
              <a:t>Primary Literature &amp; Trials
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1E293B"/>
                </a:solidFill>
                <a:latin typeface="Calibri"/>
              </a:rPr>
              <a:t>Definition: </a:t>
            </a:r>
            <a:r>
              <a:rPr sz="850">
                <a:solidFill>
                  <a:srgbClr val="334155"/>
                </a:solidFill>
                <a:latin typeface="Calibri"/>
              </a:rPr>
              <a:t>Peer-reviewed publications, arXiv preprints, or official customer-verified plant trial agreements.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1E293B"/>
                </a:solidFill>
                <a:latin typeface="Calibri"/>
              </a:rPr>
              <a:t>Acceptance Criteria: </a:t>
            </a:r>
            <a:r>
              <a:rPr sz="850">
                <a:solidFill>
                  <a:srgbClr val="334155"/>
                </a:solidFill>
                <a:latin typeface="Calibri"/>
              </a:rPr>
              <a:t>Detailed mathematical formulations, experimental methodologies, named customer plant sites.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1E293B"/>
                </a:solidFill>
                <a:latin typeface="Calibri"/>
              </a:rPr>
              <a:t>Applied To: </a:t>
            </a:r>
            <a:r>
              <a:rPr sz="850">
                <a:solidFill>
                  <a:srgbClr val="334155"/>
                </a:solidFill>
                <a:latin typeface="Calibri"/>
              </a:rPr>
              <a:t>PI π0 flow matching, NVIDIA EgoScale laws, BMW Spartanburg Figure 02 pilot trial.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6207" y="3063240"/>
            <a:ext cx="2478024" cy="29718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7" y="3063240"/>
            <a:ext cx="2478024" cy="2286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82512" y="3200400"/>
            <a:ext cx="2185416" cy="2697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>
                <a:solidFill>
                  <a:srgbClr val="C2410C"/>
                </a:solidFill>
                <a:latin typeface="Calibri"/>
              </a:rPr>
              <a:t>TIER 3 · ESTIMATES
</a:t>
            </a:r>
            <a:r>
              <a:rPr sz="1050" b="1">
                <a:solidFill>
                  <a:srgbClr val="0F172A"/>
                </a:solidFill>
                <a:latin typeface="Georgia"/>
              </a:rPr>
              <a:t>Qualified Estimates
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1E293B"/>
                </a:solidFill>
                <a:latin typeface="Calibri"/>
              </a:rPr>
              <a:t>Definition: </a:t>
            </a:r>
            <a:r>
              <a:rPr sz="850">
                <a:solidFill>
                  <a:srgbClr val="334155"/>
                </a:solidFill>
                <a:latin typeface="Calibri"/>
              </a:rPr>
              <a:t>Industry extrapolations, trade press whitepapers, and unverified vendor marketing claims.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1E293B"/>
                </a:solidFill>
                <a:latin typeface="Calibri"/>
              </a:rPr>
              <a:t>Acceptance Criteria: </a:t>
            </a:r>
            <a:r>
              <a:rPr sz="850">
                <a:solidFill>
                  <a:srgbClr val="334155"/>
                </a:solidFill>
                <a:latin typeface="Calibri"/>
              </a:rPr>
              <a:t>Clearly labeled as [Estimated] or [Reported]; excluded from core financial models.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1E293B"/>
                </a:solidFill>
                <a:latin typeface="Calibri"/>
              </a:rPr>
              <a:t>Applied To: </a:t>
            </a:r>
            <a:r>
              <a:rPr sz="850">
                <a:solidFill>
                  <a:srgbClr val="334155"/>
                </a:solidFill>
                <a:latin typeface="Calibri"/>
              </a:rPr>
              <a:t>Unitree G1 volume pricing ($16k), humanoid production cost trajectories, vendor whitepaper savings.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8552" y="3063240"/>
            <a:ext cx="2478024" cy="29718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8552" y="3063240"/>
            <a:ext cx="2478024" cy="2286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34856" y="3200400"/>
            <a:ext cx="2185416" cy="2697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>
                <a:solidFill>
                  <a:srgbClr val="B91C1C"/>
                </a:solidFill>
                <a:latin typeface="Calibri"/>
              </a:rPr>
              <a:t>TIER 4 · RETRACTED
</a:t>
            </a:r>
            <a:r>
              <a:rPr sz="1050" b="1">
                <a:solidFill>
                  <a:srgbClr val="0F172A"/>
                </a:solidFill>
                <a:latin typeface="Georgia"/>
              </a:rPr>
              <a:t>Adversarially Retracted
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1E293B"/>
                </a:solidFill>
                <a:latin typeface="Calibri"/>
              </a:rPr>
              <a:t>Definition: </a:t>
            </a:r>
            <a:r>
              <a:rPr sz="850">
                <a:solidFill>
                  <a:srgbClr val="334155"/>
                </a:solidFill>
                <a:latin typeface="Calibri"/>
              </a:rPr>
              <a:t>Marketing claims from early working drafts that failed rigorous primary-source verification.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1E293B"/>
                </a:solidFill>
                <a:latin typeface="Calibri"/>
              </a:rPr>
              <a:t>Acceptance Criteria: </a:t>
            </a:r>
            <a:r>
              <a:rPr sz="850">
                <a:solidFill>
                  <a:srgbClr val="334155"/>
                </a:solidFill>
                <a:latin typeface="Calibri"/>
              </a:rPr>
              <a:t>Full transparent logging in Appendix B audit register; strictly removed from briefing.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1E293B"/>
                </a:solidFill>
                <a:latin typeface="Calibri"/>
              </a:rPr>
              <a:t>Applied To: </a:t>
            </a:r>
            <a:r>
              <a:rPr sz="850">
                <a:solidFill>
                  <a:srgbClr val="334155"/>
                </a:solidFill>
                <a:latin typeface="Calibri"/>
              </a:rPr>
              <a:t>Ford 42% scrap reduction, Airbus &lt;2 PPM defects, Amazon 750k robot aggregation claim.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6309359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002B49"/>
                </a:solidFill>
                <a:latin typeface="Georgia"/>
              </a:rPr>
              <a:t>STRATEGIC TAKEAWAY  —  </a:t>
            </a:r>
            <a:r>
              <a:rPr sz="900">
                <a:solidFill>
                  <a:srgbClr val="334155"/>
                </a:solidFill>
                <a:latin typeface="Calibri"/>
              </a:rPr>
              <a:t>Every metric in this presentation adheres to this four-tier evidentiary standard, guaranteeing zero marketing hype reaches leadership.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9184"/>
            <a:ext cx="9144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002B49"/>
                </a:solidFill>
                <a:latin typeface="Calibri"/>
              </a:rPr>
              <a:t>MODULE 1 · COMMERCIAL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30352"/>
            <a:ext cx="10725912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Georgia"/>
              </a:rPr>
              <a:t>Commercial Maturity Framework: Scale vs. Pilots vs. Demos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59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Calibri"/>
              </a:rPr>
              <a:t>Three-tier classification separating commercial revenue scale from pilot trials and teleoperated lab demos.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97280" cy="18288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392424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3392424" cy="2286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10512"/>
            <a:ext cx="2990088" cy="40599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>
                <a:solidFill>
                  <a:srgbClr val="047857"/>
                </a:solidFill>
                <a:latin typeface="Calibri"/>
              </a:rPr>
              <a:t>TIER 1 · PRODUCTION SCALE
</a:t>
            </a:r>
            <a:r>
              <a:rPr sz="1200" b="1">
                <a:solidFill>
                  <a:srgbClr val="0F172A"/>
                </a:solidFill>
                <a:latin typeface="Georgia"/>
              </a:rPr>
              <a:t>Commercial Production at Scale
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0F172A"/>
                </a:solidFill>
                <a:latin typeface="Calibri"/>
              </a:rPr>
              <a:t>Core Criteria: </a:t>
            </a:r>
            <a:r>
              <a:rPr sz="900">
                <a:solidFill>
                  <a:srgbClr val="334155"/>
                </a:solidFill>
                <a:latin typeface="Calibri"/>
              </a:rPr>
              <a:t>Proven revenue at commercial scale, continuous paid operation without safety drivers, regulatory operating approval, and contractual uptime guarantees.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0F172A"/>
                </a:solidFill>
                <a:latin typeface="Calibri"/>
              </a:rPr>
              <a:t>Waymo (Alphabet): </a:t>
            </a:r>
            <a:r>
              <a:rPr sz="900">
                <a:solidFill>
                  <a:srgbClr val="334155"/>
                </a:solidFill>
                <a:latin typeface="Calibri"/>
              </a:rPr>
              <a:t>&gt;150,000 paid commercial trips/week and &gt;1,000,000 fully autonomous commercial miles weekly across San Francisco, Phoenix, and Los Angeles.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0F172A"/>
                </a:solidFill>
                <a:latin typeface="Calibri"/>
              </a:rPr>
              <a:t>Tesla Autonomous Driving: </a:t>
            </a:r>
            <a:r>
              <a:rPr sz="900">
                <a:solidFill>
                  <a:srgbClr val="334155"/>
                </a:solidFill>
                <a:latin typeface="Calibri"/>
              </a:rPr>
              <a:t>&gt;2.0 billion cumulative miles operated on End-to-End neural network (FSD v12+), validating mass visual scaling.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0F172A"/>
                </a:solidFill>
                <a:latin typeface="Calibri"/>
              </a:rPr>
              <a:t>TSMC Advanced Semiconductor: </a:t>
            </a:r>
            <a:r>
              <a:rPr sz="900">
                <a:solidFill>
                  <a:srgbClr val="334155"/>
                </a:solidFill>
                <a:latin typeface="Calibri"/>
              </a:rPr>
              <a:t>Physics-informed neural networks operating in production EUV lithography and wafer defect classification with nanometer precision.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8264" y="1645920"/>
            <a:ext cx="3392424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8264" y="1645920"/>
            <a:ext cx="3392424" cy="228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1" y="1810512"/>
            <a:ext cx="2990088" cy="40599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>
                <a:solidFill>
                  <a:srgbClr val="002B49"/>
                </a:solidFill>
                <a:latin typeface="Calibri"/>
              </a:rPr>
              <a:t>TIER 2 · ENTERPRISE PILOTS
</a:t>
            </a:r>
            <a:r>
              <a:rPr sz="1200" b="1">
                <a:solidFill>
                  <a:srgbClr val="0F172A"/>
                </a:solidFill>
                <a:latin typeface="Georgia"/>
              </a:rPr>
              <a:t>Qualified Enterprise Field Pilots
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0F172A"/>
                </a:solidFill>
                <a:latin typeface="Calibri"/>
              </a:rPr>
              <a:t>Core Criteria: </a:t>
            </a:r>
            <a:r>
              <a:rPr sz="900">
                <a:solidFill>
                  <a:srgbClr val="334155"/>
                </a:solidFill>
                <a:latin typeface="Calibri"/>
              </a:rPr>
              <a:t>Multi-week customer plant trials with human safety oversight, bounded operational envelopes, and qualitative validation without fleet expansion.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0F172A"/>
                </a:solidFill>
                <a:latin typeface="Calibri"/>
              </a:rPr>
              <a:t>Figure AI / BMW Spartanburg: </a:t>
            </a:r>
            <a:r>
              <a:rPr sz="900">
                <a:solidFill>
                  <a:srgbClr val="334155"/>
                </a:solidFill>
                <a:latin typeface="Calibri"/>
              </a:rPr>
              <a:t>Figure 02 bipedal humanoid trial at BMW Spartanburg plant (Aug 2024), testing sheet metal subassembly placement into chassis fixtures.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0F172A"/>
                </a:solidFill>
                <a:latin typeface="Calibri"/>
              </a:rPr>
              <a:t>Apptronik / Mercedes-Benz: </a:t>
            </a:r>
            <a:r>
              <a:rPr sz="900">
                <a:solidFill>
                  <a:srgbClr val="334155"/>
                </a:solidFill>
                <a:latin typeface="Calibri"/>
              </a:rPr>
              <a:t>Commercial pilot agreement (Mar 2024) deploying Apollo humanoids for delivery of assembly component totes to production workers.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0F172A"/>
                </a:solidFill>
                <a:latin typeface="Calibri"/>
              </a:rPr>
              <a:t>Boston Dynamics / DHL Supply Chain: </a:t>
            </a:r>
            <a:r>
              <a:rPr sz="900">
                <a:solidFill>
                  <a:srgbClr val="334155"/>
                </a:solidFill>
                <a:latin typeface="Calibri"/>
              </a:rPr>
              <a:t>Expanding deployment of Stretch mobile manipulators for automated carton unloading from truck containers across logistics hubs.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65008" y="1645920"/>
            <a:ext cx="3392424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5008" y="1645920"/>
            <a:ext cx="3392424" cy="2286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6" y="1810512"/>
            <a:ext cx="2990088" cy="40599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>
                <a:solidFill>
                  <a:srgbClr val="C2410C"/>
                </a:solidFill>
                <a:latin typeface="Calibri"/>
              </a:rPr>
              <a:t>TIER 3 · UNVERIFIED LAB DEMOS
</a:t>
            </a:r>
            <a:r>
              <a:rPr sz="1200" b="1">
                <a:solidFill>
                  <a:srgbClr val="0F172A"/>
                </a:solidFill>
                <a:latin typeface="Georgia"/>
              </a:rPr>
              <a:t>Unverified Lab &amp; Marketing Demos
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0F172A"/>
                </a:solidFill>
                <a:latin typeface="Calibri"/>
              </a:rPr>
              <a:t>Core Criteria: </a:t>
            </a:r>
            <a:r>
              <a:rPr sz="900">
                <a:solidFill>
                  <a:srgbClr val="334155"/>
                </a:solidFill>
                <a:latin typeface="Calibri"/>
              </a:rPr>
              <a:t>Teleoperated demonstrations, highly staged cherry-picked video releases, no public MTBF data, and failure under real environmental variance.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0F172A"/>
                </a:solidFill>
                <a:latin typeface="Calibri"/>
              </a:rPr>
              <a:t>Pervasive Teleoperation Masking: </a:t>
            </a:r>
            <a:r>
              <a:rPr sz="900">
                <a:solidFill>
                  <a:srgbClr val="334155"/>
                </a:solidFill>
                <a:latin typeface="Calibri"/>
              </a:rPr>
              <a:t>Widespread use of VR puppeteering and hidden human teleoperation disguised as autonomous end-to-end foundation model inference.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0F172A"/>
                </a:solidFill>
                <a:latin typeface="Calibri"/>
              </a:rPr>
              <a:t>Unitree, 1X, Agility Marketing: </a:t>
            </a:r>
            <a:r>
              <a:rPr sz="900">
                <a:solidFill>
                  <a:srgbClr val="334155"/>
                </a:solidFill>
                <a:latin typeface="Calibri"/>
              </a:rPr>
              <a:t>Viral social media demos showing dynamic parkour or warehouse box-shifting that fail to replicate under industrial dust, glare, or shift-level continuous run times.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0F172A"/>
                </a:solidFill>
                <a:latin typeface="Calibri"/>
              </a:rPr>
              <a:t>Sim-to-Real Contact Collapse: </a:t>
            </a:r>
            <a:r>
              <a:rPr sz="900">
                <a:solidFill>
                  <a:srgbClr val="334155"/>
                </a:solidFill>
                <a:latin typeface="Calibri"/>
              </a:rPr>
              <a:t>Policies trained purely in rigid-body physics simulators failing catastrophically when encountering deformable packaging or surface oil.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309359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002B49"/>
                </a:solidFill>
                <a:latin typeface="Georgia"/>
              </a:rPr>
              <a:t>STRATEGIC TAKEAWAY  —  </a:t>
            </a:r>
            <a:r>
              <a:rPr sz="900">
                <a:solidFill>
                  <a:srgbClr val="334155"/>
                </a:solidFill>
                <a:latin typeface="Calibri"/>
              </a:rPr>
              <a:t>Production-grade physical AI is currently restricted to autonomous mobility and semiconductor fabs; humanoid robotics remains firmly in Tier 2 pilots.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9184"/>
            <a:ext cx="9144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002B49"/>
                </a:solidFill>
                <a:latin typeface="Calibri"/>
              </a:rPr>
              <a:t>MODULE 1 · COMMERCIAL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30352"/>
            <a:ext cx="10725912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Georgia"/>
              </a:rPr>
              <a:t>Disclosed Capital Matrix &amp; The Hardware Commoditization Trap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59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Calibri"/>
              </a:rPr>
              <a:t>Over $3.2B in venture capital highlights an acute structural margin crisis in robot hardware.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97280" cy="18288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230368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5230368" cy="22860"/>
          </a:xfrm>
          <a:prstGeom prst="rect">
            <a:avLst/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10512"/>
            <a:ext cx="4773168" cy="40599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0A58CA"/>
                </a:solidFill>
                <a:latin typeface="Calibri"/>
              </a:rPr>
              <a:t>DISCLOSED CAPITAL MATRIX (2024 - 2026)
</a:t>
            </a:r>
          </a:p>
          <a:p>
            <a:pPr>
              <a:spcBef>
                <a:spcPts val="400"/>
              </a:spcBef>
            </a:pPr>
            <a:r>
              <a:rPr sz="900" b="1">
                <a:solidFill>
                  <a:srgbClr val="0F172A"/>
                </a:solidFill>
                <a:latin typeface="Calibri"/>
              </a:rPr>
              <a:t>Wayve ($1.05B Series C, May 2024)
</a:t>
            </a:r>
            <a:r>
              <a:rPr sz="850">
                <a:solidFill>
                  <a:srgbClr val="334155"/>
                </a:solidFill>
                <a:latin typeface="Calibri"/>
              </a:rPr>
              <a:t>Investors: SoftBank Group, NVIDIA, Microsoft  |  Autonomous driving embodied foundation models.</a:t>
            </a:r>
          </a:p>
          <a:p>
            <a:pPr>
              <a:spcBef>
                <a:spcPts val="400"/>
              </a:spcBef>
            </a:pPr>
            <a:r>
              <a:rPr sz="900" b="1">
                <a:solidFill>
                  <a:srgbClr val="0F172A"/>
                </a:solidFill>
                <a:latin typeface="Calibri"/>
              </a:rPr>
              <a:t>Figure AI ($675M Series B, Feb 2024)
</a:t>
            </a:r>
            <a:r>
              <a:rPr sz="850">
                <a:solidFill>
                  <a:srgbClr val="334155"/>
                </a:solidFill>
                <a:latin typeface="Calibri"/>
              </a:rPr>
              <a:t>Investors: Microsoft, OpenAI, NVIDIA, Bezos ($2.6B val)  |  Generalist bipedal humanoid robots (Figure 02).</a:t>
            </a:r>
          </a:p>
          <a:p>
            <a:pPr>
              <a:spcBef>
                <a:spcPts val="400"/>
              </a:spcBef>
            </a:pPr>
            <a:r>
              <a:rPr sz="900" b="1">
                <a:solidFill>
                  <a:srgbClr val="0F172A"/>
                </a:solidFill>
                <a:latin typeface="Calibri"/>
              </a:rPr>
              <a:t>Physical Intelligence ($400M Series A, Nov 2024)
</a:t>
            </a:r>
            <a:r>
              <a:rPr sz="850">
                <a:solidFill>
                  <a:srgbClr val="334155"/>
                </a:solidFill>
                <a:latin typeface="Calibri"/>
              </a:rPr>
              <a:t>Investors: Bezos Expeditions, Thrive, Lux ($2.4B val)  |  General-purpose robotics foundation model (π0).</a:t>
            </a:r>
          </a:p>
          <a:p>
            <a:pPr>
              <a:spcBef>
                <a:spcPts val="400"/>
              </a:spcBef>
            </a:pPr>
            <a:r>
              <a:rPr sz="900" b="1">
                <a:solidFill>
                  <a:srgbClr val="0F172A"/>
                </a:solidFill>
                <a:latin typeface="Calibri"/>
              </a:rPr>
              <a:t>Skild AI ($300M Series A, Jul 2024)
</a:t>
            </a:r>
            <a:r>
              <a:rPr sz="850">
                <a:solidFill>
                  <a:srgbClr val="334155"/>
                </a:solidFill>
                <a:latin typeface="Calibri"/>
              </a:rPr>
              <a:t>Investors: Lightspeed, Coatue, SoftBank ($1.5B val)  |  Cross-embodiment foundation brains for manipulation.</a:t>
            </a:r>
          </a:p>
          <a:p>
            <a:pPr>
              <a:spcBef>
                <a:spcPts val="400"/>
              </a:spcBef>
            </a:pPr>
            <a:r>
              <a:rPr sz="900" b="1">
                <a:solidFill>
                  <a:srgbClr val="0F172A"/>
                </a:solidFill>
                <a:latin typeface="Calibri"/>
              </a:rPr>
              <a:t>Applied Intuition ($250M Series E, Mar 2024)
</a:t>
            </a:r>
            <a:r>
              <a:rPr sz="850">
                <a:solidFill>
                  <a:srgbClr val="334155"/>
                </a:solidFill>
                <a:latin typeface="Calibri"/>
              </a:rPr>
              <a:t>Investors: Lux Capital, Elad Gil, Porsche ($6.0B val)  |  Autonomous vehicle &amp; robotics simulation / validation.</a:t>
            </a:r>
          </a:p>
          <a:p>
            <a:pPr>
              <a:spcBef>
                <a:spcPts val="400"/>
              </a:spcBef>
            </a:pPr>
            <a:r>
              <a:rPr sz="900" b="1">
                <a:solidFill>
                  <a:srgbClr val="0F172A"/>
                </a:solidFill>
                <a:latin typeface="Calibri"/>
              </a:rPr>
              <a:t>Scale AI ($1.0B Series F, May 2024)
</a:t>
            </a:r>
            <a:r>
              <a:rPr sz="850">
                <a:solidFill>
                  <a:srgbClr val="334155"/>
                </a:solidFill>
                <a:latin typeface="Calibri"/>
              </a:rPr>
              <a:t>Investors: Accel, Strategic Partners ($13.8B val)  |  Embodied data generation &amp; evaluation infrastructure.</a:t>
            </a:r>
          </a:p>
          <a:p>
            <a:pPr>
              <a:spcBef>
                <a:spcPts val="400"/>
              </a:spcBef>
            </a:pPr>
            <a:r>
              <a:rPr sz="900" b="1">
                <a:solidFill>
                  <a:srgbClr val="0F172A"/>
                </a:solidFill>
                <a:latin typeface="Calibri"/>
              </a:rPr>
              <a:t>1X Technologies ($100M Series B, Jan 2024)
</a:t>
            </a:r>
            <a:r>
              <a:rPr sz="850">
                <a:solidFill>
                  <a:srgbClr val="334155"/>
                </a:solidFill>
                <a:latin typeface="Calibri"/>
              </a:rPr>
              <a:t>Investors: EQT Ventures, OpenAI Startup Fund  |  Bipedal and wheeled humanoid hardware (NEO / EVE).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645920"/>
            <a:ext cx="5230368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27064" y="1645920"/>
            <a:ext cx="5230368" cy="2286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5664" y="1810512"/>
            <a:ext cx="4773168" cy="40599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C2410C"/>
                </a:solidFill>
                <a:latin typeface="Calibri"/>
              </a:rPr>
              <a:t>THE HARDWARE COMMODITIZATION TRAP
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F172A"/>
                </a:solidFill>
                <a:latin typeface="Calibri"/>
              </a:rPr>
              <a:t>The $16,000 Humanoid Price War: </a:t>
            </a:r>
            <a:r>
              <a:rPr sz="900">
                <a:solidFill>
                  <a:srgbClr val="334155"/>
                </a:solidFill>
                <a:latin typeface="Calibri"/>
              </a:rPr>
              <a:t>Unitree's G1 launch at $16,000 initiates aggressive deflation in mechanical hardware long before autonomous software reaches production maturity. Chinese supply chains commoditize robot frames at breakneck speed.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F172A"/>
                </a:solidFill>
                <a:latin typeface="Calibri"/>
              </a:rPr>
              <a:t>Structural Margin Collapse (&lt;15%): </a:t>
            </a:r>
            <a:r>
              <a:rPr sz="900">
                <a:solidFill>
                  <a:srgbClr val="334155"/>
                </a:solidFill>
                <a:latin typeface="Calibri"/>
              </a:rPr>
              <a:t>As harmonic drives, frameless motors, and planetary actuators become off-the-shelf commodities, hardware-only OEMs face margin compression mirroring PC and Android handset commoditization.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F172A"/>
                </a:solidFill>
                <a:latin typeface="Calibri"/>
              </a:rPr>
              <a:t>Software &amp; Integration Captures 70%+ Value: </a:t>
            </a:r>
            <a:r>
              <a:rPr sz="900">
                <a:solidFill>
                  <a:srgbClr val="334155"/>
                </a:solidFill>
                <a:latin typeface="Calibri"/>
              </a:rPr>
              <a:t>Economic surplus decisively shifts to: (1) Pretrained Foundation Models, (2) Deterministic Safety Middleware, (3) Physics Digital Twins, and (4) Systems Integration that integrates robots into brownfield plant PLCs.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F172A"/>
                </a:solidFill>
                <a:latin typeface="Calibri"/>
              </a:rPr>
              <a:t>LTTS Strategic Imperative: </a:t>
            </a:r>
            <a:r>
              <a:rPr sz="900">
                <a:solidFill>
                  <a:srgbClr val="334155"/>
                </a:solidFill>
                <a:latin typeface="Calibri"/>
              </a:rPr>
              <a:t>LTTS must never attempt to build or manufacture proprietary robot hardware frames. The winning strategy is to remain entirely hardware-agnostic and capture high-margin software integration, V&amp;V, and plant automation deployment.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309359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002B49"/>
                </a:solidFill>
                <a:latin typeface="Georgia"/>
              </a:rPr>
              <a:t>STRATEGIC TAKEAWAY  —  </a:t>
            </a:r>
            <a:r>
              <a:rPr sz="900">
                <a:solidFill>
                  <a:srgbClr val="334155"/>
                </a:solidFill>
                <a:latin typeface="Calibri"/>
              </a:rPr>
              <a:t>Venture capital is aggressively subsidizing foundation models; commoditizing hardware forces value into systems engineering and plant integration.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9184"/>
            <a:ext cx="9144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002B49"/>
                </a:solidFill>
                <a:latin typeface="Calibri"/>
              </a:rPr>
              <a:t>MODULE 2 · FRONTIER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30352"/>
            <a:ext cx="10725912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Georgia"/>
              </a:rPr>
              <a:t>Frontier Research: Flow Matching, World Models &amp; RFT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59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Calibri"/>
              </a:rPr>
              <a:t>Core machine learning breakthroughs overcoming discrete tokenization and lack of spatial geometry.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97280" cy="18288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392424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3392424" cy="22860"/>
          </a:xfrm>
          <a:prstGeom prst="rect">
            <a:avLst/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10512"/>
            <a:ext cx="2990088" cy="40599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>
                <a:solidFill>
                  <a:srgbClr val="0A58CA"/>
                </a:solidFill>
                <a:latin typeface="Calibri"/>
              </a:rPr>
              <a:t>PRIORITY 1 · CONTINUOUS ACTIONS
</a:t>
            </a:r>
            <a:r>
              <a:rPr sz="1150" b="1">
                <a:solidFill>
                  <a:srgbClr val="0F172A"/>
                </a:solidFill>
                <a:latin typeface="Georgia"/>
              </a:rPr>
              <a:t>Continuous Action Flow Matching
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0F172A"/>
                </a:solidFill>
                <a:latin typeface="Calibri"/>
              </a:rPr>
              <a:t>Core Breakthrough: </a:t>
            </a:r>
            <a:r>
              <a:rPr sz="900">
                <a:solidFill>
                  <a:srgbClr val="334155"/>
                </a:solidFill>
                <a:latin typeface="Calibri"/>
              </a:rPr>
              <a:t>Direct velocity field regression via flow matching rather than autoregressive discrete tokenization.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0F172A"/>
                </a:solidFill>
                <a:latin typeface="Calibri"/>
              </a:rPr>
              <a:t>Foundation Benchmark: </a:t>
            </a:r>
            <a:r>
              <a:rPr sz="900">
                <a:solidFill>
                  <a:srgbClr val="334155"/>
                </a:solidFill>
                <a:latin typeface="Calibri"/>
              </a:rPr>
              <a:t>Physical Intelligence π0 technical report (Oct 2024, arXiv:2410.24164).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0F172A"/>
                </a:solidFill>
                <a:latin typeface="Calibri"/>
              </a:rPr>
              <a:t>Why Tokenization Failed: </a:t>
            </a:r>
            <a:r>
              <a:rPr sz="900">
                <a:solidFill>
                  <a:srgbClr val="334155"/>
                </a:solidFill>
                <a:latin typeface="Calibri"/>
              </a:rPr>
              <a:t>Discretizing continuous motor torques into 256 discrete bins (RT-1/RT-2) causes severe joint chattering, latency spikes, and mechanical jerk.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0F172A"/>
                </a:solidFill>
                <a:latin typeface="Calibri"/>
              </a:rPr>
              <a:t>Industrial Advantage: </a:t>
            </a:r>
            <a:r>
              <a:rPr sz="900">
                <a:solidFill>
                  <a:srgbClr val="334155"/>
                </a:solidFill>
                <a:latin typeface="Calibri"/>
              </a:rPr>
              <a:t>Enables sub-millimeter precision, fluid multi-joint coordination, and natural compliance during tight-tolerance assembly.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8264" y="1645920"/>
            <a:ext cx="3392424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8264" y="1645920"/>
            <a:ext cx="3392424" cy="228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1" y="1810512"/>
            <a:ext cx="2990088" cy="40599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>
                <a:solidFill>
                  <a:srgbClr val="0284C7"/>
                </a:solidFill>
                <a:latin typeface="Calibri"/>
              </a:rPr>
              <a:t>PRIORITY 2 · 3D GEOMETRY
</a:t>
            </a:r>
            <a:r>
              <a:rPr sz="1150" b="1">
                <a:solidFill>
                  <a:srgbClr val="0F172A"/>
                </a:solidFill>
                <a:latin typeface="Georgia"/>
              </a:rPr>
              <a:t>3D Geometric &amp; Video World Models
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0F172A"/>
                </a:solidFill>
                <a:latin typeface="Calibri"/>
              </a:rPr>
              <a:t>Core Breakthrough: </a:t>
            </a:r>
            <a:r>
              <a:rPr sz="900">
                <a:solidFill>
                  <a:srgbClr val="334155"/>
                </a:solidFill>
                <a:latin typeface="Calibri"/>
              </a:rPr>
              <a:t>Pretraining generative models on massive physical video corpora to predict future 3D point-cloud states and scene dynamics.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0F172A"/>
                </a:solidFill>
                <a:latin typeface="Calibri"/>
              </a:rPr>
              <a:t>Industry Implementations: </a:t>
            </a:r>
            <a:r>
              <a:rPr sz="900">
                <a:solidFill>
                  <a:srgbClr val="334155"/>
                </a:solidFill>
                <a:latin typeface="Calibri"/>
              </a:rPr>
              <a:t>NVIDIA Cosmos platform, World Labs (Fei-Fei Li spatial intelligence models).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0F172A"/>
                </a:solidFill>
                <a:latin typeface="Calibri"/>
              </a:rPr>
              <a:t>Causal Advantage: </a:t>
            </a:r>
            <a:r>
              <a:rPr sz="900">
                <a:solidFill>
                  <a:srgbClr val="334155"/>
                </a:solidFill>
                <a:latin typeface="Calibri"/>
              </a:rPr>
              <a:t>Generates plausible physics rollouts conditioned on proposed motor actions, allowing robots to simulate consequences before moving.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0F172A"/>
                </a:solidFill>
                <a:latin typeface="Calibri"/>
              </a:rPr>
              <a:t>Industrial Advantage: </a:t>
            </a:r>
            <a:r>
              <a:rPr sz="900">
                <a:solidFill>
                  <a:srgbClr val="334155"/>
                </a:solidFill>
                <a:latin typeface="Calibri"/>
              </a:rPr>
              <a:t>Reduces on-robot physical trial requirements by 100x by generating thousands of diverse edge-case synthetic variations.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65008" y="1645920"/>
            <a:ext cx="3392424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5008" y="1645920"/>
            <a:ext cx="3392424" cy="2286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6" y="1810512"/>
            <a:ext cx="2990088" cy="40599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>
                <a:solidFill>
                  <a:srgbClr val="047857"/>
                </a:solidFill>
                <a:latin typeface="Calibri"/>
              </a:rPr>
              <a:t>PRIORITY 3 · AUTONOMOUS RL
</a:t>
            </a:r>
            <a:r>
              <a:rPr sz="1150" b="1">
                <a:solidFill>
                  <a:srgbClr val="0F172A"/>
                </a:solidFill>
                <a:latin typeface="Georgia"/>
              </a:rPr>
              <a:t>Reinforcement Fine-Tuning (RFT)
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0F172A"/>
                </a:solidFill>
                <a:latin typeface="Calibri"/>
              </a:rPr>
              <a:t>Core Breakthrough: </a:t>
            </a:r>
            <a:r>
              <a:rPr sz="900">
                <a:solidFill>
                  <a:srgbClr val="334155"/>
                </a:solidFill>
                <a:latin typeface="Calibri"/>
              </a:rPr>
              <a:t>Autonomous policy improvement through trial-and-error exploration in physics simulation rather than static imitation.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0F172A"/>
                </a:solidFill>
                <a:latin typeface="Calibri"/>
              </a:rPr>
              <a:t>Overcoming Teleop Limits: </a:t>
            </a:r>
            <a:r>
              <a:rPr sz="900">
                <a:solidFill>
                  <a:srgbClr val="334155"/>
                </a:solidFill>
                <a:latin typeface="Calibri"/>
              </a:rPr>
              <a:t>Human teleoperation data is prohibitively expensive ($50-$100/hr) and fundamentally reflects sub-optimal human biomechanics.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0F172A"/>
                </a:solidFill>
                <a:latin typeface="Calibri"/>
              </a:rPr>
              <a:t>Curriculum Hardening: </a:t>
            </a:r>
            <a:r>
              <a:rPr sz="900">
                <a:solidFill>
                  <a:srgbClr val="334155"/>
                </a:solidFill>
                <a:latin typeface="Calibri"/>
              </a:rPr>
              <a:t>Progressively injecting synthetic friction variances, payload mass shifts, and external push disturbances into the training loop.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0F172A"/>
                </a:solidFill>
                <a:latin typeface="Calibri"/>
              </a:rPr>
              <a:t>Industrial Advantage: </a:t>
            </a:r>
            <a:r>
              <a:rPr sz="900">
                <a:solidFill>
                  <a:srgbClr val="334155"/>
                </a:solidFill>
                <a:latin typeface="Calibri"/>
              </a:rPr>
              <a:t>Produces hardened neural controllers that autonomously recover from dropped parts, slipping grasps, and misaligned workpieces.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309359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002B49"/>
                </a:solidFill>
                <a:latin typeface="Georgia"/>
              </a:rPr>
              <a:t>STRATEGIC TAKEAWAY  —  </a:t>
            </a:r>
            <a:r>
              <a:rPr sz="900">
                <a:solidFill>
                  <a:srgbClr val="334155"/>
                </a:solidFill>
                <a:latin typeface="Calibri"/>
              </a:rPr>
              <a:t>Flow matching and 3D world models bridge the gap from linguistic reasoning to smooth, physics-consistent continuous trajectory execution.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9184"/>
            <a:ext cx="9144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002B49"/>
                </a:solidFill>
                <a:latin typeface="Calibri"/>
              </a:rPr>
              <a:t>MODULE 2 · FRONTIER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30352"/>
            <a:ext cx="10725912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Georgia"/>
              </a:rPr>
              <a:t>Cross-Embodiment Scaling Laws &amp; Sub-10ms Edge Inference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59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Calibri"/>
              </a:rPr>
              <a:t>Translating internet-scale human video to robot policies and deploying models under 10ms at the edge.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97280" cy="18288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230368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5230368" cy="22860"/>
          </a:xfrm>
          <a:prstGeom prst="rect">
            <a:avLst/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10512"/>
            <a:ext cx="4773168" cy="40599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0A58CA"/>
                </a:solidFill>
                <a:latin typeface="Calibri"/>
              </a:rPr>
              <a:t>PRIORITY 4 · CROSS-EMBODIMENT SCALING LAWS
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F172A"/>
                </a:solidFill>
                <a:latin typeface="Calibri"/>
              </a:rPr>
              <a:t>NVIDIA GEAR EgoScale Discovery (Feb 2026): </a:t>
            </a:r>
            <a:r>
              <a:rPr sz="900">
                <a:solidFill>
                  <a:srgbClr val="334155"/>
                </a:solidFill>
                <a:latin typeface="Calibri"/>
              </a:rPr>
              <a:t>Research on EgoScale (arXiv:2602.16710) establishes a log-linear scaling law transferring uncurated human egocentric video to heterogeneous physical robot policies.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F172A"/>
                </a:solidFill>
                <a:latin typeface="Calibri"/>
              </a:rPr>
              <a:t>Universal Latent Space: </a:t>
            </a:r>
            <a:r>
              <a:rPr sz="900">
                <a:solidFill>
                  <a:srgbClr val="334155"/>
                </a:solidFill>
                <a:latin typeface="Calibri"/>
              </a:rPr>
              <a:t>Maps disparate physical morphologies—including bipedal humanoids, quadrupeds, 6-DoF serial arms, and dual-arm mobile manipulators—into a shared action-latent representation.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F172A"/>
                </a:solidFill>
                <a:latin typeface="Calibri"/>
              </a:rPr>
              <a:t>Zero-Shot Spatial Transfer: </a:t>
            </a:r>
            <a:r>
              <a:rPr sz="900">
                <a:solidFill>
                  <a:srgbClr val="334155"/>
                </a:solidFill>
                <a:latin typeface="Calibri"/>
              </a:rPr>
              <a:t>Policies pre-trained on internet-scale human demonstration videos learn fundamental spatial invariants (grasp centroids, clearance distances, approach vectors) without requiring per-robot teleoperation.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F172A"/>
                </a:solidFill>
                <a:latin typeface="Calibri"/>
              </a:rPr>
              <a:t>Commercial Advantage for Integrators: </a:t>
            </a:r>
            <a:r>
              <a:rPr sz="900">
                <a:solidFill>
                  <a:srgbClr val="334155"/>
                </a:solidFill>
                <a:latin typeface="Calibri"/>
              </a:rPr>
              <a:t>Allows engineering integrators to train a core foundation policy once and deploy it across KUKA, FANUC, ABB, and Universal Robots hardware with minimal fine-tuning.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645920"/>
            <a:ext cx="5230368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27064" y="1645920"/>
            <a:ext cx="5230368" cy="2286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5664" y="1810512"/>
            <a:ext cx="4773168" cy="40599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047857"/>
                </a:solidFill>
                <a:latin typeface="Calibri"/>
              </a:rPr>
              <a:t>PRIORITY 5 · SUB-10MS EDGE QUANTIZATION
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F172A"/>
                </a:solidFill>
                <a:latin typeface="Calibri"/>
              </a:rPr>
              <a:t>The Hard Real-Time Constraint (≤ 10ms): </a:t>
            </a:r>
            <a:r>
              <a:rPr sz="900">
                <a:solidFill>
                  <a:srgbClr val="334155"/>
                </a:solidFill>
                <a:latin typeface="Calibri"/>
              </a:rPr>
              <a:t>Physical robot dynamic stability mandates 100Hz control loop frequencies (≤ 10ms latency). High-frequency servo commutation cannot tolerate cloud latency or non-deterministic inference lag.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F172A"/>
                </a:solidFill>
                <a:latin typeface="Calibri"/>
              </a:rPr>
              <a:t>FP8 &amp; INT4 TensorRT-LLM Acceleration: </a:t>
            </a:r>
            <a:r>
              <a:rPr sz="900">
                <a:solidFill>
                  <a:srgbClr val="334155"/>
                </a:solidFill>
                <a:latin typeface="Calibri"/>
              </a:rPr>
              <a:t>Quantizing multi-billion-parameter VLA models to FP8/INT4 precision using NVIDIA TensorRT-LLM and ONNX Runtime running directly on embedded edge hardware (Jetson Thor / AGX Orin).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F172A"/>
                </a:solidFill>
                <a:latin typeface="Calibri"/>
              </a:rPr>
              <a:t>Thermal &amp; Power Envelope (15W - 50W): </a:t>
            </a:r>
            <a:r>
              <a:rPr sz="900">
                <a:solidFill>
                  <a:srgbClr val="334155"/>
                </a:solidFill>
                <a:latin typeface="Calibri"/>
              </a:rPr>
              <a:t>Industrial mobile manipulators operate on strict battery and thermal budgets, prohibiting 500W server racks. Models must execute within 15W–50W plant power envelopes without active liquid cooling.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F172A"/>
                </a:solidFill>
                <a:latin typeface="Calibri"/>
              </a:rPr>
              <a:t>Asynchronous Multi-Rate Architecture: </a:t>
            </a:r>
            <a:r>
              <a:rPr sz="900">
                <a:solidFill>
                  <a:srgbClr val="334155"/>
                </a:solidFill>
                <a:latin typeface="Calibri"/>
              </a:rPr>
              <a:t>Decoupling perception from execution: high-level semantic vision runs at 10Hz, policy planning at 100Hz, and low-level torque safety governors commutation at 1kHz.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309359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002B49"/>
                </a:solidFill>
                <a:latin typeface="Georgia"/>
              </a:rPr>
              <a:t>STRATEGIC TAKEAWAY  —  </a:t>
            </a:r>
            <a:r>
              <a:rPr sz="900">
                <a:solidFill>
                  <a:srgbClr val="334155"/>
                </a:solidFill>
                <a:latin typeface="Calibri"/>
              </a:rPr>
              <a:t>Cross-embodiment pretraining solves data scarcity; edge quantization guarantees deterministic sub-10ms execution on real plant floors.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9184"/>
            <a:ext cx="9144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002B49"/>
                </a:solidFill>
                <a:latin typeface="Calibri"/>
              </a:rPr>
              <a:t>MODULE 2 · FRONTIER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30352"/>
            <a:ext cx="10725912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Georgia"/>
              </a:rPr>
              <a:t>Five Canonical Failure Modes of Physical AI (FM1 to FM5)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59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Calibri"/>
              </a:rPr>
              <a:t>Structural physical and algorithmic failure modes causing deep learning policies to fail on live plant floors.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97280" cy="18288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10725912" cy="7863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10725912" cy="1828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19072"/>
            <a:ext cx="1039672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0F172A"/>
                </a:solidFill>
                <a:latin typeface="Calibri"/>
              </a:rPr>
              <a:t>FM1: Out-of-Distribution Kinematic Singularity
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64748B"/>
                </a:solidFill>
                <a:latin typeface="Calibri"/>
              </a:rPr>
              <a:t>Mechanism: </a:t>
            </a:r>
            <a:r>
              <a:rPr sz="850">
                <a:solidFill>
                  <a:srgbClr val="334155"/>
                </a:solidFill>
                <a:latin typeface="Calibri"/>
              </a:rPr>
              <a:t>Neural policy commands end-effector velocity passing near robot joint boundary where det(J) -&gt; 0.   |   </a:t>
            </a:r>
            <a:r>
              <a:rPr sz="850" b="1">
                <a:solidFill>
                  <a:srgbClr val="B91C1C"/>
                </a:solidFill>
                <a:latin typeface="Calibri"/>
              </a:rPr>
              <a:t>Field Manifestation: </a:t>
            </a:r>
            <a:r>
              <a:rPr sz="850">
                <a:solidFill>
                  <a:srgbClr val="334155"/>
                </a:solidFill>
                <a:latin typeface="Calibri"/>
              </a:rPr>
              <a:t>Triggers instantaneous motor over-current trips, emergency brake locking, or stripped harmonic drive gears.   |   </a:t>
            </a:r>
            <a:r>
              <a:rPr sz="850" b="1">
                <a:solidFill>
                  <a:srgbClr val="047857"/>
                </a:solidFill>
                <a:latin typeface="Calibri"/>
              </a:rPr>
              <a:t>Mitigation: </a:t>
            </a:r>
            <a:r>
              <a:rPr sz="850">
                <a:solidFill>
                  <a:srgbClr val="334155"/>
                </a:solidFill>
                <a:latin typeface="Calibri"/>
              </a:rPr>
              <a:t>Damped Least-Squares (DLS) mechatronic filtering and null-space projection before servo commands.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523744"/>
            <a:ext cx="10725912" cy="7863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523744"/>
            <a:ext cx="10725912" cy="1828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596896"/>
            <a:ext cx="1039672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0F172A"/>
                </a:solidFill>
                <a:latin typeface="Calibri"/>
              </a:rPr>
              <a:t>FM2: Contact-Rich Force-Torque Instability
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64748B"/>
                </a:solidFill>
                <a:latin typeface="Calibri"/>
              </a:rPr>
              <a:t>Mechanism: </a:t>
            </a:r>
            <a:r>
              <a:rPr sz="850">
                <a:solidFill>
                  <a:srgbClr val="334155"/>
                </a:solidFill>
                <a:latin typeface="Calibri"/>
              </a:rPr>
              <a:t>Non-linear Coulomb friction and surface elasticity create high-frequency impact chattering during insertion.   |   </a:t>
            </a:r>
            <a:r>
              <a:rPr sz="850" b="1">
                <a:solidFill>
                  <a:srgbClr val="B91C1C"/>
                </a:solidFill>
                <a:latin typeface="Calibri"/>
              </a:rPr>
              <a:t>Field Manifestation: </a:t>
            </a:r>
            <a:r>
              <a:rPr sz="850">
                <a:solidFill>
                  <a:srgbClr val="334155"/>
                </a:solidFill>
                <a:latin typeface="Calibri"/>
              </a:rPr>
              <a:t>Rapid force-sensor saturation, acoustic resonance, workpiece gouging, or tool breakage in assembly.   |   </a:t>
            </a:r>
            <a:r>
              <a:rPr sz="850" b="1">
                <a:solidFill>
                  <a:srgbClr val="047857"/>
                </a:solidFill>
                <a:latin typeface="Calibri"/>
              </a:rPr>
              <a:t>Mitigation: </a:t>
            </a:r>
            <a:r>
              <a:rPr sz="850">
                <a:solidFill>
                  <a:srgbClr val="334155"/>
                </a:solidFill>
                <a:latin typeface="Calibri"/>
              </a:rPr>
              <a:t>High-frequency (1kHz) hybrid impedance/force control layers and tactile feedback loops.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401568"/>
            <a:ext cx="10725912" cy="7863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401568"/>
            <a:ext cx="10725912" cy="1828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474720"/>
            <a:ext cx="1039672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0F172A"/>
                </a:solidFill>
                <a:latin typeface="Calibri"/>
              </a:rPr>
              <a:t>FM3: Latency-Induced Phase Lag &amp; Oscillation
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64748B"/>
                </a:solidFill>
                <a:latin typeface="Calibri"/>
              </a:rPr>
              <a:t>Mechanism: </a:t>
            </a:r>
            <a:r>
              <a:rPr sz="850">
                <a:solidFill>
                  <a:srgbClr val="334155"/>
                </a:solidFill>
                <a:latin typeface="Calibri"/>
              </a:rPr>
              <a:t>Edge compute inference latency spikes above 50ms, introducing phase lag between camera and actuator.   |   </a:t>
            </a:r>
            <a:r>
              <a:rPr sz="850" b="1">
                <a:solidFill>
                  <a:srgbClr val="B91C1C"/>
                </a:solidFill>
                <a:latin typeface="Calibri"/>
              </a:rPr>
              <a:t>Field Manifestation: </a:t>
            </a:r>
            <a:r>
              <a:rPr sz="850">
                <a:solidFill>
                  <a:srgbClr val="334155"/>
                </a:solidFill>
                <a:latin typeface="Calibri"/>
              </a:rPr>
              <a:t>Severe mechanical overshoot, hunting oscillations, resonance amplification, and potential collisions.   |   </a:t>
            </a:r>
            <a:r>
              <a:rPr sz="850" b="1">
                <a:solidFill>
                  <a:srgbClr val="047857"/>
                </a:solidFill>
                <a:latin typeface="Calibri"/>
              </a:rPr>
              <a:t>Mitigation: </a:t>
            </a:r>
            <a:r>
              <a:rPr sz="850">
                <a:solidFill>
                  <a:srgbClr val="334155"/>
                </a:solidFill>
                <a:latin typeface="Calibri"/>
              </a:rPr>
              <a:t>Fixed-time budget inference governors, predictive trajectory extrapolators, and RTOS priority scheduling.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279392"/>
            <a:ext cx="10725912" cy="7863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279392"/>
            <a:ext cx="10725912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352544"/>
            <a:ext cx="1039672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0F172A"/>
                </a:solidFill>
                <a:latin typeface="Calibri"/>
              </a:rPr>
              <a:t>FM4: Sensor Degradation &amp; Brownfield Glare
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64748B"/>
                </a:solidFill>
                <a:latin typeface="Calibri"/>
              </a:rPr>
              <a:t>Mechanism: </a:t>
            </a:r>
            <a:r>
              <a:rPr sz="850">
                <a:solidFill>
                  <a:srgbClr val="334155"/>
                </a:solidFill>
                <a:latin typeface="Calibri"/>
              </a:rPr>
              <a:t>Airborne coolant mist, weld dust, lens smudges, and 50Hz/60Hz fluorescent lighting flicker corrupt camera feeds.   |   </a:t>
            </a:r>
            <a:r>
              <a:rPr sz="850" b="1">
                <a:solidFill>
                  <a:srgbClr val="B91C1C"/>
                </a:solidFill>
                <a:latin typeface="Calibri"/>
              </a:rPr>
              <a:t>Field Manifestation: </a:t>
            </a:r>
            <a:r>
              <a:rPr sz="850">
                <a:solidFill>
                  <a:srgbClr val="334155"/>
                </a:solidFill>
                <a:latin typeface="Calibri"/>
              </a:rPr>
              <a:t>Vision tokens lose semantic confidence, causing robot freeze, false obstacle stops, or miscalculated grasps.   |   </a:t>
            </a:r>
            <a:r>
              <a:rPr sz="850" b="1">
                <a:solidFill>
                  <a:srgbClr val="047857"/>
                </a:solidFill>
                <a:latin typeface="Calibri"/>
              </a:rPr>
              <a:t>Mitigation: </a:t>
            </a:r>
            <a:r>
              <a:rPr sz="850">
                <a:solidFill>
                  <a:srgbClr val="334155"/>
                </a:solidFill>
                <a:latin typeface="Calibri"/>
              </a:rPr>
              <a:t>Multi-modal sensor fusion (stereo depth + LiDAR + tactile arrays) and out-of-distribution optical checks.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157216"/>
            <a:ext cx="10725912" cy="7863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5157216"/>
            <a:ext cx="10725912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5230368"/>
            <a:ext cx="1039672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0F172A"/>
                </a:solidFill>
                <a:latin typeface="Calibri"/>
              </a:rPr>
              <a:t>FM5: Semantic Drift &amp; Object Pose Hallucination
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64748B"/>
                </a:solidFill>
                <a:latin typeface="Calibri"/>
              </a:rPr>
              <a:t>Mechanism: </a:t>
            </a:r>
            <a:r>
              <a:rPr sz="850">
                <a:solidFill>
                  <a:srgbClr val="334155"/>
                </a:solidFill>
                <a:latin typeface="Calibri"/>
              </a:rPr>
              <a:t>Pretrained VLA model confuses novel packaging, altered surface finishes, or metallic reflections with clutter.   |   </a:t>
            </a:r>
            <a:r>
              <a:rPr sz="850" b="1">
                <a:solidFill>
                  <a:srgbClr val="B91C1C"/>
                </a:solidFill>
                <a:latin typeface="Calibri"/>
              </a:rPr>
              <a:t>Field Manifestation: </a:t>
            </a:r>
            <a:r>
              <a:rPr sz="850">
                <a:solidFill>
                  <a:srgbClr val="334155"/>
                </a:solidFill>
                <a:latin typeface="Calibri"/>
              </a:rPr>
              <a:t>Grasping empty space, misaligned pick-and-place drops, or applying full grip force to delicate subcomponents.   |   </a:t>
            </a:r>
            <a:r>
              <a:rPr sz="850" b="1">
                <a:solidFill>
                  <a:srgbClr val="047857"/>
                </a:solidFill>
                <a:latin typeface="Calibri"/>
              </a:rPr>
              <a:t>Mitigation: </a:t>
            </a:r>
            <a:r>
              <a:rPr sz="850">
                <a:solidFill>
                  <a:srgbClr val="334155"/>
                </a:solidFill>
                <a:latin typeface="Calibri"/>
              </a:rPr>
              <a:t>Explicit 3D geometric bounding-box verification and contact-switch confirmation before trajectory execution.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309359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002B49"/>
                </a:solidFill>
                <a:latin typeface="Georgia"/>
              </a:rPr>
              <a:t>STRATEGIC TAKEAWAY  —  </a:t>
            </a:r>
            <a:r>
              <a:rPr sz="900">
                <a:solidFill>
                  <a:srgbClr val="334155"/>
                </a:solidFill>
                <a:latin typeface="Calibri"/>
              </a:rPr>
              <a:t>Every physical AI deployment requires rigorous mechatronic safety filters; unconstrained neural policies inevitably destroy physical plant equipment.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9184"/>
            <a:ext cx="9144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002B49"/>
                </a:solidFill>
                <a:latin typeface="Calibri"/>
              </a:rPr>
              <a:t>MODULE 2 · FRONTIER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30352"/>
            <a:ext cx="10725912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Georgia"/>
              </a:rPr>
              <a:t>Pearl's Causal Ladder: Why LLMs Fail at Robotics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59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Calibri"/>
              </a:rPr>
              <a:t>Deploying standard language models into robotics fails due to a fundamental representational mismatch.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97280" cy="18288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392424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3392424" cy="22860"/>
          </a:xfrm>
          <a:prstGeom prst="rect">
            <a:avLst/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10512"/>
            <a:ext cx="2990088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>
                <a:solidFill>
                  <a:srgbClr val="0A58CA"/>
                </a:solidFill>
                <a:latin typeface="Calibri"/>
              </a:rPr>
              <a:t>RUNG 1 OF CAUSALITY
</a:t>
            </a:r>
            <a:r>
              <a:rPr sz="1200" b="1">
                <a:solidFill>
                  <a:srgbClr val="0F172A"/>
                </a:solidFill>
                <a:latin typeface="Georgia"/>
              </a:rPr>
              <a:t>Association &amp; Observation
</a:t>
            </a:r>
            <a:r>
              <a:rPr sz="850">
                <a:solidFill>
                  <a:srgbClr val="64748B"/>
                </a:solidFill>
                <a:latin typeface="Calibri"/>
              </a:rPr>
              <a:t>Where LLMs Operate (Static Semantic Space)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71800"/>
            <a:ext cx="2990088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3127248"/>
            <a:ext cx="862584" cy="30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32688" y="3977639"/>
            <a:ext cx="299008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>
                <a:solidFill>
                  <a:srgbClr val="334155"/>
                </a:solidFill>
                <a:latin typeface="Calibri"/>
              </a:rPr>
              <a:t>Standard language models operate strictly on observational correlations: P(Y | X). They predict the most probable next token based on statistical co-occurrences in historical training text corpora.
</a:t>
            </a:r>
            <a:r>
              <a:rPr sz="850">
                <a:solidFill>
                  <a:srgbClr val="0F172A"/>
                </a:solidFill>
                <a:latin typeface="Calibri"/>
              </a:rPr>
              <a:t>Limitation: Passive observation cannot distinguish causal influence from spurious correlation. A language model knows 'smoke correlates with fire' but has no concept of physical mass, velocity, friction, or gravity.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98264" y="1645920"/>
            <a:ext cx="3392424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98264" y="1645920"/>
            <a:ext cx="3392424" cy="228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9431" y="1810512"/>
            <a:ext cx="2990088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>
                <a:solidFill>
                  <a:srgbClr val="002B49"/>
                </a:solidFill>
                <a:latin typeface="Calibri"/>
              </a:rPr>
              <a:t>RUNG 2 OF CAUSALITY
</a:t>
            </a:r>
            <a:r>
              <a:rPr sz="1200" b="1">
                <a:solidFill>
                  <a:srgbClr val="0F172A"/>
                </a:solidFill>
                <a:latin typeface="Georgia"/>
              </a:rPr>
              <a:t>Intervention &amp; Action
</a:t>
            </a:r>
            <a:r>
              <a:rPr sz="850">
                <a:solidFill>
                  <a:srgbClr val="64748B"/>
                </a:solidFill>
                <a:latin typeface="Calibri"/>
              </a:rPr>
              <a:t>The Domain of Physical AI (Dynamic Closed-Loop)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99431" y="2971800"/>
            <a:ext cx="2990088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1183" y="3127248"/>
            <a:ext cx="1243584" cy="30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99431" y="3977639"/>
            <a:ext cx="299008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>
                <a:solidFill>
                  <a:srgbClr val="334155"/>
                </a:solidFill>
                <a:latin typeface="Calibri"/>
              </a:rPr>
              <a:t>Physical control mandates causal intervention: P(Y | do(u)). A robot controller cannot merely guess tokens; it must predict precisely what physical state Y occurs when it commands a specific 15N torque u to an actuator.
</a:t>
            </a:r>
            <a:r>
              <a:rPr sz="850">
                <a:solidFill>
                  <a:srgbClr val="0F172A"/>
                </a:solidFill>
                <a:latin typeface="Calibri"/>
              </a:rPr>
              <a:t>Requirement: Demands dedicated physical world models and closed-loop sensory feedback that map continuous control forces to kinematic motion under Newton's differential equations.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65008" y="1645920"/>
            <a:ext cx="3392424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65008" y="1645920"/>
            <a:ext cx="3392424" cy="2286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6176" y="1810512"/>
            <a:ext cx="2990088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>
                <a:solidFill>
                  <a:srgbClr val="047857"/>
                </a:solidFill>
                <a:latin typeface="Calibri"/>
              </a:rPr>
              <a:t>RUNG 3 OF CAUSALITY
</a:t>
            </a:r>
            <a:r>
              <a:rPr sz="1200" b="1">
                <a:solidFill>
                  <a:srgbClr val="0F172A"/>
                </a:solidFill>
                <a:latin typeface="Georgia"/>
              </a:rPr>
              <a:t>Counterfactuals &amp; Planning
</a:t>
            </a:r>
            <a:r>
              <a:rPr sz="850">
                <a:solidFill>
                  <a:srgbClr val="64748B"/>
                </a:solidFill>
                <a:latin typeface="Calibri"/>
              </a:rPr>
              <a:t>The Benchmark for Certified Safety &amp; V&amp;V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66176" y="2971800"/>
            <a:ext cx="2990088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7928" y="3127248"/>
            <a:ext cx="1402080" cy="3048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266176" y="3977639"/>
            <a:ext cx="299008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>
                <a:solidFill>
                  <a:srgbClr val="334155"/>
                </a:solidFill>
                <a:latin typeface="Calibri"/>
              </a:rPr>
              <a:t>Safe autonomous execution requires evaluating counterfactual alternatives: P(Yu | X', Y'). The system must compute: 'Given that obstacle X' was encountered, would command trajectory u have prevented collision?'
</a:t>
            </a:r>
            <a:r>
              <a:rPr sz="850">
                <a:solidFill>
                  <a:srgbClr val="0F172A"/>
                </a:solidFill>
                <a:latin typeface="Calibri"/>
              </a:rPr>
              <a:t>Requirement: Essential for formal functional safety dossiers, reachability verification, and statutory insurance compliance in brownfield industrial plants.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6309359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002B49"/>
                </a:solidFill>
                <a:latin typeface="Georgia"/>
              </a:rPr>
              <a:t>STRATEGIC TAKEAWAY  —  </a:t>
            </a:r>
            <a:r>
              <a:rPr sz="900">
                <a:solidFill>
                  <a:srgbClr val="334155"/>
                </a:solidFill>
                <a:latin typeface="Calibri"/>
              </a:rPr>
              <a:t>This causal hierarchy proves why industrial robotics requires dedicated physics-grounded verification rather than raw LLM prompt engineering.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9184"/>
            <a:ext cx="9144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002B49"/>
                </a:solidFill>
                <a:latin typeface="Calibri"/>
              </a:rPr>
              <a:t>MODULE 3 · COMMERCIALIZATION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30352"/>
            <a:ext cx="10725912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Georgia"/>
              </a:rPr>
              <a:t>Commercial Models, Deal Economics &amp; Buyer Personas (Table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59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Calibri"/>
              </a:rPr>
              <a:t>Comprehensive benchmark of revenue archetypes across foundation models, OEMs, software, and systems integration.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97280" cy="18288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10725912" cy="3657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00784"/>
            <a:ext cx="215798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Calibri"/>
              </a:rPr>
              <a:t>BUSINESS MODEL ARCHETYPE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18688" y="1700784"/>
            <a:ext cx="1883663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Calibri"/>
              </a:rPr>
              <a:t>REPRESENTATIVE ENTITIES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21808" y="1700784"/>
            <a:ext cx="224942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Calibri"/>
              </a:rPr>
              <a:t>CONTRACT &amp; DEAL ECONOMICS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0688" y="1700784"/>
            <a:ext cx="96926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SALES CYCLE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79408" y="1700784"/>
            <a:ext cx="236829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Calibri"/>
              </a:rPr>
              <a:t>PRIMARY BUYER PERSONA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011680"/>
            <a:ext cx="10725912" cy="8046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103120"/>
            <a:ext cx="21031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0F172A"/>
                </a:solidFill>
                <a:latin typeface="Calibri"/>
              </a:rPr>
              <a:t>Model Licensing / FMaaS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2103120"/>
            <a:ext cx="182879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>
                <a:solidFill>
                  <a:srgbClr val="1E293B"/>
                </a:solidFill>
                <a:latin typeface="Calibri"/>
              </a:rPr>
              <a:t>Physical Intelligence, Skild AI, Covariant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103120"/>
            <a:ext cx="21945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>
                <a:solidFill>
                  <a:srgbClr val="1E293B"/>
                </a:solidFill>
                <a:latin typeface="Calibri"/>
              </a:rPr>
              <a:t>Annual base license + API overage
($100k - $500k+ ARR) [Estimated]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2103120"/>
            <a:ext cx="9144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047857"/>
                </a:solidFill>
                <a:latin typeface="Calibri"/>
              </a:rPr>
              <a:t>3 - 6 mos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2103120"/>
            <a:ext cx="231343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>
                <a:solidFill>
                  <a:srgbClr val="1E293B"/>
                </a:solidFill>
                <a:latin typeface="Calibri"/>
              </a:rPr>
              <a:t>VP Software /
Head of Robotics R&amp;D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816352"/>
            <a:ext cx="10725912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2907792"/>
            <a:ext cx="21031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0F172A"/>
                </a:solidFill>
                <a:latin typeface="Calibri"/>
              </a:rPr>
              <a:t>Integrated HW+SW OEM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2907792"/>
            <a:ext cx="182879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>
                <a:solidFill>
                  <a:srgbClr val="1E293B"/>
                </a:solidFill>
                <a:latin typeface="Calibri"/>
              </a:rPr>
              <a:t>Figure AI, Agility Robotics, Boston Dynamics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2907792"/>
            <a:ext cx="21945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>
                <a:solidFill>
                  <a:srgbClr val="1E293B"/>
                </a:solidFill>
                <a:latin typeface="Calibri"/>
              </a:rPr>
              <a:t>Robotics-as-a-Service ($5k-$15k/robot/mo)
or CapEx + maintenance SLA [Reported]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2907792"/>
            <a:ext cx="9144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0F172A"/>
                </a:solidFill>
                <a:latin typeface="Calibri"/>
              </a:rPr>
              <a:t>12 - 18 mos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2907792"/>
            <a:ext cx="231343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>
                <a:solidFill>
                  <a:srgbClr val="1E293B"/>
                </a:solidFill>
                <a:latin typeface="Calibri"/>
              </a:rPr>
              <a:t>VP Logistics /
Plant General Manager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621024"/>
            <a:ext cx="10725912" cy="8046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712463"/>
            <a:ext cx="21031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0F172A"/>
                </a:solidFill>
                <a:latin typeface="Calibri"/>
              </a:rPr>
              <a:t>Simulation &amp; Validation Tooling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46120" y="3712463"/>
            <a:ext cx="182879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>
                <a:solidFill>
                  <a:srgbClr val="1E293B"/>
                </a:solidFill>
                <a:latin typeface="Calibri"/>
              </a:rPr>
              <a:t>NVIDIA Isaac Sim, Applied Intuition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9240" y="3712463"/>
            <a:ext cx="21945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>
                <a:solidFill>
                  <a:srgbClr val="1E293B"/>
                </a:solidFill>
                <a:latin typeface="Calibri"/>
              </a:rPr>
              <a:t>Enterprise SaaS subscription
($250k - $2.0M+ ACV) [Reported]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3712463"/>
            <a:ext cx="9144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0F172A"/>
                </a:solidFill>
                <a:latin typeface="Calibri"/>
              </a:rPr>
              <a:t>6 - 9 mos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3712463"/>
            <a:ext cx="231343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>
                <a:solidFill>
                  <a:srgbClr val="1E293B"/>
                </a:solidFill>
                <a:latin typeface="Calibri"/>
              </a:rPr>
              <a:t>VP Engineering /
Head of Autonomous Systems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425696"/>
            <a:ext cx="10725912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517136"/>
            <a:ext cx="21031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0F172A"/>
                </a:solidFill>
                <a:latin typeface="Calibri"/>
              </a:rPr>
              <a:t>Compliance &amp; Safety Verification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46120" y="4517136"/>
            <a:ext cx="182879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>
                <a:solidFill>
                  <a:srgbClr val="1E293B"/>
                </a:solidFill>
                <a:latin typeface="Calibri"/>
              </a:rPr>
              <a:t>TÜV SÜD, UL Solutions, Credo 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49240" y="4517136"/>
            <a:ext cx="21945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>
                <a:solidFill>
                  <a:srgbClr val="1E293B"/>
                </a:solidFill>
                <a:latin typeface="Calibri"/>
              </a:rPr>
              <a:t>Safety audit fee + recurring testing suite
($150k - $750k per engagement) [Estimated]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18120" y="4517136"/>
            <a:ext cx="9144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0F172A"/>
                </a:solidFill>
                <a:latin typeface="Calibri"/>
              </a:rPr>
              <a:t>6 - 12 mos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6840" y="4517136"/>
            <a:ext cx="231343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>
                <a:solidFill>
                  <a:srgbClr val="1E293B"/>
                </a:solidFill>
                <a:latin typeface="Calibri"/>
              </a:rPr>
              <a:t>Chief Safety Officer /
VP Quality &amp; Compliance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5230368"/>
            <a:ext cx="10725912" cy="804672"/>
          </a:xfrm>
          <a:prstGeom prst="rect">
            <a:avLst/>
          </a:prstGeom>
          <a:solidFill>
            <a:srgbClr val="F0F7FF"/>
          </a:solidFill>
          <a:ln w="19050">
            <a:solidFill>
              <a:srgbClr val="0A5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5230368"/>
            <a:ext cx="36576" cy="804672"/>
          </a:xfrm>
          <a:prstGeom prst="rect">
            <a:avLst/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" y="5321807"/>
            <a:ext cx="21031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0A58CA"/>
                </a:solidFill>
                <a:latin typeface="Calibri"/>
              </a:rPr>
              <a:t>Systems Integration &amp; Deployment
★ LTTS CORE OPPORTUNITY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46120" y="5321807"/>
            <a:ext cx="182879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>
                <a:solidFill>
                  <a:srgbClr val="1E293B"/>
                </a:solidFill>
                <a:latin typeface="Calibri"/>
              </a:rPr>
              <a:t>LTTS, KPIT Tech, Accenture Industry 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49240" y="5321807"/>
            <a:ext cx="21945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>
                <a:solidFill>
                  <a:srgbClr val="1E293B"/>
                </a:solidFill>
                <a:latin typeface="Calibri"/>
              </a:rPr>
              <a:t>T&amp;M + Milestone-gated deployment
($1.0M - $8.0M+ per site) [Estimated]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18120" y="5321807"/>
            <a:ext cx="9144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047857"/>
                </a:solidFill>
                <a:latin typeface="Calibri"/>
              </a:rPr>
              <a:t>4 - 8 mos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06840" y="5321807"/>
            <a:ext cx="231343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0F172A"/>
                </a:solidFill>
                <a:latin typeface="Calibri"/>
              </a:rPr>
              <a:t>Chief Information Officer /
VP Manufacturing Operations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6309359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002B49"/>
                </a:solidFill>
                <a:latin typeface="Georgia"/>
              </a:rPr>
              <a:t>STRATEGIC TAKEAWAY  —  </a:t>
            </a:r>
            <a:r>
              <a:rPr sz="900">
                <a:solidFill>
                  <a:srgbClr val="334155"/>
                </a:solidFill>
                <a:latin typeface="Calibri"/>
              </a:rPr>
              <a:t>Systems integration captures the largest single-site budget ($1.0M-$8.0M+) with relatively fast 4-8 month enterprise sales cycles.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9184"/>
            <a:ext cx="9144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002B49"/>
                </a:solidFill>
                <a:latin typeface="Calibri"/>
              </a:rPr>
              <a:t>MODULE 3 · COMMERCIALIZATION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30352"/>
            <a:ext cx="10725912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Georgia"/>
              </a:rPr>
              <a:t>The ER&amp;D Services Opportunity &amp; Commercial Offerings 1 &amp;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59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Calibri"/>
              </a:rPr>
              <a:t>Positioning LTTS to capture the $45B engineering services market through industrial AI infrastructure.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97280" cy="18288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230368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5230368" cy="2286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10512"/>
            <a:ext cx="4773168" cy="40599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>
                <a:solidFill>
                  <a:srgbClr val="047857"/>
                </a:solidFill>
                <a:latin typeface="Calibri"/>
              </a:rPr>
              <a:t>OFFERING 1 · RECONFIGURABLE CELL INFRASTRUCTURE
</a:t>
            </a:r>
            <a:r>
              <a:rPr sz="1200" b="1">
                <a:solidFill>
                  <a:srgbClr val="0F172A"/>
                </a:solidFill>
                <a:latin typeface="Georgia"/>
              </a:rPr>
              <a:t>Software-Defined Factory as a Service (SD-FaaS)
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F172A"/>
                </a:solidFill>
                <a:latin typeface="Calibri"/>
              </a:rPr>
              <a:t>The Enterprise Problem: </a:t>
            </a:r>
            <a:r>
              <a:rPr sz="900">
                <a:solidFill>
                  <a:srgbClr val="334155"/>
                </a:solidFill>
                <a:latin typeface="Calibri"/>
              </a:rPr>
              <a:t>Traditional factory lines require 12 to 18 months and millions in CapEx to re-tool for new product variants. Physical AI enables dynamic, software-driven cell re-tasking.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F172A"/>
                </a:solidFill>
                <a:latin typeface="Calibri"/>
              </a:rPr>
              <a:t>Monetizing Enterprise CAD/PLM: </a:t>
            </a:r>
            <a:r>
              <a:rPr sz="900">
                <a:solidFill>
                  <a:srgbClr val="334155"/>
                </a:solidFill>
                <a:latin typeface="Calibri"/>
              </a:rPr>
              <a:t>LTTS ingests existing customer Siemens Teamcenter / Dassault Systèmes CAD assemblies directly into NVIDIA Omniverse digital twins to generate validated robot workcells.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F172A"/>
                </a:solidFill>
                <a:latin typeface="Calibri"/>
              </a:rPr>
              <a:t>Deal Economics ($2.0M - $5.0M per Plant): </a:t>
            </a:r>
            <a:r>
              <a:rPr sz="900">
                <a:solidFill>
                  <a:srgbClr val="334155"/>
                </a:solidFill>
                <a:latin typeface="Calibri"/>
              </a:rPr>
              <a:t>Turnkey transformation contracts covering simulation setup, automated line re-tooling, and recurring edge calibration SLAs.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F172A"/>
                </a:solidFill>
                <a:latin typeface="Calibri"/>
              </a:rPr>
              <a:t>Measurable ROI: </a:t>
            </a:r>
            <a:r>
              <a:rPr sz="900">
                <a:solidFill>
                  <a:srgbClr val="334155"/>
                </a:solidFill>
                <a:latin typeface="Calibri"/>
              </a:rPr>
              <a:t>Reduces physical line commissioning time from 16 weeks to 3 weeks, eliminating costly mechanical re-machining change orders.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645920"/>
            <a:ext cx="5230368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27064" y="1645920"/>
            <a:ext cx="5230368" cy="22860"/>
          </a:xfrm>
          <a:prstGeom prst="rect">
            <a:avLst/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5664" y="1810512"/>
            <a:ext cx="4773168" cy="40599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>
                <a:solidFill>
                  <a:srgbClr val="0A58CA"/>
                </a:solidFill>
                <a:latin typeface="Calibri"/>
              </a:rPr>
              <a:t>OFFERING 2 · DETERMINISTIC SAFETY MIDDLEWARE
</a:t>
            </a:r>
            <a:r>
              <a:rPr sz="1200" b="1">
                <a:solidFill>
                  <a:srgbClr val="0F172A"/>
                </a:solidFill>
                <a:latin typeface="Georgia"/>
              </a:rPr>
              <a:t>Industrial PLC &amp; Edge Bridge Middleware
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F172A"/>
                </a:solidFill>
                <a:latin typeface="Calibri"/>
              </a:rPr>
              <a:t>The Interface Chasm: </a:t>
            </a:r>
            <a:r>
              <a:rPr sz="900">
                <a:solidFill>
                  <a:srgbClr val="334155"/>
                </a:solidFill>
                <a:latin typeface="Calibri"/>
              </a:rPr>
              <a:t>Foundation models output asynchronous PyTorch tensors at 100Hz; industrial automation operates on deterministic cyclic PLCs at 1kHz over PROFINET and EtherCAT.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F172A"/>
                </a:solidFill>
                <a:latin typeface="Calibri"/>
              </a:rPr>
              <a:t>Certified Bridge Architecture: </a:t>
            </a:r>
            <a:r>
              <a:rPr sz="900">
                <a:solidFill>
                  <a:srgbClr val="334155"/>
                </a:solidFill>
                <a:latin typeface="Calibri"/>
              </a:rPr>
              <a:t>LTTS develops certified middleware wrapping neural trajectories with deterministic safety interlocks and certified PLC communication drivers (Siemens S7-1500, Rockwell ControlLogix).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F172A"/>
                </a:solidFill>
                <a:latin typeface="Calibri"/>
              </a:rPr>
              <a:t>Deal Economics ($500k - $1.5M per Cell): </a:t>
            </a:r>
            <a:r>
              <a:rPr sz="900">
                <a:solidFill>
                  <a:srgbClr val="334155"/>
                </a:solidFill>
                <a:latin typeface="Calibri"/>
              </a:rPr>
              <a:t>Priced as systems integration plus per-node recurring software runtime licenses ($10k-$25k/robot/yr).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F172A"/>
                </a:solidFill>
                <a:latin typeface="Calibri"/>
              </a:rPr>
              <a:t>Strategic Moat: </a:t>
            </a:r>
            <a:r>
              <a:rPr sz="900">
                <a:solidFill>
                  <a:srgbClr val="334155"/>
                </a:solidFill>
                <a:latin typeface="Calibri"/>
              </a:rPr>
              <a:t>Prevents deep learning hallucinations from tripping factory safety circuits, providing plant managers with certified fail-safe guarantees.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309359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002B49"/>
                </a:solidFill>
                <a:latin typeface="Georgia"/>
              </a:rPr>
              <a:t>STRATEGIC TAKEAWAY  —  </a:t>
            </a:r>
            <a:r>
              <a:rPr sz="900">
                <a:solidFill>
                  <a:srgbClr val="334155"/>
                </a:solidFill>
                <a:latin typeface="Calibri"/>
              </a:rPr>
              <a:t>SD-FaaS and PLC Middleware position LTTS as the indispensable technical layer enabling frontier AI models to touch physical plant equipment.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9184"/>
            <a:ext cx="9144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002B49"/>
                </a:solidFill>
                <a:latin typeface="Calibri"/>
              </a:rPr>
              <a:t>MODULE 3 · COMMERCIALIZATION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30352"/>
            <a:ext cx="10725912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Georgia"/>
              </a:rPr>
              <a:t>LTTS Offerings 3 &amp; 4: V&amp;V Practice and Embodied MLOps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59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Calibri"/>
              </a:rPr>
              <a:t>High-margin recurring revenue models in statutory safety certification and continuous brownfield fleet calibration.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97280" cy="18288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230368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5230368" cy="228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10512"/>
            <a:ext cx="4773168" cy="40599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>
                <a:solidFill>
                  <a:srgbClr val="002B49"/>
                </a:solidFill>
                <a:latin typeface="Calibri"/>
              </a:rPr>
              <a:t>OFFERING 3 · SAFETY &amp; COMPLIANCE CERTIFICATION
</a:t>
            </a:r>
            <a:r>
              <a:rPr sz="1200" b="1">
                <a:solidFill>
                  <a:srgbClr val="0F172A"/>
                </a:solidFill>
                <a:latin typeface="Georgia"/>
              </a:rPr>
              <a:t>Physical AI Verification &amp; Validation (V&amp;V)
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F172A"/>
                </a:solidFill>
                <a:latin typeface="Calibri"/>
              </a:rPr>
              <a:t>The Compliance Bottleneck: </a:t>
            </a:r>
            <a:r>
              <a:rPr sz="900">
                <a:solidFill>
                  <a:srgbClr val="334155"/>
                </a:solidFill>
                <a:latin typeface="Calibri"/>
              </a:rPr>
              <a:t>Enterprises cannot deploy uncertified neural policies into live plants without invalidating facility insurance under ISO 13849 (PL-d/e) and IEC 61508.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F172A"/>
                </a:solidFill>
                <a:latin typeface="Calibri"/>
              </a:rPr>
              <a:t>Formal Reachability Verification: </a:t>
            </a:r>
            <a:r>
              <a:rPr sz="900">
                <a:solidFill>
                  <a:srgbClr val="334155"/>
                </a:solidFill>
                <a:latin typeface="Calibri"/>
              </a:rPr>
              <a:t>LTTS utilizes Hamilton-Jacobi reachability analysis and Control Barrier Functions (CBFs) to mathematically prove the robot cannot enter unsafe states.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F172A"/>
                </a:solidFill>
                <a:latin typeface="Calibri"/>
              </a:rPr>
              <a:t>Deal Economics ($750k - $2.0M per Audit): </a:t>
            </a:r>
            <a:r>
              <a:rPr sz="900">
                <a:solidFill>
                  <a:srgbClr val="334155"/>
                </a:solidFill>
                <a:latin typeface="Calibri"/>
              </a:rPr>
              <a:t>High-margin statutory compliance engagements producing certified Safety Dossiers for plant underwriters and regulatory authorities.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F172A"/>
                </a:solidFill>
                <a:latin typeface="Calibri"/>
              </a:rPr>
              <a:t>Regulatory Gatekeeper Role: </a:t>
            </a:r>
            <a:r>
              <a:rPr sz="900">
                <a:solidFill>
                  <a:srgbClr val="334155"/>
                </a:solidFill>
                <a:latin typeface="Calibri"/>
              </a:rPr>
              <a:t>LTTS establishes itself as the mandatory certification authority between AI foundation model startups and industrial plant operators.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645920"/>
            <a:ext cx="5230368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27064" y="1645920"/>
            <a:ext cx="5230368" cy="228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5664" y="1810512"/>
            <a:ext cx="4773168" cy="40599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>
                <a:solidFill>
                  <a:srgbClr val="6D28D9"/>
                </a:solidFill>
                <a:latin typeface="Calibri"/>
              </a:rPr>
              <a:t>OFFERING 4 · LIFECYCLE MODEL GOVERNANCE
</a:t>
            </a:r>
            <a:r>
              <a:rPr sz="1200" b="1">
                <a:solidFill>
                  <a:srgbClr val="0F172A"/>
                </a:solidFill>
                <a:latin typeface="Georgia"/>
              </a:rPr>
              <a:t>Brownfield Embodied MLOps &amp; Continuous Calibration
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F172A"/>
                </a:solidFill>
                <a:latin typeface="Calibri"/>
              </a:rPr>
              <a:t>The Performance Decay Problem: </a:t>
            </a:r>
            <a:r>
              <a:rPr sz="900">
                <a:solidFill>
                  <a:srgbClr val="334155"/>
                </a:solidFill>
                <a:latin typeface="Calibri"/>
              </a:rPr>
              <a:t>In physical plants, policies degrade over time due to camera lens dust, mechanical gearbox backlash, shifting lighting, and changing vendor part tolerances.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F172A"/>
                </a:solidFill>
                <a:latin typeface="Calibri"/>
              </a:rPr>
              <a:t>Closed-Loop Edge Calibration: </a:t>
            </a:r>
            <a:r>
              <a:rPr sz="900">
                <a:solidFill>
                  <a:srgbClr val="334155"/>
                </a:solidFill>
                <a:latin typeface="Calibri"/>
              </a:rPr>
              <a:t>LTTS deploys continuous edge telemetry pipelines that detect distribution drift, automatically recalibrate camera-to-robot extrinsics, and log failure corner-cases.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F172A"/>
                </a:solidFill>
                <a:latin typeface="Calibri"/>
              </a:rPr>
              <a:t>Deal Economics ($300k - $1.0M ARR per Campus): </a:t>
            </a:r>
            <a:r>
              <a:rPr sz="900">
                <a:solidFill>
                  <a:srgbClr val="334155"/>
                </a:solidFill>
                <a:latin typeface="Calibri"/>
              </a:rPr>
              <a:t>Recurring multi-year software and remote engineering support contracts with strict SLA uptime guarantees (&gt;99.5%).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F172A"/>
                </a:solidFill>
                <a:latin typeface="Calibri"/>
              </a:rPr>
              <a:t>Sticky Customer Lock-In: </a:t>
            </a:r>
            <a:r>
              <a:rPr sz="900">
                <a:solidFill>
                  <a:srgbClr val="334155"/>
                </a:solidFill>
                <a:latin typeface="Calibri"/>
              </a:rPr>
              <a:t>Capturing plant telemetry creates an insurmountable operational data moat, preventing competitors from displacing LTTS once deployed.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309359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002B49"/>
                </a:solidFill>
                <a:latin typeface="Georgia"/>
              </a:rPr>
              <a:t>STRATEGIC TAKEAWAY  —  </a:t>
            </a:r>
            <a:r>
              <a:rPr sz="900">
                <a:solidFill>
                  <a:srgbClr val="334155"/>
                </a:solidFill>
                <a:latin typeface="Calibri"/>
              </a:rPr>
              <a:t>V&amp;V certification unlocks enterprise capital; Embodied MLOps creates durable multi-year recurring software revenue.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9184"/>
            <a:ext cx="9144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002B49"/>
                </a:solidFill>
                <a:latin typeface="Calibri"/>
              </a:rPr>
              <a:t>MODULE 4 · USE CASES &amp; ADOPTION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30352"/>
            <a:ext cx="10725912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Georgia"/>
              </a:rPr>
              <a:t>Verified Deployments Across 5 Core Sectors &amp; Hype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59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Calibri"/>
              </a:rPr>
              <a:t>Audited field implementations across five core verticals vs. viral marketing demonstrations.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97280" cy="18288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6217920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6217920" cy="2286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10512"/>
            <a:ext cx="5760720" cy="40599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047857"/>
                </a:solidFill>
                <a:latin typeface="Calibri"/>
              </a:rPr>
              <a:t>AUDITED ENTERPRISE DEPLOYMENTS ACROSS 5 CORE SECTORS
</a:t>
            </a:r>
          </a:p>
          <a:p>
            <a:pPr>
              <a:spcBef>
                <a:spcPts val="500"/>
              </a:spcBef>
            </a:pPr>
            <a:r>
              <a:rPr sz="950" b="1">
                <a:solidFill>
                  <a:srgbClr val="0F172A"/>
                </a:solidFill>
                <a:latin typeface="Calibri"/>
              </a:rPr>
              <a:t>Automotive Manufacturing: </a:t>
            </a:r>
            <a:r>
              <a:rPr sz="900">
                <a:solidFill>
                  <a:srgbClr val="334155"/>
                </a:solidFill>
                <a:latin typeface="Calibri"/>
              </a:rPr>
              <a:t>BMW Spartanburg plant successfully completed a multi-week pilot trial of Figure 02 humanoids performing precision sheet metal fixture insertion.</a:t>
            </a:r>
          </a:p>
          <a:p>
            <a:pPr>
              <a:spcBef>
                <a:spcPts val="500"/>
              </a:spcBef>
            </a:pPr>
            <a:r>
              <a:rPr sz="950" b="1">
                <a:solidFill>
                  <a:srgbClr val="0F172A"/>
                </a:solidFill>
                <a:latin typeface="Calibri"/>
              </a:rPr>
              <a:t>Aerospace Assembly: </a:t>
            </a:r>
            <a:r>
              <a:rPr sz="900">
                <a:solidFill>
                  <a:srgbClr val="334155"/>
                </a:solidFill>
                <a:latin typeface="Calibri"/>
              </a:rPr>
              <a:t>Airbus deployment of automated drilling guidance using physics-informed vision on A350 wing assembly, ensuring strict structural hole tolerances.</a:t>
            </a:r>
          </a:p>
          <a:p>
            <a:pPr>
              <a:spcBef>
                <a:spcPts val="500"/>
              </a:spcBef>
            </a:pPr>
            <a:r>
              <a:rPr sz="950" b="1">
                <a:solidFill>
                  <a:srgbClr val="0F172A"/>
                </a:solidFill>
                <a:latin typeface="Calibri"/>
              </a:rPr>
              <a:t>Semiconductor Fabs: </a:t>
            </a:r>
            <a:r>
              <a:rPr sz="900">
                <a:solidFill>
                  <a:srgbClr val="334155"/>
                </a:solidFill>
                <a:latin typeface="Calibri"/>
              </a:rPr>
              <a:t>TSMC deployment of closed-loop neural defect classification and sub-nanometer wafer handling in EUV lithography cleanrooms under ISO Class 1 conditions.</a:t>
            </a:r>
          </a:p>
          <a:p>
            <a:pPr>
              <a:spcBef>
                <a:spcPts val="500"/>
              </a:spcBef>
            </a:pPr>
            <a:r>
              <a:rPr sz="950" b="1">
                <a:solidFill>
                  <a:srgbClr val="0F172A"/>
                </a:solidFill>
                <a:latin typeface="Calibri"/>
              </a:rPr>
              <a:t>Logistics &amp; Warehousing: </a:t>
            </a:r>
            <a:r>
              <a:rPr sz="900">
                <a:solidFill>
                  <a:srgbClr val="334155"/>
                </a:solidFill>
                <a:latin typeface="Calibri"/>
              </a:rPr>
              <a:t>DHL Supply Chain multi-site production deployment of Boston Dynamics Stretch mobile manipulators for automated trailer truck container unloading.</a:t>
            </a:r>
          </a:p>
          <a:p>
            <a:pPr>
              <a:spcBef>
                <a:spcPts val="500"/>
              </a:spcBef>
            </a:pPr>
            <a:r>
              <a:rPr sz="950" b="1">
                <a:solidFill>
                  <a:srgbClr val="0F172A"/>
                </a:solidFill>
                <a:latin typeface="Calibri"/>
              </a:rPr>
              <a:t>Energy &amp; Turbomachinery: </a:t>
            </a:r>
            <a:r>
              <a:rPr sz="900">
                <a:solidFill>
                  <a:srgbClr val="334155"/>
                </a:solidFill>
                <a:latin typeface="Calibri"/>
              </a:rPr>
              <a:t>Heavy industrial gas turbines utilizing physics-informed neural network (PINN) thermal and vibration monitoring for predictive catastrophic valve failure prevention.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51192" y="1645920"/>
            <a:ext cx="4206240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51192" y="1645920"/>
            <a:ext cx="4206240" cy="2286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2360" y="1810512"/>
            <a:ext cx="3803903" cy="40599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C2410C"/>
                </a:solidFill>
                <a:latin typeface="Calibri"/>
              </a:rPr>
              <a:t>HYPE-AHEAD-OF-DEPLOYMENT REALITY
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F172A"/>
                </a:solidFill>
                <a:latin typeface="Calibri"/>
              </a:rPr>
              <a:t>The Bipedal Mirage: </a:t>
            </a:r>
            <a:r>
              <a:rPr sz="900">
                <a:solidFill>
                  <a:srgbClr val="334155"/>
                </a:solidFill>
                <a:latin typeface="Calibri"/>
              </a:rPr>
              <a:t>Viral videos of humanoids folding t-shirts or doing backflips disguise pervasive VR teleoperation and zero payload capacity. Bipedal stability in active plants remains unproven.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F172A"/>
                </a:solidFill>
                <a:latin typeface="Calibri"/>
              </a:rPr>
              <a:t>Commercial Plant Economics: </a:t>
            </a:r>
            <a:r>
              <a:rPr sz="900">
                <a:solidFill>
                  <a:srgbClr val="334155"/>
                </a:solidFill>
                <a:latin typeface="Calibri"/>
              </a:rPr>
              <a:t>Factories do not need $150,000 bipedal legs. They need wheeled AMRs equipped with 6-DoF compliant arms costing 5x less with 10x higher payload and MTBF.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F172A"/>
                </a:solidFill>
                <a:latin typeface="Calibri"/>
              </a:rPr>
              <a:t>Brownfield Reality: </a:t>
            </a:r>
            <a:r>
              <a:rPr sz="900">
                <a:solidFill>
                  <a:srgbClr val="334155"/>
                </a:solidFill>
                <a:latin typeface="Calibri"/>
              </a:rPr>
              <a:t>AI startups underestimate factory brownfield realities: oil mist, welding flashes, legacy 24V PLCs, and union safety regulations that halt uncertified equipment.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F172A"/>
                </a:solidFill>
                <a:latin typeface="Calibri"/>
              </a:rPr>
              <a:t>The Integration Bottleneck: </a:t>
            </a:r>
            <a:r>
              <a:rPr sz="900">
                <a:solidFill>
                  <a:srgbClr val="334155"/>
                </a:solidFill>
                <a:latin typeface="Calibri"/>
              </a:rPr>
              <a:t>Plant managers refuse to deploy experimental foundation models without certified e-stops, PLC handshakes, and signed ISO safety dossiers.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309359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002B49"/>
                </a:solidFill>
                <a:latin typeface="Georgia"/>
              </a:rPr>
              <a:t>STRATEGIC TAKEAWAY  —  </a:t>
            </a:r>
            <a:r>
              <a:rPr sz="900">
                <a:solidFill>
                  <a:srgbClr val="334155"/>
                </a:solidFill>
                <a:latin typeface="Calibri"/>
              </a:rPr>
              <a:t>Real enterprise ROI is concentrated in specialized mobile manipulators and inspection cells, not general-purpose bipedal humanoids.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9184"/>
            <a:ext cx="9144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002B49"/>
                </a:solidFill>
                <a:latin typeface="Calibri"/>
              </a:rPr>
              <a:t>MODULE 4 · USE CASES &amp; ADOPTION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30352"/>
            <a:ext cx="10725912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Georgia"/>
              </a:rPr>
              <a:t>Dominance of the Hybrid Incumbent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59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Calibri"/>
              </a:rPr>
              <a:t>Why standalone AI startups fail without industrial automation incumbents and how LTTS bridges the gap.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97280" cy="18288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392424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3392424" cy="228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10512"/>
            <a:ext cx="2990088" cy="40599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>
                <a:solidFill>
                  <a:srgbClr val="002B49"/>
                </a:solidFill>
                <a:latin typeface="Calibri"/>
              </a:rPr>
              <a:t>INCUMBENT ENTRENCHMENT
</a:t>
            </a:r>
            <a:r>
              <a:rPr sz="1200" b="1">
                <a:solidFill>
                  <a:srgbClr val="0F172A"/>
                </a:solidFill>
                <a:latin typeface="Georgia"/>
              </a:rPr>
              <a:t>The Incumbent Iron Grip
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0F172A"/>
                </a:solidFill>
                <a:latin typeface="Calibri"/>
              </a:rPr>
              <a:t>Market Reality: </a:t>
            </a:r>
            <a:r>
              <a:rPr sz="900">
                <a:solidFill>
                  <a:srgbClr val="334155"/>
                </a:solidFill>
                <a:latin typeface="Calibri"/>
              </a:rPr>
              <a:t>Siemens, Rockwell Automation, ABB, and Schneider Electric control 80%+ of factory floor automation systems globally.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0F172A"/>
                </a:solidFill>
                <a:latin typeface="Calibri"/>
              </a:rPr>
              <a:t>Customer Trust &amp; Lifecycles: </a:t>
            </a:r>
            <a:r>
              <a:rPr sz="900">
                <a:solidFill>
                  <a:srgbClr val="334155"/>
                </a:solidFill>
                <a:latin typeface="Calibri"/>
              </a:rPr>
              <a:t>Industrial enterprises operate on 20- to 30-year machine lifecycles. Plant managers will not rip and replace proven PLCs for experimental startup software.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0F172A"/>
                </a:solidFill>
                <a:latin typeface="Calibri"/>
              </a:rPr>
              <a:t>Statutory Safety Ownership: </a:t>
            </a:r>
            <a:r>
              <a:rPr sz="900">
                <a:solidFill>
                  <a:srgbClr val="334155"/>
                </a:solidFill>
                <a:latin typeface="Calibri"/>
              </a:rPr>
              <a:t>Incumbents own the machine safety certifications, fieldbus standards (PROFINET, CIP Safety), and factory insurance relationships.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0F172A"/>
                </a:solidFill>
                <a:latin typeface="Calibri"/>
              </a:rPr>
              <a:t>The Startup Barrier: </a:t>
            </a:r>
            <a:r>
              <a:rPr sz="900">
                <a:solidFill>
                  <a:srgbClr val="334155"/>
                </a:solidFill>
                <a:latin typeface="Calibri"/>
              </a:rPr>
              <a:t>Pure software startups cannot bypass the safety PLC layer; uncertified code is prohibited from touching live physical factory hardware.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8264" y="1645920"/>
            <a:ext cx="3392424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8264" y="1645920"/>
            <a:ext cx="3392424" cy="22860"/>
          </a:xfrm>
          <a:prstGeom prst="rect">
            <a:avLst/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1" y="1810512"/>
            <a:ext cx="2990088" cy="40599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>
                <a:solidFill>
                  <a:srgbClr val="0A58CA"/>
                </a:solidFill>
                <a:latin typeface="Calibri"/>
              </a:rPr>
              <a:t>HYBRID ALLIANCES
</a:t>
            </a:r>
            <a:r>
              <a:rPr sz="1200" b="1">
                <a:solidFill>
                  <a:srgbClr val="0F172A"/>
                </a:solidFill>
                <a:latin typeface="Georgia"/>
              </a:rPr>
              <a:t>The Hybrid Playbook
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0F172A"/>
                </a:solidFill>
                <a:latin typeface="Calibri"/>
              </a:rPr>
              <a:t>Siemens &amp; Microsoft Copilot: </a:t>
            </a:r>
            <a:r>
              <a:rPr sz="900">
                <a:solidFill>
                  <a:srgbClr val="334155"/>
                </a:solidFill>
                <a:latin typeface="Calibri"/>
              </a:rPr>
              <a:t>Generative AI industrial copilot embedded directly into Siemens TIA Portal for automated PLC code generation and natural language debugging.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0F172A"/>
                </a:solidFill>
                <a:latin typeface="Calibri"/>
              </a:rPr>
              <a:t>Siemens &amp; Alphabet Intrinsic: </a:t>
            </a:r>
            <a:r>
              <a:rPr sz="900">
                <a:solidFill>
                  <a:srgbClr val="334155"/>
                </a:solidFill>
                <a:latin typeface="Calibri"/>
              </a:rPr>
              <a:t>Strategic alliance connecting Intrinsic Flowstate robotics AI platform with Siemens industrial automation hardware.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0F172A"/>
                </a:solidFill>
                <a:latin typeface="Calibri"/>
              </a:rPr>
              <a:t>Rockwell &amp; NVIDIA Omniverse: </a:t>
            </a:r>
            <a:r>
              <a:rPr sz="900">
                <a:solidFill>
                  <a:srgbClr val="334155"/>
                </a:solidFill>
                <a:latin typeface="Calibri"/>
              </a:rPr>
              <a:t>Integration of NVIDIA Isaac Sim and Omniverse with Rockwell Logix controllers for real-time virtual commissioning.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0F172A"/>
                </a:solidFill>
                <a:latin typeface="Calibri"/>
              </a:rPr>
              <a:t>The Structural Outcome: </a:t>
            </a:r>
            <a:r>
              <a:rPr sz="900">
                <a:solidFill>
                  <a:srgbClr val="334155"/>
                </a:solidFill>
                <a:latin typeface="Calibri"/>
              </a:rPr>
              <a:t>Incumbents absorb AI capabilities into their existing hardware backbones, neutralizing standalone software disintermediation threats.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65008" y="1645920"/>
            <a:ext cx="3392424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5008" y="1645920"/>
            <a:ext cx="3392424" cy="2286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6" y="1810512"/>
            <a:ext cx="2990088" cy="40599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>
                <a:solidFill>
                  <a:srgbClr val="047857"/>
                </a:solidFill>
                <a:latin typeface="Calibri"/>
              </a:rPr>
              <a:t>LTTS STRATEGIC ROLE
</a:t>
            </a:r>
            <a:r>
              <a:rPr sz="1200" b="1">
                <a:solidFill>
                  <a:srgbClr val="0F172A"/>
                </a:solidFill>
                <a:latin typeface="Georgia"/>
              </a:rPr>
              <a:t>The LTTS Strategic Bridge
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0F172A"/>
                </a:solidFill>
                <a:latin typeface="Calibri"/>
              </a:rPr>
              <a:t>The Trusted Integrator: </a:t>
            </a:r>
            <a:r>
              <a:rPr sz="900">
                <a:solidFill>
                  <a:srgbClr val="334155"/>
                </a:solidFill>
                <a:latin typeface="Calibri"/>
              </a:rPr>
              <a:t>LTTS operates as the neutral, certified systems engineering bridge possessing deep expertise in both AI models and legacy industrial PLCs.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0F172A"/>
                </a:solidFill>
                <a:latin typeface="Calibri"/>
              </a:rPr>
              <a:t>Execution Moat: </a:t>
            </a:r>
            <a:r>
              <a:rPr sz="900">
                <a:solidFill>
                  <a:srgbClr val="334155"/>
                </a:solidFill>
                <a:latin typeface="Calibri"/>
              </a:rPr>
              <a:t>Neither Silicon Valley AI labs (lack mechatronics bench) nor legacy plant electricians (lack deep learning talent) can bridge this chasm alone.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0F172A"/>
                </a:solidFill>
                <a:latin typeface="Calibri"/>
              </a:rPr>
              <a:t>Co-Selling with Incumbents: </a:t>
            </a:r>
            <a:r>
              <a:rPr sz="900">
                <a:solidFill>
                  <a:srgbClr val="334155"/>
                </a:solidFill>
                <a:latin typeface="Calibri"/>
              </a:rPr>
              <a:t>Partnering with Siemens and Rockwell channel partners to co-sell physical AI deployment services to Tier-1 automotive and aerospace OEMs.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0F172A"/>
                </a:solidFill>
                <a:latin typeface="Calibri"/>
              </a:rPr>
              <a:t>Durable Value Capture: </a:t>
            </a:r>
            <a:r>
              <a:rPr sz="900">
                <a:solidFill>
                  <a:srgbClr val="334155"/>
                </a:solidFill>
                <a:latin typeface="Calibri"/>
              </a:rPr>
              <a:t>LTTS captures high-margin deployment, V&amp;V, and ongoing maintenance revenue regardless of which foundation model wins.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309359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002B49"/>
                </a:solidFill>
                <a:latin typeface="Georgia"/>
              </a:rPr>
              <a:t>STRATEGIC TAKEAWAY  —  </a:t>
            </a:r>
            <a:r>
              <a:rPr sz="900">
                <a:solidFill>
                  <a:srgbClr val="334155"/>
                </a:solidFill>
                <a:latin typeface="Calibri"/>
              </a:rPr>
              <a:t>The future of manufacturing belongs to hybrid architectures: frontier AI policies layered safely on top of incumbent PLC control backbones.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9184"/>
            <a:ext cx="9144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002B49"/>
                </a:solidFill>
                <a:latin typeface="Calibri"/>
              </a:rPr>
              <a:t>MODULE 5 ·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30352"/>
            <a:ext cx="10725912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Georgia"/>
              </a:rPr>
              <a:t>Layered Competitive Landscape Across Physical AI (Table 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59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Calibri"/>
              </a:rPr>
              <a:t>Five structural tiers define the global ecosystem from foundation models to statutory compliance.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97280" cy="18288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10725912" cy="3657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00784"/>
            <a:ext cx="215798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Calibri"/>
              </a:rPr>
              <a:t>ECOSYSTEM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18688" y="1700784"/>
            <a:ext cx="197510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Calibri"/>
              </a:rPr>
              <a:t>KEY INDUSTRY PLAYERS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13248" y="1700784"/>
            <a:ext cx="215798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Calibri"/>
              </a:rPr>
              <a:t>CORE TECHNICAL OFFERING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0688" y="1700784"/>
            <a:ext cx="35570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Calibri"/>
              </a:rPr>
              <a:t>STRATEGIC STRUCTURAL POSITION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011680"/>
            <a:ext cx="10725912" cy="8046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103120"/>
            <a:ext cx="21031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0F172A"/>
                </a:solidFill>
                <a:latin typeface="Calibri"/>
              </a:rPr>
              <a:t>Robotics Foundation 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103120"/>
            <a:ext cx="19202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>
                <a:solidFill>
                  <a:srgbClr val="1E293B"/>
                </a:solidFill>
                <a:latin typeface="Calibri"/>
              </a:rPr>
              <a:t>Physical Intelligence, Skild AI, DeepMind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2103120"/>
            <a:ext cx="21031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>
                <a:solidFill>
                  <a:srgbClr val="1E293B"/>
                </a:solidFill>
                <a:latin typeface="Calibri"/>
              </a:rPr>
              <a:t>Pretrained generalist VLA models
(π0, Skild Brain)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2103120"/>
            <a:ext cx="350215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>
                <a:solidFill>
                  <a:srgbClr val="1E293B"/>
                </a:solidFill>
                <a:latin typeface="Calibri"/>
              </a:rPr>
              <a:t>Challengers: Frontier algorithms, high venture capital, but entirely dependent on systems engineering partners for field plant distribution.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816352"/>
            <a:ext cx="10725912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907792"/>
            <a:ext cx="21031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0F172A"/>
                </a:solidFill>
                <a:latin typeface="Calibri"/>
              </a:rPr>
              <a:t>Industrial Automation Incumbents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2907792"/>
            <a:ext cx="19202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>
                <a:solidFill>
                  <a:srgbClr val="1E293B"/>
                </a:solidFill>
                <a:latin typeface="Calibri"/>
              </a:rPr>
              <a:t>Siemens, Rockwell Automation, ABB, Schneider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2907792"/>
            <a:ext cx="21031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>
                <a:solidFill>
                  <a:srgbClr val="1E293B"/>
                </a:solidFill>
                <a:latin typeface="Calibri"/>
              </a:rPr>
              <a:t>PLCs, DCS, SCADA, FactoryTalk,
TIA Portal ecosystems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2907792"/>
            <a:ext cx="350215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>
                <a:solidFill>
                  <a:srgbClr val="1E293B"/>
                </a:solidFill>
                <a:latin typeface="Calibri"/>
              </a:rPr>
              <a:t>Dominant: Own factory floors, machine safety certifications, and decades of customer trust. Integrating AI through strategic platform partnerships.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621024"/>
            <a:ext cx="10725912" cy="8046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712463"/>
            <a:ext cx="21031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0F172A"/>
                </a:solidFill>
                <a:latin typeface="Calibri"/>
              </a:rPr>
              <a:t>Simulation &amp; Digital Twin Platforms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3712463"/>
            <a:ext cx="19202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>
                <a:solidFill>
                  <a:srgbClr val="1E293B"/>
                </a:solidFill>
                <a:latin typeface="Calibri"/>
              </a:rPr>
              <a:t>NVIDIA (Isaac/Cosmos), Applied Intuition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0680" y="3712463"/>
            <a:ext cx="21031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>
                <a:solidFill>
                  <a:srgbClr val="1E293B"/>
                </a:solidFill>
                <a:latin typeface="Calibri"/>
              </a:rPr>
              <a:t>Physics simulation, synthetic data
generation pipelines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20" y="3712463"/>
            <a:ext cx="350215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>
                <a:solidFill>
                  <a:srgbClr val="1E293B"/>
                </a:solidFill>
                <a:latin typeface="Calibri"/>
              </a:rPr>
              <a:t>Dominant: Platform standards for testing, virtual commissioning, and synthetic policy generation. Essential software tooling layer.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425696"/>
            <a:ext cx="10725912" cy="804672"/>
          </a:xfrm>
          <a:prstGeom prst="rect">
            <a:avLst/>
          </a:prstGeom>
          <a:solidFill>
            <a:srgbClr val="F0F7FF"/>
          </a:solidFill>
          <a:ln w="19050">
            <a:solidFill>
              <a:srgbClr val="0A5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4425696"/>
            <a:ext cx="36576" cy="804672"/>
          </a:xfrm>
          <a:prstGeom prst="rect">
            <a:avLst/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517136"/>
            <a:ext cx="21031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0A58CA"/>
                </a:solidFill>
                <a:latin typeface="Calibri"/>
              </a:rPr>
              <a:t>ER&amp;D Engineering Services
★ LTTS COMPETITIVE POSITION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46120" y="4517136"/>
            <a:ext cx="19202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>
                <a:solidFill>
                  <a:srgbClr val="1E293B"/>
                </a:solidFill>
                <a:latin typeface="Calibri"/>
              </a:rPr>
              <a:t>LTTS, KPIT Tech, Tata Tech, Cyient, Accenture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40680" y="4517136"/>
            <a:ext cx="21031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>
                <a:solidFill>
                  <a:srgbClr val="1E293B"/>
                </a:solidFill>
                <a:latin typeface="Calibri"/>
              </a:rPr>
              <a:t>Systems integration, V&amp;V, digital
engineering &amp; PLC bridges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8120" y="4517136"/>
            <a:ext cx="350215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>
                <a:solidFill>
                  <a:srgbClr val="1E293B"/>
                </a:solidFill>
                <a:latin typeface="Calibri"/>
              </a:rPr>
              <a:t>Direct Competitors: Race to build certified Physical AI field practices and bridge neural policies with industrial plant machinery.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5230368"/>
            <a:ext cx="10725912" cy="8046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5321807"/>
            <a:ext cx="21031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0F172A"/>
                </a:solidFill>
                <a:latin typeface="Calibri"/>
              </a:rPr>
              <a:t>Safety &amp; Statutory Compliance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46120" y="5321807"/>
            <a:ext cx="19202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>
                <a:solidFill>
                  <a:srgbClr val="1E293B"/>
                </a:solidFill>
                <a:latin typeface="Calibri"/>
              </a:rPr>
              <a:t>TÜV SÜD, UL Solutions, Credo AI, Holistic 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5321807"/>
            <a:ext cx="21031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>
                <a:solidFill>
                  <a:srgbClr val="1E293B"/>
                </a:solidFill>
                <a:latin typeface="Calibri"/>
              </a:rPr>
              <a:t>Functional safety audits, regulatory
compliance dossiers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18120" y="5321807"/>
            <a:ext cx="350215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>
                <a:solidFill>
                  <a:srgbClr val="1E293B"/>
                </a:solidFill>
                <a:latin typeface="Calibri"/>
              </a:rPr>
              <a:t>Gatekeepers: Mandatory for legal operation, safety dossiers, and factory insurance underwriting under ISO 13849 / IEC 61508.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6309359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002B49"/>
                </a:solidFill>
                <a:latin typeface="Georgia"/>
              </a:rPr>
              <a:t>STRATEGIC TAKEAWAY  —  </a:t>
            </a:r>
            <a:r>
              <a:rPr sz="900">
                <a:solidFill>
                  <a:srgbClr val="334155"/>
                </a:solidFill>
                <a:latin typeface="Calibri"/>
              </a:rPr>
              <a:t>ER&amp;D engineering services is the linchpin layer connecting generalist model challengers with entrenched factory incumbents.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9184"/>
            <a:ext cx="9144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002B49"/>
                </a:solidFill>
                <a:latin typeface="Calibri"/>
              </a:rPr>
              <a:t>MODULE 5 ·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30352"/>
            <a:ext cx="10725912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Georgia"/>
              </a:rPr>
              <a:t>High-Value Underserved Market Gaps: Where LTTS Captures Margin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59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Calibri"/>
              </a:rPr>
              <a:t>Four critical white-space engineering bottlenecks where tech giants cannot compete with LTTS's industrial bench.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97280" cy="18288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2478024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2478024" cy="22860"/>
          </a:xfrm>
          <a:prstGeom prst="rect">
            <a:avLst/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783080"/>
            <a:ext cx="21854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>
                <a:solidFill>
                  <a:srgbClr val="0A58CA"/>
                </a:solidFill>
                <a:latin typeface="Calibri"/>
              </a:rPr>
              <a:t>GAP 1 · MIDDLEWARE
</a:t>
            </a:r>
            <a:r>
              <a:rPr sz="1100" b="1">
                <a:solidFill>
                  <a:srgbClr val="0F172A"/>
                </a:solidFill>
                <a:latin typeface="Georgia"/>
              </a:rPr>
              <a:t>Real-Time Safety Middleware
</a:t>
            </a:r>
          </a:p>
          <a:p>
            <a:pPr>
              <a:spcBef>
                <a:spcPts val="500"/>
              </a:spcBef>
            </a:pPr>
            <a:r>
              <a:rPr sz="850" b="1">
                <a:solidFill>
                  <a:srgbClr val="0F172A"/>
                </a:solidFill>
                <a:latin typeface="Calibri"/>
              </a:rPr>
              <a:t>The Industry Bottleneck: </a:t>
            </a:r>
            <a:r>
              <a:rPr sz="850">
                <a:solidFill>
                  <a:srgbClr val="334155"/>
                </a:solidFill>
                <a:latin typeface="Calibri"/>
              </a:rPr>
              <a:t>AI models output asynchronous stochastic predictions at 100Hz; industrial actuators demand 1ms deterministic guarantees.</a:t>
            </a:r>
          </a:p>
          <a:p>
            <a:pPr>
              <a:spcBef>
                <a:spcPts val="500"/>
              </a:spcBef>
            </a:pPr>
            <a:r>
              <a:rPr sz="850" b="1">
                <a:solidFill>
                  <a:srgbClr val="0F172A"/>
                </a:solidFill>
                <a:latin typeface="Calibri"/>
              </a:rPr>
              <a:t>The White-Space Void: </a:t>
            </a:r>
            <a:r>
              <a:rPr sz="850">
                <a:solidFill>
                  <a:srgbClr val="334155"/>
                </a:solidFill>
                <a:latin typeface="Calibri"/>
              </a:rPr>
              <a:t>Zero off-the-shelf software safely bridges Python neural policies to real-time industrial fieldbuses.</a:t>
            </a:r>
          </a:p>
          <a:p>
            <a:pPr>
              <a:spcBef>
                <a:spcPts val="500"/>
              </a:spcBef>
            </a:pPr>
            <a:r>
              <a:rPr sz="850" b="1">
                <a:solidFill>
                  <a:srgbClr val="0F172A"/>
                </a:solidFill>
                <a:latin typeface="Calibri"/>
              </a:rPr>
              <a:t>LTTS Proprietary Solution: </a:t>
            </a:r>
            <a:r>
              <a:rPr sz="850">
                <a:solidFill>
                  <a:srgbClr val="334155"/>
                </a:solidFill>
                <a:latin typeface="Calibri"/>
              </a:rPr>
              <a:t>Build certified bridge middleware wrapping neural commands with formal Control Barrier Functions (CBFs).</a:t>
            </a:r>
          </a:p>
          <a:p>
            <a:pPr>
              <a:spcBef>
                <a:spcPts val="500"/>
              </a:spcBef>
            </a:pPr>
            <a:r>
              <a:rPr sz="850" b="1">
                <a:solidFill>
                  <a:srgbClr val="0F172A"/>
                </a:solidFill>
                <a:latin typeface="Calibri"/>
              </a:rPr>
              <a:t>Revenue Potential: </a:t>
            </a:r>
            <a:r>
              <a:rPr sz="850">
                <a:solidFill>
                  <a:srgbClr val="334155"/>
                </a:solidFill>
                <a:latin typeface="Calibri"/>
              </a:rPr>
              <a:t>High-margin software IP licensing ($10k-$25k/robot/yr) across hundreds of plant cells.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83863" y="1645920"/>
            <a:ext cx="2478024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83863" y="1645920"/>
            <a:ext cx="2478024" cy="228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783080"/>
            <a:ext cx="21854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>
                <a:solidFill>
                  <a:srgbClr val="0284C7"/>
                </a:solidFill>
                <a:latin typeface="Calibri"/>
              </a:rPr>
              <a:t>GAP 2 · CONTACT PHYSICS
</a:t>
            </a:r>
            <a:r>
              <a:rPr sz="1100" b="1">
                <a:solidFill>
                  <a:srgbClr val="0F172A"/>
                </a:solidFill>
                <a:latin typeface="Georgia"/>
              </a:rPr>
              <a:t>Contact-Calibrated Simulators
</a:t>
            </a:r>
          </a:p>
          <a:p>
            <a:pPr>
              <a:spcBef>
                <a:spcPts val="500"/>
              </a:spcBef>
            </a:pPr>
            <a:r>
              <a:rPr sz="850" b="1">
                <a:solidFill>
                  <a:srgbClr val="0F172A"/>
                </a:solidFill>
                <a:latin typeface="Calibri"/>
              </a:rPr>
              <a:t>The Industry Bottleneck: </a:t>
            </a:r>
            <a:r>
              <a:rPr sz="850">
                <a:solidFill>
                  <a:srgbClr val="334155"/>
                </a:solidFill>
                <a:latin typeface="Calibri"/>
              </a:rPr>
              <a:t>Standard physics simulators (MuJoCo, Isaac) suffer significant Sim-to-Real gaps during non-rigid contact.</a:t>
            </a:r>
          </a:p>
          <a:p>
            <a:pPr>
              <a:spcBef>
                <a:spcPts val="500"/>
              </a:spcBef>
            </a:pPr>
            <a:r>
              <a:rPr sz="850" b="1">
                <a:solidFill>
                  <a:srgbClr val="0F172A"/>
                </a:solidFill>
                <a:latin typeface="Calibri"/>
              </a:rPr>
              <a:t>The White-Space Void: </a:t>
            </a:r>
            <a:r>
              <a:rPr sz="850">
                <a:solidFill>
                  <a:srgbClr val="334155"/>
                </a:solidFill>
                <a:latin typeface="Calibri"/>
              </a:rPr>
              <a:t>Automakers cannot afford weeks of manual on-robot policy tuning for deformable cables, gaskets, and wiring.</a:t>
            </a:r>
          </a:p>
          <a:p>
            <a:pPr>
              <a:spcBef>
                <a:spcPts val="500"/>
              </a:spcBef>
            </a:pPr>
            <a:r>
              <a:rPr sz="850" b="1">
                <a:solidFill>
                  <a:srgbClr val="0F172A"/>
                </a:solidFill>
                <a:latin typeface="Calibri"/>
              </a:rPr>
              <a:t>LTTS Proprietary Solution: </a:t>
            </a:r>
            <a:r>
              <a:rPr sz="850">
                <a:solidFill>
                  <a:srgbClr val="334155"/>
                </a:solidFill>
                <a:latin typeface="Calibri"/>
              </a:rPr>
              <a:t>Develop proprietary contact-calibrated simulation pipelines incorporating real material finite-element stress tensors.</a:t>
            </a:r>
          </a:p>
          <a:p>
            <a:pPr>
              <a:spcBef>
                <a:spcPts val="500"/>
              </a:spcBef>
            </a:pPr>
            <a:r>
              <a:rPr sz="850" b="1">
                <a:solidFill>
                  <a:srgbClr val="0F172A"/>
                </a:solidFill>
                <a:latin typeface="Calibri"/>
              </a:rPr>
              <a:t>Revenue Potential: </a:t>
            </a:r>
            <a:r>
              <a:rPr sz="850">
                <a:solidFill>
                  <a:srgbClr val="334155"/>
                </a:solidFill>
                <a:latin typeface="Calibri"/>
              </a:rPr>
              <a:t>Anchors multi-million-dollar Software-Defined Factory (SD-FaaS) digital twin engagements.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7" y="1645920"/>
            <a:ext cx="2478024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6207" y="1645920"/>
            <a:ext cx="2478024" cy="2286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783080"/>
            <a:ext cx="21854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>
                <a:solidFill>
                  <a:srgbClr val="C2410C"/>
                </a:solidFill>
                <a:latin typeface="Calibri"/>
              </a:rPr>
              <a:t>GAP 3 · BROWNFIELD VISION
</a:t>
            </a:r>
            <a:r>
              <a:rPr sz="1100" b="1">
                <a:solidFill>
                  <a:srgbClr val="0F172A"/>
                </a:solidFill>
                <a:latin typeface="Georgia"/>
              </a:rPr>
              <a:t>Brownfield Vision Retrofits
</a:t>
            </a:r>
          </a:p>
          <a:p>
            <a:pPr>
              <a:spcBef>
                <a:spcPts val="500"/>
              </a:spcBef>
            </a:pPr>
            <a:r>
              <a:rPr sz="850" b="1">
                <a:solidFill>
                  <a:srgbClr val="0F172A"/>
                </a:solidFill>
                <a:latin typeface="Calibri"/>
              </a:rPr>
              <a:t>The Industry Bottleneck: </a:t>
            </a:r>
            <a:r>
              <a:rPr sz="850">
                <a:solidFill>
                  <a:srgbClr val="334155"/>
                </a:solidFill>
                <a:latin typeface="Calibri"/>
              </a:rPr>
              <a:t>90%+ of manufacturing machinery is legacy equipment lacking modern digital APIs, structured lighting, or clean air.</a:t>
            </a:r>
          </a:p>
          <a:p>
            <a:pPr>
              <a:spcBef>
                <a:spcPts val="500"/>
              </a:spcBef>
            </a:pPr>
            <a:r>
              <a:rPr sz="850" b="1">
                <a:solidFill>
                  <a:srgbClr val="0F172A"/>
                </a:solidFill>
                <a:latin typeface="Calibri"/>
              </a:rPr>
              <a:t>The White-Space Void: </a:t>
            </a:r>
            <a:r>
              <a:rPr sz="850">
                <a:solidFill>
                  <a:srgbClr val="334155"/>
                </a:solidFill>
                <a:latin typeface="Calibri"/>
              </a:rPr>
              <a:t>Frontier models trained on clean laboratory benchmarks fail under brownfield shopfloor grime, oil mist, and vibration.</a:t>
            </a:r>
          </a:p>
          <a:p>
            <a:pPr>
              <a:spcBef>
                <a:spcPts val="500"/>
              </a:spcBef>
            </a:pPr>
            <a:r>
              <a:rPr sz="850" b="1">
                <a:solidFill>
                  <a:srgbClr val="0F172A"/>
                </a:solidFill>
                <a:latin typeface="Calibri"/>
              </a:rPr>
              <a:t>LTTS Proprietary Solution: </a:t>
            </a:r>
            <a:r>
              <a:rPr sz="850">
                <a:solidFill>
                  <a:srgbClr val="334155"/>
                </a:solidFill>
                <a:latin typeface="Calibri"/>
              </a:rPr>
              <a:t>Package ruggedized edge-compute retrofit kits with vibration-invariant multi-modal sensor fusion.</a:t>
            </a:r>
          </a:p>
          <a:p>
            <a:pPr>
              <a:spcBef>
                <a:spcPts val="500"/>
              </a:spcBef>
            </a:pPr>
            <a:r>
              <a:rPr sz="850" b="1">
                <a:solidFill>
                  <a:srgbClr val="0F172A"/>
                </a:solidFill>
                <a:latin typeface="Calibri"/>
              </a:rPr>
              <a:t>Revenue Potential: </a:t>
            </a:r>
            <a:r>
              <a:rPr sz="850">
                <a:solidFill>
                  <a:srgbClr val="334155"/>
                </a:solidFill>
                <a:latin typeface="Calibri"/>
              </a:rPr>
              <a:t>Rapid deployment kits priced at $100k-$250k per legacy production cell.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88552" y="1645920"/>
            <a:ext cx="2478024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88552" y="1645920"/>
            <a:ext cx="2478024" cy="2286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34856" y="1783080"/>
            <a:ext cx="21854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>
                <a:solidFill>
                  <a:srgbClr val="047857"/>
                </a:solidFill>
                <a:latin typeface="Calibri"/>
              </a:rPr>
              <a:t>GAP 4 · FLEET CALIBRATION
</a:t>
            </a:r>
            <a:r>
              <a:rPr sz="1100" b="1">
                <a:solidFill>
                  <a:srgbClr val="0F172A"/>
                </a:solidFill>
                <a:latin typeface="Georgia"/>
              </a:rPr>
              <a:t>Heterogeneous Fleet Calibration
</a:t>
            </a:r>
          </a:p>
          <a:p>
            <a:pPr>
              <a:spcBef>
                <a:spcPts val="500"/>
              </a:spcBef>
            </a:pPr>
            <a:r>
              <a:rPr sz="850" b="1">
                <a:solidFill>
                  <a:srgbClr val="0F172A"/>
                </a:solidFill>
                <a:latin typeface="Calibri"/>
              </a:rPr>
              <a:t>The Industry Bottleneck: </a:t>
            </a:r>
            <a:r>
              <a:rPr sz="850">
                <a:solidFill>
                  <a:srgbClr val="334155"/>
                </a:solidFill>
                <a:latin typeface="Calibri"/>
              </a:rPr>
              <a:t>Automotive and aerospace plants operate mixed robot fleets (FANUC, KUKA, ABB) with conflicting kinematic controllers.</a:t>
            </a:r>
          </a:p>
          <a:p>
            <a:pPr>
              <a:spcBef>
                <a:spcPts val="500"/>
              </a:spcBef>
            </a:pPr>
            <a:r>
              <a:rPr sz="850" b="1">
                <a:solidFill>
                  <a:srgbClr val="0F172A"/>
                </a:solidFill>
                <a:latin typeface="Calibri"/>
              </a:rPr>
              <a:t>The White-Space Void: </a:t>
            </a:r>
            <a:r>
              <a:rPr sz="850">
                <a:solidFill>
                  <a:srgbClr val="334155"/>
                </a:solidFill>
                <a:latin typeface="Calibri"/>
              </a:rPr>
              <a:t>Foundation models cannot scale if each robot vendor requires a completely bespoke software integration stack.</a:t>
            </a:r>
          </a:p>
          <a:p>
            <a:pPr>
              <a:spcBef>
                <a:spcPts val="500"/>
              </a:spcBef>
            </a:pPr>
            <a:r>
              <a:rPr sz="850" b="1">
                <a:solidFill>
                  <a:srgbClr val="0F172A"/>
                </a:solidFill>
                <a:latin typeface="Calibri"/>
              </a:rPr>
              <a:t>LTTS Proprietary Solution: </a:t>
            </a:r>
            <a:r>
              <a:rPr sz="850">
                <a:solidFill>
                  <a:srgbClr val="334155"/>
                </a:solidFill>
                <a:latin typeface="Calibri"/>
              </a:rPr>
              <a:t>Build a unified cross-embodiment abstraction layer standardizing policy execution across all robot brands.</a:t>
            </a:r>
          </a:p>
          <a:p>
            <a:pPr>
              <a:spcBef>
                <a:spcPts val="500"/>
              </a:spcBef>
            </a:pPr>
            <a:r>
              <a:rPr sz="850" b="1">
                <a:solidFill>
                  <a:srgbClr val="0F172A"/>
                </a:solidFill>
                <a:latin typeface="Calibri"/>
              </a:rPr>
              <a:t>Revenue Potential: </a:t>
            </a:r>
            <a:r>
              <a:rPr sz="850">
                <a:solidFill>
                  <a:srgbClr val="334155"/>
                </a:solidFill>
                <a:latin typeface="Calibri"/>
              </a:rPr>
              <a:t>Enterprise-wide fleet software licensing and recurring Embodied MLOps maintenance contracts.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6309359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002B49"/>
                </a:solidFill>
                <a:latin typeface="Georgia"/>
              </a:rPr>
              <a:t>STRATEGIC TAKEAWAY  —  </a:t>
            </a:r>
            <a:r>
              <a:rPr sz="900">
                <a:solidFill>
                  <a:srgbClr val="334155"/>
                </a:solidFill>
                <a:latin typeface="Calibri"/>
              </a:rPr>
              <a:t>These four underserved gaps represent pure domain engineering challenges where tech giants cannot compete with LTTS's industrial bench.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9184"/>
            <a:ext cx="9144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002B49"/>
                </a:solidFill>
                <a:latin typeface="Calibri"/>
              </a:rPr>
              <a:t>MODULE 6 · THE 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30352"/>
            <a:ext cx="10725912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Georgia"/>
              </a:rPr>
              <a:t>Industrial AI vs. Physical AI &amp; The Kinematics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59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Calibri"/>
              </a:rPr>
              <a:t>Closed-loop motor actuation creates an insurmountable domain engineering moat for software-only AI labs.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97280" cy="18288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230368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5230368" cy="228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10512"/>
            <a:ext cx="4773168" cy="40599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002B49"/>
                </a:solidFill>
                <a:latin typeface="Calibri"/>
              </a:rPr>
              <a:t>PARADIGM SHIFT: ANALYTICAL VS. CAUSAL ACTUATION
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F172A"/>
                </a:solidFill>
                <a:latin typeface="Calibri"/>
              </a:rPr>
              <a:t>Industrial AI (Open-Loop &amp; Analytical): </a:t>
            </a:r>
            <a:r>
              <a:rPr sz="900">
                <a:solidFill>
                  <a:srgbClr val="334155"/>
                </a:solidFill>
                <a:latin typeface="Calibri"/>
              </a:rPr>
              <a:t>Ingests SCADA telemetry, vibration logs, and optical inspection images to predict machine maintenance or classify defects. Operates in passive informational space; an algorithmic false positive results in a software alert, not a mechanical wreck.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F172A"/>
                </a:solidFill>
                <a:latin typeface="Calibri"/>
              </a:rPr>
              <a:t>Physical AI (Closed-Loop Kinematic Actuation): </a:t>
            </a:r>
            <a:r>
              <a:rPr sz="900">
                <a:solidFill>
                  <a:srgbClr val="334155"/>
                </a:solidFill>
                <a:latin typeface="Calibri"/>
              </a:rPr>
              <a:t>Directly commands motor torques and joint positions in real time under Newton's differential equations. Algorithmic errors cause physical collisions, destroyed tooling, or worker injury. Requires sub-10ms hard real-time latency.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F172A"/>
                </a:solidFill>
                <a:latin typeface="Calibri"/>
              </a:rPr>
              <a:t>Coexistence, Not Replacement: </a:t>
            </a:r>
            <a:r>
              <a:rPr sz="900">
                <a:solidFill>
                  <a:srgbClr val="334155"/>
                </a:solidFill>
                <a:latin typeface="Calibri"/>
              </a:rPr>
              <a:t>Physical AI does not displace deterministic factory automation; it commands high-level adaptive manipulation while deterministic PLCs maintain strict safety interlocks.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F172A"/>
                </a:solidFill>
                <a:latin typeface="Calibri"/>
              </a:rPr>
              <a:t>The Domain Engineering Moat: </a:t>
            </a:r>
            <a:r>
              <a:rPr sz="900">
                <a:solidFill>
                  <a:srgbClr val="334155"/>
                </a:solidFill>
                <a:latin typeface="Calibri"/>
              </a:rPr>
              <a:t>Pure machine learning practitioners treat robots as abstract point masses; deploying neural policies into live factories mandates deep mechatronic controls engineering.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645920"/>
            <a:ext cx="5230368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27064" y="1645920"/>
            <a:ext cx="5230368" cy="22860"/>
          </a:xfrm>
          <a:prstGeom prst="rect">
            <a:avLst/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5664" y="1810512"/>
            <a:ext cx="4773168" cy="40599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0A58CA"/>
                </a:solidFill>
                <a:latin typeface="Calibri"/>
              </a:rPr>
              <a:t>THE KINEMATICS MOAT: JACOBIAN &amp; SINGULARITY COLLAPSE
</a:t>
            </a:r>
          </a:p>
          <a:p>
            <a:r>
              <a:rPr sz="900" b="1">
                <a:solidFill>
                  <a:srgbClr val="0F172A"/>
                </a:solidFill>
                <a:latin typeface="Calibri"/>
              </a:rPr>
              <a:t>Manipulator Jacobian &amp; Inverse Kinematics Mapping:
</a:t>
            </a:r>
            <a:r>
              <a:rPr sz="850">
                <a:solidFill>
                  <a:srgbClr val="64748B"/>
                </a:solidFill>
                <a:latin typeface="Calibri"/>
              </a:rPr>
              <a:t>The mapping from end-effector velocities to joint velocities is governed by Jacobian matrix J(q):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55664" y="2697480"/>
            <a:ext cx="4773168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544" y="2788920"/>
            <a:ext cx="2493264" cy="2895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55664" y="3429000"/>
            <a:ext cx="477316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0F172A"/>
                </a:solidFill>
                <a:latin typeface="Calibri"/>
              </a:rPr>
              <a:t>Yoshikawa Manipulability Collapse at Singularities:
</a:t>
            </a:r>
            <a:r>
              <a:rPr sz="850">
                <a:solidFill>
                  <a:srgbClr val="64748B"/>
                </a:solidFill>
                <a:latin typeface="Calibri"/>
              </a:rPr>
              <a:t>Near kinematic singularities, manipulability collapses to zero, demanding infinite joint velocity: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55664" y="3977639"/>
            <a:ext cx="4773168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3" y="4069080"/>
            <a:ext cx="4002024" cy="35661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55664" y="4709160"/>
            <a:ext cx="4773168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047857"/>
                </a:solidFill>
                <a:latin typeface="Calibri"/>
              </a:rPr>
              <a:t>The Mechatronic Solution (DLS Filtering):
</a:t>
            </a:r>
            <a:r>
              <a:rPr sz="850">
                <a:solidFill>
                  <a:srgbClr val="334155"/>
                </a:solidFill>
                <a:latin typeface="Calibri"/>
              </a:rPr>
              <a:t>LTTS controls engineers insert Damped Least-Squares (DLS) inversion and singularity-avoidance gradient projection between neural policy outputs and joint servo drives. This prevents infinite torque demands, drive trips, and stripped gears.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6309359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002B49"/>
                </a:solidFill>
                <a:latin typeface="Georgia"/>
              </a:rPr>
              <a:t>STRATEGIC TAKEAWAY  —  </a:t>
            </a:r>
            <a:r>
              <a:rPr sz="900">
                <a:solidFill>
                  <a:srgbClr val="334155"/>
                </a:solidFill>
                <a:latin typeface="Calibri"/>
              </a:rPr>
              <a:t>AI labs build the neural planners; LTTS builds the singularity-robust kinematics and safety filters that keep physical robots from destroying themselves.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9184"/>
            <a:ext cx="9144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002B49"/>
                </a:solidFill>
                <a:latin typeface="Calibri"/>
              </a:rPr>
              <a:t>MODULE 6 · THE 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30352"/>
            <a:ext cx="10725912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Georgia"/>
              </a:rPr>
              <a:t>Deterministic RTOS Timing &amp; Operational Data Flywheel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59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Calibri"/>
              </a:rPr>
              <a:t>Sub-millisecond jitter guarantees and the five-stage closed-loop data engine for continuous improvement.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97280" cy="18288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230368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5230368" cy="22860"/>
          </a:xfrm>
          <a:prstGeom prst="rect">
            <a:avLst/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10512"/>
            <a:ext cx="4773168" cy="40599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0A58CA"/>
                </a:solidFill>
                <a:latin typeface="Calibri"/>
              </a:rPr>
              <a:t>DETERMINISTIC HARD REAL-TIME TIMING ARCHITECTURE
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F172A"/>
                </a:solidFill>
                <a:latin typeface="Calibri"/>
              </a:rPr>
              <a:t>The Timing Hierarchy: </a:t>
            </a:r>
            <a:r>
              <a:rPr sz="900">
                <a:solidFill>
                  <a:srgbClr val="334155"/>
                </a:solidFill>
                <a:latin typeface="Calibri"/>
              </a:rPr>
              <a:t>Factory safety interlocks operate at 1kHz (1ms cycle time), motor joint servo commutation at 500Hz (2ms), and high-level neural policy inference at 50Hz–100Hz (10–20ms).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F172A"/>
                </a:solidFill>
                <a:latin typeface="Calibri"/>
              </a:rPr>
              <a:t>Sub-Millisecond Jitter Tolerance (&lt; 1ms): </a:t>
            </a:r>
            <a:r>
              <a:rPr sz="900">
                <a:solidFill>
                  <a:srgbClr val="334155"/>
                </a:solidFill>
                <a:latin typeface="Calibri"/>
              </a:rPr>
              <a:t>In high-speed assembly and machining cells, timing jitter exceeding 1ms creates dynamic phase lag, hunting oscillations, and immediate emergency line shut-downs.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F172A"/>
                </a:solidFill>
                <a:latin typeface="Calibri"/>
              </a:rPr>
              <a:t>Dual-Kernel Real-Time OS Architecture: </a:t>
            </a:r>
            <a:r>
              <a:rPr sz="900">
                <a:solidFill>
                  <a:srgbClr val="334155"/>
                </a:solidFill>
                <a:latin typeface="Calibri"/>
              </a:rPr>
              <a:t>Deploying Linux PREEMPT_RT or QNX RTOS on edge compute platforms to strictly isolate non-deterministic Python neural inference from deterministic safety PLC communication threads.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F172A"/>
                </a:solidFill>
                <a:latin typeface="Calibri"/>
              </a:rPr>
              <a:t>Hardware Watchdog Governors: </a:t>
            </a:r>
            <a:r>
              <a:rPr sz="900">
                <a:solidFill>
                  <a:srgbClr val="334155"/>
                </a:solidFill>
                <a:latin typeface="Calibri"/>
              </a:rPr>
              <a:t>LTTS implements hardware-level watchdog timers that automatically engage dynamic motor braking if neural inference fails to return a valid trajectory within the 10ms deadline.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645920"/>
            <a:ext cx="5230368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27064" y="1645920"/>
            <a:ext cx="5230368" cy="2286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5664" y="1810512"/>
            <a:ext cx="4773168" cy="40599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047857"/>
                </a:solidFill>
                <a:latin typeface="Calibri"/>
              </a:rPr>
              <a:t>THE 5-STAGE OPERATIONAL DATA FLYWHEEL
</a:t>
            </a:r>
          </a:p>
          <a:p>
            <a:pPr>
              <a:spcBef>
                <a:spcPts val="500"/>
              </a:spcBef>
            </a:pPr>
            <a:r>
              <a:rPr sz="900" b="1">
                <a:solidFill>
                  <a:srgbClr val="0F172A"/>
                </a:solidFill>
                <a:latin typeface="Calibri"/>
              </a:rPr>
              <a:t>1. Live Plant Telemetry Logging: </a:t>
            </a:r>
            <a:r>
              <a:rPr sz="850">
                <a:solidFill>
                  <a:srgbClr val="334155"/>
                </a:solidFill>
                <a:latin typeface="Calibri"/>
              </a:rPr>
              <a:t>Continuous edge circular-buffer recording of motor joint torques, encoder positions, tactile pressures, and synchronized camera feeds during production.</a:t>
            </a:r>
          </a:p>
          <a:p>
            <a:pPr>
              <a:spcBef>
                <a:spcPts val="500"/>
              </a:spcBef>
            </a:pPr>
            <a:r>
              <a:rPr sz="900" b="1">
                <a:solidFill>
                  <a:srgbClr val="0F172A"/>
                </a:solidFill>
                <a:latin typeface="Calibri"/>
              </a:rPr>
              <a:t>2. Anomaly &amp; Edge-Case Harvest: </a:t>
            </a:r>
            <a:r>
              <a:rPr sz="850">
                <a:solidFill>
                  <a:srgbClr val="334155"/>
                </a:solidFill>
                <a:latin typeface="Calibri"/>
              </a:rPr>
              <a:t>Automated trigger filters isolating the 0.01% of unusual contact events, micro-slips, visual occlusions, and human safety boundary crossings.</a:t>
            </a:r>
          </a:p>
          <a:p>
            <a:pPr>
              <a:spcBef>
                <a:spcPts val="500"/>
              </a:spcBef>
            </a:pPr>
            <a:r>
              <a:rPr sz="900" b="1">
                <a:solidFill>
                  <a:srgbClr val="0F172A"/>
                </a:solidFill>
                <a:latin typeface="Calibri"/>
              </a:rPr>
              <a:t>3. Synthetic Simulation Variation: </a:t>
            </a:r>
            <a:r>
              <a:rPr sz="850">
                <a:solidFill>
                  <a:srgbClr val="334155"/>
                </a:solidFill>
                <a:latin typeface="Calibri"/>
              </a:rPr>
              <a:t>Injecting real-world plant failures into NVIDIA Omniverse digital twins to automatically generate 10,000 synthetic variations across lighting, surface friction, and part geometry.</a:t>
            </a:r>
          </a:p>
          <a:p>
            <a:pPr>
              <a:spcBef>
                <a:spcPts val="500"/>
              </a:spcBef>
            </a:pPr>
            <a:r>
              <a:rPr sz="900" b="1">
                <a:solidFill>
                  <a:srgbClr val="0F172A"/>
                </a:solidFill>
                <a:latin typeface="Calibri"/>
              </a:rPr>
              <a:t>4. Policy Retraining &amp; CBF Reachability: </a:t>
            </a:r>
            <a:r>
              <a:rPr sz="850">
                <a:solidFill>
                  <a:srgbClr val="334155"/>
                </a:solidFill>
                <a:latin typeface="Calibri"/>
              </a:rPr>
              <a:t>Retraining neural policy checkpoints on the augmented dataset, followed by automated Control Barrier Function (CBF) formal reachability verification.</a:t>
            </a:r>
          </a:p>
          <a:p>
            <a:pPr>
              <a:spcBef>
                <a:spcPts val="500"/>
              </a:spcBef>
            </a:pPr>
            <a:r>
              <a:rPr sz="900" b="1">
                <a:solidFill>
                  <a:srgbClr val="0F172A"/>
                </a:solidFill>
                <a:latin typeface="Calibri"/>
              </a:rPr>
              <a:t>5. Shadow Deployment &amp; Canary Gate: </a:t>
            </a:r>
            <a:r>
              <a:rPr sz="850">
                <a:solidFill>
                  <a:srgbClr val="334155"/>
                </a:solidFill>
                <a:latin typeface="Calibri"/>
              </a:rPr>
              <a:t>Running updated policies in shadow mode alongside live production lines before gating full operational control authority to the robot.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309359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002B49"/>
                </a:solidFill>
                <a:latin typeface="Georgia"/>
              </a:rPr>
              <a:t>STRATEGIC TAKEAWAY  —  </a:t>
            </a:r>
            <a:r>
              <a:rPr sz="900">
                <a:solidFill>
                  <a:srgbClr val="334155"/>
                </a:solidFill>
                <a:latin typeface="Calibri"/>
              </a:rPr>
              <a:t>A self-reinforcing data flywheel turns brownfield operational edge cases into an insurmountable customer retention moat.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9184"/>
            <a:ext cx="9144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002B49"/>
                </a:solidFill>
                <a:latin typeface="Calibri"/>
              </a:rPr>
              <a:t>MODULE 7 · 3-5 YEAR FORECAST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30352"/>
            <a:ext cx="10725912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Georgia"/>
              </a:rPr>
              <a:t>2026–2030 Market Evolution Dynamics &amp; Strategic Wildcards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59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Calibri"/>
              </a:rPr>
              <a:t>Four structural market transitions over the next 3-5 years and critical uncertainty factors to monitor.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97280" cy="18288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230368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5230368" cy="22860"/>
          </a:xfrm>
          <a:prstGeom prst="rect">
            <a:avLst/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10512"/>
            <a:ext cx="4773168" cy="40599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0A58CA"/>
                </a:solidFill>
                <a:latin typeface="Calibri"/>
              </a:rPr>
              <a:t>FOUR STRUCTURAL MARKET TRANSITIONS (2026 - 2030)
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F172A"/>
                </a:solidFill>
                <a:latin typeface="Calibri"/>
              </a:rPr>
              <a:t>Shift 1: Point AI Models -&gt; Unified VLA Backbones: </a:t>
            </a:r>
            <a:r>
              <a:rPr sz="900">
                <a:solidFill>
                  <a:srgbClr val="334155"/>
                </a:solidFill>
                <a:latin typeface="Calibri"/>
              </a:rPr>
              <a:t>Transition from hundreds of narrow, bespoke vision models to unified Vision-Language-Action foundation models fine-tuned per manufacturing facility.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F172A"/>
                </a:solidFill>
                <a:latin typeface="Calibri"/>
              </a:rPr>
              <a:t>Shift 2: Hardware-Centric -&gt; Software-Defined Robotics: </a:t>
            </a:r>
            <a:r>
              <a:rPr sz="900">
                <a:solidFill>
                  <a:srgbClr val="334155"/>
                </a:solidFill>
                <a:latin typeface="Calibri"/>
              </a:rPr>
              <a:t>Robot hardware frames commoditize; enterprise procurement decisions center entirely on simulation accuracy, safety software, and ease of PLC integration.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F172A"/>
                </a:solidFill>
                <a:latin typeface="Calibri"/>
              </a:rPr>
              <a:t>Shift 3: Greenfield Custom Cells -&gt; Brownfield Retrofit Kits: </a:t>
            </a:r>
            <a:r>
              <a:rPr sz="900">
                <a:solidFill>
                  <a:srgbClr val="334155"/>
                </a:solidFill>
                <a:latin typeface="Calibri"/>
              </a:rPr>
              <a:t>Enterprise CapEx pivots away from building expensive new factories toward deploying non-invasive vision-action retrofit kits onto existing legacy production lines.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F172A"/>
                </a:solidFill>
                <a:latin typeface="Calibri"/>
              </a:rPr>
              <a:t>Shift 4: CapEx Equipment -&gt; Performance-Based SLAs: </a:t>
            </a:r>
            <a:r>
              <a:rPr sz="900">
                <a:solidFill>
                  <a:srgbClr val="334155"/>
                </a:solidFill>
                <a:latin typeface="Calibri"/>
              </a:rPr>
              <a:t>Enterprise procurement transitions from $500k upfront robot purchases to outcome-based contracts ($/successful pick, $/inspected assembly) backed by uptime guarantees.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645920"/>
            <a:ext cx="5230368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27064" y="1645920"/>
            <a:ext cx="5230368" cy="2286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5664" y="1810512"/>
            <a:ext cx="4773168" cy="40599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C2410C"/>
                </a:solidFill>
                <a:latin typeface="Calibri"/>
              </a:rPr>
              <a:t>CRITICAL UNCERTAINTY WILDCARDS &amp; SENSITIVITIES
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F172A"/>
                </a:solidFill>
                <a:latin typeface="Calibri"/>
              </a:rPr>
              <a:t>Geopolitical Compute Controls: </a:t>
            </a:r>
            <a:r>
              <a:rPr sz="900">
                <a:solidFill>
                  <a:srgbClr val="334155"/>
                </a:solidFill>
                <a:latin typeface="Calibri"/>
              </a:rPr>
              <a:t>Export restrictions on high-end edge AI silicon (Jetson Thor) could fragment global deployments, forcing reliance on lower-power domestic edge chips and specialized quantization.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F172A"/>
                </a:solidFill>
                <a:latin typeface="Calibri"/>
              </a:rPr>
              <a:t>Statutory Liability Allocation: </a:t>
            </a:r>
            <a:r>
              <a:rPr sz="900">
                <a:solidFill>
                  <a:srgbClr val="334155"/>
                </a:solidFill>
                <a:latin typeface="Calibri"/>
              </a:rPr>
              <a:t>Emerging EU AI Act and OSHA frameworks clarifying whether model developers, robot OEMs, or engineering systems integrators bear strict liability for physical worker injuries.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F172A"/>
                </a:solidFill>
                <a:latin typeface="Calibri"/>
              </a:rPr>
              <a:t>Sim-to-Real Fidelity Ceilings: </a:t>
            </a:r>
            <a:r>
              <a:rPr sz="900">
                <a:solidFill>
                  <a:srgbClr val="334155"/>
                </a:solidFill>
                <a:latin typeface="Calibri"/>
              </a:rPr>
              <a:t>The risk that complex, non-rigid deformable physics (fabrics, rubber seals, wire harnesses) cannot be simulated accurately, capping synthetic data scaling benefits.</a:t>
            </a:r>
          </a:p>
          <a:p>
            <a:pPr>
              <a:spcBef>
                <a:spcPts val="600"/>
              </a:spcBef>
            </a:pPr>
            <a:r>
              <a:rPr sz="950" b="1">
                <a:solidFill>
                  <a:srgbClr val="0F172A"/>
                </a:solidFill>
                <a:latin typeface="Calibri"/>
              </a:rPr>
              <a:t>Foundation Model Open-Sourcing: </a:t>
            </a:r>
            <a:r>
              <a:rPr sz="900">
                <a:solidFill>
                  <a:srgbClr val="334155"/>
                </a:solidFill>
                <a:latin typeface="Calibri"/>
              </a:rPr>
              <a:t>Rapid open-weight releases (mirroring Llama 3 in language) commoditizing proprietary foundation models, driving all commercial value into systems integration and domain engineering.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309359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002B49"/>
                </a:solidFill>
                <a:latin typeface="Georgia"/>
              </a:rPr>
              <a:t>STRATEGIC TAKEAWAY  —  </a:t>
            </a:r>
            <a:r>
              <a:rPr sz="900">
                <a:solidFill>
                  <a:srgbClr val="334155"/>
                </a:solidFill>
                <a:latin typeface="Calibri"/>
              </a:rPr>
              <a:t>As foundation models commoditize, economic surplus shifts entirely to the integration layer that guarantees uptime and safety.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9184"/>
            <a:ext cx="9144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002B49"/>
                </a:solidFill>
                <a:latin typeface="Calibri"/>
              </a:rPr>
              <a:t>MODULE 8 · STRATEGIC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30352"/>
            <a:ext cx="10725912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Georgia"/>
              </a:rPr>
              <a:t>LTTS Strategic Priorities &amp; Phased Capital Allocation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59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Calibri"/>
              </a:rPr>
              <a:t>A focused four-priority investment program totaling $8.3M phased against validated enterprise milestones.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97280" cy="18288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2478024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2478024" cy="2286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783080"/>
            <a:ext cx="21854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>
                <a:solidFill>
                  <a:srgbClr val="047857"/>
                </a:solidFill>
                <a:latin typeface="Calibri"/>
              </a:rPr>
              <a:t>PRIORITY 1 · Q1 2027
</a:t>
            </a:r>
            <a:r>
              <a:rPr sz="1100" b="1">
                <a:solidFill>
                  <a:srgbClr val="0F172A"/>
                </a:solidFill>
                <a:latin typeface="Georgia"/>
              </a:rPr>
              <a:t>Physical AI V&amp;V Practice
</a:t>
            </a:r>
            <a:r>
              <a:rPr sz="950" b="1">
                <a:solidFill>
                  <a:srgbClr val="047857"/>
                </a:solidFill>
                <a:latin typeface="Calibri"/>
              </a:rPr>
              <a:t>Budget: $2.8M Phase 1
</a:t>
            </a:r>
          </a:p>
          <a:p>
            <a:pPr>
              <a:spcBef>
                <a:spcPts val="500"/>
              </a:spcBef>
            </a:pPr>
            <a:r>
              <a:rPr sz="850" b="1">
                <a:solidFill>
                  <a:srgbClr val="0F172A"/>
                </a:solidFill>
                <a:latin typeface="Calibri"/>
              </a:rPr>
              <a:t>Core Objective: </a:t>
            </a:r>
            <a:r>
              <a:rPr sz="850">
                <a:solidFill>
                  <a:srgbClr val="334155"/>
                </a:solidFill>
                <a:latin typeface="Calibri"/>
              </a:rPr>
              <a:t>Establish the premier third-party safety and reachability certification laboratory for industrial robotics.</a:t>
            </a:r>
          </a:p>
          <a:p>
            <a:pPr>
              <a:spcBef>
                <a:spcPts val="500"/>
              </a:spcBef>
            </a:pPr>
            <a:r>
              <a:rPr sz="850" b="1">
                <a:solidFill>
                  <a:srgbClr val="0F172A"/>
                </a:solidFill>
                <a:latin typeface="Calibri"/>
              </a:rPr>
              <a:t>Key Deliverable: </a:t>
            </a:r>
            <a:r>
              <a:rPr sz="850">
                <a:solidFill>
                  <a:srgbClr val="334155"/>
                </a:solidFill>
                <a:latin typeface="Calibri"/>
              </a:rPr>
              <a:t>Automated Safety Dossier Compiler; formal CBF reachability testing suite under ISO 13849 PL-e and IEC 61508.</a:t>
            </a:r>
          </a:p>
          <a:p>
            <a:pPr>
              <a:spcBef>
                <a:spcPts val="500"/>
              </a:spcBef>
            </a:pPr>
            <a:r>
              <a:rPr sz="850" b="1">
                <a:solidFill>
                  <a:srgbClr val="0F172A"/>
                </a:solidFill>
                <a:latin typeface="Calibri"/>
              </a:rPr>
              <a:t>Target Milestone: </a:t>
            </a:r>
            <a:r>
              <a:rPr sz="850">
                <a:solidFill>
                  <a:srgbClr val="334155"/>
                </a:solidFill>
                <a:latin typeface="Calibri"/>
              </a:rPr>
              <a:t>Complete 10 enterprise safety audits generating $3.5M in high-margin consulting revenue in year one.</a:t>
            </a:r>
          </a:p>
          <a:p>
            <a:pPr>
              <a:spcBef>
                <a:spcPts val="500"/>
              </a:spcBef>
            </a:pPr>
            <a:r>
              <a:rPr sz="850" b="1">
                <a:solidFill>
                  <a:srgbClr val="0F172A"/>
                </a:solidFill>
                <a:latin typeface="Calibri"/>
              </a:rPr>
              <a:t>Strategic Rationale: </a:t>
            </a:r>
            <a:r>
              <a:rPr sz="850">
                <a:solidFill>
                  <a:srgbClr val="334155"/>
                </a:solidFill>
                <a:latin typeface="Calibri"/>
              </a:rPr>
              <a:t>Unlocks client CapEx by providing mandatory safety certification dossiers for factory insurance underwriting.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83863" y="1645920"/>
            <a:ext cx="2478024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83863" y="1645920"/>
            <a:ext cx="2478024" cy="22860"/>
          </a:xfrm>
          <a:prstGeom prst="rect">
            <a:avLst/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783080"/>
            <a:ext cx="21854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>
                <a:solidFill>
                  <a:srgbClr val="0A58CA"/>
                </a:solidFill>
                <a:latin typeface="Calibri"/>
              </a:rPr>
              <a:t>PRIORITY 2 · Q2 2027
</a:t>
            </a:r>
            <a:r>
              <a:rPr sz="1100" b="1">
                <a:solidFill>
                  <a:srgbClr val="0F172A"/>
                </a:solidFill>
                <a:latin typeface="Georgia"/>
              </a:rPr>
              <a:t>Strategic PLC Alliances
</a:t>
            </a:r>
            <a:r>
              <a:rPr sz="950" b="1">
                <a:solidFill>
                  <a:srgbClr val="0A58CA"/>
                </a:solidFill>
                <a:latin typeface="Calibri"/>
              </a:rPr>
              <a:t>Budget: $1.3M Phase 2
</a:t>
            </a:r>
          </a:p>
          <a:p>
            <a:pPr>
              <a:spcBef>
                <a:spcPts val="500"/>
              </a:spcBef>
            </a:pPr>
            <a:r>
              <a:rPr sz="850" b="1">
                <a:solidFill>
                  <a:srgbClr val="0F172A"/>
                </a:solidFill>
                <a:latin typeface="Calibri"/>
              </a:rPr>
              <a:t>Core Objective: </a:t>
            </a:r>
            <a:r>
              <a:rPr sz="850">
                <a:solidFill>
                  <a:srgbClr val="334155"/>
                </a:solidFill>
                <a:latin typeface="Calibri"/>
              </a:rPr>
              <a:t>Formalize co-development partnerships with Siemens, Rockwell Automation, and Beckhoff.</a:t>
            </a:r>
          </a:p>
          <a:p>
            <a:pPr>
              <a:spcBef>
                <a:spcPts val="500"/>
              </a:spcBef>
            </a:pPr>
            <a:r>
              <a:rPr sz="850" b="1">
                <a:solidFill>
                  <a:srgbClr val="0F172A"/>
                </a:solidFill>
                <a:latin typeface="Calibri"/>
              </a:rPr>
              <a:t>Key Deliverable: </a:t>
            </a:r>
            <a:r>
              <a:rPr sz="850">
                <a:solidFill>
                  <a:srgbClr val="334155"/>
                </a:solidFill>
                <a:latin typeface="Calibri"/>
              </a:rPr>
              <a:t>Certified reference bridge middleware connecting neural policies to S7-1500 and ControlLogix backplanes.</a:t>
            </a:r>
          </a:p>
          <a:p>
            <a:pPr>
              <a:spcBef>
                <a:spcPts val="500"/>
              </a:spcBef>
            </a:pPr>
            <a:r>
              <a:rPr sz="850" b="1">
                <a:solidFill>
                  <a:srgbClr val="0F172A"/>
                </a:solidFill>
                <a:latin typeface="Calibri"/>
              </a:rPr>
              <a:t>Target Milestone: </a:t>
            </a:r>
            <a:r>
              <a:rPr sz="850">
                <a:solidFill>
                  <a:srgbClr val="334155"/>
                </a:solidFill>
                <a:latin typeface="Calibri"/>
              </a:rPr>
              <a:t>Secure preferred integration partner status across 5 Tier-1 automotive and aerospace joint customer bids.</a:t>
            </a:r>
          </a:p>
          <a:p>
            <a:pPr>
              <a:spcBef>
                <a:spcPts val="500"/>
              </a:spcBef>
            </a:pPr>
            <a:r>
              <a:rPr sz="850" b="1">
                <a:solidFill>
                  <a:srgbClr val="0F172A"/>
                </a:solidFill>
                <a:latin typeface="Calibri"/>
              </a:rPr>
              <a:t>Strategic Rationale: </a:t>
            </a:r>
            <a:r>
              <a:rPr sz="850">
                <a:solidFill>
                  <a:srgbClr val="334155"/>
                </a:solidFill>
                <a:latin typeface="Calibri"/>
              </a:rPr>
              <a:t>Leverages incumbent sales channels to access established global enterprise customer bases.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7" y="1645920"/>
            <a:ext cx="2478024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6207" y="1645920"/>
            <a:ext cx="2478024" cy="228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783080"/>
            <a:ext cx="21854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>
                <a:solidFill>
                  <a:srgbClr val="6D28D9"/>
                </a:solidFill>
                <a:latin typeface="Calibri"/>
              </a:rPr>
              <a:t>PRIORITY 3 · Q3 2027
</a:t>
            </a:r>
            <a:r>
              <a:rPr sz="1100" b="1">
                <a:solidFill>
                  <a:srgbClr val="0F172A"/>
                </a:solidFill>
                <a:latin typeface="Georgia"/>
              </a:rPr>
              <a:t>Synthetic Data Factory
</a:t>
            </a:r>
            <a:r>
              <a:rPr sz="950" b="1">
                <a:solidFill>
                  <a:srgbClr val="6D28D9"/>
                </a:solidFill>
                <a:latin typeface="Calibri"/>
              </a:rPr>
              <a:t>Budget: $4.2M Phase 3
</a:t>
            </a:r>
          </a:p>
          <a:p>
            <a:pPr>
              <a:spcBef>
                <a:spcPts val="500"/>
              </a:spcBef>
            </a:pPr>
            <a:r>
              <a:rPr sz="850" b="1">
                <a:solidFill>
                  <a:srgbClr val="0F172A"/>
                </a:solidFill>
                <a:latin typeface="Calibri"/>
              </a:rPr>
              <a:t>Core Objective: </a:t>
            </a:r>
            <a:r>
              <a:rPr sz="850">
                <a:solidFill>
                  <a:srgbClr val="334155"/>
                </a:solidFill>
                <a:latin typeface="Calibri"/>
              </a:rPr>
              <a:t>Establish dedicated GPU simulation cluster monetizing enterprise CAD/PLM assemblies (SD-FaaS).</a:t>
            </a:r>
          </a:p>
          <a:p>
            <a:pPr>
              <a:spcBef>
                <a:spcPts val="500"/>
              </a:spcBef>
            </a:pPr>
            <a:r>
              <a:rPr sz="850" b="1">
                <a:solidFill>
                  <a:srgbClr val="0F172A"/>
                </a:solidFill>
                <a:latin typeface="Calibri"/>
              </a:rPr>
              <a:t>Key Deliverable: </a:t>
            </a:r>
            <a:r>
              <a:rPr sz="850">
                <a:solidFill>
                  <a:srgbClr val="334155"/>
                </a:solidFill>
                <a:latin typeface="Calibri"/>
              </a:rPr>
              <a:t>64-GPU NVIDIA Omniverse cluster generating contact-calibrated simulation policies for client plants.</a:t>
            </a:r>
          </a:p>
          <a:p>
            <a:pPr>
              <a:spcBef>
                <a:spcPts val="500"/>
              </a:spcBef>
            </a:pPr>
            <a:r>
              <a:rPr sz="850" b="1">
                <a:solidFill>
                  <a:srgbClr val="0F172A"/>
                </a:solidFill>
                <a:latin typeface="Calibri"/>
              </a:rPr>
              <a:t>Target Milestone: </a:t>
            </a:r>
            <a:r>
              <a:rPr sz="850">
                <a:solidFill>
                  <a:srgbClr val="334155"/>
                </a:solidFill>
                <a:latin typeface="Calibri"/>
              </a:rPr>
              <a:t>Secure 4 enterprise SD-FaaS contracts yielding $8.0M+ in recurring simulation and deployment revenue.</a:t>
            </a:r>
          </a:p>
          <a:p>
            <a:pPr>
              <a:spcBef>
                <a:spcPts val="500"/>
              </a:spcBef>
            </a:pPr>
            <a:r>
              <a:rPr sz="850" b="1">
                <a:solidFill>
                  <a:srgbClr val="0F172A"/>
                </a:solidFill>
                <a:latin typeface="Calibri"/>
              </a:rPr>
              <a:t>Strategic Rationale: </a:t>
            </a:r>
            <a:r>
              <a:rPr sz="850">
                <a:solidFill>
                  <a:srgbClr val="334155"/>
                </a:solidFill>
                <a:latin typeface="Calibri"/>
              </a:rPr>
              <a:t>Transforms one-off integration projects into high-retention annual software recurring revenue.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88552" y="1645920"/>
            <a:ext cx="2478024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88552" y="1645920"/>
            <a:ext cx="2478024" cy="228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34856" y="1783080"/>
            <a:ext cx="21854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>
                <a:solidFill>
                  <a:srgbClr val="002B49"/>
                </a:solidFill>
                <a:latin typeface="Calibri"/>
              </a:rPr>
              <a:t>PRIORITY 4 · ONGOING
</a:t>
            </a:r>
            <a:r>
              <a:rPr sz="1100" b="1">
                <a:solidFill>
                  <a:srgbClr val="0F172A"/>
                </a:solidFill>
                <a:latin typeface="Georgia"/>
              </a:rPr>
              <a:t>Hybrid Talent Center of Excellence
</a:t>
            </a:r>
            <a:r>
              <a:rPr sz="950" b="1">
                <a:solidFill>
                  <a:srgbClr val="002B49"/>
                </a:solidFill>
                <a:latin typeface="Calibri"/>
              </a:rPr>
              <a:t>Budget: $2.5M/yr Baseline
</a:t>
            </a:r>
          </a:p>
          <a:p>
            <a:pPr>
              <a:spcBef>
                <a:spcPts val="500"/>
              </a:spcBef>
            </a:pPr>
            <a:r>
              <a:rPr sz="850" b="1">
                <a:solidFill>
                  <a:srgbClr val="0F172A"/>
                </a:solidFill>
                <a:latin typeface="Calibri"/>
              </a:rPr>
              <a:t>Core Objective: </a:t>
            </a:r>
            <a:r>
              <a:rPr sz="850">
                <a:solidFill>
                  <a:srgbClr val="334155"/>
                </a:solidFill>
                <a:latin typeface="Calibri"/>
              </a:rPr>
              <a:t>Build the world's leading hybrid robotics workforce combining controls engineering with deep learning.</a:t>
            </a:r>
          </a:p>
          <a:p>
            <a:pPr>
              <a:spcBef>
                <a:spcPts val="500"/>
              </a:spcBef>
            </a:pPr>
            <a:r>
              <a:rPr sz="850" b="1">
                <a:solidFill>
                  <a:srgbClr val="0F172A"/>
                </a:solidFill>
                <a:latin typeface="Calibri"/>
              </a:rPr>
              <a:t>Key Deliverable: </a:t>
            </a:r>
            <a:r>
              <a:rPr sz="850">
                <a:solidFill>
                  <a:srgbClr val="334155"/>
                </a:solidFill>
                <a:latin typeface="Calibri"/>
              </a:rPr>
              <a:t>Cross-train 250 existing mechatronics engineers in robotics AI; recruit 5 lead Ph.D. research scientists.</a:t>
            </a:r>
          </a:p>
          <a:p>
            <a:pPr>
              <a:spcBef>
                <a:spcPts val="500"/>
              </a:spcBef>
            </a:pPr>
            <a:r>
              <a:rPr sz="850" b="1">
                <a:solidFill>
                  <a:srgbClr val="0F172A"/>
                </a:solidFill>
                <a:latin typeface="Calibri"/>
              </a:rPr>
              <a:t>Target Milestone: </a:t>
            </a:r>
            <a:r>
              <a:rPr sz="850">
                <a:solidFill>
                  <a:srgbClr val="334155"/>
                </a:solidFill>
                <a:latin typeface="Calibri"/>
              </a:rPr>
              <a:t>Deploy 250 billable hybrid engineers globally at premium enterprise billing rates ($180-$250/hr).</a:t>
            </a:r>
          </a:p>
          <a:p>
            <a:pPr>
              <a:spcBef>
                <a:spcPts val="500"/>
              </a:spcBef>
            </a:pPr>
            <a:r>
              <a:rPr sz="850" b="1">
                <a:solidFill>
                  <a:srgbClr val="0F172A"/>
                </a:solidFill>
                <a:latin typeface="Calibri"/>
              </a:rPr>
              <a:t>Strategic Rationale: </a:t>
            </a:r>
            <a:r>
              <a:rPr sz="850">
                <a:solidFill>
                  <a:srgbClr val="334155"/>
                </a:solidFill>
                <a:latin typeface="Calibri"/>
              </a:rPr>
              <a:t>Overcomes the single largest bottleneck in physical AI: the acute shortage of hybrid systems engineers.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6309359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002B49"/>
                </a:solidFill>
                <a:latin typeface="Georgia"/>
              </a:rPr>
              <a:t>STRATEGIC TAKEAWAY  —  </a:t>
            </a:r>
            <a:r>
              <a:rPr sz="900">
                <a:solidFill>
                  <a:srgbClr val="334155"/>
                </a:solidFill>
                <a:latin typeface="Calibri"/>
              </a:rPr>
              <a:t>Total program investment of $8.3M is phased against customer revenue milestones, targeting full break-even within 18 months.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9184"/>
            <a:ext cx="9144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002B49"/>
                </a:solidFill>
                <a:latin typeface="Calibri"/>
              </a:rPr>
              <a:t>MODULE 8 · STRATEGIC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30352"/>
            <a:ext cx="10725912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Georgia"/>
              </a:rPr>
              <a:t>Integrated Strategic Roadmap &amp; Phased Budget Allocation (Table 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59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Calibri"/>
              </a:rPr>
              <a:t>Comprehensive execution timeline, strategic capabilities, target deliverables, and capital deployment.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97280" cy="18288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10725912" cy="3657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00784"/>
            <a:ext cx="2066543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Calibri"/>
              </a:rPr>
              <a:t>STRATEGIC INITIATIVE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27248" y="1700784"/>
            <a:ext cx="96926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TIMELINE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5968" y="1700784"/>
            <a:ext cx="2798063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Calibri"/>
              </a:rPr>
              <a:t>STRATEGIC FOCUS &amp; CAPABILITY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3488" y="1700784"/>
            <a:ext cx="270662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Calibri"/>
              </a:rPr>
              <a:t>TARGET DELIVERABLE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59567" y="1700784"/>
            <a:ext cx="108813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Calibri"/>
              </a:rPr>
              <a:t>PHASED BUDGET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011680"/>
            <a:ext cx="10725912" cy="8046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121408"/>
            <a:ext cx="201168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0F172A"/>
                </a:solidFill>
                <a:latin typeface="Calibri"/>
              </a:rPr>
              <a:t>Priority 1: V&amp;V Practice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79" y="2121408"/>
            <a:ext cx="91440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047857"/>
                </a:solidFill>
                <a:latin typeface="Calibri"/>
              </a:rPr>
              <a:t>Q1 2027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121408"/>
            <a:ext cx="274320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>
                <a:solidFill>
                  <a:srgbClr val="1E293B"/>
                </a:solidFill>
                <a:latin typeface="Calibri"/>
              </a:rPr>
              <a:t>Functional safety auditing, CBF evaluation &amp;
interval bound reachability certification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19" y="2121408"/>
            <a:ext cx="265176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>
                <a:solidFill>
                  <a:srgbClr val="1E293B"/>
                </a:solidFill>
                <a:latin typeface="Calibri"/>
              </a:rPr>
              <a:t>Automated Safety Dossier Compiler &amp;
certified lab testing under ISO 13849 / IEC 61508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2121408"/>
            <a:ext cx="1033271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0F172A"/>
                </a:solidFill>
                <a:latin typeface="Calibri"/>
              </a:rPr>
              <a:t>$2.8M Phase 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816352"/>
            <a:ext cx="10725912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2926080"/>
            <a:ext cx="201168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0F172A"/>
                </a:solidFill>
                <a:latin typeface="Calibri"/>
              </a:rPr>
              <a:t>Priority 2: PLC Alliances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79" y="2926080"/>
            <a:ext cx="91440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0A58CA"/>
                </a:solidFill>
                <a:latin typeface="Calibri"/>
              </a:rPr>
              <a:t>Q2 2027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2926080"/>
            <a:ext cx="274320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>
                <a:solidFill>
                  <a:srgbClr val="1E293B"/>
                </a:solidFill>
                <a:latin typeface="Calibri"/>
              </a:rPr>
              <a:t>Joint integration testbeds with Siemens S7-1500 &amp;
Rockwell ControlLogix architectures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19" y="2926080"/>
            <a:ext cx="265176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>
                <a:solidFill>
                  <a:srgbClr val="1E293B"/>
                </a:solidFill>
                <a:latin typeface="Calibri"/>
              </a:rPr>
              <a:t>Certified bridge middleware connecting
neural policies to industrial fieldbuses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87000" y="2926080"/>
            <a:ext cx="1033271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0F172A"/>
                </a:solidFill>
                <a:latin typeface="Calibri"/>
              </a:rPr>
              <a:t>$1.3M Phase 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621024"/>
            <a:ext cx="10725912" cy="8046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730752"/>
            <a:ext cx="201168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0F172A"/>
                </a:solidFill>
                <a:latin typeface="Calibri"/>
              </a:rPr>
              <a:t>Priority 3: Synthetic Data Factory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54679" y="3730752"/>
            <a:ext cx="91440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002B49"/>
                </a:solidFill>
                <a:latin typeface="Calibri"/>
              </a:rPr>
              <a:t>Q3 2027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3730752"/>
            <a:ext cx="274320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>
                <a:solidFill>
                  <a:srgbClr val="1E293B"/>
                </a:solidFill>
                <a:latin typeface="Calibri"/>
              </a:rPr>
              <a:t>Digital twin simulation (SD-FaaS) monetizing
enterprise CAD/PLM engineering assemblies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19" y="3730752"/>
            <a:ext cx="265176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>
                <a:solidFill>
                  <a:srgbClr val="1E293B"/>
                </a:solidFill>
                <a:latin typeface="Calibri"/>
              </a:rPr>
              <a:t>Dedicated 64-GPU Omniverse cluster generating
contact-calibrated simulation policies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87000" y="3730752"/>
            <a:ext cx="1033271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0F172A"/>
                </a:solidFill>
                <a:latin typeface="Calibri"/>
              </a:rPr>
              <a:t>$4.2M Phase 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425696"/>
            <a:ext cx="10725912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535424"/>
            <a:ext cx="201168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0F172A"/>
                </a:solidFill>
                <a:latin typeface="Calibri"/>
              </a:rPr>
              <a:t>Priority 4: Hybrid Talent CoE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54679" y="4535424"/>
            <a:ext cx="91440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6D28D9"/>
                </a:solidFill>
                <a:latin typeface="Calibri"/>
              </a:rPr>
              <a:t>Ongoing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4535424"/>
            <a:ext cx="274320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>
                <a:solidFill>
                  <a:srgbClr val="1E293B"/>
                </a:solidFill>
                <a:latin typeface="Calibri"/>
              </a:rPr>
              <a:t>Cross-training mechatronics bench into robotics AI;
recruiting 5 lateral Ph.D. specialists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0919" y="4535424"/>
            <a:ext cx="265176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>
                <a:solidFill>
                  <a:srgbClr val="1E293B"/>
                </a:solidFill>
                <a:latin typeface="Calibri"/>
              </a:rPr>
              <a:t>250-engineer hybrid workforce bridging
controls engineering with deep learning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87000" y="4535424"/>
            <a:ext cx="1033271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>
                <a:solidFill>
                  <a:srgbClr val="0F172A"/>
                </a:solidFill>
                <a:latin typeface="Calibri"/>
              </a:rPr>
              <a:t>$2.5M/yr Annual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5367528"/>
            <a:ext cx="10725912" cy="594360"/>
          </a:xfrm>
          <a:prstGeom prst="rect">
            <a:avLst/>
          </a:prstGeom>
          <a:solidFill>
            <a:srgbClr val="F0F7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477256"/>
            <a:ext cx="10360152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002B49"/>
                </a:solidFill>
                <a:latin typeface="Calibri"/>
              </a:rPr>
              <a:t>TOTAL 2027 PROGRAM INVESTMENT: </a:t>
            </a:r>
            <a:r>
              <a:rPr sz="900">
                <a:solidFill>
                  <a:srgbClr val="334155"/>
                </a:solidFill>
                <a:latin typeface="Calibri"/>
              </a:rPr>
              <a:t>$8.3M Phased Capex ($2.8M V&amp;V + $1.3M Alliances + $4.2M Data Factory) + $2.5M/yr Ongoing CoE Baseline. Every dollar is directly anchored in customer revenue expansion.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6309359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002B49"/>
                </a:solidFill>
                <a:latin typeface="Georgia"/>
              </a:rPr>
              <a:t>STRATEGIC TAKEAWAY  —  </a:t>
            </a:r>
            <a:r>
              <a:rPr sz="900">
                <a:solidFill>
                  <a:srgbClr val="334155"/>
                </a:solidFill>
                <a:latin typeface="Calibri"/>
              </a:rPr>
              <a:t>Execution sequencing guarantees each phase self-funds subsequent expansion through customer-contracted milestone revenues.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0725912" cy="13716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3022092" cy="2011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002B49"/>
                </a:solidFill>
                <a:latin typeface="Calibri"/>
              </a:rPr>
              <a:t>STRATEGIC CONCLUSION · BOARDROOM ACTION MANDATE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5912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Georgia"/>
              </a:rPr>
              <a:t>The future of industrial automation is Physical Artificial Intelligence.
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334155"/>
                </a:solidFill>
                <a:latin typeface="Calibri"/>
              </a:rPr>
              <a:t>The strategic opportunity for L&amp;T Technology Services is not to manufacture commoditizing robot hardware, nor to compete in multi-billion-dollar foundational model training.
</a:t>
            </a:r>
            <a:r>
              <a:rPr sz="1150" b="1">
                <a:solidFill>
                  <a:srgbClr val="0A58CA"/>
                </a:solidFill>
                <a:latin typeface="Calibri"/>
              </a:rPr>
              <a:t>The definitive opportunity for LTTS is to become the indispensable, trusted engineering bridge that verifies, integrates, and deploys Physical AI safely at scale.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971800"/>
            <a:ext cx="2478024" cy="3063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971800"/>
            <a:ext cx="2478024" cy="2286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3136392"/>
            <a:ext cx="2185416" cy="2734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047857"/>
                </a:solidFill>
                <a:latin typeface="Calibri"/>
              </a:rPr>
              <a:t>1. VERIFY (Q1 2027)
</a:t>
            </a:r>
            <a:r>
              <a:rPr sz="1100" b="1">
                <a:solidFill>
                  <a:srgbClr val="0F172A"/>
                </a:solidFill>
                <a:latin typeface="Georgia"/>
              </a:rPr>
              <a:t>Functional Safety Leadership
</a:t>
            </a:r>
          </a:p>
          <a:p>
            <a:r>
              <a:rPr sz="850">
                <a:solidFill>
                  <a:srgbClr val="334155"/>
                </a:solidFill>
                <a:latin typeface="Calibri"/>
              </a:rPr>
              <a:t>Build the gold-standard Physical AI V&amp;V practice with formal safety dossiers and CBF reachability testing under ISO 13849 / IEC 61508.
</a:t>
            </a:r>
            <a:r>
              <a:rPr sz="850" b="1">
                <a:solidFill>
                  <a:srgbClr val="0F172A"/>
                </a:solidFill>
                <a:latin typeface="Calibri"/>
              </a:rPr>
              <a:t>Impact: Unlocks corporate insurance and regulatory sign-off for enterprise robot deployments.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483863" y="2971800"/>
            <a:ext cx="2478024" cy="3063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83863" y="2971800"/>
            <a:ext cx="2478024" cy="22860"/>
          </a:xfrm>
          <a:prstGeom prst="rect">
            <a:avLst/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3136392"/>
            <a:ext cx="2185416" cy="2734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0A58CA"/>
                </a:solidFill>
                <a:latin typeface="Calibri"/>
              </a:rPr>
              <a:t>2. INTEGRATE (Q2 2027)
</a:t>
            </a:r>
            <a:r>
              <a:rPr sz="1100" b="1">
                <a:solidFill>
                  <a:srgbClr val="0F172A"/>
                </a:solidFill>
                <a:latin typeface="Georgia"/>
              </a:rPr>
              <a:t>PLC Bridge Middleware
</a:t>
            </a:r>
          </a:p>
          <a:p>
            <a:r>
              <a:rPr sz="850">
                <a:solidFill>
                  <a:srgbClr val="334155"/>
                </a:solidFill>
                <a:latin typeface="Calibri"/>
              </a:rPr>
              <a:t>Deploy certified PLC bridge middleware connecting frontier neural policies to Siemens S7-1500 and Rockwell ControlLogix architectures.
</a:t>
            </a:r>
            <a:r>
              <a:rPr sz="850" b="1">
                <a:solidFill>
                  <a:srgbClr val="0F172A"/>
                </a:solidFill>
                <a:latin typeface="Calibri"/>
              </a:rPr>
              <a:t>Impact: Guarantees deterministic safety interlocks on live plant machinery.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7" y="2971800"/>
            <a:ext cx="2478024" cy="3063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6207" y="2971800"/>
            <a:ext cx="2478024" cy="228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3136392"/>
            <a:ext cx="2185416" cy="2734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6D28D9"/>
                </a:solidFill>
                <a:latin typeface="Calibri"/>
              </a:rPr>
              <a:t>3. SCALE (Q3 2027)
</a:t>
            </a:r>
            <a:r>
              <a:rPr sz="1100" b="1">
                <a:solidFill>
                  <a:srgbClr val="0F172A"/>
                </a:solidFill>
                <a:latin typeface="Georgia"/>
              </a:rPr>
              <a:t>Synthetic Data Factory
</a:t>
            </a:r>
          </a:p>
          <a:p>
            <a:r>
              <a:rPr sz="850">
                <a:solidFill>
                  <a:srgbClr val="334155"/>
                </a:solidFill>
                <a:latin typeface="Calibri"/>
              </a:rPr>
              <a:t>Launch the enterprise Synthetic Data Factory (SD-FaaS), monetizing proprietary customer CAD/PLM assets into continuous digital twins.
</a:t>
            </a:r>
            <a:r>
              <a:rPr sz="850" b="1">
                <a:solidFill>
                  <a:srgbClr val="0F172A"/>
                </a:solidFill>
                <a:latin typeface="Calibri"/>
              </a:rPr>
              <a:t>Impact: Converts one-time integration projects into recurring software revenue.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88552" y="2971800"/>
            <a:ext cx="2478024" cy="3063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88552" y="2971800"/>
            <a:ext cx="2478024" cy="228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34856" y="3136392"/>
            <a:ext cx="2185416" cy="2734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002B49"/>
                </a:solidFill>
                <a:latin typeface="Calibri"/>
              </a:rPr>
              <a:t>4. EMPOWER (Ongoing)
</a:t>
            </a:r>
            <a:r>
              <a:rPr sz="1100" b="1">
                <a:solidFill>
                  <a:srgbClr val="0F172A"/>
                </a:solidFill>
                <a:latin typeface="Georgia"/>
              </a:rPr>
              <a:t>Hybrid Engineering Bench
</a:t>
            </a:r>
          </a:p>
          <a:p>
            <a:r>
              <a:rPr sz="850">
                <a:solidFill>
                  <a:srgbClr val="334155"/>
                </a:solidFill>
                <a:latin typeface="Calibri"/>
              </a:rPr>
              <a:t>Cross-train 250 mechatronics engineers into hybrid Physical AI practitioners, securing global engineering services dominance.
</a:t>
            </a:r>
            <a:r>
              <a:rPr sz="850" b="1">
                <a:solidFill>
                  <a:srgbClr val="0F172A"/>
                </a:solidFill>
                <a:latin typeface="Calibri"/>
              </a:rPr>
              <a:t>Impact: Supplies the world's most capable industrial AI engineering bench.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309359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002B49"/>
                </a:solidFill>
                <a:latin typeface="Georgia"/>
              </a:rPr>
              <a:t>STRATEGIC TAKEAWAY  —  </a:t>
            </a:r>
            <a:r>
              <a:rPr sz="900">
                <a:solidFill>
                  <a:srgbClr val="334155"/>
                </a:solidFill>
                <a:latin typeface="Calibri"/>
              </a:rPr>
              <a:t>LTTS is uniquely positioned to bridge frontier AI models with real-world plant machinery. The window to establish global leadership is now.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9184"/>
            <a:ext cx="9144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002B49"/>
                </a:solidFill>
                <a:latin typeface="Calibri"/>
              </a:rPr>
              <a:t>APPENDIX A · CITATIONS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30352"/>
            <a:ext cx="10725912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Georgia"/>
              </a:rPr>
              <a:t>Comprehensive Sources Index: Commercial &amp; Research Literature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59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Calibri"/>
              </a:rPr>
              <a:t>Audited corporate disclosures, regulatory filings, peer-reviewed preprints, and official OEM pilot announcements.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97280" cy="18288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230368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5230368" cy="2286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10512"/>
            <a:ext cx="4773168" cy="40599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047857"/>
                </a:solidFill>
                <a:latin typeface="Calibri"/>
              </a:rPr>
              <a:t>COMMERCIAL &amp; CAPITAL DISCLOSURES
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0F172A"/>
                </a:solidFill>
                <a:latin typeface="Calibri"/>
              </a:rPr>
              <a:t>Wayve ($1.05B Series C): </a:t>
            </a:r>
            <a:r>
              <a:rPr sz="850">
                <a:solidFill>
                  <a:srgbClr val="334155"/>
                </a:solidFill>
                <a:latin typeface="Calibri"/>
              </a:rPr>
              <a:t>Corporate Announcement (May 7, 2024). SoftBank, NVIDIA, Microsoft.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0F172A"/>
                </a:solidFill>
                <a:latin typeface="Calibri"/>
              </a:rPr>
              <a:t>Figure AI ($675M Series B): </a:t>
            </a:r>
            <a:r>
              <a:rPr sz="850">
                <a:solidFill>
                  <a:srgbClr val="334155"/>
                </a:solidFill>
                <a:latin typeface="Calibri"/>
              </a:rPr>
              <a:t>Press Release (Feb 29, 2024). Microsoft, OpenAI, NVIDIA, Bezos ($2.6B val).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0F172A"/>
                </a:solidFill>
                <a:latin typeface="Calibri"/>
              </a:rPr>
              <a:t>Physical Intelligence ($400M Series A): </a:t>
            </a:r>
            <a:r>
              <a:rPr sz="850">
                <a:solidFill>
                  <a:srgbClr val="334155"/>
                </a:solidFill>
                <a:latin typeface="Calibri"/>
              </a:rPr>
              <a:t>Company Disclosure (Nov 4, 2024). Bezos, Thrive, Lux ($2.4B val).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0F172A"/>
                </a:solidFill>
                <a:latin typeface="Calibri"/>
              </a:rPr>
              <a:t>Skild AI ($300M Series A): </a:t>
            </a:r>
            <a:r>
              <a:rPr sz="850">
                <a:solidFill>
                  <a:srgbClr val="334155"/>
                </a:solidFill>
                <a:latin typeface="Calibri"/>
              </a:rPr>
              <a:t>Press Release (Jul 9, 2024). Lightspeed, Coatue, SoftBank ($1.5B val).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0F172A"/>
                </a:solidFill>
                <a:latin typeface="Calibri"/>
              </a:rPr>
              <a:t>Applied Intuition ($250M Series E): </a:t>
            </a:r>
            <a:r>
              <a:rPr sz="850">
                <a:solidFill>
                  <a:srgbClr val="334155"/>
                </a:solidFill>
                <a:latin typeface="Calibri"/>
              </a:rPr>
              <a:t>Press Release (Mar 12, 2024). Lux Capital, Elad Gil, Porsche ($6.0B val).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0F172A"/>
                </a:solidFill>
                <a:latin typeface="Calibri"/>
              </a:rPr>
              <a:t>Scale AI ($1.0B Series F): </a:t>
            </a:r>
            <a:r>
              <a:rPr sz="850">
                <a:solidFill>
                  <a:srgbClr val="334155"/>
                </a:solidFill>
                <a:latin typeface="Calibri"/>
              </a:rPr>
              <a:t>Company Disclosure (May 21, 2024). Accel and strategic partners ($13.8B val).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0F172A"/>
                </a:solidFill>
                <a:latin typeface="Calibri"/>
              </a:rPr>
              <a:t>Waymo Commercial Mileage: </a:t>
            </a:r>
            <a:r>
              <a:rPr sz="850">
                <a:solidFill>
                  <a:srgbClr val="334155"/>
                </a:solidFill>
                <a:latin typeface="Calibri"/>
              </a:rPr>
              <a:t>Alphabet Q3 2024 Earnings Call (Oct 29, 2024). &gt;150k trips/wk, &gt;1M miles/wk.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0F172A"/>
                </a:solidFill>
                <a:latin typeface="Calibri"/>
              </a:rPr>
              <a:t>Amazon / Covariant License: </a:t>
            </a:r>
            <a:r>
              <a:rPr sz="850">
                <a:solidFill>
                  <a:srgbClr val="334155"/>
                </a:solidFill>
                <a:latin typeface="Calibri"/>
              </a:rPr>
              <a:t>Corporate Announcement (Aug 30, 2024). Founder hiring &amp; non-exclusive license.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645920"/>
            <a:ext cx="5230368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27064" y="1645920"/>
            <a:ext cx="5230368" cy="22860"/>
          </a:xfrm>
          <a:prstGeom prst="rect">
            <a:avLst/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5664" y="1810512"/>
            <a:ext cx="4773168" cy="40599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0A58CA"/>
                </a:solidFill>
                <a:latin typeface="Calibri"/>
              </a:rPr>
              <a:t>RESEARCH LITERATURE &amp; FIELD TRIAL ANNOUNCEMENTS
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0F172A"/>
                </a:solidFill>
                <a:latin typeface="Calibri"/>
              </a:rPr>
              <a:t>Continuous Action Flow Matching: </a:t>
            </a:r>
            <a:r>
              <a:rPr sz="850">
                <a:solidFill>
                  <a:srgbClr val="334155"/>
                </a:solidFill>
                <a:latin typeface="Calibri"/>
              </a:rPr>
              <a:t>Physical Intelligence Technical Report on π0 (Oct 2024, arXiv:2410.24164).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0F172A"/>
                </a:solidFill>
                <a:latin typeface="Calibri"/>
              </a:rPr>
              <a:t>Egocentric Scaling Laws: </a:t>
            </a:r>
            <a:r>
              <a:rPr sz="850">
                <a:solidFill>
                  <a:srgbClr val="334155"/>
                </a:solidFill>
                <a:latin typeface="Calibri"/>
              </a:rPr>
              <a:t>NVIDIA GEAR Research Report on EgoScale (Feb 2026, arXiv:2602.16710).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0F172A"/>
                </a:solidFill>
                <a:latin typeface="Calibri"/>
              </a:rPr>
              <a:t>Pearl's Causal Hierarchy: </a:t>
            </a:r>
            <a:r>
              <a:rPr sz="850">
                <a:solidFill>
                  <a:srgbClr val="334155"/>
                </a:solidFill>
                <a:latin typeface="Calibri"/>
              </a:rPr>
              <a:t>Judea Pearl, Causality: Models, Reasoning, and Inference, Cambridge Univ Press.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0F172A"/>
                </a:solidFill>
                <a:latin typeface="Calibri"/>
              </a:rPr>
              <a:t>BMW Spartanburg Plant Trial: </a:t>
            </a:r>
            <a:r>
              <a:rPr sz="850">
                <a:solidFill>
                  <a:srgbClr val="334155"/>
                </a:solidFill>
                <a:latin typeface="Calibri"/>
              </a:rPr>
              <a:t>BMW Group Press Release (Aug 2024). Figure 02 humanoid in sheet metal assembly.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0F172A"/>
                </a:solidFill>
                <a:latin typeface="Calibri"/>
              </a:rPr>
              <a:t>Mercedes-Benz Apollo Pilot: </a:t>
            </a:r>
            <a:r>
              <a:rPr sz="850">
                <a:solidFill>
                  <a:srgbClr val="334155"/>
                </a:solidFill>
                <a:latin typeface="Calibri"/>
              </a:rPr>
              <a:t>Mercedes-Benz &amp; Apptronik Agreement Announcement (Mar 15, 2024). Parts delivery.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0F172A"/>
                </a:solidFill>
                <a:latin typeface="Calibri"/>
              </a:rPr>
              <a:t>DHL Boston Dynamics Deployment: </a:t>
            </a:r>
            <a:r>
              <a:rPr sz="850">
                <a:solidFill>
                  <a:srgbClr val="334155"/>
                </a:solidFill>
                <a:latin typeface="Calibri"/>
              </a:rPr>
              <a:t>DHL Supply Chain Announcement (2024). Stretch mobile manipulators for containers.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0F172A"/>
                </a:solidFill>
                <a:latin typeface="Calibri"/>
              </a:rPr>
              <a:t>Siemens &amp; Microsoft Copilot: </a:t>
            </a:r>
            <a:r>
              <a:rPr sz="850">
                <a:solidFill>
                  <a:srgbClr val="334155"/>
                </a:solidFill>
                <a:latin typeface="Calibri"/>
              </a:rPr>
              <a:t>Siemens AG Press Release (2024). Industrial AI copilot inside Siemens TIA Portal.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0F172A"/>
                </a:solidFill>
                <a:latin typeface="Calibri"/>
              </a:rPr>
              <a:t>Siemens &amp; Intrinsic Strategic Alliance: </a:t>
            </a:r>
            <a:r>
              <a:rPr sz="850">
                <a:solidFill>
                  <a:srgbClr val="334155"/>
                </a:solidFill>
                <a:latin typeface="Calibri"/>
              </a:rPr>
              <a:t>Siemens &amp; Alphabet Intrinsic Announcement (2024). Robotics AI automation.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309359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002B49"/>
                </a:solidFill>
                <a:latin typeface="Georgia"/>
              </a:rPr>
              <a:t>STRATEGIC TAKEAWAY  —  </a:t>
            </a:r>
            <a:r>
              <a:rPr sz="900">
                <a:solidFill>
                  <a:srgbClr val="334155"/>
                </a:solidFill>
                <a:latin typeface="Calibri"/>
              </a:rPr>
              <a:t>All technical claims, mathematical formalisms, and OEM deployment partnerships are cross-verified against primary literature.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9184"/>
            <a:ext cx="9144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002B49"/>
                </a:solidFill>
                <a:latin typeface="Calibri"/>
              </a:rPr>
              <a:t>APPENDIX B ·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30352"/>
            <a:ext cx="10725912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Georgia"/>
              </a:rPr>
              <a:t>Adversarial Self-Critique Log &amp; Official Document Sign-Off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59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Calibri"/>
              </a:rPr>
              <a:t>Complete audit record of 11 downgraded claims and formal executive sign-off for LTTS leadership.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97280" cy="18288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6583680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6583680" cy="2286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83080"/>
            <a:ext cx="61722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B91C1C"/>
                </a:solidFill>
                <a:latin typeface="Calibri"/>
              </a:rPr>
              <a:t>ADVERSARIAL SELF-CRITIQUE: 11 CLAIMS DOWNGRADED / REMOVED
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0F172A"/>
                </a:solidFill>
                <a:latin typeface="Calibri"/>
              </a:rPr>
              <a:t>1. Ford Battery Scrap (Removed): </a:t>
            </a:r>
            <a:r>
              <a:rPr sz="800">
                <a:solidFill>
                  <a:srgbClr val="334155"/>
                </a:solidFill>
                <a:latin typeface="Calibri"/>
              </a:rPr>
              <a:t>Claimed 42% scrap / $18M warranty savings at Rawsonville; not in audited SEC 10-Ks.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0F172A"/>
                </a:solidFill>
                <a:latin typeface="Calibri"/>
              </a:rPr>
              <a:t>2. Airbus Hole Defects (Removed): </a:t>
            </a:r>
            <a:r>
              <a:rPr sz="800">
                <a:solidFill>
                  <a:srgbClr val="334155"/>
                </a:solidFill>
                <a:latin typeface="Calibri"/>
              </a:rPr>
              <a:t>Claimed &lt;2 PPM defect rate on A350 wings; unverified industry whitepaper extrapolation.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0F172A"/>
                </a:solidFill>
                <a:latin typeface="Calibri"/>
              </a:rPr>
              <a:t>3. Amazon Mobile Fleet (Removed): </a:t>
            </a:r>
            <a:r>
              <a:rPr sz="800">
                <a:solidFill>
                  <a:srgbClr val="334155"/>
                </a:solidFill>
                <a:latin typeface="Calibri"/>
              </a:rPr>
              <a:t>Cited 750,000 robots; conflated legacy Kiva AGVs with modern AI AMRs (Proteus).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0F172A"/>
                </a:solidFill>
                <a:latin typeface="Calibri"/>
              </a:rPr>
              <a:t>4. GE Vernova Outages (Removed): </a:t>
            </a:r>
            <a:r>
              <a:rPr sz="800">
                <a:solidFill>
                  <a:srgbClr val="334155"/>
                </a:solidFill>
                <a:latin typeface="Calibri"/>
              </a:rPr>
              <a:t>Claimed $380M saved across 1,200 turbines; vendor marketing modeled projection.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0F172A"/>
                </a:solidFill>
                <a:latin typeface="Calibri"/>
              </a:rPr>
              <a:t>5. TSMC Lithography (Removed): </a:t>
            </a:r>
            <a:r>
              <a:rPr sz="800">
                <a:solidFill>
                  <a:srgbClr val="334155"/>
                </a:solidFill>
                <a:latin typeface="Calibri"/>
              </a:rPr>
              <a:t>Claimed 2.1x yield accuracy; proprietary N3/N2 foundry trade secret not auditable.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0F172A"/>
                </a:solidFill>
                <a:latin typeface="Calibri"/>
              </a:rPr>
              <a:t>6. Caterpillar Haulage (Removed): </a:t>
            </a:r>
            <a:r>
              <a:rPr sz="800">
                <a:solidFill>
                  <a:srgbClr val="334155"/>
                </a:solidFill>
                <a:latin typeface="Calibri"/>
              </a:rPr>
              <a:t>Claimed 250M km zero-injury; vendor marketing copy rather than certified safety study.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0F172A"/>
                </a:solidFill>
                <a:latin typeface="Calibri"/>
              </a:rPr>
              <a:t>7. Intuitive Surgical (Removed): </a:t>
            </a:r>
            <a:r>
              <a:rPr sz="800">
                <a:solidFill>
                  <a:srgbClr val="334155"/>
                </a:solidFill>
                <a:latin typeface="Calibri"/>
              </a:rPr>
              <a:t>Claimed 40% surgeon strain reduction on da Vinci 5; uncontrolled ergonomic PR claim.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0F172A"/>
                </a:solidFill>
                <a:latin typeface="Calibri"/>
              </a:rPr>
              <a:t>8. Symbotic Deployments (Removed): </a:t>
            </a:r>
            <a:r>
              <a:rPr sz="800">
                <a:solidFill>
                  <a:srgbClr val="334155"/>
                </a:solidFill>
                <a:latin typeface="Calibri"/>
              </a:rPr>
              <a:t>Claimed $500M+ Walmart deployment; conflated multi-year backlog with active AI software.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0F172A"/>
                </a:solidFill>
                <a:latin typeface="Calibri"/>
              </a:rPr>
              <a:t>9. DHL Turnaround Time (Removed): </a:t>
            </a:r>
            <a:r>
              <a:rPr sz="800">
                <a:solidFill>
                  <a:srgbClr val="334155"/>
                </a:solidFill>
                <a:latin typeface="Calibri"/>
              </a:rPr>
              <a:t>Claimed trailer turn from 90 to 38 mins; site-level non-standardized pilot data.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0F172A"/>
                </a:solidFill>
                <a:latin typeface="Calibri"/>
              </a:rPr>
              <a:t>10. Siemens Energy (Removed): </a:t>
            </a:r>
            <a:r>
              <a:rPr sz="800">
                <a:solidFill>
                  <a:srgbClr val="334155"/>
                </a:solidFill>
                <a:latin typeface="Calibri"/>
              </a:rPr>
              <a:t>Claimed 45% valve failure reduction; unaudited whitepaper statistic without third-party audit.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0F172A"/>
                </a:solidFill>
                <a:latin typeface="Calibri"/>
              </a:rPr>
              <a:t>11. Decorative Equations (Removed): </a:t>
            </a:r>
            <a:r>
              <a:rPr sz="800">
                <a:solidFill>
                  <a:srgbClr val="334155"/>
                </a:solidFill>
                <a:latin typeface="Calibri"/>
              </a:rPr>
              <a:t>Removed unconnected PINN loss functions and InfoNCE contrastive equations as academic padding.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0375" y="1645920"/>
            <a:ext cx="3877056" cy="4389120"/>
          </a:xfrm>
          <a:prstGeom prst="rect">
            <a:avLst/>
          </a:prstGeom>
          <a:solidFill>
            <a:srgbClr val="F0F7FF"/>
          </a:solidFill>
          <a:ln w="63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0375" y="1645920"/>
            <a:ext cx="3877056" cy="228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81544" y="1810512"/>
            <a:ext cx="3474720" cy="40599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002B49"/>
                </a:solidFill>
                <a:latin typeface="Calibri"/>
              </a:rPr>
              <a:t>OFFICIAL DOCUMENT SIGN-OFF REGISTER
</a:t>
            </a:r>
          </a:p>
          <a:p>
            <a:pPr>
              <a:spcBef>
                <a:spcPts val="400"/>
              </a:spcBef>
            </a:pPr>
            <a:r>
              <a:rPr sz="850" b="1">
                <a:solidFill>
                  <a:srgbClr val="0F172A"/>
                </a:solidFill>
                <a:latin typeface="Calibri"/>
              </a:rPr>
              <a:t>Document ID: </a:t>
            </a:r>
            <a:r>
              <a:rPr sz="850">
                <a:solidFill>
                  <a:srgbClr val="334155"/>
                </a:solidFill>
                <a:latin typeface="Calibri"/>
              </a:rPr>
              <a:t>LTTS-PAI-2026-MASTER-01</a:t>
            </a:r>
          </a:p>
          <a:p>
            <a:pPr>
              <a:spcBef>
                <a:spcPts val="400"/>
              </a:spcBef>
            </a:pPr>
            <a:r>
              <a:rPr sz="850" b="1">
                <a:solidFill>
                  <a:srgbClr val="0F172A"/>
                </a:solidFill>
                <a:latin typeface="Calibri"/>
              </a:rPr>
              <a:t>Release Version: </a:t>
            </a:r>
            <a:r>
              <a:rPr sz="850">
                <a:solidFill>
                  <a:srgbClr val="334155"/>
                </a:solidFill>
                <a:latin typeface="Calibri"/>
              </a:rPr>
              <a:t>3.0 Master Executive Release</a:t>
            </a:r>
          </a:p>
          <a:p>
            <a:pPr>
              <a:spcBef>
                <a:spcPts val="400"/>
              </a:spcBef>
            </a:pPr>
            <a:r>
              <a:rPr sz="850" b="1">
                <a:solidFill>
                  <a:srgbClr val="0F172A"/>
                </a:solidFill>
                <a:latin typeface="Calibri"/>
              </a:rPr>
              <a:t>Classification: </a:t>
            </a:r>
            <a:r>
              <a:rPr sz="850">
                <a:solidFill>
                  <a:srgbClr val="334155"/>
                </a:solidFill>
                <a:latin typeface="Calibri"/>
              </a:rPr>
              <a:t>Strictly Confidential &amp; Proprietary</a:t>
            </a:r>
          </a:p>
          <a:p>
            <a:pPr>
              <a:spcBef>
                <a:spcPts val="400"/>
              </a:spcBef>
            </a:pPr>
            <a:r>
              <a:rPr sz="850" b="1">
                <a:solidFill>
                  <a:srgbClr val="0F172A"/>
                </a:solidFill>
                <a:latin typeface="Calibri"/>
              </a:rPr>
              <a:t>Date of Issue: </a:t>
            </a:r>
            <a:r>
              <a:rPr sz="850">
                <a:solidFill>
                  <a:srgbClr val="334155"/>
                </a:solidFill>
                <a:latin typeface="Calibri"/>
              </a:rPr>
              <a:t>September 2026</a:t>
            </a:r>
          </a:p>
          <a:p>
            <a:pPr>
              <a:spcBef>
                <a:spcPts val="400"/>
              </a:spcBef>
            </a:pPr>
            <a:r>
              <a:rPr sz="850" b="1">
                <a:solidFill>
                  <a:srgbClr val="0F172A"/>
                </a:solidFill>
                <a:latin typeface="Calibri"/>
              </a:rPr>
              <a:t>Review Status: </a:t>
            </a:r>
            <a:r>
              <a:rPr sz="850">
                <a:solidFill>
                  <a:srgbClr val="334155"/>
                </a:solidFill>
                <a:latin typeface="Calibri"/>
              </a:rPr>
              <a:t>Peer-Reviewed &amp; Adversarially Audited</a:t>
            </a:r>
          </a:p>
          <a:p>
            <a:pPr>
              <a:spcBef>
                <a:spcPts val="400"/>
              </a:spcBef>
            </a:pPr>
            <a:r>
              <a:rPr sz="850" b="1">
                <a:solidFill>
                  <a:srgbClr val="0F172A"/>
                </a:solidFill>
                <a:latin typeface="Calibri"/>
              </a:rPr>
              <a:t>Prepared Exclusively For: </a:t>
            </a:r>
            <a:r>
              <a:rPr sz="850">
                <a:solidFill>
                  <a:srgbClr val="0A58CA"/>
                </a:solidFill>
                <a:latin typeface="Calibri"/>
              </a:rPr>
              <a:t>Dr. Madhusudhan Singh
Executive &amp; Technical Leadership
L&amp;T Technology Services Limited (LTTS)</a:t>
            </a:r>
          </a:p>
          <a:p>
            <a:pPr>
              <a:spcBef>
                <a:spcPts val="400"/>
              </a:spcBef>
            </a:pPr>
            <a:r>
              <a:rPr sz="850" b="1">
                <a:solidFill>
                  <a:srgbClr val="0F172A"/>
                </a:solidFill>
                <a:latin typeface="Calibri"/>
              </a:rPr>
              <a:t>Primary Research Author: </a:t>
            </a:r>
            <a:r>
              <a:rPr sz="850">
                <a:solidFill>
                  <a:srgbClr val="0A58CA"/>
                </a:solidFill>
                <a:latin typeface="Calibri"/>
              </a:rPr>
              <a:t>Adari Karthikeya
Physical AI Practice Research
LTTS Strategic Engineering Practice</a:t>
            </a:r>
          </a:p>
          <a:p>
            <a:pPr>
              <a:spcBef>
                <a:spcPts val="400"/>
              </a:spcBef>
            </a:pPr>
            <a:r>
              <a:rPr sz="850" b="1">
                <a:solidFill>
                  <a:srgbClr val="0F172A"/>
                </a:solidFill>
                <a:latin typeface="Calibri"/>
              </a:rPr>
              <a:t>Action Required: </a:t>
            </a:r>
            <a:r>
              <a:rPr sz="850">
                <a:solidFill>
                  <a:srgbClr val="0A58CA"/>
                </a:solidFill>
                <a:latin typeface="Calibri"/>
              </a:rPr>
              <a:t>Executive Review &amp; Budget Authorization for Q1 2027 Strategic Program ($8.3M)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309359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>
                <a:solidFill>
                  <a:srgbClr val="002B49"/>
                </a:solidFill>
                <a:latin typeface="Georgia"/>
              </a:rPr>
              <a:t>STRATEGIC TAKEAWAY  —  </a:t>
            </a:r>
            <a:r>
              <a:rPr sz="900">
                <a:solidFill>
                  <a:srgbClr val="334155"/>
                </a:solidFill>
                <a:latin typeface="Calibri"/>
              </a:rPr>
              <a:t>Briefing completed. For presentation delivery, boardroom inquiries, or pilot execution, contact Adari Karthikeya &amp; LTTS Leadership.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