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Executive briefing establishing the commercial, technical, and operational reality of Physical AI in 2026 for LTTS leadership.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Methodology Slide. Explain the four tiers. This builds immediate credibility with engineering leaders by acknowledging that not all claims are equal.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Summary. Anchor the core thesis: do not build humanoids; do not train base models; own the integration, verification, and digital twin layer.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Slide. Walk Dr. Singh through the journey: from commercial reality, to deep research, to commercial models, up to actionable budgets.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Current State of Physical AI. Executive briefing transition setting strategic context.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3 tiers. Crucial distinction: Tier 1 makes real recurring revenue today; Tier 2 is funded by OEM R&amp;D grants; Tier 3 is venture storytelling.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1 deep-dive. Detail Waymo's 150k trips, TSMC's inline defect classification, and Applied Intuition's multi-million ARR contracts.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Tier 2 and Tier 3. Emphasize that BMW, Mercedes, and Amazon are conducting bounded trials. Do not confuse a pilot with an enterprise rollout.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Disclosed Capital Matrix (Part 1). Detail Wayve, Figure, PI, and 1X rounds. Highlight how big tech (Microsoft, NVIDIA, SoftBank) is co-investing.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Disclosed Capital Matrix (Part 2). Point out Applied Intuition at $6B and Scale AI at $13.8B. Enterprise simulation software scales profitably.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Capital vs Maturity Asymmetry. This is a foundational insight: let VCs fund hardware risk; LTTS captures high-margin integration revenue.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Frontier Research Direction. Executive briefing transition setting strategic context.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Priority 1 &amp; 2. Explain why discrete tokens failed: you cannot run a robot arm smoothly at 50Hz by generating text tokens. Flow matching is the solution.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Priorities 3, 4, 5. Mention NVIDIA EgoScale (2026) and edge quantization on Jetson AGX Orin for factory edge determinism.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FM1 (compounding error drift) and FM2 (executability gap: visual realism is not physical validity). Emphasize the engineering solutions.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FM3, FM4, and FM5. Point out the residual gating equation E_recon &gt; tau for tripping safety interlocks.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Judea Pearl's Causal Hierarchy. Language models are trapped on Rung 1 (observation). Physical AI requires Rung 2 (intervention) and Rung 3 (counterfactual safety).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Commercialization Dynamics. Executive briefing transition setting strategic context.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Table 3. Point out that while hardware OEMs face 12-18 month sales cycles, systems integrators like LTTS operate on 4-8 month cycles with high deal sizes.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 Services Opportunity. Explain why pure software startups fail in factories: they don't understand fieldbuses, safety PLCs, or ISO standards.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Offerings 1 and 2. Emphasize that clients already have massive CAD files (Siemens Teamcenter); LTTS converts them into synthetic data pipelines.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Offerings 3 and 4. V&amp;V is an immediate high-margin revenue generator (Q1 2027); MLOps establishes permanent client lock-in.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Use Cases &amp; Adoption Patterns. Executive briefing transition setting strategic context.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verified deployments across 5 sectors. Highlight that these are documented deployments: DHL Stretch, TSMC lithography, GE Vernova.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 vs Reality. Explain why humanoids cannot meet 60-second takt times or handle flexible wire harnesses in automotive assembly today.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Hybrid Incumbent Model. Explain why Siemens + Microsoft + Intrinsic validates this: incumbents absorb software and rely on partners for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Competitive Landscape. Executive briefing transition setting strategic context.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Table 4. Point out the structural position of each layer: Incumbents own the floor, model labs own the algorithms, LTTS integrates them.</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underserved gaps. Emphasize that these gaps directly correspond to LTTS's 4 priority strategic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6: The Industrial-AI Bridge. Executive briefing transition setting strategic context.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Industrial AI vs Physical AI. Detail why scalar time-series models cannot command robots at 50Hz. Physical AI requires spatial 3D reasoning.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Kinematics Moat. Point out the Yoshikawa manipulability formula: when mu(q) -&gt; 0, joint velocity q-dot blows up. Explain why DLS filtering is mandatory.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 Deterministic Timing and Safety Architecture. Explain EtherCAT jitter (&lt;1ms) and ISO 13849 Cat 4 / PL e safety circuits.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5-stage Data Flywheel. This is the ultimate competitive advantage: Telemetry -&gt; Physics Calibration -&gt; Synthetic Data -&gt; Edge Deploy -&gt; OOD Monitoring.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3–5 Year Structural Forecast. Executive briefing transition setting strategic context.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4 Market Evolution dynamics. Crucial takeaway: Hardware becomes cheap; foundation models consolidate; the integration moat grows wider.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3 Sources of Uncertainty. Note that even in downside scenarios (e.g. strict caging mandates), LTTS's safety verification business benefits.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8: Strategic Recommendations for LTTS. Executive briefing transition setting strategic context.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Phasing Rationale. Emphasize why V&amp;V must come before Synthetic Data: safety credentials are the key that unlocks client plant access.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Priority 1. Detail the CBF formulation, alpha,beta-CROWN reachability, and the exact $2.8M budget components.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Priority 2. Detail how Siemens S7-1500 and Rockwell ControlLogix racks are paired with NVIDIA Jetson AGX Orin in the joint lab.</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Priority 3. Emphasize the 64-GPU compute cluster and how automated CAD ingestion turns static drawings into dynamic digital twins.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Priority 4. Highlight the 250 engineer upskilling program ($1.0M), 5 PhD lateral hires ($1.2M), and $300k in university fellowships.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5 Strategic Roadmap. Summarize the total $8.3M phased investment and $2.5M/yr CoE budget. Point out the clear milestone gates.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Slide. Deliver the final punchline: LTTS is the trusted engineering bridge that verifies, integrates, and deploys Physical AI safely at scale.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9: Research Appendices &amp; Governance. Executive briefing transition setting strategic context.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(Part 1). Verified primary sources for all capital rounds, valuations, and commercial volume figures.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(Part 2). Research papers (π0, EgoScale) and OEM trial announcements (BMW, Mercedes-Benz, DHL, Siemens).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B (Items 1-5). Explain why transparency is credibility. We explicitly documented why Ford, Airbus, Amazon, GE, and TSMC claims were downgraded.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B (Items 6-11). Detail item 11: removing decorative math padding to ensure every formula retained directly justifies a commercial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Slide. Formal sign-off and distribution register for Dr. Madhusudhan Singh and LTTS leadership.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3360420" cy="219456"/>
          </a:xfrm>
          <a:prstGeom prst="roundRect">
            <a:avLst/>
          </a:prstGeom>
          <a:solidFill>
            <a:srgbClr val="001E33"/>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B45309"/>
                </a:solidFill>
                <a:latin typeface="Segoe UI"/>
              </a:rPr>
              <a:t>CONFIDENTIAL  ·  EXECUTIVE STRATEGIC BRIEFING</a:t>
            </a:r>
          </a:p>
        </p:txBody>
      </p:sp>
      <p:sp>
        <p:nvSpPr>
          <p:cNvPr id="4" name="TextBox 3"/>
          <p:cNvSpPr txBox="1"/>
          <p:nvPr/>
        </p:nvSpPr>
        <p:spPr>
          <a:xfrm>
            <a:off x="731520" y="1371600"/>
            <a:ext cx="9601200" cy="2011680"/>
          </a:xfrm>
          <a:prstGeom prst="rect">
            <a:avLst/>
          </a:prstGeom>
          <a:noFill/>
        </p:spPr>
        <p:txBody>
          <a:bodyPr wrap="square" lIns="0" rIns="0" tIns="0" bIns="0">
            <a:spAutoFit/>
          </a:bodyPr>
          <a:lstStyle/>
          <a:p>
            <a:r>
              <a:rPr sz="2200">
                <a:solidFill>
                  <a:srgbClr val="93C5FD"/>
                </a:solidFill>
                <a:latin typeface="Segoe UI"/>
              </a:rPr>
              <a:t>The Practice of
</a:t>
            </a:r>
            <a:r>
              <a:rPr sz="4600" b="1">
                <a:solidFill>
                  <a:srgbClr val="FFFFFF"/>
                </a:solidFill>
                <a:latin typeface="Segoe UI"/>
              </a:rPr>
              <a:t>Physical Artificial Intelligence</a:t>
            </a:r>
          </a:p>
        </p:txBody>
      </p:sp>
      <p:sp>
        <p:nvSpPr>
          <p:cNvPr id="5" name="Rectangle 4"/>
          <p:cNvSpPr/>
          <p:nvPr/>
        </p:nvSpPr>
        <p:spPr>
          <a:xfrm>
            <a:off x="731520" y="3520440"/>
            <a:ext cx="6858000" cy="1828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703320"/>
            <a:ext cx="10058400" cy="731520"/>
          </a:xfrm>
          <a:prstGeom prst="rect">
            <a:avLst/>
          </a:prstGeom>
          <a:noFill/>
        </p:spPr>
        <p:txBody>
          <a:bodyPr wrap="square" lIns="0" rIns="0" tIns="0" bIns="0">
            <a:spAutoFit/>
          </a:bodyPr>
          <a:lstStyle/>
          <a:p>
            <a:r>
              <a:rPr sz="1600">
                <a:solidFill>
                  <a:srgbClr val="B45309"/>
                </a:solidFill>
                <a:latin typeface="Segoe UI"/>
              </a:rPr>
              <a:t>Landscape, Commercialization, Competition, and the Industrial-AI Bridge</a:t>
            </a:r>
          </a:p>
        </p:txBody>
      </p:sp>
      <p:sp>
        <p:nvSpPr>
          <p:cNvPr id="7" name="Rectangle 6"/>
          <p:cNvSpPr/>
          <p:nvPr/>
        </p:nvSpPr>
        <p:spPr>
          <a:xfrm>
            <a:off x="731520" y="4754880"/>
            <a:ext cx="5120640" cy="1463040"/>
          </a:xfrm>
          <a:prstGeom prst="rect">
            <a:avLst/>
          </a:prstGeom>
          <a:solidFill>
            <a:srgbClr val="043354"/>
          </a:solidFill>
          <a:ln w="9525">
            <a:solidFill>
              <a:srgbClr val="0C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892040"/>
            <a:ext cx="4754880" cy="1188720"/>
          </a:xfrm>
          <a:prstGeom prst="rect">
            <a:avLst/>
          </a:prstGeom>
          <a:noFill/>
        </p:spPr>
        <p:txBody>
          <a:bodyPr wrap="square" lIns="0" rIns="0" tIns="0" bIns="0">
            <a:spAutoFit/>
          </a:bodyPr>
          <a:lstStyle/>
          <a:p>
            <a:r>
              <a:rPr sz="850" b="1">
                <a:solidFill>
                  <a:srgbClr val="B45309"/>
                </a:solidFill>
                <a:latin typeface="Segoe UI"/>
              </a:rPr>
              <a:t>PRIMARY AUTHOR &amp; RESEARCH
</a:t>
            </a:r>
            <a:r>
              <a:rPr sz="1400" b="1">
                <a:solidFill>
                  <a:srgbClr val="FFFFFF"/>
                </a:solidFill>
                <a:latin typeface="Segoe UI"/>
              </a:rPr>
              <a:t>Adari Karthikeya
</a:t>
            </a:r>
            <a:r>
              <a:rPr sz="1000">
                <a:solidFill>
                  <a:srgbClr val="BAE6FD"/>
                </a:solidFill>
                <a:latin typeface="Segoe UI"/>
              </a:rPr>
              <a:t>Physical AI Practice Research &amp; Strategy</a:t>
            </a:r>
          </a:p>
        </p:txBody>
      </p:sp>
      <p:sp>
        <p:nvSpPr>
          <p:cNvPr id="9" name="Rectangle 8"/>
          <p:cNvSpPr/>
          <p:nvPr/>
        </p:nvSpPr>
        <p:spPr>
          <a:xfrm>
            <a:off x="6126480" y="4754880"/>
            <a:ext cx="5303520" cy="1463040"/>
          </a:xfrm>
          <a:prstGeom prst="rect">
            <a:avLst/>
          </a:prstGeom>
          <a:solidFill>
            <a:srgbClr val="043354"/>
          </a:solidFill>
          <a:ln w="9525">
            <a:solidFill>
              <a:srgbClr val="0C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4892040"/>
            <a:ext cx="4937760" cy="1188720"/>
          </a:xfrm>
          <a:prstGeom prst="rect">
            <a:avLst/>
          </a:prstGeom>
          <a:noFill/>
        </p:spPr>
        <p:txBody>
          <a:bodyPr wrap="square" lIns="0" rIns="0" tIns="0" bIns="0">
            <a:spAutoFit/>
          </a:bodyPr>
          <a:lstStyle/>
          <a:p>
            <a:r>
              <a:rPr sz="850" b="1">
                <a:solidFill>
                  <a:srgbClr val="38BDF8"/>
                </a:solidFill>
                <a:latin typeface="Segoe UI"/>
              </a:rPr>
              <a:t>PREPARED EXCLUSIVELY FOR
</a:t>
            </a:r>
            <a:r>
              <a:rPr sz="1300" b="1">
                <a:solidFill>
                  <a:srgbClr val="FFFFFF"/>
                </a:solidFill>
                <a:latin typeface="Segoe UI"/>
              </a:rPr>
              <a:t>Dr. Madhusudhan Singh &amp; Engineering Leadership
</a:t>
            </a:r>
            <a:r>
              <a:rPr sz="1000">
                <a:solidFill>
                  <a:srgbClr val="BAE6FD"/>
                </a:solidFill>
                <a:latin typeface="Segoe UI"/>
              </a:rPr>
              <a:t>L&amp;T Technology Services (LTTS)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EVIDENTIARY GOVERNANCE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Four-Tier Verification Taxonomy</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Every quantitative metric and assertion in this briefing is classified by its evidentiary basis.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00200"/>
            <a:ext cx="10725912" cy="7315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10360152" cy="548640"/>
          </a:xfrm>
          <a:prstGeom prst="rect">
            <a:avLst/>
          </a:prstGeom>
          <a:noFill/>
        </p:spPr>
        <p:txBody>
          <a:bodyPr wrap="square" lIns="0" rIns="0" tIns="0" bIns="0">
            <a:spAutoFit/>
          </a:bodyPr>
          <a:lstStyle/>
          <a:p>
            <a:r>
              <a:rPr sz="1050" b="1">
                <a:solidFill>
                  <a:srgbClr val="002B49"/>
                </a:solidFill>
                <a:latin typeface="Segoe UI"/>
              </a:rPr>
              <a:t>Research Governance Standard: </a:t>
            </a:r>
            <a:r>
              <a:rPr sz="950">
                <a:solidFill>
                  <a:srgbClr val="334155"/>
                </a:solidFill>
                <a:latin typeface="Segoe UI"/>
              </a:rPr>
              <a:t>To eliminate vendor marketing distortions and speculative venture hype, every quantitative claim, customer case study, and market benchmark across this 51-slide deck adheres strictly to this four-tier audit framework. Unverified claims are explicitly downgraded or removed in Appendix B.</a:t>
            </a:r>
          </a:p>
        </p:txBody>
      </p:sp>
      <p:sp>
        <p:nvSpPr>
          <p:cNvPr id="9" name="Rectangle 8"/>
          <p:cNvSpPr/>
          <p:nvPr/>
        </p:nvSpPr>
        <p:spPr>
          <a:xfrm>
            <a:off x="731520" y="2514600"/>
            <a:ext cx="2542032" cy="35204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514600"/>
            <a:ext cx="2542032" cy="27432"/>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 y="2697480"/>
            <a:ext cx="960120" cy="219456"/>
          </a:xfrm>
          <a:prstGeom prst="roundRect">
            <a:avLst/>
          </a:prstGeom>
          <a:solidFill>
            <a:srgbClr val="D1FAE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047857"/>
                </a:solidFill>
                <a:latin typeface="Segoe UI"/>
              </a:rPr>
              <a:t>[Verified]</a:t>
            </a:r>
          </a:p>
        </p:txBody>
      </p:sp>
      <p:sp>
        <p:nvSpPr>
          <p:cNvPr id="12" name="TextBox 11"/>
          <p:cNvSpPr txBox="1"/>
          <p:nvPr/>
        </p:nvSpPr>
        <p:spPr>
          <a:xfrm>
            <a:off x="914400" y="3017520"/>
            <a:ext cx="2176272" cy="594360"/>
          </a:xfrm>
          <a:prstGeom prst="rect">
            <a:avLst/>
          </a:prstGeom>
          <a:noFill/>
        </p:spPr>
        <p:txBody>
          <a:bodyPr wrap="square" lIns="0" rIns="0" tIns="0" bIns="0">
            <a:spAutoFit/>
          </a:bodyPr>
          <a:lstStyle/>
          <a:p>
            <a:r>
              <a:rPr sz="1100" b="1">
                <a:solidFill>
                  <a:srgbClr val="0F172A"/>
                </a:solidFill>
                <a:latin typeface="Segoe UI"/>
              </a:rPr>
              <a:t>Primary &amp; Audited Corporate Disclosure</a:t>
            </a:r>
          </a:p>
        </p:txBody>
      </p:sp>
      <p:sp>
        <p:nvSpPr>
          <p:cNvPr id="13" name="TextBox 12"/>
          <p:cNvSpPr txBox="1"/>
          <p:nvPr/>
        </p:nvSpPr>
        <p:spPr>
          <a:xfrm>
            <a:off x="914400" y="3703320"/>
            <a:ext cx="2176272" cy="2103120"/>
          </a:xfrm>
          <a:prstGeom prst="rect">
            <a:avLst/>
          </a:prstGeom>
          <a:noFill/>
        </p:spPr>
        <p:txBody>
          <a:bodyPr wrap="square" lIns="0" rIns="0" tIns="0" bIns="0">
            <a:spAutoFit/>
          </a:bodyPr>
          <a:lstStyle/>
          <a:p>
            <a:r>
              <a:rPr sz="950">
                <a:solidFill>
                  <a:srgbClr val="334155"/>
                </a:solidFill>
                <a:latin typeface="Segoe UI"/>
              </a:rPr>
              <a:t>Sourced directly from audited SEC regulatory filings, primary peer-reviewed scientific publications, official audited corporate earnings calls (e.g. Alphabet, Tesla), or legally binding contract disclosures. Maximum evidentiary confidence.</a:t>
            </a:r>
          </a:p>
        </p:txBody>
      </p:sp>
      <p:sp>
        <p:nvSpPr>
          <p:cNvPr id="14" name="Rectangle 13"/>
          <p:cNvSpPr/>
          <p:nvPr/>
        </p:nvSpPr>
        <p:spPr>
          <a:xfrm>
            <a:off x="3456432" y="2514600"/>
            <a:ext cx="2542032" cy="35204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56432" y="2514600"/>
            <a:ext cx="2542032" cy="2743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639312" y="2697480"/>
            <a:ext cx="960120"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0284C7"/>
                </a:solidFill>
                <a:latin typeface="Segoe UI"/>
              </a:rPr>
              <a:t>[Reported]</a:t>
            </a:r>
          </a:p>
        </p:txBody>
      </p:sp>
      <p:sp>
        <p:nvSpPr>
          <p:cNvPr id="17" name="TextBox 16"/>
          <p:cNvSpPr txBox="1"/>
          <p:nvPr/>
        </p:nvSpPr>
        <p:spPr>
          <a:xfrm>
            <a:off x="3639312" y="3017520"/>
            <a:ext cx="2176272" cy="594360"/>
          </a:xfrm>
          <a:prstGeom prst="rect">
            <a:avLst/>
          </a:prstGeom>
          <a:noFill/>
        </p:spPr>
        <p:txBody>
          <a:bodyPr wrap="square" lIns="0" rIns="0" tIns="0" bIns="0">
            <a:spAutoFit/>
          </a:bodyPr>
          <a:lstStyle/>
          <a:p>
            <a:r>
              <a:rPr sz="1100" b="1">
                <a:solidFill>
                  <a:srgbClr val="0F172A"/>
                </a:solidFill>
                <a:latin typeface="Segoe UI"/>
              </a:rPr>
              <a:t>Trade Press &amp; Company Self-Reported Claims</a:t>
            </a:r>
          </a:p>
        </p:txBody>
      </p:sp>
      <p:sp>
        <p:nvSpPr>
          <p:cNvPr id="18" name="TextBox 17"/>
          <p:cNvSpPr txBox="1"/>
          <p:nvPr/>
        </p:nvSpPr>
        <p:spPr>
          <a:xfrm>
            <a:off x="3639312" y="3703320"/>
            <a:ext cx="2176272" cy="2103120"/>
          </a:xfrm>
          <a:prstGeom prst="rect">
            <a:avLst/>
          </a:prstGeom>
          <a:noFill/>
        </p:spPr>
        <p:txBody>
          <a:bodyPr wrap="square" lIns="0" rIns="0" tIns="0" bIns="0">
            <a:spAutoFit/>
          </a:bodyPr>
          <a:lstStyle/>
          <a:p>
            <a:r>
              <a:rPr sz="950">
                <a:solidFill>
                  <a:srgbClr val="334155"/>
                </a:solidFill>
                <a:latin typeface="Segoe UI"/>
              </a:rPr>
              <a:t>Public announcements, trade press coverage, company press releases, and executive statements that are documented but have not undergone third-party audit or independent operational verification.</a:t>
            </a:r>
          </a:p>
        </p:txBody>
      </p:sp>
      <p:sp>
        <p:nvSpPr>
          <p:cNvPr id="19" name="Rectangle 18"/>
          <p:cNvSpPr/>
          <p:nvPr/>
        </p:nvSpPr>
        <p:spPr>
          <a:xfrm>
            <a:off x="6181344" y="2514600"/>
            <a:ext cx="2542032" cy="35204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344" y="2514600"/>
            <a:ext cx="2542032" cy="27432"/>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64224" y="2697480"/>
            <a:ext cx="1028700" cy="219456"/>
          </a:xfrm>
          <a:prstGeom prst="roundRect">
            <a:avLst/>
          </a:prstGeom>
          <a:solidFill>
            <a:srgbClr val="FFEDD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C2410C"/>
                </a:solidFill>
                <a:latin typeface="Segoe UI"/>
              </a:rPr>
              <a:t>[Estimated]</a:t>
            </a:r>
          </a:p>
        </p:txBody>
      </p:sp>
      <p:sp>
        <p:nvSpPr>
          <p:cNvPr id="22" name="TextBox 21"/>
          <p:cNvSpPr txBox="1"/>
          <p:nvPr/>
        </p:nvSpPr>
        <p:spPr>
          <a:xfrm>
            <a:off x="6364224" y="3017520"/>
            <a:ext cx="2176272" cy="594360"/>
          </a:xfrm>
          <a:prstGeom prst="rect">
            <a:avLst/>
          </a:prstGeom>
          <a:noFill/>
        </p:spPr>
        <p:txBody>
          <a:bodyPr wrap="square" lIns="0" rIns="0" tIns="0" bIns="0">
            <a:spAutoFit/>
          </a:bodyPr>
          <a:lstStyle/>
          <a:p>
            <a:r>
              <a:rPr sz="1100" b="1">
                <a:solidFill>
                  <a:srgbClr val="0F172A"/>
                </a:solidFill>
                <a:latin typeface="Segoe UI"/>
              </a:rPr>
              <a:t>Directional Analytical Benchmarks</a:t>
            </a:r>
          </a:p>
        </p:txBody>
      </p:sp>
      <p:sp>
        <p:nvSpPr>
          <p:cNvPr id="23" name="TextBox 22"/>
          <p:cNvSpPr txBox="1"/>
          <p:nvPr/>
        </p:nvSpPr>
        <p:spPr>
          <a:xfrm>
            <a:off x="6364224" y="3703320"/>
            <a:ext cx="2176272" cy="2103120"/>
          </a:xfrm>
          <a:prstGeom prst="rect">
            <a:avLst/>
          </a:prstGeom>
          <a:noFill/>
        </p:spPr>
        <p:txBody>
          <a:bodyPr wrap="square" lIns="0" rIns="0" tIns="0" bIns="0">
            <a:spAutoFit/>
          </a:bodyPr>
          <a:lstStyle/>
          <a:p>
            <a:r>
              <a:rPr sz="950">
                <a:solidFill>
                  <a:srgbClr val="334155"/>
                </a:solidFill>
                <a:latin typeface="Segoe UI"/>
              </a:rPr>
              <a:t>Analytical estimates and financial ranges derived from public comparable benchmarks, bottom-up engineering models, and disclosed industry unit economics with transparent methodology.</a:t>
            </a:r>
          </a:p>
        </p:txBody>
      </p:sp>
      <p:sp>
        <p:nvSpPr>
          <p:cNvPr id="24" name="Rectangle 23"/>
          <p:cNvSpPr/>
          <p:nvPr/>
        </p:nvSpPr>
        <p:spPr>
          <a:xfrm>
            <a:off x="8906256" y="2514600"/>
            <a:ext cx="2542032" cy="35204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06256" y="2514600"/>
            <a:ext cx="2542032" cy="27432"/>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089136" y="2697480"/>
            <a:ext cx="1165860" cy="219456"/>
          </a:xfrm>
          <a:prstGeom prst="roundRect">
            <a:avLst/>
          </a:prstGeom>
          <a:solidFill>
            <a:srgbClr val="FEE2E2"/>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a:solidFill>
                  <a:srgbClr val="B91C1C"/>
                </a:solidFill>
                <a:latin typeface="Segoe UI"/>
              </a:rPr>
              <a:t>[Speculative]</a:t>
            </a:r>
          </a:p>
        </p:txBody>
      </p:sp>
      <p:sp>
        <p:nvSpPr>
          <p:cNvPr id="27" name="TextBox 26"/>
          <p:cNvSpPr txBox="1"/>
          <p:nvPr/>
        </p:nvSpPr>
        <p:spPr>
          <a:xfrm>
            <a:off x="9089136" y="3017520"/>
            <a:ext cx="2176272" cy="594360"/>
          </a:xfrm>
          <a:prstGeom prst="rect">
            <a:avLst/>
          </a:prstGeom>
          <a:noFill/>
        </p:spPr>
        <p:txBody>
          <a:bodyPr wrap="square" lIns="0" rIns="0" tIns="0" bIns="0">
            <a:spAutoFit/>
          </a:bodyPr>
          <a:lstStyle/>
          <a:p>
            <a:r>
              <a:rPr sz="1100" b="1">
                <a:solidFill>
                  <a:srgbClr val="0F172A"/>
                </a:solidFill>
                <a:latin typeface="Segoe UI"/>
              </a:rPr>
              <a:t>Forward-Looking Executive Judgments</a:t>
            </a:r>
          </a:p>
        </p:txBody>
      </p:sp>
      <p:sp>
        <p:nvSpPr>
          <p:cNvPr id="28" name="TextBox 27"/>
          <p:cNvSpPr txBox="1"/>
          <p:nvPr/>
        </p:nvSpPr>
        <p:spPr>
          <a:xfrm>
            <a:off x="9089136" y="3703320"/>
            <a:ext cx="2176272" cy="2103120"/>
          </a:xfrm>
          <a:prstGeom prst="rect">
            <a:avLst/>
          </a:prstGeom>
          <a:noFill/>
        </p:spPr>
        <p:txBody>
          <a:bodyPr wrap="square" lIns="0" rIns="0" tIns="0" bIns="0">
            <a:spAutoFit/>
          </a:bodyPr>
          <a:lstStyle/>
          <a:p>
            <a:r>
              <a:rPr sz="950">
                <a:solidFill>
                  <a:srgbClr val="334155"/>
                </a:solidFill>
                <a:latin typeface="Segoe UI"/>
              </a:rPr>
              <a:t>Forward-looking strategic inferences, technology timeline assessments, and critical hypotheses flagged explicitly for executive evaluation and risk-weighted decision making.</a:t>
            </a:r>
          </a:p>
        </p:txBody>
      </p:sp>
      <p:sp>
        <p:nvSpPr>
          <p:cNvPr id="29" name="Rectangle 28"/>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Every single data point in this deck is tagged. Dr. Singh and leadership can instantly inspect the evidentiary grounding of any claim.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EXECUTIVE SUMMARY</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The Core Strategic Thesis: Where Real Value Resides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Physical AI marks a paradigm shift from language models to continuous physical control.</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00200"/>
            <a:ext cx="3429000" cy="11430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09928"/>
            <a:ext cx="3099816" cy="923544"/>
          </a:xfrm>
          <a:prstGeom prst="rect">
            <a:avLst/>
          </a:prstGeom>
          <a:noFill/>
        </p:spPr>
        <p:txBody>
          <a:bodyPr wrap="square" lIns="0" rIns="0" tIns="0" bIns="0">
            <a:spAutoFit/>
          </a:bodyPr>
          <a:lstStyle/>
          <a:p>
            <a:r>
              <a:rPr sz="2600" b="1">
                <a:solidFill>
                  <a:srgbClr val="002B49"/>
                </a:solidFill>
                <a:latin typeface="Segoe UI"/>
              </a:rPr>
              <a:t>&gt; $3.2B</a:t>
            </a:r>
          </a:p>
          <a:p>
            <a:pPr>
              <a:spcBef>
                <a:spcPts val="300"/>
              </a:spcBef>
            </a:pPr>
            <a:r>
              <a:rPr sz="1000" b="1">
                <a:solidFill>
                  <a:srgbClr val="0F172A"/>
                </a:solidFill>
                <a:latin typeface="Segoe UI"/>
              </a:rPr>
              <a:t>Venture Capital Inflow</a:t>
            </a:r>
          </a:p>
          <a:p>
            <a:pPr>
              <a:spcBef>
                <a:spcPts val="200"/>
              </a:spcBef>
            </a:pPr>
            <a:r>
              <a:rPr sz="850">
                <a:solidFill>
                  <a:srgbClr val="64748B"/>
                </a:solidFill>
                <a:latin typeface="Segoe UI"/>
              </a:rPr>
              <a:t>18-month investment into humanoids &amp; VLAs [Verified]</a:t>
            </a:r>
          </a:p>
        </p:txBody>
      </p:sp>
      <p:sp>
        <p:nvSpPr>
          <p:cNvPr id="9" name="Rectangle 8"/>
          <p:cNvSpPr/>
          <p:nvPr/>
        </p:nvSpPr>
        <p:spPr>
          <a:xfrm>
            <a:off x="4389120" y="1600200"/>
            <a:ext cx="3429000" cy="11430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709928"/>
            <a:ext cx="3099816" cy="923544"/>
          </a:xfrm>
          <a:prstGeom prst="rect">
            <a:avLst/>
          </a:prstGeom>
          <a:noFill/>
        </p:spPr>
        <p:txBody>
          <a:bodyPr wrap="square" lIns="0" rIns="0" tIns="0" bIns="0">
            <a:spAutoFit/>
          </a:bodyPr>
          <a:lstStyle/>
          <a:p>
            <a:r>
              <a:rPr sz="2600" b="1">
                <a:solidFill>
                  <a:srgbClr val="B91C1C"/>
                </a:solidFill>
                <a:latin typeface="Segoe UI"/>
              </a:rPr>
              <a:t>&lt; $20M</a:t>
            </a:r>
          </a:p>
          <a:p>
            <a:pPr>
              <a:spcBef>
                <a:spcPts val="300"/>
              </a:spcBef>
            </a:pPr>
            <a:r>
              <a:rPr sz="1000" b="1">
                <a:solidFill>
                  <a:srgbClr val="0F172A"/>
                </a:solidFill>
                <a:latin typeface="Segoe UI"/>
              </a:rPr>
              <a:t>Verified Humanoid Revenue</a:t>
            </a:r>
          </a:p>
          <a:p>
            <a:pPr>
              <a:spcBef>
                <a:spcPts val="200"/>
              </a:spcBef>
            </a:pPr>
            <a:r>
              <a:rPr sz="850">
                <a:solidFill>
                  <a:srgbClr val="64748B"/>
                </a:solidFill>
                <a:latin typeface="Segoe UI"/>
              </a:rPr>
              <a:t>Production revenue across unconstrained humanoids [Estimated]</a:t>
            </a:r>
          </a:p>
        </p:txBody>
      </p:sp>
      <p:sp>
        <p:nvSpPr>
          <p:cNvPr id="11" name="Rectangle 10"/>
          <p:cNvSpPr/>
          <p:nvPr/>
        </p:nvSpPr>
        <p:spPr>
          <a:xfrm>
            <a:off x="8046720" y="1600200"/>
            <a:ext cx="3410712" cy="11430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709928"/>
            <a:ext cx="3081528" cy="923544"/>
          </a:xfrm>
          <a:prstGeom prst="rect">
            <a:avLst/>
          </a:prstGeom>
          <a:noFill/>
        </p:spPr>
        <p:txBody>
          <a:bodyPr wrap="square" lIns="0" rIns="0" tIns="0" bIns="0">
            <a:spAutoFit/>
          </a:bodyPr>
          <a:lstStyle/>
          <a:p>
            <a:r>
              <a:rPr sz="2600" b="1">
                <a:solidFill>
                  <a:srgbClr val="047857"/>
                </a:solidFill>
                <a:latin typeface="Segoe UI"/>
              </a:rPr>
              <a:t>$6B+ Cap</a:t>
            </a:r>
          </a:p>
          <a:p>
            <a:pPr>
              <a:spcBef>
                <a:spcPts val="300"/>
              </a:spcBef>
            </a:pPr>
            <a:r>
              <a:rPr sz="1000" b="1">
                <a:solidFill>
                  <a:srgbClr val="0F172A"/>
                </a:solidFill>
                <a:latin typeface="Segoe UI"/>
              </a:rPr>
              <a:t>LTTS ER&amp;D Opportunity</a:t>
            </a:r>
          </a:p>
          <a:p>
            <a:pPr>
              <a:spcBef>
                <a:spcPts val="200"/>
              </a:spcBef>
            </a:pPr>
            <a:r>
              <a:rPr sz="850">
                <a:solidFill>
                  <a:srgbClr val="64748B"/>
                </a:solidFill>
                <a:latin typeface="Segoe UI"/>
              </a:rPr>
              <a:t>Pure-play engineering leader positioned upstream [Verified]</a:t>
            </a:r>
          </a:p>
        </p:txBody>
      </p:sp>
      <p:sp>
        <p:nvSpPr>
          <p:cNvPr id="13" name="Rectangle 12"/>
          <p:cNvSpPr/>
          <p:nvPr/>
        </p:nvSpPr>
        <p:spPr>
          <a:xfrm>
            <a:off x="731520" y="2971800"/>
            <a:ext cx="6035040" cy="30632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154680"/>
            <a:ext cx="5577840" cy="2743200"/>
          </a:xfrm>
          <a:prstGeom prst="rect">
            <a:avLst/>
          </a:prstGeom>
          <a:noFill/>
        </p:spPr>
        <p:txBody>
          <a:bodyPr wrap="square" lIns="0" rIns="0" tIns="0" bIns="0">
            <a:spAutoFit/>
          </a:bodyPr>
          <a:lstStyle/>
          <a:p>
            <a:r>
              <a:rPr sz="1100" b="1">
                <a:solidFill>
                  <a:srgbClr val="002B49"/>
                </a:solidFill>
                <a:latin typeface="Segoe UI"/>
              </a:rPr>
              <a:t>THE REVOLUTION: FROM TOKENS TO TORQUES
</a:t>
            </a:r>
          </a:p>
          <a:p>
            <a:pPr>
              <a:spcBef>
                <a:spcPts val="400"/>
              </a:spcBef>
            </a:pPr>
            <a:r>
              <a:rPr sz="1000">
                <a:solidFill>
                  <a:srgbClr val="334155"/>
                </a:solidFill>
                <a:latin typeface="Segoe UI"/>
              </a:rPr>
              <a:t>Physical AI represents the fundamental transition from autoregressive token prediction in static semantic spaces to closed-loop causal interaction with continuous physical dynamics.
</a:t>
            </a:r>
          </a:p>
          <a:p>
            <a:r>
              <a:rPr sz="1000">
                <a:solidFill>
                  <a:srgbClr val="334155"/>
                </a:solidFill>
                <a:latin typeface="Segoe UI"/>
              </a:rPr>
              <a:t>While massive venture capital flows into humanoid robotics OEMs, customer deployments remain bounded pre-production pilots. Meanwhile, simulation software platforms, functional safety test suites, and brownfield systems integration are generating hundreds of millions in high-margin enterprise software licenses and recurring services [Verified].</a:t>
            </a:r>
          </a:p>
        </p:txBody>
      </p:sp>
      <p:sp>
        <p:nvSpPr>
          <p:cNvPr id="15" name="Rectangle 14"/>
          <p:cNvSpPr/>
          <p:nvPr/>
        </p:nvSpPr>
        <p:spPr>
          <a:xfrm>
            <a:off x="6949440" y="2971800"/>
            <a:ext cx="4507992" cy="306324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78040" y="3154680"/>
            <a:ext cx="4050791" cy="2743200"/>
          </a:xfrm>
          <a:prstGeom prst="rect">
            <a:avLst/>
          </a:prstGeom>
          <a:noFill/>
        </p:spPr>
        <p:txBody>
          <a:bodyPr wrap="square" lIns="0" rIns="0" tIns="0" bIns="0">
            <a:spAutoFit/>
          </a:bodyPr>
          <a:lstStyle/>
          <a:p>
            <a:r>
              <a:rPr sz="1100" b="1">
                <a:solidFill>
                  <a:srgbClr val="002B49"/>
                </a:solidFill>
                <a:latin typeface="Segoe UI"/>
              </a:rPr>
              <a:t>LTTS'S STRATEGIC PLAYBOOK
</a:t>
            </a:r>
          </a:p>
          <a:p>
            <a:pPr>
              <a:spcBef>
                <a:spcPts val="600"/>
              </a:spcBef>
            </a:pPr>
            <a:r>
              <a:rPr sz="1000" b="1">
                <a:solidFill>
                  <a:srgbClr val="0F172A"/>
                </a:solidFill>
                <a:latin typeface="Segoe UI"/>
              </a:rPr>
              <a:t>•  No Hardware Manufacturing Drag: </a:t>
            </a:r>
            <a:r>
              <a:rPr sz="950">
                <a:solidFill>
                  <a:srgbClr val="334155"/>
                </a:solidFill>
                <a:latin typeface="Segoe UI"/>
              </a:rPr>
              <a:t>Avoid high BOM and low MTBF commoditizing hardware.</a:t>
            </a:r>
          </a:p>
          <a:p>
            <a:pPr>
              <a:spcBef>
                <a:spcPts val="600"/>
              </a:spcBef>
            </a:pPr>
            <a:r>
              <a:rPr sz="1000" b="1">
                <a:solidFill>
                  <a:srgbClr val="0F172A"/>
                </a:solidFill>
                <a:latin typeface="Segoe UI"/>
              </a:rPr>
              <a:t>•  No Foundation Model Training Drag: </a:t>
            </a:r>
            <a:r>
              <a:rPr sz="950">
                <a:solidFill>
                  <a:srgbClr val="334155"/>
                </a:solidFill>
                <a:latin typeface="Segoe UI"/>
              </a:rPr>
              <a:t>Avoid competing with NVIDIA or DeepMind on 50B models.</a:t>
            </a:r>
          </a:p>
          <a:p>
            <a:pPr>
              <a:spcBef>
                <a:spcPts val="600"/>
              </a:spcBef>
            </a:pPr>
            <a:r>
              <a:rPr sz="1000" b="1">
                <a:solidFill>
                  <a:srgbClr val="0F172A"/>
                </a:solidFill>
                <a:latin typeface="Segoe UI"/>
              </a:rPr>
              <a:t>•  The High-Margin 'Arms Dealer' Role: </a:t>
            </a:r>
            <a:r>
              <a:rPr sz="950">
                <a:solidFill>
                  <a:srgbClr val="334155"/>
                </a:solidFill>
                <a:latin typeface="Segoe UI"/>
              </a:rPr>
              <a:t>Become the Certified Systems Integration, V&amp;V, and Synthetic Data Engine bridging frontier AI with brownfield PLCs.</a:t>
            </a:r>
          </a:p>
        </p:txBody>
      </p:sp>
      <p:sp>
        <p:nvSpPr>
          <p:cNvPr id="17" name="Rectangle 16"/>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LTTS captures high-margin enterprise revenue upstream by acting as the certified bridge between AI models and physical factory floors.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BRIEFING STRUCTURE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Executive Agenda &amp; Architecture</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A structured, 8-part strategic examination of Physical Artificial Intelligence.</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39512" cy="960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874520"/>
            <a:ext cx="777240" cy="219456"/>
          </a:xfrm>
          <a:prstGeom prst="round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02B49"/>
                </a:solidFill>
                <a:latin typeface="Segoe UI"/>
              </a:rPr>
              <a:t>01</a:t>
            </a:r>
          </a:p>
        </p:txBody>
      </p:sp>
      <p:sp>
        <p:nvSpPr>
          <p:cNvPr id="9" name="TextBox 8"/>
          <p:cNvSpPr txBox="1"/>
          <p:nvPr/>
        </p:nvSpPr>
        <p:spPr>
          <a:xfrm>
            <a:off x="1508760" y="1828800"/>
            <a:ext cx="4325112" cy="731520"/>
          </a:xfrm>
          <a:prstGeom prst="rect">
            <a:avLst/>
          </a:prstGeom>
          <a:noFill/>
        </p:spPr>
        <p:txBody>
          <a:bodyPr wrap="square" lIns="0" rIns="0" tIns="0" bIns="0">
            <a:spAutoFit/>
          </a:bodyPr>
          <a:lstStyle/>
          <a:p>
            <a:r>
              <a:rPr sz="1100" b="1">
                <a:solidFill>
                  <a:srgbClr val="0F172A"/>
                </a:solidFill>
                <a:latin typeface="Segoe UI"/>
              </a:rPr>
              <a:t>Commercial State Mapping
</a:t>
            </a:r>
            <a:r>
              <a:rPr sz="900">
                <a:solidFill>
                  <a:srgbClr val="64748B"/>
                </a:solidFill>
                <a:latin typeface="Segoe UI"/>
              </a:rPr>
              <a:t>Capital deployment, maturity tiers, and the hardware vs software asymmetry.</a:t>
            </a:r>
          </a:p>
        </p:txBody>
      </p:sp>
      <p:sp>
        <p:nvSpPr>
          <p:cNvPr id="10" name="Rectangle 9"/>
          <p:cNvSpPr/>
          <p:nvPr/>
        </p:nvSpPr>
        <p:spPr>
          <a:xfrm>
            <a:off x="6217920" y="1691640"/>
            <a:ext cx="5239512" cy="960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55080" y="1874520"/>
            <a:ext cx="777240" cy="219456"/>
          </a:xfrm>
          <a:prstGeom prst="round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02B49"/>
                </a:solidFill>
                <a:latin typeface="Segoe UI"/>
              </a:rPr>
              <a:t>02</a:t>
            </a:r>
          </a:p>
        </p:txBody>
      </p:sp>
      <p:sp>
        <p:nvSpPr>
          <p:cNvPr id="12" name="TextBox 11"/>
          <p:cNvSpPr txBox="1"/>
          <p:nvPr/>
        </p:nvSpPr>
        <p:spPr>
          <a:xfrm>
            <a:off x="6995159" y="1828800"/>
            <a:ext cx="4325112" cy="731520"/>
          </a:xfrm>
          <a:prstGeom prst="rect">
            <a:avLst/>
          </a:prstGeom>
          <a:noFill/>
        </p:spPr>
        <p:txBody>
          <a:bodyPr wrap="square" lIns="0" rIns="0" tIns="0" bIns="0">
            <a:spAutoFit/>
          </a:bodyPr>
          <a:lstStyle/>
          <a:p>
            <a:r>
              <a:rPr sz="1100" b="1">
                <a:solidFill>
                  <a:srgbClr val="0F172A"/>
                </a:solidFill>
                <a:latin typeface="Segoe UI"/>
              </a:rPr>
              <a:t>Frontier Research &amp; Bottlenecks
</a:t>
            </a:r>
            <a:r>
              <a:rPr sz="900">
                <a:solidFill>
                  <a:srgbClr val="64748B"/>
                </a:solidFill>
                <a:latin typeface="Segoe UI"/>
              </a:rPr>
              <a:t>Flow matching, 3D world models, failure modes, and Pearl's Causal Ladder.</a:t>
            </a:r>
          </a:p>
        </p:txBody>
      </p:sp>
      <p:sp>
        <p:nvSpPr>
          <p:cNvPr id="13" name="Rectangle 12"/>
          <p:cNvSpPr/>
          <p:nvPr/>
        </p:nvSpPr>
        <p:spPr>
          <a:xfrm>
            <a:off x="731520" y="2770632"/>
            <a:ext cx="5239512" cy="960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2953512"/>
            <a:ext cx="777240" cy="219456"/>
          </a:xfrm>
          <a:prstGeom prst="round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02B49"/>
                </a:solidFill>
                <a:latin typeface="Segoe UI"/>
              </a:rPr>
              <a:t>03</a:t>
            </a:r>
          </a:p>
        </p:txBody>
      </p:sp>
      <p:sp>
        <p:nvSpPr>
          <p:cNvPr id="15" name="TextBox 14"/>
          <p:cNvSpPr txBox="1"/>
          <p:nvPr/>
        </p:nvSpPr>
        <p:spPr>
          <a:xfrm>
            <a:off x="1508760" y="2907792"/>
            <a:ext cx="4325112" cy="731520"/>
          </a:xfrm>
          <a:prstGeom prst="rect">
            <a:avLst/>
          </a:prstGeom>
          <a:noFill/>
        </p:spPr>
        <p:txBody>
          <a:bodyPr wrap="square" lIns="0" rIns="0" tIns="0" bIns="0">
            <a:spAutoFit/>
          </a:bodyPr>
          <a:lstStyle/>
          <a:p>
            <a:r>
              <a:rPr sz="1100" b="1">
                <a:solidFill>
                  <a:srgbClr val="0F172A"/>
                </a:solidFill>
                <a:latin typeface="Segoe UI"/>
              </a:rPr>
              <a:t>Commercialization &amp; LTTS Playbook
</a:t>
            </a:r>
            <a:r>
              <a:rPr sz="900">
                <a:solidFill>
                  <a:srgbClr val="64748B"/>
                </a:solidFill>
                <a:latin typeface="Segoe UI"/>
              </a:rPr>
              <a:t>Deal economics, contract sizes, and LTTS's 4 core service offerings.</a:t>
            </a:r>
          </a:p>
        </p:txBody>
      </p:sp>
      <p:sp>
        <p:nvSpPr>
          <p:cNvPr id="16" name="Rectangle 15"/>
          <p:cNvSpPr/>
          <p:nvPr/>
        </p:nvSpPr>
        <p:spPr>
          <a:xfrm>
            <a:off x="6217920" y="2770632"/>
            <a:ext cx="5239512" cy="960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55080" y="2953512"/>
            <a:ext cx="777240" cy="219456"/>
          </a:xfrm>
          <a:prstGeom prst="round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02B49"/>
                </a:solidFill>
                <a:latin typeface="Segoe UI"/>
              </a:rPr>
              <a:t>04</a:t>
            </a:r>
          </a:p>
        </p:txBody>
      </p:sp>
      <p:sp>
        <p:nvSpPr>
          <p:cNvPr id="18" name="TextBox 17"/>
          <p:cNvSpPr txBox="1"/>
          <p:nvPr/>
        </p:nvSpPr>
        <p:spPr>
          <a:xfrm>
            <a:off x="6995159" y="2907792"/>
            <a:ext cx="4325112" cy="731520"/>
          </a:xfrm>
          <a:prstGeom prst="rect">
            <a:avLst/>
          </a:prstGeom>
          <a:noFill/>
        </p:spPr>
        <p:txBody>
          <a:bodyPr wrap="square" lIns="0" rIns="0" tIns="0" bIns="0">
            <a:spAutoFit/>
          </a:bodyPr>
          <a:lstStyle/>
          <a:p>
            <a:r>
              <a:rPr sz="1100" b="1">
                <a:solidFill>
                  <a:srgbClr val="0F172A"/>
                </a:solidFill>
                <a:latin typeface="Segoe UI"/>
              </a:rPr>
              <a:t>Production Reality vs. Hype
</a:t>
            </a:r>
            <a:r>
              <a:rPr sz="900">
                <a:solidFill>
                  <a:srgbClr val="64748B"/>
                </a:solidFill>
                <a:latin typeface="Segoe UI"/>
              </a:rPr>
              <a:t>Verified multi-sector deployments vs ungrounded humanoid marketing claims.</a:t>
            </a:r>
          </a:p>
        </p:txBody>
      </p:sp>
      <p:sp>
        <p:nvSpPr>
          <p:cNvPr id="19" name="Rectangle 18"/>
          <p:cNvSpPr/>
          <p:nvPr/>
        </p:nvSpPr>
        <p:spPr>
          <a:xfrm>
            <a:off x="731520" y="3849624"/>
            <a:ext cx="5239512" cy="960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8680" y="4032504"/>
            <a:ext cx="777240" cy="219456"/>
          </a:xfrm>
          <a:prstGeom prst="round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02B49"/>
                </a:solidFill>
                <a:latin typeface="Segoe UI"/>
              </a:rPr>
              <a:t>05</a:t>
            </a:r>
          </a:p>
        </p:txBody>
      </p:sp>
      <p:sp>
        <p:nvSpPr>
          <p:cNvPr id="21" name="TextBox 20"/>
          <p:cNvSpPr txBox="1"/>
          <p:nvPr/>
        </p:nvSpPr>
        <p:spPr>
          <a:xfrm>
            <a:off x="1508760" y="3986784"/>
            <a:ext cx="4325112" cy="731520"/>
          </a:xfrm>
          <a:prstGeom prst="rect">
            <a:avLst/>
          </a:prstGeom>
          <a:noFill/>
        </p:spPr>
        <p:txBody>
          <a:bodyPr wrap="square" lIns="0" rIns="0" tIns="0" bIns="0">
            <a:spAutoFit/>
          </a:bodyPr>
          <a:lstStyle/>
          <a:p>
            <a:r>
              <a:rPr sz="1100" b="1">
                <a:solidFill>
                  <a:srgbClr val="0F172A"/>
                </a:solidFill>
                <a:latin typeface="Segoe UI"/>
              </a:rPr>
              <a:t>Layered Competitive Landscape
</a:t>
            </a:r>
            <a:r>
              <a:rPr sz="900">
                <a:solidFill>
                  <a:srgbClr val="64748B"/>
                </a:solidFill>
                <a:latin typeface="Segoe UI"/>
              </a:rPr>
              <a:t>5 industry layers, incumbent dynamics, and high-value underserved gaps.</a:t>
            </a:r>
          </a:p>
        </p:txBody>
      </p:sp>
      <p:sp>
        <p:nvSpPr>
          <p:cNvPr id="22" name="Rectangle 21"/>
          <p:cNvSpPr/>
          <p:nvPr/>
        </p:nvSpPr>
        <p:spPr>
          <a:xfrm>
            <a:off x="6217920" y="3849624"/>
            <a:ext cx="5239512" cy="960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55080" y="4032504"/>
            <a:ext cx="777240" cy="219456"/>
          </a:xfrm>
          <a:prstGeom prst="round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02B49"/>
                </a:solidFill>
                <a:latin typeface="Segoe UI"/>
              </a:rPr>
              <a:t>06</a:t>
            </a:r>
          </a:p>
        </p:txBody>
      </p:sp>
      <p:sp>
        <p:nvSpPr>
          <p:cNvPr id="24" name="TextBox 23"/>
          <p:cNvSpPr txBox="1"/>
          <p:nvPr/>
        </p:nvSpPr>
        <p:spPr>
          <a:xfrm>
            <a:off x="6995159" y="3986784"/>
            <a:ext cx="4325112" cy="731520"/>
          </a:xfrm>
          <a:prstGeom prst="rect">
            <a:avLst/>
          </a:prstGeom>
          <a:noFill/>
        </p:spPr>
        <p:txBody>
          <a:bodyPr wrap="square" lIns="0" rIns="0" tIns="0" bIns="0">
            <a:spAutoFit/>
          </a:bodyPr>
          <a:lstStyle/>
          <a:p>
            <a:r>
              <a:rPr sz="1100" b="1">
                <a:solidFill>
                  <a:srgbClr val="0F172A"/>
                </a:solidFill>
                <a:latin typeface="Segoe UI"/>
              </a:rPr>
              <a:t>The Industrial AI -&gt; Physical AI Bridge
</a:t>
            </a:r>
            <a:r>
              <a:rPr sz="900">
                <a:solidFill>
                  <a:srgbClr val="64748B"/>
                </a:solidFill>
                <a:latin typeface="Segoe UI"/>
              </a:rPr>
              <a:t>Evolution vs category split, formal kinematics Jacobian moat, and data flywheel.</a:t>
            </a:r>
          </a:p>
        </p:txBody>
      </p:sp>
      <p:sp>
        <p:nvSpPr>
          <p:cNvPr id="25" name="Rectangle 24"/>
          <p:cNvSpPr/>
          <p:nvPr/>
        </p:nvSpPr>
        <p:spPr>
          <a:xfrm>
            <a:off x="731520" y="4928616"/>
            <a:ext cx="5239512" cy="960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68680" y="5111496"/>
            <a:ext cx="777240" cy="219456"/>
          </a:xfrm>
          <a:prstGeom prst="round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02B49"/>
                </a:solidFill>
                <a:latin typeface="Segoe UI"/>
              </a:rPr>
              <a:t>07</a:t>
            </a:r>
          </a:p>
        </p:txBody>
      </p:sp>
      <p:sp>
        <p:nvSpPr>
          <p:cNvPr id="27" name="TextBox 26"/>
          <p:cNvSpPr txBox="1"/>
          <p:nvPr/>
        </p:nvSpPr>
        <p:spPr>
          <a:xfrm>
            <a:off x="1508760" y="5065776"/>
            <a:ext cx="4325112" cy="731520"/>
          </a:xfrm>
          <a:prstGeom prst="rect">
            <a:avLst/>
          </a:prstGeom>
          <a:noFill/>
        </p:spPr>
        <p:txBody>
          <a:bodyPr wrap="square" lIns="0" rIns="0" tIns="0" bIns="0">
            <a:spAutoFit/>
          </a:bodyPr>
          <a:lstStyle/>
          <a:p>
            <a:r>
              <a:rPr sz="1100" b="1">
                <a:solidFill>
                  <a:srgbClr val="0F172A"/>
                </a:solidFill>
                <a:latin typeface="Segoe UI"/>
              </a:rPr>
              <a:t>3-5 Year Structural Forecast
</a:t>
            </a:r>
            <a:r>
              <a:rPr sz="900">
                <a:solidFill>
                  <a:srgbClr val="64748B"/>
                </a:solidFill>
                <a:latin typeface="Segoe UI"/>
              </a:rPr>
              <a:t>Market commoditization, foundation consolidation, and regulatory wildcards.</a:t>
            </a:r>
          </a:p>
        </p:txBody>
      </p:sp>
      <p:sp>
        <p:nvSpPr>
          <p:cNvPr id="28" name="Rectangle 27"/>
          <p:cNvSpPr/>
          <p:nvPr/>
        </p:nvSpPr>
        <p:spPr>
          <a:xfrm>
            <a:off x="6217920" y="4928616"/>
            <a:ext cx="5239512" cy="960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55080" y="5111496"/>
            <a:ext cx="777240" cy="219456"/>
          </a:xfrm>
          <a:prstGeom prst="roundRect">
            <a:avLst/>
          </a:prstGeom>
          <a:solidFill>
            <a:srgbClr val="F1F5F9"/>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50" b="1">
                <a:solidFill>
                  <a:srgbClr val="002B49"/>
                </a:solidFill>
                <a:latin typeface="Segoe UI"/>
              </a:rPr>
              <a:t>08</a:t>
            </a:r>
          </a:p>
        </p:txBody>
      </p:sp>
      <p:sp>
        <p:nvSpPr>
          <p:cNvPr id="30" name="TextBox 29"/>
          <p:cNvSpPr txBox="1"/>
          <p:nvPr/>
        </p:nvSpPr>
        <p:spPr>
          <a:xfrm>
            <a:off x="6995159" y="5065776"/>
            <a:ext cx="4325112" cy="731520"/>
          </a:xfrm>
          <a:prstGeom prst="rect">
            <a:avLst/>
          </a:prstGeom>
          <a:noFill/>
        </p:spPr>
        <p:txBody>
          <a:bodyPr wrap="square" lIns="0" rIns="0" tIns="0" bIns="0">
            <a:spAutoFit/>
          </a:bodyPr>
          <a:lstStyle/>
          <a:p>
            <a:r>
              <a:rPr sz="1100" b="1">
                <a:solidFill>
                  <a:srgbClr val="0F172A"/>
                </a:solidFill>
                <a:latin typeface="Segoe UI"/>
              </a:rPr>
              <a:t>Integrated LTTS Recommendations
</a:t>
            </a:r>
            <a:r>
              <a:rPr sz="900">
                <a:solidFill>
                  <a:srgbClr val="64748B"/>
                </a:solidFill>
                <a:latin typeface="Segoe UI"/>
              </a:rPr>
              <a:t>Sequenced priorities (V&amp;V, Alliances, Synthetic Data, CoE) with bottom-up budgets.</a:t>
            </a:r>
          </a:p>
        </p:txBody>
      </p:sp>
      <p:sp>
        <p:nvSpPr>
          <p:cNvPr id="31" name="Rectangle 30"/>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Plus Appendices: Comprehensive Sources &amp; Citations Index and the Adversarial Self-Critique / Downgrade 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7315200" cy="274320"/>
          </a:xfrm>
          <a:prstGeom prst="rect">
            <a:avLst/>
          </a:prstGeom>
          <a:noFill/>
        </p:spPr>
        <p:txBody>
          <a:bodyPr wrap="none" lIns="0" rIns="0" tIns="0" bIns="0">
            <a:spAutoFit/>
          </a:bodyPr>
          <a:lstStyle/>
          <a:p>
            <a:r>
              <a:rPr sz="900" b="1">
                <a:solidFill>
                  <a:srgbClr val="B45309"/>
                </a:solidFill>
                <a:latin typeface="Segoe UI"/>
              </a:rPr>
              <a:t>MODULE 01 · STRATEGIC FOCUS</a:t>
            </a:r>
          </a:p>
        </p:txBody>
      </p:sp>
      <p:sp>
        <p:nvSpPr>
          <p:cNvPr id="4" name="TextBox 3"/>
          <p:cNvSpPr txBox="1"/>
          <p:nvPr/>
        </p:nvSpPr>
        <p:spPr>
          <a:xfrm>
            <a:off x="914400" y="1463040"/>
            <a:ext cx="10058400" cy="1371600"/>
          </a:xfrm>
          <a:prstGeom prst="rect">
            <a:avLst/>
          </a:prstGeom>
          <a:noFill/>
        </p:spPr>
        <p:txBody>
          <a:bodyPr wrap="square" lIns="0" rIns="0" tIns="0" bIns="0">
            <a:spAutoFit/>
          </a:bodyPr>
          <a:lstStyle/>
          <a:p>
            <a:r>
              <a:rPr sz="3600" b="1">
                <a:solidFill>
                  <a:srgbClr val="FFFFFF"/>
                </a:solidFill>
                <a:latin typeface="Segoe UI"/>
              </a:rPr>
              <a:t>Current State of Physical AI</a:t>
            </a:r>
          </a:p>
          <a:p>
            <a:pPr>
              <a:spcBef>
                <a:spcPts val="600"/>
              </a:spcBef>
            </a:pPr>
            <a:r>
              <a:rPr sz="1400">
                <a:solidFill>
                  <a:srgbClr val="93C5FD"/>
                </a:solidFill>
                <a:latin typeface="Segoe UI"/>
              </a:rPr>
              <a:t>Commercial State Mapping, Disclosed Capital, and Maturity Asymmetry</a:t>
            </a:r>
          </a:p>
        </p:txBody>
      </p:sp>
      <p:sp>
        <p:nvSpPr>
          <p:cNvPr id="5" name="Rectangle 4"/>
          <p:cNvSpPr/>
          <p:nvPr/>
        </p:nvSpPr>
        <p:spPr>
          <a:xfrm>
            <a:off x="914400" y="3108960"/>
            <a:ext cx="73152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83280"/>
            <a:ext cx="9144000" cy="2743200"/>
          </a:xfrm>
          <a:prstGeom prst="rect">
            <a:avLst/>
          </a:prstGeom>
          <a:noFill/>
        </p:spPr>
        <p:txBody>
          <a:bodyPr wrap="square" lIns="0" rIns="0" tIns="0" bIns="0">
            <a:spAutoFit/>
          </a:bodyPr>
          <a:lstStyle/>
          <a:p>
            <a:r>
              <a:rPr sz="1200" b="1">
                <a:solidFill>
                  <a:srgbClr val="B45309"/>
                </a:solidFill>
                <a:latin typeface="Segoe UI"/>
              </a:rPr>
              <a:t>—   </a:t>
            </a:r>
            <a:r>
              <a:rPr sz="1200">
                <a:solidFill>
                  <a:srgbClr val="F1F5F9"/>
                </a:solidFill>
                <a:latin typeface="Segoe UI"/>
              </a:rPr>
              <a:t>Segmenting commercial reality into three strict operational tiers</a:t>
            </a:r>
          </a:p>
          <a:p>
            <a:pPr>
              <a:spcBef>
                <a:spcPts val="800"/>
              </a:spcBef>
            </a:pPr>
            <a:r>
              <a:rPr sz="1200" b="1">
                <a:solidFill>
                  <a:srgbClr val="B45309"/>
                </a:solidFill>
                <a:latin typeface="Segoe UI"/>
              </a:rPr>
              <a:t>—   </a:t>
            </a:r>
            <a:r>
              <a:rPr sz="1200">
                <a:solidFill>
                  <a:srgbClr val="F1F5F9"/>
                </a:solidFill>
                <a:latin typeface="Segoe UI"/>
              </a:rPr>
              <a:t>Disclosed capital deployment matrix across foundational models and simulation</a:t>
            </a:r>
          </a:p>
          <a:p>
            <a:pPr>
              <a:spcBef>
                <a:spcPts val="800"/>
              </a:spcBef>
            </a:pPr>
            <a:r>
              <a:rPr sz="1200" b="1">
                <a:solidFill>
                  <a:srgbClr val="B45309"/>
                </a:solidFill>
                <a:latin typeface="Segoe UI"/>
              </a:rPr>
              <a:t>—   </a:t>
            </a:r>
            <a:r>
              <a:rPr sz="1200">
                <a:solidFill>
                  <a:srgbClr val="F1F5F9"/>
                </a:solidFill>
                <a:latin typeface="Segoe UI"/>
              </a:rPr>
              <a:t>The capital vs. maturity asymmetry: the humanoid capital trap vs. infrastructure software</a:t>
            </a:r>
          </a:p>
          <a:p>
            <a:pPr>
              <a:spcBef>
                <a:spcPts val="800"/>
              </a:spcBef>
            </a:pPr>
            <a:r>
              <a:rPr sz="1200" b="1">
                <a:solidFill>
                  <a:srgbClr val="B45309"/>
                </a:solidFill>
                <a:latin typeface="Segoe UI"/>
              </a:rPr>
              <a:t>—   </a:t>
            </a:r>
            <a:r>
              <a:rPr sz="1200">
                <a:solidFill>
                  <a:srgbClr val="F1F5F9"/>
                </a:solidFill>
                <a:latin typeface="Segoe UI"/>
              </a:rPr>
              <a:t>Strategic implications for LTTS's upstream positioning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1 · COMMERCIAL STATE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Operational Segmentation: Three Maturity Tiers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Separating verifiable production reality from vendor marketing claims.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3364992"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892808"/>
            <a:ext cx="777240" cy="219456"/>
          </a:xfrm>
          <a:prstGeom prst="roundRect">
            <a:avLst/>
          </a:prstGeom>
          <a:solidFill>
            <a:srgbClr val="D1FAE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047857"/>
                </a:solidFill>
                <a:latin typeface="Segoe UI"/>
              </a:rPr>
              <a:t>TIER 1</a:t>
            </a:r>
          </a:p>
        </p:txBody>
      </p:sp>
      <p:sp>
        <p:nvSpPr>
          <p:cNvPr id="10" name="TextBox 9"/>
          <p:cNvSpPr txBox="1"/>
          <p:nvPr/>
        </p:nvSpPr>
        <p:spPr>
          <a:xfrm>
            <a:off x="914400" y="2240280"/>
            <a:ext cx="2999232" cy="777240"/>
          </a:xfrm>
          <a:prstGeom prst="rect">
            <a:avLst/>
          </a:prstGeom>
          <a:noFill/>
        </p:spPr>
        <p:txBody>
          <a:bodyPr wrap="square" lIns="0" rIns="0" tIns="0" bIns="0">
            <a:spAutoFit/>
          </a:bodyPr>
          <a:lstStyle/>
          <a:p>
            <a:r>
              <a:rPr sz="1250" b="1">
                <a:solidFill>
                  <a:srgbClr val="0F172A"/>
                </a:solidFill>
                <a:latin typeface="Segoe UI"/>
              </a:rPr>
              <a:t>Commercial Production at Scale
</a:t>
            </a:r>
            <a:r>
              <a:rPr sz="900" b="1">
                <a:solidFill>
                  <a:srgbClr val="047857"/>
                </a:solidFill>
                <a:latin typeface="Segoe UI"/>
              </a:rPr>
              <a:t>Continuous Revenue &amp; Core Enterprise Workflows</a:t>
            </a:r>
          </a:p>
        </p:txBody>
      </p:sp>
      <p:sp>
        <p:nvSpPr>
          <p:cNvPr id="11" name="TextBox 10"/>
          <p:cNvSpPr txBox="1"/>
          <p:nvPr/>
        </p:nvSpPr>
        <p:spPr>
          <a:xfrm>
            <a:off x="914400" y="3108960"/>
            <a:ext cx="2999232" cy="1005840"/>
          </a:xfrm>
          <a:prstGeom prst="rect">
            <a:avLst/>
          </a:prstGeom>
          <a:noFill/>
        </p:spPr>
        <p:txBody>
          <a:bodyPr wrap="square" lIns="0" rIns="0" tIns="0" bIns="0">
            <a:spAutoFit/>
          </a:bodyPr>
          <a:lstStyle/>
          <a:p>
            <a:r>
              <a:rPr sz="900">
                <a:solidFill>
                  <a:srgbClr val="334155"/>
                </a:solidFill>
                <a:latin typeface="Segoe UI"/>
              </a:rPr>
              <a:t>Deployments that operate continuously in production environments, driving core commercial revenue, integrated into live customer operations, and subject to formal commercial SLAs.</a:t>
            </a:r>
          </a:p>
        </p:txBody>
      </p:sp>
      <p:sp>
        <p:nvSpPr>
          <p:cNvPr id="12" name="TextBox 11"/>
          <p:cNvSpPr txBox="1"/>
          <p:nvPr/>
        </p:nvSpPr>
        <p:spPr>
          <a:xfrm>
            <a:off x="914400" y="4206240"/>
            <a:ext cx="2999232" cy="1691640"/>
          </a:xfrm>
          <a:prstGeom prst="rect">
            <a:avLst/>
          </a:prstGeom>
          <a:noFill/>
        </p:spPr>
        <p:txBody>
          <a:bodyPr wrap="square" lIns="0" rIns="0" tIns="0" bIns="0">
            <a:spAutoFit/>
          </a:bodyPr>
          <a:lstStyle/>
          <a:p>
            <a:r>
              <a:rPr sz="850" b="1">
                <a:solidFill>
                  <a:srgbClr val="64748B"/>
                </a:solidFill>
                <a:latin typeface="Segoe UI"/>
              </a:rPr>
              <a:t>NOTABLE EXAMPLES IN 2026:</a:t>
            </a:r>
          </a:p>
          <a:p>
            <a:pPr>
              <a:spcBef>
                <a:spcPts val="400"/>
              </a:spcBef>
            </a:pPr>
            <a:r>
              <a:rPr sz="900" b="1">
                <a:solidFill>
                  <a:srgbClr val="047857"/>
                </a:solidFill>
                <a:latin typeface="Segoe UI"/>
              </a:rPr>
              <a:t>• </a:t>
            </a:r>
            <a:r>
              <a:rPr sz="900">
                <a:solidFill>
                  <a:srgbClr val="334155"/>
                </a:solidFill>
                <a:latin typeface="Segoe UI"/>
              </a:rPr>
              <a:t>Autonomous Driving Motion Planning (Waymo, Tesla, Wayve)</a:t>
            </a:r>
          </a:p>
          <a:p>
            <a:pPr>
              <a:spcBef>
                <a:spcPts val="400"/>
              </a:spcBef>
            </a:pPr>
            <a:r>
              <a:rPr sz="900" b="1">
                <a:solidFill>
                  <a:srgbClr val="047857"/>
                </a:solidFill>
                <a:latin typeface="Segoe UI"/>
              </a:rPr>
              <a:t>• </a:t>
            </a:r>
            <a:r>
              <a:rPr sz="900">
                <a:solidFill>
                  <a:srgbClr val="334155"/>
                </a:solidFill>
                <a:latin typeface="Segoe UI"/>
              </a:rPr>
              <a:t>Industrial Quality &amp; Surface Inspection (TSMC, semiconductor)</a:t>
            </a:r>
          </a:p>
          <a:p>
            <a:pPr>
              <a:spcBef>
                <a:spcPts val="400"/>
              </a:spcBef>
            </a:pPr>
            <a:r>
              <a:rPr sz="900" b="1">
                <a:solidFill>
                  <a:srgbClr val="047857"/>
                </a:solidFill>
                <a:latin typeface="Segoe UI"/>
              </a:rPr>
              <a:t>• </a:t>
            </a:r>
            <a:r>
              <a:rPr sz="900">
                <a:solidFill>
                  <a:srgbClr val="334155"/>
                </a:solidFill>
                <a:latin typeface="Segoe UI"/>
              </a:rPr>
              <a:t>Virtual Simulation &amp; ADAS/ISO Validation (Applied Intuition, NVIDIA)</a:t>
            </a:r>
          </a:p>
        </p:txBody>
      </p:sp>
      <p:sp>
        <p:nvSpPr>
          <p:cNvPr id="13" name="Rectangle 12"/>
          <p:cNvSpPr/>
          <p:nvPr/>
        </p:nvSpPr>
        <p:spPr>
          <a:xfrm>
            <a:off x="4407408"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07408" y="1691640"/>
            <a:ext cx="3364992" cy="2286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90288" y="1892808"/>
            <a:ext cx="777240" cy="219456"/>
          </a:xfrm>
          <a:prstGeom prst="roundRect">
            <a:avLst/>
          </a:prstGeom>
          <a:solidFill>
            <a:srgbClr val="FFEDD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C2410C"/>
                </a:solidFill>
                <a:latin typeface="Segoe UI"/>
              </a:rPr>
              <a:t>TIER 2</a:t>
            </a:r>
          </a:p>
        </p:txBody>
      </p:sp>
      <p:sp>
        <p:nvSpPr>
          <p:cNvPr id="16" name="TextBox 15"/>
          <p:cNvSpPr txBox="1"/>
          <p:nvPr/>
        </p:nvSpPr>
        <p:spPr>
          <a:xfrm>
            <a:off x="4590288" y="2240280"/>
            <a:ext cx="2999232" cy="777240"/>
          </a:xfrm>
          <a:prstGeom prst="rect">
            <a:avLst/>
          </a:prstGeom>
          <a:noFill/>
        </p:spPr>
        <p:txBody>
          <a:bodyPr wrap="square" lIns="0" rIns="0" tIns="0" bIns="0">
            <a:spAutoFit/>
          </a:bodyPr>
          <a:lstStyle/>
          <a:p>
            <a:r>
              <a:rPr sz="1250" b="1">
                <a:solidFill>
                  <a:srgbClr val="0F172A"/>
                </a:solidFill>
                <a:latin typeface="Segoe UI"/>
              </a:rPr>
              <a:t>Active Customer Pilots
</a:t>
            </a:r>
            <a:r>
              <a:rPr sz="900" b="1">
                <a:solidFill>
                  <a:srgbClr val="C2410C"/>
                </a:solidFill>
                <a:latin typeface="Segoe UI"/>
              </a:rPr>
              <a:t>Pre-Production in Strictly Bounded Environments</a:t>
            </a:r>
          </a:p>
        </p:txBody>
      </p:sp>
      <p:sp>
        <p:nvSpPr>
          <p:cNvPr id="17" name="TextBox 16"/>
          <p:cNvSpPr txBox="1"/>
          <p:nvPr/>
        </p:nvSpPr>
        <p:spPr>
          <a:xfrm>
            <a:off x="4590288" y="3108960"/>
            <a:ext cx="2999232" cy="1005840"/>
          </a:xfrm>
          <a:prstGeom prst="rect">
            <a:avLst/>
          </a:prstGeom>
          <a:noFill/>
        </p:spPr>
        <p:txBody>
          <a:bodyPr wrap="square" lIns="0" rIns="0" tIns="0" bIns="0">
            <a:spAutoFit/>
          </a:bodyPr>
          <a:lstStyle/>
          <a:p>
            <a:r>
              <a:rPr sz="900">
                <a:solidFill>
                  <a:srgbClr val="334155"/>
                </a:solidFill>
                <a:latin typeface="Segoe UI"/>
              </a:rPr>
              <a:t>Field evaluations under controlled conditions with human supervision nearby. High media visibility but zero unconstrained production SLA commitments.</a:t>
            </a:r>
          </a:p>
        </p:txBody>
      </p:sp>
      <p:sp>
        <p:nvSpPr>
          <p:cNvPr id="18" name="TextBox 17"/>
          <p:cNvSpPr txBox="1"/>
          <p:nvPr/>
        </p:nvSpPr>
        <p:spPr>
          <a:xfrm>
            <a:off x="4590288" y="4206240"/>
            <a:ext cx="2999232" cy="1691640"/>
          </a:xfrm>
          <a:prstGeom prst="rect">
            <a:avLst/>
          </a:prstGeom>
          <a:noFill/>
        </p:spPr>
        <p:txBody>
          <a:bodyPr wrap="square" lIns="0" rIns="0" tIns="0" bIns="0">
            <a:spAutoFit/>
          </a:bodyPr>
          <a:lstStyle/>
          <a:p>
            <a:r>
              <a:rPr sz="850" b="1">
                <a:solidFill>
                  <a:srgbClr val="64748B"/>
                </a:solidFill>
                <a:latin typeface="Segoe UI"/>
              </a:rPr>
              <a:t>NOTABLE EXAMPLES IN 2026:</a:t>
            </a:r>
          </a:p>
          <a:p>
            <a:pPr>
              <a:spcBef>
                <a:spcPts val="400"/>
              </a:spcBef>
            </a:pPr>
            <a:r>
              <a:rPr sz="900" b="1">
                <a:solidFill>
                  <a:srgbClr val="C2410C"/>
                </a:solidFill>
                <a:latin typeface="Segoe UI"/>
              </a:rPr>
              <a:t>• </a:t>
            </a:r>
            <a:r>
              <a:rPr sz="900">
                <a:solidFill>
                  <a:srgbClr val="334155"/>
                </a:solidFill>
                <a:latin typeface="Segoe UI"/>
              </a:rPr>
              <a:t>Humanoid sheet-metal insertion (Figure AI @ BMW Spartanburg)</a:t>
            </a:r>
          </a:p>
          <a:p>
            <a:pPr>
              <a:spcBef>
                <a:spcPts val="400"/>
              </a:spcBef>
            </a:pPr>
            <a:r>
              <a:rPr sz="900" b="1">
                <a:solidFill>
                  <a:srgbClr val="C2410C"/>
                </a:solidFill>
                <a:latin typeface="Segoe UI"/>
              </a:rPr>
              <a:t>• </a:t>
            </a:r>
            <a:r>
              <a:rPr sz="900">
                <a:solidFill>
                  <a:srgbClr val="334155"/>
                </a:solidFill>
                <a:latin typeface="Segoe UI"/>
              </a:rPr>
              <a:t>Humanoid parts assembly delivery (Apptronik @ Mercedes-Benz)</a:t>
            </a:r>
          </a:p>
          <a:p>
            <a:pPr>
              <a:spcBef>
                <a:spcPts val="400"/>
              </a:spcBef>
            </a:pPr>
            <a:r>
              <a:rPr sz="900" b="1">
                <a:solidFill>
                  <a:srgbClr val="C2410C"/>
                </a:solidFill>
                <a:latin typeface="Segoe UI"/>
              </a:rPr>
              <a:t>• </a:t>
            </a:r>
            <a:r>
              <a:rPr sz="900">
                <a:solidFill>
                  <a:srgbClr val="334155"/>
                </a:solidFill>
                <a:latin typeface="Segoe UI"/>
              </a:rPr>
              <a:t>Bipedal tote handling (Agility Digit @ Amazon BFI1 &amp; GXO)</a:t>
            </a:r>
          </a:p>
          <a:p>
            <a:pPr>
              <a:spcBef>
                <a:spcPts val="400"/>
              </a:spcBef>
            </a:pPr>
            <a:r>
              <a:rPr sz="900" b="1">
                <a:solidFill>
                  <a:srgbClr val="C2410C"/>
                </a:solidFill>
                <a:latin typeface="Segoe UI"/>
              </a:rPr>
              <a:t>• </a:t>
            </a:r>
            <a:r>
              <a:rPr sz="900">
                <a:solidFill>
                  <a:srgbClr val="334155"/>
                </a:solidFill>
                <a:latin typeface="Segoe UI"/>
              </a:rPr>
              <a:t>Floor-loaded container unloading (Boston Dynamics Stretch @ DHL)</a:t>
            </a:r>
          </a:p>
        </p:txBody>
      </p:sp>
      <p:sp>
        <p:nvSpPr>
          <p:cNvPr id="19" name="Rectangle 18"/>
          <p:cNvSpPr/>
          <p:nvPr/>
        </p:nvSpPr>
        <p:spPr>
          <a:xfrm>
            <a:off x="8083296"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3296" y="1691640"/>
            <a:ext cx="3364992" cy="228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66176" y="1892808"/>
            <a:ext cx="777240" cy="219456"/>
          </a:xfrm>
          <a:prstGeom prst="roundRect">
            <a:avLst/>
          </a:prstGeom>
          <a:solidFill>
            <a:srgbClr val="FEE2E2"/>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B91C1C"/>
                </a:solidFill>
                <a:latin typeface="Segoe UI"/>
              </a:rPr>
              <a:t>TIER 3</a:t>
            </a:r>
          </a:p>
        </p:txBody>
      </p:sp>
      <p:sp>
        <p:nvSpPr>
          <p:cNvPr id="22" name="TextBox 21"/>
          <p:cNvSpPr txBox="1"/>
          <p:nvPr/>
        </p:nvSpPr>
        <p:spPr>
          <a:xfrm>
            <a:off x="8266176" y="2240280"/>
            <a:ext cx="2999232" cy="777240"/>
          </a:xfrm>
          <a:prstGeom prst="rect">
            <a:avLst/>
          </a:prstGeom>
          <a:noFill/>
        </p:spPr>
        <p:txBody>
          <a:bodyPr wrap="square" lIns="0" rIns="0" tIns="0" bIns="0">
            <a:spAutoFit/>
          </a:bodyPr>
          <a:lstStyle/>
          <a:p>
            <a:r>
              <a:rPr sz="1250" b="1">
                <a:solidFill>
                  <a:srgbClr val="0F172A"/>
                </a:solidFill>
                <a:latin typeface="Segoe UI"/>
              </a:rPr>
              <a:t>Lab Demonstrations &amp; Claims
</a:t>
            </a:r>
            <a:r>
              <a:rPr sz="900" b="1">
                <a:solidFill>
                  <a:srgbClr val="B91C1C"/>
                </a:solidFill>
                <a:latin typeface="Segoe UI"/>
              </a:rPr>
              <a:t>No Scale Deployment (Unconstrained Research Claims)</a:t>
            </a:r>
          </a:p>
        </p:txBody>
      </p:sp>
      <p:sp>
        <p:nvSpPr>
          <p:cNvPr id="23" name="TextBox 22"/>
          <p:cNvSpPr txBox="1"/>
          <p:nvPr/>
        </p:nvSpPr>
        <p:spPr>
          <a:xfrm>
            <a:off x="8266176" y="3108960"/>
            <a:ext cx="2999232" cy="1005840"/>
          </a:xfrm>
          <a:prstGeom prst="rect">
            <a:avLst/>
          </a:prstGeom>
          <a:noFill/>
        </p:spPr>
        <p:txBody>
          <a:bodyPr wrap="square" lIns="0" rIns="0" tIns="0" bIns="0">
            <a:spAutoFit/>
          </a:bodyPr>
          <a:lstStyle/>
          <a:p>
            <a:r>
              <a:rPr sz="900">
                <a:solidFill>
                  <a:srgbClr val="334155"/>
                </a:solidFill>
                <a:latin typeface="Segoe UI"/>
              </a:rPr>
              <a:t>Controlled laboratory proofs-of-concept. Frequently rely on curated videos, hand-tuned fixtures, or teleoperation assist. No production economic viability.</a:t>
            </a:r>
          </a:p>
        </p:txBody>
      </p:sp>
      <p:sp>
        <p:nvSpPr>
          <p:cNvPr id="24" name="TextBox 23"/>
          <p:cNvSpPr txBox="1"/>
          <p:nvPr/>
        </p:nvSpPr>
        <p:spPr>
          <a:xfrm>
            <a:off x="8266176" y="4206240"/>
            <a:ext cx="2999232" cy="1691640"/>
          </a:xfrm>
          <a:prstGeom prst="rect">
            <a:avLst/>
          </a:prstGeom>
          <a:noFill/>
        </p:spPr>
        <p:txBody>
          <a:bodyPr wrap="square" lIns="0" rIns="0" tIns="0" bIns="0">
            <a:spAutoFit/>
          </a:bodyPr>
          <a:lstStyle/>
          <a:p>
            <a:r>
              <a:rPr sz="850" b="1">
                <a:solidFill>
                  <a:srgbClr val="64748B"/>
                </a:solidFill>
                <a:latin typeface="Segoe UI"/>
              </a:rPr>
              <a:t>NOTABLE EXAMPLES IN 2026:</a:t>
            </a:r>
          </a:p>
          <a:p>
            <a:pPr>
              <a:spcBef>
                <a:spcPts val="400"/>
              </a:spcBef>
            </a:pPr>
            <a:r>
              <a:rPr sz="900" b="1">
                <a:solidFill>
                  <a:srgbClr val="B91C1C"/>
                </a:solidFill>
                <a:latin typeface="Segoe UI"/>
              </a:rPr>
              <a:t>• </a:t>
            </a:r>
            <a:r>
              <a:rPr sz="900">
                <a:solidFill>
                  <a:srgbClr val="334155"/>
                </a:solidFill>
                <a:latin typeface="Segoe UI"/>
              </a:rPr>
              <a:t>Zero-shot precision mechanical assembly (&lt; 0.1mm clearance)</a:t>
            </a:r>
          </a:p>
          <a:p>
            <a:pPr>
              <a:spcBef>
                <a:spcPts val="400"/>
              </a:spcBef>
            </a:pPr>
            <a:r>
              <a:rPr sz="900" b="1">
                <a:solidFill>
                  <a:srgbClr val="B91C1C"/>
                </a:solidFill>
                <a:latin typeface="Segoe UI"/>
              </a:rPr>
              <a:t>• </a:t>
            </a:r>
            <a:r>
              <a:rPr sz="900">
                <a:solidFill>
                  <a:srgbClr val="334155"/>
                </a:solidFill>
                <a:latin typeface="Segoe UI"/>
              </a:rPr>
              <a:t>Unstructured domestic tasks (autonomous laundry, cooking, tidying)</a:t>
            </a:r>
          </a:p>
          <a:p>
            <a:pPr>
              <a:spcBef>
                <a:spcPts val="400"/>
              </a:spcBef>
            </a:pPr>
            <a:r>
              <a:rPr sz="900" b="1">
                <a:solidFill>
                  <a:srgbClr val="B91C1C"/>
                </a:solidFill>
                <a:latin typeface="Segoe UI"/>
              </a:rPr>
              <a:t>• </a:t>
            </a:r>
            <a:r>
              <a:rPr sz="900">
                <a:solidFill>
                  <a:srgbClr val="334155"/>
                </a:solidFill>
                <a:latin typeface="Segoe UI"/>
              </a:rPr>
              <a:t>General-purpose humanoid dexterity in dynamic unmapped environments</a:t>
            </a:r>
          </a:p>
        </p:txBody>
      </p:sp>
      <p:sp>
        <p:nvSpPr>
          <p:cNvPr id="25" name="Rectangle 24"/>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Industrial enterprise buyers only pay for Tier 1 reliability. Pilot novelties (Tier 2) cannot be booked as scalable production revenue.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1 · COMMERCIAL STATE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Tier 1 Deep Dive: Commercial Production at Scale</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Three sectors where Physical AI actively generates recurring commercial revenue.</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3364992"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92808"/>
            <a:ext cx="2999232" cy="868680"/>
          </a:xfrm>
          <a:prstGeom prst="rect">
            <a:avLst/>
          </a:prstGeom>
          <a:noFill/>
        </p:spPr>
        <p:txBody>
          <a:bodyPr wrap="square" lIns="0" rIns="0" tIns="0" bIns="0">
            <a:spAutoFit/>
          </a:bodyPr>
          <a:lstStyle/>
          <a:p>
            <a:r>
              <a:rPr sz="1200" b="1">
                <a:solidFill>
                  <a:srgbClr val="0F172A"/>
                </a:solidFill>
                <a:latin typeface="Segoe UI"/>
              </a:rPr>
              <a:t>Autonomous Driving Neural Motion Planning
</a:t>
            </a:r>
            <a:r>
              <a:rPr sz="900" b="1">
                <a:solidFill>
                  <a:srgbClr val="047857"/>
                </a:solidFill>
                <a:latin typeface="Segoe UI"/>
              </a:rPr>
              <a:t>Continuous Revenue Across Commercial Fleets</a:t>
            </a:r>
          </a:p>
        </p:txBody>
      </p:sp>
      <p:sp>
        <p:nvSpPr>
          <p:cNvPr id="10" name="TextBox 9"/>
          <p:cNvSpPr txBox="1"/>
          <p:nvPr/>
        </p:nvSpPr>
        <p:spPr>
          <a:xfrm>
            <a:off x="914400" y="2834640"/>
            <a:ext cx="2999232" cy="3017520"/>
          </a:xfrm>
          <a:prstGeom prst="rect">
            <a:avLst/>
          </a:prstGeom>
          <a:noFill/>
        </p:spPr>
        <p:txBody>
          <a:bodyPr wrap="square" lIns="0" rIns="0" tIns="0" bIns="0">
            <a:spAutoFit/>
          </a:bodyPr>
          <a:lstStyle/>
          <a:p>
            <a:r>
              <a:rPr sz="950" b="1">
                <a:solidFill>
                  <a:srgbClr val="0F172A"/>
                </a:solidFill>
                <a:latin typeface="Segoe UI"/>
              </a:rPr>
              <a:t>Waymo Commercial Operations:
</a:t>
            </a:r>
            <a:r>
              <a:rPr sz="880">
                <a:solidFill>
                  <a:srgbClr val="334155"/>
                </a:solidFill>
                <a:latin typeface="Segoe UI"/>
              </a:rPr>
              <a:t>Delivering over 150,000 paid commercial robotaxi trips per week across Phoenix, San Francisco, and Los Angeles with &gt;1M autonomous miles weekly. Confirmed in Alphabet Q3 2024 Earnings Call by CEO Sundar Pichai [Verified].</a:t>
            </a:r>
          </a:p>
          <a:p>
            <a:pPr>
              <a:spcBef>
                <a:spcPts val="800"/>
              </a:spcBef>
            </a:pPr>
            <a:r>
              <a:rPr sz="950" b="1">
                <a:solidFill>
                  <a:srgbClr val="0F172A"/>
                </a:solidFill>
                <a:latin typeface="Segoe UI"/>
              </a:rPr>
              <a:t>Tesla End-to-End Neural Driving:
</a:t>
            </a:r>
            <a:r>
              <a:rPr sz="880">
                <a:solidFill>
                  <a:srgbClr val="334155"/>
                </a:solidFill>
                <a:latin typeface="Segoe UI"/>
              </a:rPr>
              <a:t>Deploying full neural network driving across consumer vehicle fleets, replacing rule-based planners with visual policy networks trained on billions of real-world video frames. Confirmed in Tesla Q2 2024 Shareholder Update [Verified].</a:t>
            </a:r>
          </a:p>
          <a:p>
            <a:pPr>
              <a:spcBef>
                <a:spcPts val="800"/>
              </a:spcBef>
            </a:pPr>
            <a:r>
              <a:rPr sz="950" b="1">
                <a:solidFill>
                  <a:srgbClr val="0F172A"/>
                </a:solidFill>
                <a:latin typeface="Segoe UI"/>
              </a:rPr>
              <a:t>Wayve Commercial Delivery:
</a:t>
            </a:r>
            <a:r>
              <a:rPr sz="880">
                <a:solidFill>
                  <a:srgbClr val="334155"/>
                </a:solidFill>
                <a:latin typeface="Segoe UI"/>
              </a:rPr>
              <a:t>Executing commercial grocery delivery trials with Ocado and Asda in the UK, operating end-to-end embodied foundation models in complex urban environments [Reported].</a:t>
            </a:r>
          </a:p>
        </p:txBody>
      </p:sp>
      <p:sp>
        <p:nvSpPr>
          <p:cNvPr id="11" name="Rectangle 10"/>
          <p:cNvSpPr/>
          <p:nvPr/>
        </p:nvSpPr>
        <p:spPr>
          <a:xfrm>
            <a:off x="4407408"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691640"/>
            <a:ext cx="3364992"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892808"/>
            <a:ext cx="2999232" cy="868680"/>
          </a:xfrm>
          <a:prstGeom prst="rect">
            <a:avLst/>
          </a:prstGeom>
          <a:noFill/>
        </p:spPr>
        <p:txBody>
          <a:bodyPr wrap="square" lIns="0" rIns="0" tIns="0" bIns="0">
            <a:spAutoFit/>
          </a:bodyPr>
          <a:lstStyle/>
          <a:p>
            <a:r>
              <a:rPr sz="1200" b="1">
                <a:solidFill>
                  <a:srgbClr val="0F172A"/>
                </a:solidFill>
                <a:latin typeface="Segoe UI"/>
              </a:rPr>
              <a:t>Industrial Quality &amp; Surface Inspection
</a:t>
            </a:r>
            <a:r>
              <a:rPr sz="900" b="1">
                <a:solidFill>
                  <a:srgbClr val="0284C7"/>
                </a:solidFill>
                <a:latin typeface="Segoe UI"/>
              </a:rPr>
              <a:t>High-Throughput Inline Defect Detection</a:t>
            </a:r>
          </a:p>
        </p:txBody>
      </p:sp>
      <p:sp>
        <p:nvSpPr>
          <p:cNvPr id="14" name="TextBox 13"/>
          <p:cNvSpPr txBox="1"/>
          <p:nvPr/>
        </p:nvSpPr>
        <p:spPr>
          <a:xfrm>
            <a:off x="4590288" y="2834640"/>
            <a:ext cx="2999232" cy="3017520"/>
          </a:xfrm>
          <a:prstGeom prst="rect">
            <a:avLst/>
          </a:prstGeom>
          <a:noFill/>
        </p:spPr>
        <p:txBody>
          <a:bodyPr wrap="square" lIns="0" rIns="0" tIns="0" bIns="0">
            <a:spAutoFit/>
          </a:bodyPr>
          <a:lstStyle/>
          <a:p>
            <a:r>
              <a:rPr sz="950" b="1">
                <a:solidFill>
                  <a:srgbClr val="0F172A"/>
                </a:solidFill>
                <a:latin typeface="Segoe UI"/>
              </a:rPr>
              <a:t>TSMC Lithography Defect Pipelines:
</a:t>
            </a:r>
            <a:r>
              <a:rPr sz="880">
                <a:solidFill>
                  <a:srgbClr val="334155"/>
                </a:solidFill>
                <a:latin typeface="Segoe UI"/>
              </a:rPr>
              <a:t>Automated defect classification pipelines utilizing physics-informed vision to detect sub-surface nanoscale wafer defects during high-throughput fabrication [Reported].</a:t>
            </a:r>
          </a:p>
          <a:p>
            <a:pPr>
              <a:spcBef>
                <a:spcPts val="800"/>
              </a:spcBef>
            </a:pPr>
            <a:r>
              <a:rPr sz="950" b="1">
                <a:solidFill>
                  <a:srgbClr val="0F172A"/>
                </a:solidFill>
                <a:latin typeface="Segoe UI"/>
              </a:rPr>
              <a:t>Semiconductor Yield Optimization:
</a:t>
            </a:r>
            <a:r>
              <a:rPr sz="880">
                <a:solidFill>
                  <a:srgbClr val="334155"/>
                </a:solidFill>
                <a:latin typeface="Segoe UI"/>
              </a:rPr>
              <a:t>Closed-loop visual and thermal inspection systems predicting defect propagation across lithography stages, improving yield forecasting and tool uptime [Reported].</a:t>
            </a:r>
          </a:p>
          <a:p>
            <a:pPr>
              <a:spcBef>
                <a:spcPts val="800"/>
              </a:spcBef>
            </a:pPr>
            <a:r>
              <a:rPr sz="950" b="1">
                <a:solidFill>
                  <a:srgbClr val="0F172A"/>
                </a:solidFill>
                <a:latin typeface="Segoe UI"/>
              </a:rPr>
              <a:t>Inline Battery Cell Inspection:
</a:t>
            </a:r>
            <a:r>
              <a:rPr sz="880">
                <a:solidFill>
                  <a:srgbClr val="334155"/>
                </a:solidFill>
                <a:latin typeface="Segoe UI"/>
              </a:rPr>
              <a:t>Deployed at scale in EV battery gigafactories to detect micro-anomalies and weld defects under millisecond cycle times [Verified].</a:t>
            </a:r>
          </a:p>
        </p:txBody>
      </p:sp>
      <p:sp>
        <p:nvSpPr>
          <p:cNvPr id="15" name="Rectangle 14"/>
          <p:cNvSpPr/>
          <p:nvPr/>
        </p:nvSpPr>
        <p:spPr>
          <a:xfrm>
            <a:off x="8083296"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1691640"/>
            <a:ext cx="3364992"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1892808"/>
            <a:ext cx="2999232" cy="868680"/>
          </a:xfrm>
          <a:prstGeom prst="rect">
            <a:avLst/>
          </a:prstGeom>
          <a:noFill/>
        </p:spPr>
        <p:txBody>
          <a:bodyPr wrap="square" lIns="0" rIns="0" tIns="0" bIns="0">
            <a:spAutoFit/>
          </a:bodyPr>
          <a:lstStyle/>
          <a:p>
            <a:r>
              <a:rPr sz="1200" b="1">
                <a:solidFill>
                  <a:srgbClr val="0F172A"/>
                </a:solidFill>
                <a:latin typeface="Segoe UI"/>
              </a:rPr>
              <a:t>Virtual Simulation &amp; ADAS/ISO Validation
</a:t>
            </a:r>
            <a:r>
              <a:rPr sz="900" b="1">
                <a:solidFill>
                  <a:srgbClr val="002B49"/>
                </a:solidFill>
                <a:latin typeface="Segoe UI"/>
              </a:rPr>
              <a:t>Mission-Critical Enterprise Testing Software</a:t>
            </a:r>
          </a:p>
        </p:txBody>
      </p:sp>
      <p:sp>
        <p:nvSpPr>
          <p:cNvPr id="18" name="TextBox 17"/>
          <p:cNvSpPr txBox="1"/>
          <p:nvPr/>
        </p:nvSpPr>
        <p:spPr>
          <a:xfrm>
            <a:off x="8266176" y="2834640"/>
            <a:ext cx="2999232" cy="3017520"/>
          </a:xfrm>
          <a:prstGeom prst="rect">
            <a:avLst/>
          </a:prstGeom>
          <a:noFill/>
        </p:spPr>
        <p:txBody>
          <a:bodyPr wrap="square" lIns="0" rIns="0" tIns="0" bIns="0">
            <a:spAutoFit/>
          </a:bodyPr>
          <a:lstStyle/>
          <a:p>
            <a:r>
              <a:rPr sz="950" b="1">
                <a:solidFill>
                  <a:srgbClr val="0F172A"/>
                </a:solidFill>
                <a:latin typeface="Segoe UI"/>
              </a:rPr>
              <a:t>Applied Intuition Enterprise Suite:
</a:t>
            </a:r>
            <a:r>
              <a:rPr sz="880">
                <a:solidFill>
                  <a:srgbClr val="334155"/>
                </a:solidFill>
                <a:latin typeface="Segoe UI"/>
              </a:rPr>
              <a:t>Powering end-to-end synthetic simulation, sensor modeling, and virtual compliance testing for global automotive Tier-1s and defense primes. Backed by $6B valuation and multi-million ARR [Verified].</a:t>
            </a:r>
          </a:p>
          <a:p>
            <a:pPr>
              <a:spcBef>
                <a:spcPts val="800"/>
              </a:spcBef>
            </a:pPr>
            <a:r>
              <a:rPr sz="950" b="1">
                <a:solidFill>
                  <a:srgbClr val="0F172A"/>
                </a:solidFill>
                <a:latin typeface="Segoe UI"/>
              </a:rPr>
              <a:t>NVIDIA Isaac Sim &amp; Omniverse:
</a:t>
            </a:r>
            <a:r>
              <a:rPr sz="880">
                <a:solidFill>
                  <a:srgbClr val="334155"/>
                </a:solidFill>
                <a:latin typeface="Segoe UI"/>
              </a:rPr>
              <a:t>Enterprise digital twin simulation platform used for virtual commissioning, robot kinematics validation, and synthetic policy training under ISO 26262 and ISO 21448 [Verified].</a:t>
            </a:r>
          </a:p>
          <a:p>
            <a:pPr>
              <a:spcBef>
                <a:spcPts val="800"/>
              </a:spcBef>
            </a:pPr>
            <a:r>
              <a:rPr sz="950" b="1">
                <a:solidFill>
                  <a:srgbClr val="0F172A"/>
                </a:solidFill>
                <a:latin typeface="Segoe UI"/>
              </a:rPr>
              <a:t>Regulatory Safety Compliance:
</a:t>
            </a:r>
            <a:r>
              <a:rPr sz="880">
                <a:solidFill>
                  <a:srgbClr val="334155"/>
                </a:solidFill>
                <a:latin typeface="Segoe UI"/>
              </a:rPr>
              <a:t>Mandatory simulation testing suites replacing millions of risky physical road and factory trials with certified virtual benchmarks [Verified].</a:t>
            </a:r>
          </a:p>
        </p:txBody>
      </p:sp>
      <p:sp>
        <p:nvSpPr>
          <p:cNvPr id="19" name="Rectangle 18"/>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Notice the common denominator: Tier 1 winners sell software, simulation, and specialized mobility services—not unconstrained humanoid hardware.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1 · COMMERCIAL STATE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Tier 2 &amp; Tier 3 Analysis: Bounded Pilots vs. Lab Claims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Evaluating active customer trials and identifying ungrounded marketing claims.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85216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852160" cy="2286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74519"/>
            <a:ext cx="2263139" cy="219456"/>
          </a:xfrm>
          <a:prstGeom prst="roundRect">
            <a:avLst/>
          </a:prstGeom>
          <a:solidFill>
            <a:srgbClr val="FFEDD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C2410C"/>
                </a:solidFill>
                <a:latin typeface="Segoe UI"/>
              </a:rPr>
              <a:t>TIER 2: PRE-PRODUCTION PILOTS</a:t>
            </a:r>
          </a:p>
        </p:txBody>
      </p:sp>
      <p:sp>
        <p:nvSpPr>
          <p:cNvPr id="10" name="TextBox 9"/>
          <p:cNvSpPr txBox="1"/>
          <p:nvPr/>
        </p:nvSpPr>
        <p:spPr>
          <a:xfrm>
            <a:off x="960120" y="2194560"/>
            <a:ext cx="5394960" cy="3657600"/>
          </a:xfrm>
          <a:prstGeom prst="rect">
            <a:avLst/>
          </a:prstGeom>
          <a:noFill/>
        </p:spPr>
        <p:txBody>
          <a:bodyPr wrap="square" lIns="0" rIns="0" tIns="0" bIns="0">
            <a:spAutoFit/>
          </a:bodyPr>
          <a:lstStyle/>
          <a:p>
            <a:r>
              <a:rPr sz="1200" b="1">
                <a:solidFill>
                  <a:srgbClr val="0F172A"/>
                </a:solidFill>
                <a:latin typeface="Segoe UI"/>
              </a:rPr>
              <a:t>Active Enterprise Trials in Bounded Industrial Facilities
</a:t>
            </a:r>
          </a:p>
          <a:p>
            <a:pPr>
              <a:spcBef>
                <a:spcPts val="600"/>
              </a:spcBef>
            </a:pPr>
            <a:r>
              <a:rPr sz="950" b="1">
                <a:solidFill>
                  <a:srgbClr val="0F172A"/>
                </a:solidFill>
                <a:latin typeface="Segoe UI"/>
              </a:rPr>
              <a:t>•  Figure AI at BMW Spartanburg Plant [Verified]: </a:t>
            </a:r>
            <a:r>
              <a:rPr sz="880">
                <a:solidFill>
                  <a:srgbClr val="334155"/>
                </a:solidFill>
                <a:latin typeface="Segoe UI"/>
              </a:rPr>
              <a:t>Piloting Figure 02 humanoid robot for sheet-metal sub-assembly insertion in manufacturing cells. Confirmed in BMW Group Press Release (Aug 2024). Operation remains strictly bounded within staged fixtures with human monitors.</a:t>
            </a:r>
          </a:p>
          <a:p>
            <a:pPr>
              <a:spcBef>
                <a:spcPts val="600"/>
              </a:spcBef>
            </a:pPr>
            <a:r>
              <a:rPr sz="950" b="1">
                <a:solidFill>
                  <a:srgbClr val="0F172A"/>
                </a:solidFill>
                <a:latin typeface="Segoe UI"/>
              </a:rPr>
              <a:t>•  Apptronik Apollo at Mercedes-Benz [Verified]: </a:t>
            </a:r>
            <a:r>
              <a:rPr sz="880">
                <a:solidFill>
                  <a:srgbClr val="334155"/>
                </a:solidFill>
                <a:latin typeface="Segoe UI"/>
              </a:rPr>
              <a:t>Testing Apollo humanoid robots for delivering assembly kits and parts to workers along vehicle assembly lines. Confirmed in Mercedes-Benz Press Release (Mar 2024). Low-speed transport in mapped corridors.</a:t>
            </a:r>
          </a:p>
          <a:p>
            <a:pPr>
              <a:spcBef>
                <a:spcPts val="600"/>
              </a:spcBef>
            </a:pPr>
            <a:r>
              <a:rPr sz="950" b="1">
                <a:solidFill>
                  <a:srgbClr val="0F172A"/>
                </a:solidFill>
                <a:latin typeface="Segoe UI"/>
              </a:rPr>
              <a:t>•  Agility Robotics Digit at Amazon &amp; GXO Logistics [Reported]: </a:t>
            </a:r>
            <a:r>
              <a:rPr sz="880">
                <a:solidFill>
                  <a:srgbClr val="334155"/>
                </a:solidFill>
                <a:latin typeface="Segoe UI"/>
              </a:rPr>
              <a:t>Testing Digit bipedal robots at Amazon's BFI1 fulfillment facility and GXO logistics hubs for empty tote retrieval and replenishment. Constrained paths with bounded payload capacity.</a:t>
            </a:r>
          </a:p>
          <a:p>
            <a:pPr>
              <a:spcBef>
                <a:spcPts val="600"/>
              </a:spcBef>
            </a:pPr>
            <a:r>
              <a:rPr sz="950" b="1">
                <a:solidFill>
                  <a:srgbClr val="0F172A"/>
                </a:solidFill>
                <a:latin typeface="Segoe UI"/>
              </a:rPr>
              <a:t>•  Boston Dynamics Stretch at DHL Supply Chain [Verified]: </a:t>
            </a:r>
            <a:r>
              <a:rPr sz="880">
                <a:solidFill>
                  <a:srgbClr val="334155"/>
                </a:solidFill>
                <a:latin typeface="Segoe UI"/>
              </a:rPr>
              <a:t>Deploying Stretch mobile manipulation arms for unloading floor-loaded shipping containers at DHL distribution facilities. High reliability in box picking but single-task specialized form factor.</a:t>
            </a:r>
          </a:p>
        </p:txBody>
      </p:sp>
      <p:sp>
        <p:nvSpPr>
          <p:cNvPr id="11" name="Rectangle 10"/>
          <p:cNvSpPr/>
          <p:nvPr/>
        </p:nvSpPr>
        <p:spPr>
          <a:xfrm>
            <a:off x="6885432" y="1691640"/>
            <a:ext cx="457200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85432" y="1691640"/>
            <a:ext cx="4572000" cy="228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4032" y="1874519"/>
            <a:ext cx="1988819" cy="219456"/>
          </a:xfrm>
          <a:prstGeom prst="roundRect">
            <a:avLst/>
          </a:prstGeom>
          <a:solidFill>
            <a:srgbClr val="FEE2E2"/>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B91C1C"/>
                </a:solidFill>
                <a:latin typeface="Segoe UI"/>
              </a:rPr>
              <a:t>TIER 3: LAB CLAIMS &amp; HYPE</a:t>
            </a:r>
          </a:p>
        </p:txBody>
      </p:sp>
      <p:sp>
        <p:nvSpPr>
          <p:cNvPr id="14" name="TextBox 13"/>
          <p:cNvSpPr txBox="1"/>
          <p:nvPr/>
        </p:nvSpPr>
        <p:spPr>
          <a:xfrm>
            <a:off x="7114032" y="2194560"/>
            <a:ext cx="4114800" cy="3657600"/>
          </a:xfrm>
          <a:prstGeom prst="rect">
            <a:avLst/>
          </a:prstGeom>
          <a:noFill/>
        </p:spPr>
        <p:txBody>
          <a:bodyPr wrap="square" lIns="0" rIns="0" tIns="0" bIns="0">
            <a:spAutoFit/>
          </a:bodyPr>
          <a:lstStyle/>
          <a:p>
            <a:r>
              <a:rPr sz="1200" b="1">
                <a:solidFill>
                  <a:srgbClr val="0F172A"/>
                </a:solidFill>
                <a:latin typeface="Segoe UI"/>
              </a:rPr>
              <a:t>Unconstrained Claims with Zero Production Scale
</a:t>
            </a:r>
          </a:p>
          <a:p>
            <a:pPr>
              <a:spcBef>
                <a:spcPts val="800"/>
              </a:spcBef>
            </a:pPr>
            <a:r>
              <a:rPr sz="950" b="1">
                <a:solidFill>
                  <a:srgbClr val="B91C1C"/>
                </a:solidFill>
                <a:latin typeface="Segoe UI"/>
              </a:rPr>
              <a:t>⚠  Zero-Shot Precision Assembly (&lt;0.1mm) [Speculative]
</a:t>
            </a:r>
            <a:r>
              <a:rPr sz="880">
                <a:solidFill>
                  <a:srgbClr val="334155"/>
                </a:solidFill>
                <a:latin typeface="Segoe UI"/>
              </a:rPr>
              <a:t>Claims of transferring tight-tolerance mechanical assembly (&lt;0.1mm clearance) directly from simulation to real production cells without physical recalibration or fine-tuning. Contact friction breaks sim-to-real transfer.</a:t>
            </a:r>
          </a:p>
          <a:p>
            <a:pPr>
              <a:spcBef>
                <a:spcPts val="800"/>
              </a:spcBef>
            </a:pPr>
            <a:r>
              <a:rPr sz="950" b="1">
                <a:solidFill>
                  <a:srgbClr val="B91C1C"/>
                </a:solidFill>
                <a:latin typeface="Segoe UI"/>
              </a:rPr>
              <a:t>⚠  Unstructured Multi-Step Domestic Tasks [Reported]
</a:t>
            </a:r>
            <a:r>
              <a:rPr sz="880">
                <a:solidFill>
                  <a:srgbClr val="334155"/>
                </a:solidFill>
                <a:latin typeface="Segoe UI"/>
              </a:rPr>
              <a:t>Autonomous laundry folding, table clearing, or cooking without pre-scanned 3D maps or fixed fixtures. Demos consistently mask human teleoperation or curate 1-in-20 successful runs.</a:t>
            </a:r>
          </a:p>
          <a:p>
            <a:pPr>
              <a:spcBef>
                <a:spcPts val="800"/>
              </a:spcBef>
            </a:pPr>
            <a:r>
              <a:rPr sz="950" b="1">
                <a:solidFill>
                  <a:srgbClr val="B91C1C"/>
                </a:solidFill>
                <a:latin typeface="Segoe UI"/>
              </a:rPr>
              <a:t>⚠  Universal Dexterity Humanoid Workers [Speculative]
</a:t>
            </a:r>
            <a:r>
              <a:rPr sz="880">
                <a:solidFill>
                  <a:srgbClr val="334155"/>
                </a:solidFill>
                <a:latin typeface="Segoe UI"/>
              </a:rPr>
              <a:t>Claims that humanoids can replace general factory labor within 24 months. Overlooks the tactile sensing deficit, actuator thermal degradation, and &lt;60s takt time requirements.</a:t>
            </a:r>
          </a:p>
        </p:txBody>
      </p:sp>
      <p:sp>
        <p:nvSpPr>
          <p:cNvPr id="15" name="Rectangle 14"/>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Tier 2 pilots validate physical feasibility in bounded cells, but cannot yet meet unconstrained enterprise plant reliability standards.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1 · COMMERCIAL STATE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Disclosed Capital Matrix: Foundation Models &amp; Humanoids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Over $2.2B in venture capital has poured into frontier robotics foundation model startups.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10725912" cy="8046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01368"/>
            <a:ext cx="10451592" cy="585216"/>
          </a:xfrm>
          <a:prstGeom prst="rect">
            <a:avLst/>
          </a:prstGeom>
          <a:noFill/>
        </p:spPr>
        <p:txBody>
          <a:bodyPr wrap="square" lIns="0" rIns="0" tIns="0" bIns="0">
            <a:spAutoFit/>
          </a:bodyPr>
          <a:lstStyle/>
          <a:p>
            <a:r>
              <a:rPr sz="1200" b="1">
                <a:solidFill>
                  <a:srgbClr val="0F172A"/>
                </a:solidFill>
                <a:latin typeface="Segoe UI"/>
              </a:rPr>
              <a:t>Wayve  </a:t>
            </a:r>
            <a:r>
              <a:rPr sz="1000" b="1">
                <a:solidFill>
                  <a:srgbClr val="0A58CA"/>
                </a:solidFill>
                <a:latin typeface="Segoe UI"/>
              </a:rPr>
              <a:t>($1.05B Series C, May 2024)  ·  </a:t>
            </a:r>
            <a:r>
              <a:rPr sz="900" b="1">
                <a:solidFill>
                  <a:srgbClr val="047857"/>
                </a:solidFill>
                <a:latin typeface="Segoe UI"/>
              </a:rPr>
              <a:t>[Verified]</a:t>
            </a:r>
          </a:p>
          <a:p>
            <a:pPr>
              <a:spcBef>
                <a:spcPts val="300"/>
              </a:spcBef>
            </a:pPr>
            <a:r>
              <a:rPr sz="900" b="1">
                <a:solidFill>
                  <a:srgbClr val="64748B"/>
                </a:solidFill>
                <a:latin typeface="Segoe UI"/>
              </a:rPr>
              <a:t>Lead Investors: </a:t>
            </a:r>
            <a:r>
              <a:rPr sz="900">
                <a:solidFill>
                  <a:srgbClr val="334155"/>
                </a:solidFill>
                <a:latin typeface="Segoe UI"/>
              </a:rPr>
              <a:t>SoftBank Group, NVIDIA, Microsoft   |   </a:t>
            </a:r>
            <a:r>
              <a:rPr sz="900" b="1">
                <a:solidFill>
                  <a:srgbClr val="64748B"/>
                </a:solidFill>
                <a:latin typeface="Segoe UI"/>
              </a:rPr>
              <a:t>Commercial Status: </a:t>
            </a:r>
            <a:r>
              <a:rPr sz="900">
                <a:solidFill>
                  <a:srgbClr val="334155"/>
                </a:solidFill>
                <a:latin typeface="Segoe UI"/>
              </a:rPr>
              <a:t>Pilot / Early Production (Driving)</a:t>
            </a:r>
          </a:p>
        </p:txBody>
      </p:sp>
      <p:sp>
        <p:nvSpPr>
          <p:cNvPr id="9" name="Rectangle 8"/>
          <p:cNvSpPr/>
          <p:nvPr/>
        </p:nvSpPr>
        <p:spPr>
          <a:xfrm>
            <a:off x="731520" y="2606040"/>
            <a:ext cx="10725912" cy="8046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15768"/>
            <a:ext cx="10451592" cy="585216"/>
          </a:xfrm>
          <a:prstGeom prst="rect">
            <a:avLst/>
          </a:prstGeom>
          <a:noFill/>
        </p:spPr>
        <p:txBody>
          <a:bodyPr wrap="square" lIns="0" rIns="0" tIns="0" bIns="0">
            <a:spAutoFit/>
          </a:bodyPr>
          <a:lstStyle/>
          <a:p>
            <a:r>
              <a:rPr sz="1200" b="1">
                <a:solidFill>
                  <a:srgbClr val="0F172A"/>
                </a:solidFill>
                <a:latin typeface="Segoe UI"/>
              </a:rPr>
              <a:t>Figure AI  </a:t>
            </a:r>
            <a:r>
              <a:rPr sz="1000" b="1">
                <a:solidFill>
                  <a:srgbClr val="0A58CA"/>
                </a:solidFill>
                <a:latin typeface="Segoe UI"/>
              </a:rPr>
              <a:t>($675M Series B, Feb 2024)  ·  </a:t>
            </a:r>
            <a:r>
              <a:rPr sz="900" b="1">
                <a:solidFill>
                  <a:srgbClr val="047857"/>
                </a:solidFill>
                <a:latin typeface="Segoe UI"/>
              </a:rPr>
              <a:t>[Verified]</a:t>
            </a:r>
          </a:p>
          <a:p>
            <a:pPr>
              <a:spcBef>
                <a:spcPts val="300"/>
              </a:spcBef>
            </a:pPr>
            <a:r>
              <a:rPr sz="900" b="1">
                <a:solidFill>
                  <a:srgbClr val="64748B"/>
                </a:solidFill>
                <a:latin typeface="Segoe UI"/>
              </a:rPr>
              <a:t>Lead Investors: </a:t>
            </a:r>
            <a:r>
              <a:rPr sz="900">
                <a:solidFill>
                  <a:srgbClr val="334155"/>
                </a:solidFill>
                <a:latin typeface="Segoe UI"/>
              </a:rPr>
              <a:t>Microsoft, Parkway, OpenAI Fund, NVIDIA, Jeff Bezos ($2.6B Val)   |   </a:t>
            </a:r>
            <a:r>
              <a:rPr sz="900" b="1">
                <a:solidFill>
                  <a:srgbClr val="64748B"/>
                </a:solidFill>
                <a:latin typeface="Segoe UI"/>
              </a:rPr>
              <a:t>Commercial Status: </a:t>
            </a:r>
            <a:r>
              <a:rPr sz="900">
                <a:solidFill>
                  <a:srgbClr val="334155"/>
                </a:solidFill>
                <a:latin typeface="Segoe UI"/>
              </a:rPr>
              <a:t>Pilot (BMW Spartanburg)</a:t>
            </a:r>
          </a:p>
        </p:txBody>
      </p:sp>
      <p:sp>
        <p:nvSpPr>
          <p:cNvPr id="11" name="Rectangle 10"/>
          <p:cNvSpPr/>
          <p:nvPr/>
        </p:nvSpPr>
        <p:spPr>
          <a:xfrm>
            <a:off x="731520" y="3520440"/>
            <a:ext cx="10725912" cy="8046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30168"/>
            <a:ext cx="10451592" cy="585216"/>
          </a:xfrm>
          <a:prstGeom prst="rect">
            <a:avLst/>
          </a:prstGeom>
          <a:noFill/>
        </p:spPr>
        <p:txBody>
          <a:bodyPr wrap="square" lIns="0" rIns="0" tIns="0" bIns="0">
            <a:spAutoFit/>
          </a:bodyPr>
          <a:lstStyle/>
          <a:p>
            <a:r>
              <a:rPr sz="1200" b="1">
                <a:solidFill>
                  <a:srgbClr val="0F172A"/>
                </a:solidFill>
                <a:latin typeface="Segoe UI"/>
              </a:rPr>
              <a:t>Physical Intelligence  </a:t>
            </a:r>
            <a:r>
              <a:rPr sz="1000" b="1">
                <a:solidFill>
                  <a:srgbClr val="0A58CA"/>
                </a:solidFill>
                <a:latin typeface="Segoe UI"/>
              </a:rPr>
              <a:t>($400M Series A, Nov 2024)  ·  </a:t>
            </a:r>
            <a:r>
              <a:rPr sz="900" b="1">
                <a:solidFill>
                  <a:srgbClr val="047857"/>
                </a:solidFill>
                <a:latin typeface="Segoe UI"/>
              </a:rPr>
              <a:t>[Verified]</a:t>
            </a:r>
          </a:p>
          <a:p>
            <a:pPr>
              <a:spcBef>
                <a:spcPts val="300"/>
              </a:spcBef>
            </a:pPr>
            <a:r>
              <a:rPr sz="900" b="1">
                <a:solidFill>
                  <a:srgbClr val="64748B"/>
                </a:solidFill>
                <a:latin typeface="Segoe UI"/>
              </a:rPr>
              <a:t>Lead Investors: </a:t>
            </a:r>
            <a:r>
              <a:rPr sz="900">
                <a:solidFill>
                  <a:srgbClr val="334155"/>
                </a:solidFill>
                <a:latin typeface="Segoe UI"/>
              </a:rPr>
              <a:t>Bezos Expeditions, Thrive Capital, Lux Capital ($2.4B Val)   |   </a:t>
            </a:r>
            <a:r>
              <a:rPr sz="900" b="1">
                <a:solidFill>
                  <a:srgbClr val="64748B"/>
                </a:solidFill>
                <a:latin typeface="Segoe UI"/>
              </a:rPr>
              <a:t>Commercial Status: </a:t>
            </a:r>
            <a:r>
              <a:rPr sz="900">
                <a:solidFill>
                  <a:srgbClr val="334155"/>
                </a:solidFill>
                <a:latin typeface="Segoe UI"/>
              </a:rPr>
              <a:t>Pilot / Research (π0 generalist model)</a:t>
            </a:r>
          </a:p>
        </p:txBody>
      </p:sp>
      <p:sp>
        <p:nvSpPr>
          <p:cNvPr id="13" name="Rectangle 12"/>
          <p:cNvSpPr/>
          <p:nvPr/>
        </p:nvSpPr>
        <p:spPr>
          <a:xfrm>
            <a:off x="731520" y="4434840"/>
            <a:ext cx="10725912" cy="8046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544568"/>
            <a:ext cx="10451592" cy="585216"/>
          </a:xfrm>
          <a:prstGeom prst="rect">
            <a:avLst/>
          </a:prstGeom>
          <a:noFill/>
        </p:spPr>
        <p:txBody>
          <a:bodyPr wrap="square" lIns="0" rIns="0" tIns="0" bIns="0">
            <a:spAutoFit/>
          </a:bodyPr>
          <a:lstStyle/>
          <a:p>
            <a:r>
              <a:rPr sz="1200" b="1">
                <a:solidFill>
                  <a:srgbClr val="0F172A"/>
                </a:solidFill>
                <a:latin typeface="Segoe UI"/>
              </a:rPr>
              <a:t>1X Technologies  </a:t>
            </a:r>
            <a:r>
              <a:rPr sz="1000" b="1">
                <a:solidFill>
                  <a:srgbClr val="0A58CA"/>
                </a:solidFill>
                <a:latin typeface="Segoe UI"/>
              </a:rPr>
              <a:t>($100M Series B, Jan 2024)  ·  </a:t>
            </a:r>
            <a:r>
              <a:rPr sz="900" b="1">
                <a:solidFill>
                  <a:srgbClr val="047857"/>
                </a:solidFill>
                <a:latin typeface="Segoe UI"/>
              </a:rPr>
              <a:t>[Verified]</a:t>
            </a:r>
          </a:p>
          <a:p>
            <a:pPr>
              <a:spcBef>
                <a:spcPts val="300"/>
              </a:spcBef>
            </a:pPr>
            <a:r>
              <a:rPr sz="900" b="1">
                <a:solidFill>
                  <a:srgbClr val="64748B"/>
                </a:solidFill>
                <a:latin typeface="Segoe UI"/>
              </a:rPr>
              <a:t>Lead Investors: </a:t>
            </a:r>
            <a:r>
              <a:rPr sz="900">
                <a:solidFill>
                  <a:srgbClr val="334155"/>
                </a:solidFill>
                <a:latin typeface="Segoe UI"/>
              </a:rPr>
              <a:t>OpenAI, Thrive Capital, EQT Ventures   |   </a:t>
            </a:r>
            <a:r>
              <a:rPr sz="900" b="1">
                <a:solidFill>
                  <a:srgbClr val="64748B"/>
                </a:solidFill>
                <a:latin typeface="Segoe UI"/>
              </a:rPr>
              <a:t>Commercial Status: </a:t>
            </a:r>
            <a:r>
              <a:rPr sz="900">
                <a:solidFill>
                  <a:srgbClr val="334155"/>
                </a:solidFill>
                <a:latin typeface="Segoe UI"/>
              </a:rPr>
              <a:t>Pilot (NEO Bipedal / EVE)</a:t>
            </a:r>
          </a:p>
        </p:txBody>
      </p:sp>
      <p:sp>
        <p:nvSpPr>
          <p:cNvPr id="15" name="Rectangle 14"/>
          <p:cNvSpPr/>
          <p:nvPr/>
        </p:nvSpPr>
        <p:spPr>
          <a:xfrm>
            <a:off x="731520" y="5303520"/>
            <a:ext cx="10725912" cy="73152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376672"/>
            <a:ext cx="10332720" cy="594360"/>
          </a:xfrm>
          <a:prstGeom prst="rect">
            <a:avLst/>
          </a:prstGeom>
          <a:noFill/>
        </p:spPr>
        <p:txBody>
          <a:bodyPr wrap="square" lIns="0" rIns="0" tIns="0" bIns="0">
            <a:spAutoFit/>
          </a:bodyPr>
          <a:lstStyle/>
          <a:p>
            <a:r>
              <a:rPr sz="1000" b="1">
                <a:solidFill>
                  <a:srgbClr val="002B49"/>
                </a:solidFill>
                <a:latin typeface="Segoe UI"/>
              </a:rPr>
              <a:t>Strategic Implication: </a:t>
            </a:r>
            <a:r>
              <a:rPr sz="919">
                <a:solidFill>
                  <a:srgbClr val="334155"/>
                </a:solidFill>
                <a:latin typeface="Segoe UI"/>
              </a:rPr>
              <a:t>Capital concentration in foundation models ($2.4B-$2.6B valuations) creates intense commercialization pressure. Frontier AI firms lack manufacturing domain experience and urgently require certified engineering systems integrators like LTTS to deploy into live industrial plants.</a:t>
            </a:r>
          </a:p>
        </p:txBody>
      </p:sp>
      <p:sp>
        <p:nvSpPr>
          <p:cNvPr id="17" name="Rectangle 16"/>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Venture capital is aggressively subsidizing foundation model development. LTTS positions as the indispensable commercial deployment channel.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1 · COMMERCIAL STATE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Disclosed Capital Matrix: Automation, Simulation &amp; Safety</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High-margin software infrastructure and digital twin platforms command enterprise multiples.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3364992"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92808"/>
            <a:ext cx="2999232" cy="594360"/>
          </a:xfrm>
          <a:prstGeom prst="rect">
            <a:avLst/>
          </a:prstGeom>
          <a:noFill/>
        </p:spPr>
        <p:txBody>
          <a:bodyPr wrap="square" lIns="0" rIns="0" tIns="0" bIns="0">
            <a:spAutoFit/>
          </a:bodyPr>
          <a:lstStyle/>
          <a:p>
            <a:r>
              <a:rPr sz="1100" b="1">
                <a:solidFill>
                  <a:srgbClr val="0F172A"/>
                </a:solidFill>
                <a:latin typeface="Segoe UI"/>
              </a:rPr>
              <a:t>Industrial Automation AI (Fixed &amp; Mobile)</a:t>
            </a:r>
          </a:p>
        </p:txBody>
      </p:sp>
      <p:sp>
        <p:nvSpPr>
          <p:cNvPr id="10" name="TextBox 9"/>
          <p:cNvSpPr txBox="1"/>
          <p:nvPr/>
        </p:nvSpPr>
        <p:spPr>
          <a:xfrm>
            <a:off x="914400" y="2560320"/>
            <a:ext cx="2999232" cy="3291840"/>
          </a:xfrm>
          <a:prstGeom prst="rect">
            <a:avLst/>
          </a:prstGeom>
          <a:noFill/>
        </p:spPr>
        <p:txBody>
          <a:bodyPr wrap="square" lIns="0" rIns="0" tIns="0" bIns="0">
            <a:spAutoFit/>
          </a:bodyPr>
          <a:lstStyle/>
          <a:p>
            <a:r>
              <a:rPr sz="950" b="1">
                <a:solidFill>
                  <a:srgbClr val="0F172A"/>
                </a:solidFill>
                <a:latin typeface="Segoe UI"/>
              </a:rPr>
              <a:t>Skild AI ($300M Series A, Jul 2024)
</a:t>
            </a:r>
            <a:r>
              <a:rPr sz="850">
                <a:solidFill>
                  <a:srgbClr val="334155"/>
                </a:solidFill>
                <a:latin typeface="Segoe UI"/>
              </a:rPr>
              <a:t>Valued at $1.5B, led by Lightspeed, Coatue, SoftBank, Bezos Expeditions. General-purpose robotics brain [Verified].</a:t>
            </a:r>
          </a:p>
          <a:p>
            <a:pPr>
              <a:spcBef>
                <a:spcPts val="700"/>
              </a:spcBef>
            </a:pPr>
            <a:r>
              <a:rPr sz="950" b="1">
                <a:solidFill>
                  <a:srgbClr val="0F172A"/>
                </a:solidFill>
                <a:latin typeface="Segoe UI"/>
              </a:rPr>
              <a:t>Covariant (Amazon Transaction, Aug 2024)
</a:t>
            </a:r>
            <a:r>
              <a:rPr sz="850">
                <a:solidFill>
                  <a:srgbClr val="334155"/>
                </a:solidFill>
                <a:latin typeface="Segoe UI"/>
              </a:rPr>
              <a:t>Amazon reverse acqui-hired founders Pieter Abbeel, Peter Chen, Rocky Duan, with non-exclusive model licensing [Verified].</a:t>
            </a:r>
          </a:p>
          <a:p>
            <a:pPr>
              <a:spcBef>
                <a:spcPts val="700"/>
              </a:spcBef>
            </a:pPr>
            <a:r>
              <a:rPr sz="950" b="1">
                <a:solidFill>
                  <a:srgbClr val="0F172A"/>
                </a:solidFill>
                <a:latin typeface="Segoe UI"/>
              </a:rPr>
              <a:t>Bright Machines ($126M Series C, Jun 2024)
</a:t>
            </a:r>
            <a:r>
              <a:rPr sz="850">
                <a:solidFill>
                  <a:srgbClr val="334155"/>
                </a:solidFill>
                <a:latin typeface="Segoe UI"/>
              </a:rPr>
              <a:t>Software-defined manufacturing assembly cells with micro-factories [Verified].</a:t>
            </a:r>
          </a:p>
        </p:txBody>
      </p:sp>
      <p:sp>
        <p:nvSpPr>
          <p:cNvPr id="11" name="Rectangle 10"/>
          <p:cNvSpPr/>
          <p:nvPr/>
        </p:nvSpPr>
        <p:spPr>
          <a:xfrm>
            <a:off x="4407408"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691640"/>
            <a:ext cx="3364992"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892808"/>
            <a:ext cx="2999232" cy="594360"/>
          </a:xfrm>
          <a:prstGeom prst="rect">
            <a:avLst/>
          </a:prstGeom>
          <a:noFill/>
        </p:spPr>
        <p:txBody>
          <a:bodyPr wrap="square" lIns="0" rIns="0" tIns="0" bIns="0">
            <a:spAutoFit/>
          </a:bodyPr>
          <a:lstStyle/>
          <a:p>
            <a:r>
              <a:rPr sz="1100" b="1">
                <a:solidFill>
                  <a:srgbClr val="0F172A"/>
                </a:solidFill>
                <a:latin typeface="Segoe UI"/>
              </a:rPr>
              <a:t>Simulation &amp; Digital Twin Platforms</a:t>
            </a:r>
          </a:p>
        </p:txBody>
      </p:sp>
      <p:sp>
        <p:nvSpPr>
          <p:cNvPr id="14" name="TextBox 13"/>
          <p:cNvSpPr txBox="1"/>
          <p:nvPr/>
        </p:nvSpPr>
        <p:spPr>
          <a:xfrm>
            <a:off x="4590288" y="2560320"/>
            <a:ext cx="2999232" cy="3291840"/>
          </a:xfrm>
          <a:prstGeom prst="rect">
            <a:avLst/>
          </a:prstGeom>
          <a:noFill/>
        </p:spPr>
        <p:txBody>
          <a:bodyPr wrap="square" lIns="0" rIns="0" tIns="0" bIns="0">
            <a:spAutoFit/>
          </a:bodyPr>
          <a:lstStyle/>
          <a:p>
            <a:r>
              <a:rPr sz="950" b="1">
                <a:solidFill>
                  <a:srgbClr val="0F172A"/>
                </a:solidFill>
                <a:latin typeface="Segoe UI"/>
              </a:rPr>
              <a:t>Applied Intuition ($250M Series E, Mar 2024)
</a:t>
            </a:r>
            <a:r>
              <a:rPr sz="850">
                <a:solidFill>
                  <a:srgbClr val="334155"/>
                </a:solidFill>
                <a:latin typeface="Segoe UI"/>
              </a:rPr>
              <a:t>Valued at $6.0B, led by Lux Capital, Elad Gil, Porsche Investments. High ARR across automotive &amp; defense [Verified].</a:t>
            </a:r>
          </a:p>
          <a:p>
            <a:pPr>
              <a:spcBef>
                <a:spcPts val="700"/>
              </a:spcBef>
            </a:pPr>
            <a:r>
              <a:rPr sz="950" b="1">
                <a:solidFill>
                  <a:srgbClr val="0F172A"/>
                </a:solidFill>
                <a:latin typeface="Segoe UI"/>
              </a:rPr>
              <a:t>Scale AI ($1.0B Series F, May 2024)
</a:t>
            </a:r>
            <a:r>
              <a:rPr sz="850">
                <a:solidFill>
                  <a:srgbClr val="334155"/>
                </a:solidFill>
                <a:latin typeface="Segoe UI"/>
              </a:rPr>
              <a:t>Valued at $13.8B, led by Accel with participation from tech giants. High-throughput data labeling &amp; simulation [Verified].</a:t>
            </a:r>
          </a:p>
          <a:p>
            <a:pPr>
              <a:spcBef>
                <a:spcPts val="700"/>
              </a:spcBef>
            </a:pPr>
            <a:r>
              <a:rPr sz="950" b="1">
                <a:solidFill>
                  <a:srgbClr val="0F172A"/>
                </a:solidFill>
                <a:latin typeface="Segoe UI"/>
              </a:rPr>
              <a:t>World Labs ($230M Seed/Series A, Sep 2024)
</a:t>
            </a:r>
            <a:r>
              <a:rPr sz="850">
                <a:solidFill>
                  <a:srgbClr val="334155"/>
                </a:solidFill>
                <a:latin typeface="Segoe UI"/>
              </a:rPr>
              <a:t>Led by Founders Fund, NEA. 3D spatial intelligence and physics-based world generation [Verified].</a:t>
            </a:r>
          </a:p>
        </p:txBody>
      </p:sp>
      <p:sp>
        <p:nvSpPr>
          <p:cNvPr id="15" name="Rectangle 14"/>
          <p:cNvSpPr/>
          <p:nvPr/>
        </p:nvSpPr>
        <p:spPr>
          <a:xfrm>
            <a:off x="8083296"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1691640"/>
            <a:ext cx="3364992" cy="22860"/>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1892808"/>
            <a:ext cx="2999232" cy="594360"/>
          </a:xfrm>
          <a:prstGeom prst="rect">
            <a:avLst/>
          </a:prstGeom>
          <a:noFill/>
        </p:spPr>
        <p:txBody>
          <a:bodyPr wrap="square" lIns="0" rIns="0" tIns="0" bIns="0">
            <a:spAutoFit/>
          </a:bodyPr>
          <a:lstStyle/>
          <a:p>
            <a:r>
              <a:rPr sz="1100" b="1">
                <a:solidFill>
                  <a:srgbClr val="0F172A"/>
                </a:solidFill>
                <a:latin typeface="Segoe UI"/>
              </a:rPr>
              <a:t>Robotics Safety &amp; Compliance Tooling</a:t>
            </a:r>
          </a:p>
        </p:txBody>
      </p:sp>
      <p:sp>
        <p:nvSpPr>
          <p:cNvPr id="18" name="TextBox 17"/>
          <p:cNvSpPr txBox="1"/>
          <p:nvPr/>
        </p:nvSpPr>
        <p:spPr>
          <a:xfrm>
            <a:off x="8266176" y="2560320"/>
            <a:ext cx="2999232" cy="3291840"/>
          </a:xfrm>
          <a:prstGeom prst="rect">
            <a:avLst/>
          </a:prstGeom>
          <a:noFill/>
        </p:spPr>
        <p:txBody>
          <a:bodyPr wrap="square" lIns="0" rIns="0" tIns="0" bIns="0">
            <a:spAutoFit/>
          </a:bodyPr>
          <a:lstStyle/>
          <a:p>
            <a:r>
              <a:rPr sz="950" b="1">
                <a:solidFill>
                  <a:srgbClr val="0F172A"/>
                </a:solidFill>
                <a:latin typeface="Segoe UI"/>
              </a:rPr>
              <a:t>Credo AI ($25M Series B, Jun 2024)
</a:t>
            </a:r>
            <a:r>
              <a:rPr sz="850">
                <a:solidFill>
                  <a:srgbClr val="334155"/>
                </a:solidFill>
                <a:latin typeface="Segoe UI"/>
              </a:rPr>
              <a:t>Led by Sands Capital. Enterprise AI governance, auditing, and compliance management platforms [Reported].</a:t>
            </a:r>
          </a:p>
          <a:p>
            <a:pPr>
              <a:spcBef>
                <a:spcPts val="700"/>
              </a:spcBef>
            </a:pPr>
            <a:r>
              <a:rPr sz="950" b="1">
                <a:solidFill>
                  <a:srgbClr val="0F172A"/>
                </a:solidFill>
                <a:latin typeface="Segoe UI"/>
              </a:rPr>
              <a:t>Holistic AI ($20M, 2024)
</a:t>
            </a:r>
            <a:r>
              <a:rPr sz="850">
                <a:solidFill>
                  <a:srgbClr val="334155"/>
                </a:solidFill>
                <a:latin typeface="Segoe UI"/>
              </a:rPr>
              <a:t>Decibel Partners. AI risk audits, safety benchmarks, and automated assurance dossiers [Reported].</a:t>
            </a:r>
          </a:p>
          <a:p>
            <a:pPr>
              <a:spcBef>
                <a:spcPts val="700"/>
              </a:spcBef>
            </a:pPr>
            <a:r>
              <a:rPr sz="950" b="1">
                <a:solidFill>
                  <a:srgbClr val="0F172A"/>
                </a:solidFill>
                <a:latin typeface="Segoe UI"/>
              </a:rPr>
              <a:t>Accredited Testing Labs (TÜV SÜD, UL Solutions)
</a:t>
            </a:r>
            <a:r>
              <a:rPr sz="850">
                <a:solidFill>
                  <a:srgbClr val="334155"/>
                </a:solidFill>
                <a:latin typeface="Segoe UI"/>
              </a:rPr>
              <a:t>Statutory functional safety auditing, IEC 61508 / ISO 13849 certification, and plant insurance gating [Verified].</a:t>
            </a:r>
          </a:p>
        </p:txBody>
      </p:sp>
      <p:sp>
        <p:nvSpPr>
          <p:cNvPr id="19" name="Rectangle 18"/>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Notice that simulation (Applied Intuition, Scale AI) and testing platforms command $6B-$14B valuations on pure software gross margins.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1 · COMMERCIAL STATE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The Capital vs. Maturity Asymmetry: The Hardware Trap</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Over $2.2B in humanoid hardware yields &lt;$20M revenue; infrastructure software captures all margin.</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74519"/>
            <a:ext cx="1988819" cy="219456"/>
          </a:xfrm>
          <a:prstGeom prst="roundRect">
            <a:avLst/>
          </a:prstGeom>
          <a:solidFill>
            <a:srgbClr val="FEE2E2"/>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B91C1C"/>
                </a:solidFill>
                <a:latin typeface="Segoe UI"/>
              </a:rPr>
              <a:t>THE HUMANOID CAPITAL TRAP</a:t>
            </a:r>
          </a:p>
        </p:txBody>
      </p:sp>
      <p:sp>
        <p:nvSpPr>
          <p:cNvPr id="10" name="TextBox 9"/>
          <p:cNvSpPr txBox="1"/>
          <p:nvPr/>
        </p:nvSpPr>
        <p:spPr>
          <a:xfrm>
            <a:off x="960120" y="2194560"/>
            <a:ext cx="4754880" cy="3657600"/>
          </a:xfrm>
          <a:prstGeom prst="rect">
            <a:avLst/>
          </a:prstGeom>
          <a:noFill/>
        </p:spPr>
        <p:txBody>
          <a:bodyPr wrap="square" lIns="0" rIns="0" tIns="0" bIns="0">
            <a:spAutoFit/>
          </a:bodyPr>
          <a:lstStyle/>
          <a:p>
            <a:r>
              <a:rPr sz="1200" b="1">
                <a:solidFill>
                  <a:srgbClr val="0F172A"/>
                </a:solidFill>
                <a:latin typeface="Segoe UI"/>
              </a:rPr>
              <a:t>Capital Flooding Ahead of Operational Reliability
</a:t>
            </a:r>
          </a:p>
          <a:p>
            <a:pPr>
              <a:spcBef>
                <a:spcPts val="600"/>
              </a:spcBef>
            </a:pPr>
            <a:r>
              <a:rPr sz="950" b="1">
                <a:solidFill>
                  <a:srgbClr val="B91C1C"/>
                </a:solidFill>
                <a:latin typeface="Segoe UI"/>
              </a:rPr>
              <a:t>⚠  The Revenue Disconnect: </a:t>
            </a:r>
            <a:r>
              <a:rPr sz="900">
                <a:solidFill>
                  <a:srgbClr val="334155"/>
                </a:solidFill>
                <a:latin typeface="Segoe UI"/>
              </a:rPr>
              <a:t>Over $2.2B has flowed into general-purpose humanoid OEMs over the last 18 months [Verified]. However, customer revenue across the entire sub-segment remains under $20M industry-wide [Estimated].</a:t>
            </a:r>
          </a:p>
          <a:p>
            <a:pPr>
              <a:spcBef>
                <a:spcPts val="600"/>
              </a:spcBef>
            </a:pPr>
            <a:r>
              <a:rPr sz="950" b="1">
                <a:solidFill>
                  <a:srgbClr val="B91C1C"/>
                </a:solidFill>
                <a:latin typeface="Segoe UI"/>
              </a:rPr>
              <a:t>⚠  Hardware MTBF Bottleneck: </a:t>
            </a:r>
            <a:r>
              <a:rPr sz="900">
                <a:solidFill>
                  <a:srgbClr val="334155"/>
                </a:solidFill>
                <a:latin typeface="Segoe UI"/>
              </a:rPr>
              <a:t>Humanoid hardware faces severe Mean Time Between Failures (&lt; 50 hours of continuous multi-joint actuation) due to harmonic drive wear and cable fatigue [Estimated].</a:t>
            </a:r>
          </a:p>
          <a:p>
            <a:pPr>
              <a:spcBef>
                <a:spcPts val="600"/>
              </a:spcBef>
            </a:pPr>
            <a:r>
              <a:rPr sz="950" b="1">
                <a:solidFill>
                  <a:srgbClr val="B91C1C"/>
                </a:solidFill>
                <a:latin typeface="Segoe UI"/>
              </a:rPr>
              <a:t>⚠  Thermal Derating Constraints: </a:t>
            </a:r>
            <a:r>
              <a:rPr sz="900">
                <a:solidFill>
                  <a:srgbClr val="334155"/>
                </a:solidFill>
                <a:latin typeface="Segoe UI"/>
              </a:rPr>
              <a:t>Compact high-torque actuators suffer thermal derating under sustained loads, forcing robots to slow down or enter cooling cool-downs during continuous shifts [Estimated].</a:t>
            </a:r>
          </a:p>
          <a:p>
            <a:pPr>
              <a:spcBef>
                <a:spcPts val="600"/>
              </a:spcBef>
            </a:pPr>
            <a:r>
              <a:rPr sz="950" b="1">
                <a:solidFill>
                  <a:srgbClr val="B91C1C"/>
                </a:solidFill>
                <a:latin typeface="Segoe UI"/>
              </a:rPr>
              <a:t>⚠  Exorbitant Prototype BOM Costs: </a:t>
            </a:r>
            <a:r>
              <a:rPr sz="900">
                <a:solidFill>
                  <a:srgbClr val="334155"/>
                </a:solidFill>
                <a:latin typeface="Segoe UI"/>
              </a:rPr>
              <a:t>Current prototype Bill of Materials ranges from $100,000 to $250,000 per unit, preventing positive unit economics at low production volumes [Estimated].</a:t>
            </a:r>
          </a:p>
        </p:txBody>
      </p:sp>
      <p:sp>
        <p:nvSpPr>
          <p:cNvPr id="11" name="Rectangle 10"/>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691640"/>
            <a:ext cx="5212080"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73952" y="1874519"/>
            <a:ext cx="3223260" cy="219456"/>
          </a:xfrm>
          <a:prstGeom prst="roundRect">
            <a:avLst/>
          </a:prstGeom>
          <a:solidFill>
            <a:srgbClr val="D1FAE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47857"/>
                </a:solidFill>
                <a:latin typeface="Segoe UI"/>
              </a:rPr>
              <a:t>THE CASH-FLOW-POSITIVE INFRASTRUCTURE LAYER</a:t>
            </a:r>
          </a:p>
        </p:txBody>
      </p:sp>
      <p:sp>
        <p:nvSpPr>
          <p:cNvPr id="14" name="TextBox 13"/>
          <p:cNvSpPr txBox="1"/>
          <p:nvPr/>
        </p:nvSpPr>
        <p:spPr>
          <a:xfrm>
            <a:off x="6473952" y="2194560"/>
            <a:ext cx="4754880" cy="3657600"/>
          </a:xfrm>
          <a:prstGeom prst="rect">
            <a:avLst/>
          </a:prstGeom>
          <a:noFill/>
        </p:spPr>
        <p:txBody>
          <a:bodyPr wrap="square" lIns="0" rIns="0" tIns="0" bIns="0">
            <a:spAutoFit/>
          </a:bodyPr>
          <a:lstStyle/>
          <a:p>
            <a:r>
              <a:rPr sz="1200" b="1">
                <a:solidFill>
                  <a:srgbClr val="0F172A"/>
                </a:solidFill>
                <a:latin typeface="Segoe UI"/>
              </a:rPr>
              <a:t>High-Margin Software &amp; Engineering Services
</a:t>
            </a:r>
          </a:p>
          <a:p>
            <a:pPr>
              <a:spcBef>
                <a:spcPts val="800"/>
              </a:spcBef>
            </a:pPr>
            <a:r>
              <a:rPr sz="950" b="1">
                <a:solidFill>
                  <a:srgbClr val="047857"/>
                </a:solidFill>
                <a:latin typeface="Segoe UI"/>
              </a:rPr>
              <a:t>✔  SaaS Gross Margins (70%-80%): </a:t>
            </a:r>
            <a:r>
              <a:rPr sz="900">
                <a:solidFill>
                  <a:srgbClr val="334155"/>
                </a:solidFill>
                <a:latin typeface="Segoe UI"/>
              </a:rPr>
              <a:t>In contrast to hardware OEMs, virtual simulation, validation tooling, and synthetic data infrastructure companies scale on enterprise SaaS models with 70%-80% gross margins [Verified].</a:t>
            </a:r>
          </a:p>
          <a:p>
            <a:pPr>
              <a:spcBef>
                <a:spcPts val="800"/>
              </a:spcBef>
            </a:pPr>
            <a:r>
              <a:rPr sz="950" b="1">
                <a:solidFill>
                  <a:srgbClr val="047857"/>
                </a:solidFill>
                <a:latin typeface="Segoe UI"/>
              </a:rPr>
              <a:t>✔  Enterprise Proof Points: </a:t>
            </a:r>
            <a:r>
              <a:rPr sz="900">
                <a:solidFill>
                  <a:srgbClr val="334155"/>
                </a:solidFill>
                <a:latin typeface="Segoe UI"/>
              </a:rPr>
              <a:t>Applied Intuition secured a $6B valuation backed by multi-million-dollar ARR contracts with automotive OEMs and defense primes (Press Release, Mar 2024) [Verified].</a:t>
            </a:r>
          </a:p>
          <a:p>
            <a:pPr>
              <a:spcBef>
                <a:spcPts val="800"/>
              </a:spcBef>
            </a:pPr>
            <a:r>
              <a:rPr sz="950" b="1">
                <a:solidFill>
                  <a:srgbClr val="047857"/>
                </a:solidFill>
                <a:latin typeface="Segoe UI"/>
              </a:rPr>
              <a:t>✔  Strategic Implication for LTTS: </a:t>
            </a:r>
            <a:r>
              <a:rPr sz="900">
                <a:solidFill>
                  <a:srgbClr val="334155"/>
                </a:solidFill>
                <a:latin typeface="Segoe UI"/>
              </a:rPr>
              <a:t>Venture capital is aggressively subsidizing hardware experimentation. LTTS should position upstream as the neutral integration, verification, and testing partner that captures lucrative service revenue regardless of which hardware vendor wins [Verified].</a:t>
            </a:r>
          </a:p>
        </p:txBody>
      </p:sp>
      <p:sp>
        <p:nvSpPr>
          <p:cNvPr id="15" name="Rectangle 14"/>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Hardware OEMs burn capital battling MTBF and BOM limits. LTTS sells the essential integration and safety picks and shovels.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7315200" cy="274320"/>
          </a:xfrm>
          <a:prstGeom prst="rect">
            <a:avLst/>
          </a:prstGeom>
          <a:noFill/>
        </p:spPr>
        <p:txBody>
          <a:bodyPr wrap="none" lIns="0" rIns="0" tIns="0" bIns="0">
            <a:spAutoFit/>
          </a:bodyPr>
          <a:lstStyle/>
          <a:p>
            <a:r>
              <a:rPr sz="900" b="1">
                <a:solidFill>
                  <a:srgbClr val="B45309"/>
                </a:solidFill>
                <a:latin typeface="Segoe UI"/>
              </a:rPr>
              <a:t>MODULE 02 · STRATEGIC FOCUS</a:t>
            </a:r>
          </a:p>
        </p:txBody>
      </p:sp>
      <p:sp>
        <p:nvSpPr>
          <p:cNvPr id="4" name="TextBox 3"/>
          <p:cNvSpPr txBox="1"/>
          <p:nvPr/>
        </p:nvSpPr>
        <p:spPr>
          <a:xfrm>
            <a:off x="914400" y="1463040"/>
            <a:ext cx="10058400" cy="1371600"/>
          </a:xfrm>
          <a:prstGeom prst="rect">
            <a:avLst/>
          </a:prstGeom>
          <a:noFill/>
        </p:spPr>
        <p:txBody>
          <a:bodyPr wrap="square" lIns="0" rIns="0" tIns="0" bIns="0">
            <a:spAutoFit/>
          </a:bodyPr>
          <a:lstStyle/>
          <a:p>
            <a:r>
              <a:rPr sz="3600" b="1">
                <a:solidFill>
                  <a:srgbClr val="FFFFFF"/>
                </a:solidFill>
                <a:latin typeface="Segoe UI"/>
              </a:rPr>
              <a:t>Frontier Research Direction</a:t>
            </a:r>
          </a:p>
          <a:p>
            <a:pPr>
              <a:spcBef>
                <a:spcPts val="600"/>
              </a:spcBef>
            </a:pPr>
            <a:r>
              <a:rPr sz="1400">
                <a:solidFill>
                  <a:srgbClr val="93C5FD"/>
                </a:solidFill>
                <a:latin typeface="Segoe UI"/>
              </a:rPr>
              <a:t>What the Frontier Is Actually Working On &amp; Canonical Failure Modes</a:t>
            </a:r>
          </a:p>
        </p:txBody>
      </p:sp>
      <p:sp>
        <p:nvSpPr>
          <p:cNvPr id="5" name="Rectangle 4"/>
          <p:cNvSpPr/>
          <p:nvPr/>
        </p:nvSpPr>
        <p:spPr>
          <a:xfrm>
            <a:off x="914400" y="3108960"/>
            <a:ext cx="73152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83280"/>
            <a:ext cx="9144000" cy="2743200"/>
          </a:xfrm>
          <a:prstGeom prst="rect">
            <a:avLst/>
          </a:prstGeom>
          <a:noFill/>
        </p:spPr>
        <p:txBody>
          <a:bodyPr wrap="square" lIns="0" rIns="0" tIns="0" bIns="0">
            <a:spAutoFit/>
          </a:bodyPr>
          <a:lstStyle/>
          <a:p>
            <a:r>
              <a:rPr sz="1200" b="1">
                <a:solidFill>
                  <a:srgbClr val="B45309"/>
                </a:solidFill>
                <a:latin typeface="Segoe UI"/>
              </a:rPr>
              <a:t>—   </a:t>
            </a:r>
            <a:r>
              <a:rPr sz="1200">
                <a:solidFill>
                  <a:srgbClr val="F1F5F9"/>
                </a:solidFill>
                <a:latin typeface="Segoe UI"/>
              </a:rPr>
              <a:t>Five active engineering bottlenecks across frontier research labs</a:t>
            </a:r>
          </a:p>
          <a:p>
            <a:pPr>
              <a:spcBef>
                <a:spcPts val="800"/>
              </a:spcBef>
            </a:pPr>
            <a:r>
              <a:rPr sz="1200" b="1">
                <a:solidFill>
                  <a:srgbClr val="B45309"/>
                </a:solidFill>
                <a:latin typeface="Segoe UI"/>
              </a:rPr>
              <a:t>—   </a:t>
            </a:r>
            <a:r>
              <a:rPr sz="1200">
                <a:solidFill>
                  <a:srgbClr val="F1F5F9"/>
                </a:solidFill>
                <a:latin typeface="Segoe UI"/>
              </a:rPr>
              <a:t>Continuous action flow matching vs. discrete tokenization (π0, ManiFlow)</a:t>
            </a:r>
          </a:p>
          <a:p>
            <a:pPr>
              <a:spcBef>
                <a:spcPts val="800"/>
              </a:spcBef>
            </a:pPr>
            <a:r>
              <a:rPr sz="1200" b="1">
                <a:solidFill>
                  <a:srgbClr val="B45309"/>
                </a:solidFill>
                <a:latin typeface="Segoe UI"/>
              </a:rPr>
              <a:t>—   </a:t>
            </a:r>
            <a:r>
              <a:rPr sz="1200">
                <a:solidFill>
                  <a:srgbClr val="F1F5F9"/>
                </a:solidFill>
                <a:latin typeface="Segoe UI"/>
              </a:rPr>
              <a:t>Physics-informed 3D spatial world models and cross-embodiment scaling laws</a:t>
            </a:r>
          </a:p>
          <a:p>
            <a:pPr>
              <a:spcBef>
                <a:spcPts val="800"/>
              </a:spcBef>
            </a:pPr>
            <a:r>
              <a:rPr sz="1200" b="1">
                <a:solidFill>
                  <a:srgbClr val="B45309"/>
                </a:solidFill>
                <a:latin typeface="Segoe UI"/>
              </a:rPr>
              <a:t>—   </a:t>
            </a:r>
            <a:r>
              <a:rPr sz="1200">
                <a:solidFill>
                  <a:srgbClr val="F1F5F9"/>
                </a:solidFill>
                <a:latin typeface="Segoe UI"/>
              </a:rPr>
              <a:t>The five canonical world-model failure modes and engineering mitigations</a:t>
            </a:r>
          </a:p>
          <a:p>
            <a:pPr>
              <a:spcBef>
                <a:spcPts val="800"/>
              </a:spcBef>
            </a:pPr>
            <a:r>
              <a:rPr sz="1200" b="1">
                <a:solidFill>
                  <a:srgbClr val="B45309"/>
                </a:solidFill>
                <a:latin typeface="Segoe UI"/>
              </a:rPr>
              <a:t>—   </a:t>
            </a:r>
            <a:r>
              <a:rPr sz="1200">
                <a:solidFill>
                  <a:srgbClr val="F1F5F9"/>
                </a:solidFill>
                <a:latin typeface="Segoe UI"/>
              </a:rPr>
              <a:t>Pearl's Causal Ladder: why LLMs fundamentally fail at physical robotics control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2 · RESEARCH FRONTIERS</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Frontier Technical Priorities (1 &amp; 2): Control &amp; World Models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Analyzing technical reports from Physical Intelligence, DeepMind, NVIDIA GEAR, BAIR, and TRI.</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74519"/>
            <a:ext cx="2537460"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284C7"/>
                </a:solidFill>
                <a:latin typeface="Segoe UI"/>
              </a:rPr>
              <a:t>PRIORITY 1: TRAJECTORY GENERATION</a:t>
            </a:r>
          </a:p>
        </p:txBody>
      </p:sp>
      <p:sp>
        <p:nvSpPr>
          <p:cNvPr id="10" name="TextBox 9"/>
          <p:cNvSpPr txBox="1"/>
          <p:nvPr/>
        </p:nvSpPr>
        <p:spPr>
          <a:xfrm>
            <a:off x="960120" y="2194560"/>
            <a:ext cx="4754880" cy="3657600"/>
          </a:xfrm>
          <a:prstGeom prst="rect">
            <a:avLst/>
          </a:prstGeom>
          <a:noFill/>
        </p:spPr>
        <p:txBody>
          <a:bodyPr wrap="square" lIns="0" rIns="0" tIns="0" bIns="0">
            <a:spAutoFit/>
          </a:bodyPr>
          <a:lstStyle/>
          <a:p>
            <a:r>
              <a:rPr sz="1200" b="1">
                <a:solidFill>
                  <a:srgbClr val="0F172A"/>
                </a:solidFill>
                <a:latin typeface="Segoe UI"/>
              </a:rPr>
              <a:t>Continuous Action Flow Matching vs. Discrete Tokens
</a:t>
            </a:r>
          </a:p>
          <a:p>
            <a:pPr>
              <a:spcBef>
                <a:spcPts val="600"/>
              </a:spcBef>
            </a:pPr>
            <a:r>
              <a:rPr sz="950" b="1">
                <a:solidFill>
                  <a:srgbClr val="0284C7"/>
                </a:solidFill>
                <a:latin typeface="Segoe UI"/>
              </a:rPr>
              <a:t>•  The Legacy Problem (RT-1, RT-2): </a:t>
            </a:r>
            <a:r>
              <a:rPr sz="900">
                <a:solidFill>
                  <a:srgbClr val="334155"/>
                </a:solidFill>
                <a:latin typeface="Segoe UI"/>
              </a:rPr>
              <a:t>Early Vision-Language-Action (VLA) models quantized continuous joint actions into discrete text tokens (e.g. 256 bins). This caused severe discretization errors, high inference latency, and jerky motion unsuitable for physical contact.</a:t>
            </a:r>
          </a:p>
          <a:p>
            <a:pPr>
              <a:spcBef>
                <a:spcPts val="600"/>
              </a:spcBef>
            </a:pPr>
            <a:r>
              <a:rPr sz="950" b="1">
                <a:solidFill>
                  <a:srgbClr val="0284C7"/>
                </a:solidFill>
                <a:latin typeface="Segoe UI"/>
              </a:rPr>
              <a:t>•  The Frontier Paradigm Shift: </a:t>
            </a:r>
            <a:r>
              <a:rPr sz="900">
                <a:solidFill>
                  <a:srgbClr val="334155"/>
                </a:solidFill>
                <a:latin typeface="Segoe UI"/>
              </a:rPr>
              <a:t>Leading frontier models—specifically π0 from Physical Intelligence (Oct 2024) and ManiFlow—abandon discrete tokenization in favor of continuous flow matching.</a:t>
            </a:r>
          </a:p>
          <a:p>
            <a:pPr>
              <a:spcBef>
                <a:spcPts val="600"/>
              </a:spcBef>
            </a:pPr>
            <a:r>
              <a:rPr sz="950" b="1">
                <a:solidFill>
                  <a:srgbClr val="0284C7"/>
                </a:solidFill>
                <a:latin typeface="Segoe UI"/>
              </a:rPr>
              <a:t>•  Direct High-Frequency Trajectories: </a:t>
            </a:r>
            <a:r>
              <a:rPr sz="900">
                <a:solidFill>
                  <a:srgbClr val="334155"/>
                </a:solidFill>
                <a:latin typeface="Segoe UI"/>
              </a:rPr>
              <a:t>Flow matching generates high-frequency continuous control trajectories directly at 50Hz (20ms step time), providing smooth, compliant end-effector motion capable of handling high-speed industrial manipulation tasks.</a:t>
            </a:r>
          </a:p>
        </p:txBody>
      </p:sp>
      <p:sp>
        <p:nvSpPr>
          <p:cNvPr id="11" name="Rectangle 10"/>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691640"/>
            <a:ext cx="521208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73952" y="1874519"/>
            <a:ext cx="2057400"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PRIORITY 2: WORLD MODELING</a:t>
            </a:r>
          </a:p>
        </p:txBody>
      </p:sp>
      <p:sp>
        <p:nvSpPr>
          <p:cNvPr id="14" name="TextBox 13"/>
          <p:cNvSpPr txBox="1"/>
          <p:nvPr/>
        </p:nvSpPr>
        <p:spPr>
          <a:xfrm>
            <a:off x="6473952" y="2194560"/>
            <a:ext cx="4754880" cy="3657600"/>
          </a:xfrm>
          <a:prstGeom prst="rect">
            <a:avLst/>
          </a:prstGeom>
          <a:noFill/>
        </p:spPr>
        <p:txBody>
          <a:bodyPr wrap="square" lIns="0" rIns="0" tIns="0" bIns="0">
            <a:spAutoFit/>
          </a:bodyPr>
          <a:lstStyle/>
          <a:p>
            <a:r>
              <a:rPr sz="1200" b="1">
                <a:solidFill>
                  <a:srgbClr val="0F172A"/>
                </a:solidFill>
                <a:latin typeface="Segoe UI"/>
              </a:rPr>
              <a:t>Physics-Informed and 3D Spatial World Models
</a:t>
            </a:r>
          </a:p>
          <a:p>
            <a:pPr>
              <a:spcBef>
                <a:spcPts val="600"/>
              </a:spcBef>
            </a:pPr>
            <a:r>
              <a:rPr sz="950" b="1">
                <a:solidFill>
                  <a:srgbClr val="002B49"/>
                </a:solidFill>
                <a:latin typeface="Segoe UI"/>
              </a:rPr>
              <a:t>•  Abandoning 2D Pixel Hallucination: </a:t>
            </a:r>
            <a:r>
              <a:rPr sz="900">
                <a:solidFill>
                  <a:srgbClr val="334155"/>
                </a:solidFill>
                <a:latin typeface="Segoe UI"/>
              </a:rPr>
              <a:t>Traditional video prediction models hallucinate pixels without understanding mass, contact geometry, or Newton's laws of motion. Generating visually plausible frames fails in robotics if physical contact violates mechanics.</a:t>
            </a:r>
          </a:p>
          <a:p>
            <a:pPr>
              <a:spcBef>
                <a:spcPts val="600"/>
              </a:spcBef>
            </a:pPr>
            <a:r>
              <a:rPr sz="950" b="1">
                <a:solidFill>
                  <a:srgbClr val="002B49"/>
                </a:solidFill>
                <a:latin typeface="Segoe UI"/>
              </a:rPr>
              <a:t>•  Transition to 3D Voxel &amp; Point-Flow: </a:t>
            </a:r>
            <a:r>
              <a:rPr sz="900">
                <a:solidFill>
                  <a:srgbClr val="334155"/>
                </a:solidFill>
                <a:latin typeface="Segoe UI"/>
              </a:rPr>
              <a:t>Frontier labs are moving aggressively to 3D voxel representations and point-flow dynamics (PointWorld, NVIDIA Cosmos-Predict).</a:t>
            </a:r>
          </a:p>
          <a:p>
            <a:pPr>
              <a:spcBef>
                <a:spcPts val="600"/>
              </a:spcBef>
            </a:pPr>
            <a:r>
              <a:rPr sz="950" b="1">
                <a:solidFill>
                  <a:srgbClr val="002B49"/>
                </a:solidFill>
                <a:latin typeface="Segoe UI"/>
              </a:rPr>
              <a:t>•  Modeling Contact &amp; Bounds: </a:t>
            </a:r>
            <a:r>
              <a:rPr sz="900">
                <a:solidFill>
                  <a:srgbClr val="334155"/>
                </a:solidFill>
                <a:latin typeface="Segoe UI"/>
              </a:rPr>
              <a:t>These models explicitly simulate collision bounds, surface normals, friction coefficients, and kinematic volume constraints, enabling robots to predict physical contact outcomes before executing motions.</a:t>
            </a:r>
          </a:p>
        </p:txBody>
      </p:sp>
      <p:sp>
        <p:nvSpPr>
          <p:cNvPr id="15" name="Rectangle 14"/>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Robotics is ditching discrete text tokens for 50Hz continuous flow matching, and replacing 2D pixel prediction with 3D point-flow physics.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2 · RESEARCH FRONTIERS</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Frontier Technical Priorities (3, 4 &amp; 5): RFT, Scaling &amp; Edge</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Reinforced Fine-Tuning, Cross-Embodiment Scaling Laws, and Deterministic Edge Quantization.</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3364992" cy="228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92808"/>
            <a:ext cx="2999232" cy="868680"/>
          </a:xfrm>
          <a:prstGeom prst="rect">
            <a:avLst/>
          </a:prstGeom>
          <a:noFill/>
        </p:spPr>
        <p:txBody>
          <a:bodyPr wrap="square" lIns="0" rIns="0" tIns="0" bIns="0">
            <a:spAutoFit/>
          </a:bodyPr>
          <a:lstStyle/>
          <a:p>
            <a:r>
              <a:rPr sz="1150" b="1">
                <a:solidFill>
                  <a:srgbClr val="0F172A"/>
                </a:solidFill>
                <a:latin typeface="Segoe UI"/>
              </a:rPr>
              <a:t>Priority 3: RFT for Dexterous Skills
</a:t>
            </a:r>
            <a:r>
              <a:rPr sz="900" b="1">
                <a:solidFill>
                  <a:srgbClr val="6D28D9"/>
                </a:solidFill>
                <a:latin typeface="Segoe UI"/>
              </a:rPr>
              <a:t>Autonomous Error Recovery &amp; Sub-Goals</a:t>
            </a:r>
          </a:p>
        </p:txBody>
      </p:sp>
      <p:sp>
        <p:nvSpPr>
          <p:cNvPr id="10" name="TextBox 9"/>
          <p:cNvSpPr txBox="1"/>
          <p:nvPr/>
        </p:nvSpPr>
        <p:spPr>
          <a:xfrm>
            <a:off x="914400" y="2834640"/>
            <a:ext cx="2999232" cy="3017520"/>
          </a:xfrm>
          <a:prstGeom prst="rect">
            <a:avLst/>
          </a:prstGeom>
          <a:noFill/>
        </p:spPr>
        <p:txBody>
          <a:bodyPr wrap="square" lIns="0" rIns="0" tIns="0" bIns="0">
            <a:spAutoFit/>
          </a:bodyPr>
          <a:lstStyle/>
          <a:p>
            <a:r>
              <a:rPr sz="950" b="1">
                <a:solidFill>
                  <a:srgbClr val="0F172A"/>
                </a:solidFill>
                <a:latin typeface="Segoe UI"/>
              </a:rPr>
              <a:t>The Imitation Drift Problem:
</a:t>
            </a:r>
            <a:r>
              <a:rPr sz="880">
                <a:solidFill>
                  <a:srgbClr val="334155"/>
                </a:solidFill>
                <a:latin typeface="Segoe UI"/>
              </a:rPr>
              <a:t>Pure behavioral cloning / imitation learning suffers catastrophic distributional drift when tiny tracking errors accumulate over long rollouts.</a:t>
            </a:r>
          </a:p>
          <a:p>
            <a:pPr>
              <a:spcBef>
                <a:spcPts val="700"/>
              </a:spcBef>
            </a:pPr>
            <a:r>
              <a:rPr sz="950" b="1">
                <a:solidFill>
                  <a:srgbClr val="0F172A"/>
                </a:solidFill>
                <a:latin typeface="Segoe UI"/>
              </a:rPr>
              <a:t>Stage-Aware Sub-Goal Rewards:
</a:t>
            </a:r>
            <a:r>
              <a:rPr sz="880">
                <a:solidFill>
                  <a:srgbClr val="334155"/>
                </a:solidFill>
                <a:latin typeface="Segoe UI"/>
              </a:rPr>
              <a:t>Labs apply Reinforced Fine-Tuning (RFT) using STA-PPO (Stage-Aware Proximal Policy Optimization) and residual policy heads.</a:t>
            </a:r>
          </a:p>
          <a:p>
            <a:pPr>
              <a:spcBef>
                <a:spcPts val="700"/>
              </a:spcBef>
            </a:pPr>
            <a:r>
              <a:rPr sz="950" b="1">
                <a:solidFill>
                  <a:srgbClr val="0F172A"/>
                </a:solidFill>
                <a:latin typeface="Segoe UI"/>
              </a:rPr>
              <a:t>Autonomous Error Recovery:
</a:t>
            </a:r>
            <a:r>
              <a:rPr sz="880">
                <a:solidFill>
                  <a:srgbClr val="334155"/>
                </a:solidFill>
                <a:latin typeface="Segoe UI"/>
              </a:rPr>
              <a:t>Enables policies to autonomously recover when an object slips, re-orienting grips without human teleoperation intervention.</a:t>
            </a:r>
          </a:p>
        </p:txBody>
      </p:sp>
      <p:sp>
        <p:nvSpPr>
          <p:cNvPr id="11" name="Rectangle 10"/>
          <p:cNvSpPr/>
          <p:nvPr/>
        </p:nvSpPr>
        <p:spPr>
          <a:xfrm>
            <a:off x="4407408"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691640"/>
            <a:ext cx="3364992"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892808"/>
            <a:ext cx="2999232" cy="868680"/>
          </a:xfrm>
          <a:prstGeom prst="rect">
            <a:avLst/>
          </a:prstGeom>
          <a:noFill/>
        </p:spPr>
        <p:txBody>
          <a:bodyPr wrap="square" lIns="0" rIns="0" tIns="0" bIns="0">
            <a:spAutoFit/>
          </a:bodyPr>
          <a:lstStyle/>
          <a:p>
            <a:r>
              <a:rPr sz="1150" b="1">
                <a:solidFill>
                  <a:srgbClr val="0F172A"/>
                </a:solidFill>
                <a:latin typeface="Segoe UI"/>
              </a:rPr>
              <a:t>Priority 4: Cross-Embodiment Scaling
</a:t>
            </a:r>
            <a:r>
              <a:rPr sz="900" b="1">
                <a:solidFill>
                  <a:srgbClr val="0284C7"/>
                </a:solidFill>
                <a:latin typeface="Segoe UI"/>
              </a:rPr>
              <a:t>Pre-training on Egocentric Human Video</a:t>
            </a:r>
          </a:p>
        </p:txBody>
      </p:sp>
      <p:sp>
        <p:nvSpPr>
          <p:cNvPr id="14" name="TextBox 13"/>
          <p:cNvSpPr txBox="1"/>
          <p:nvPr/>
        </p:nvSpPr>
        <p:spPr>
          <a:xfrm>
            <a:off x="4590288" y="2834640"/>
            <a:ext cx="2999232" cy="3017520"/>
          </a:xfrm>
          <a:prstGeom prst="rect">
            <a:avLst/>
          </a:prstGeom>
          <a:noFill/>
        </p:spPr>
        <p:txBody>
          <a:bodyPr wrap="square" lIns="0" rIns="0" tIns="0" bIns="0">
            <a:spAutoFit/>
          </a:bodyPr>
          <a:lstStyle/>
          <a:p>
            <a:r>
              <a:rPr sz="950" b="1">
                <a:solidFill>
                  <a:srgbClr val="0F172A"/>
                </a:solidFill>
                <a:latin typeface="Segoe UI"/>
              </a:rPr>
              <a:t>NVIDIA EgoScale Study (2026):
</a:t>
            </a:r>
            <a:r>
              <a:rPr sz="880">
                <a:solidFill>
                  <a:srgbClr val="334155"/>
                </a:solidFill>
                <a:latin typeface="Segoe UI"/>
              </a:rPr>
              <a:t>Empirical research proves log-linear capability scaling when pre-training base policies on massive egocentric human video datasets (arXiv:2602.16710).</a:t>
            </a:r>
          </a:p>
          <a:p>
            <a:pPr>
              <a:spcBef>
                <a:spcPts val="700"/>
              </a:spcBef>
            </a:pPr>
            <a:r>
              <a:rPr sz="950" b="1">
                <a:solidFill>
                  <a:srgbClr val="0F172A"/>
                </a:solidFill>
                <a:latin typeface="Segoe UI"/>
              </a:rPr>
              <a:t>Morphology Transfer:
</a:t>
            </a:r>
            <a:r>
              <a:rPr sz="880">
                <a:solidFill>
                  <a:srgbClr val="334155"/>
                </a:solidFill>
                <a:latin typeface="Segoe UI"/>
              </a:rPr>
              <a:t>Abstract spatial affordances and manipulation primitives learned from human hands transfer efficiently to multi-fingered robot hands and parallel grippers.</a:t>
            </a:r>
          </a:p>
          <a:p>
            <a:pPr>
              <a:spcBef>
                <a:spcPts val="700"/>
              </a:spcBef>
            </a:pPr>
            <a:r>
              <a:rPr sz="950" b="1">
                <a:solidFill>
                  <a:srgbClr val="0F172A"/>
                </a:solidFill>
                <a:latin typeface="Segoe UI"/>
              </a:rPr>
              <a:t>Data Multiplier Effect:
</a:t>
            </a:r>
            <a:r>
              <a:rPr sz="880">
                <a:solidFill>
                  <a:srgbClr val="334155"/>
                </a:solidFill>
                <a:latin typeface="Segoe UI"/>
              </a:rPr>
              <a:t>Solves the chronic scarcity of physical robot telemetry by leveraging uncurated video at internet scale.</a:t>
            </a:r>
          </a:p>
        </p:txBody>
      </p:sp>
      <p:sp>
        <p:nvSpPr>
          <p:cNvPr id="15" name="Rectangle 14"/>
          <p:cNvSpPr/>
          <p:nvPr/>
        </p:nvSpPr>
        <p:spPr>
          <a:xfrm>
            <a:off x="8083296"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1691640"/>
            <a:ext cx="3364992"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1892808"/>
            <a:ext cx="2999232" cy="868680"/>
          </a:xfrm>
          <a:prstGeom prst="rect">
            <a:avLst/>
          </a:prstGeom>
          <a:noFill/>
        </p:spPr>
        <p:txBody>
          <a:bodyPr wrap="square" lIns="0" rIns="0" tIns="0" bIns="0">
            <a:spAutoFit/>
          </a:bodyPr>
          <a:lstStyle/>
          <a:p>
            <a:r>
              <a:rPr sz="1150" b="1">
                <a:solidFill>
                  <a:srgbClr val="0F172A"/>
                </a:solidFill>
                <a:latin typeface="Segoe UI"/>
              </a:rPr>
              <a:t>Priority 5: Edge Model Compression
</a:t>
            </a:r>
            <a:r>
              <a:rPr sz="900" b="1">
                <a:solidFill>
                  <a:srgbClr val="047857"/>
                </a:solidFill>
                <a:latin typeface="Segoe UI"/>
              </a:rPr>
              <a:t>Real-Time Execution on Embedded GPUs</a:t>
            </a:r>
          </a:p>
        </p:txBody>
      </p:sp>
      <p:sp>
        <p:nvSpPr>
          <p:cNvPr id="18" name="TextBox 17"/>
          <p:cNvSpPr txBox="1"/>
          <p:nvPr/>
        </p:nvSpPr>
        <p:spPr>
          <a:xfrm>
            <a:off x="8266176" y="2834640"/>
            <a:ext cx="2999232" cy="3017520"/>
          </a:xfrm>
          <a:prstGeom prst="rect">
            <a:avLst/>
          </a:prstGeom>
          <a:noFill/>
        </p:spPr>
        <p:txBody>
          <a:bodyPr wrap="square" lIns="0" rIns="0" tIns="0" bIns="0">
            <a:spAutoFit/>
          </a:bodyPr>
          <a:lstStyle/>
          <a:p>
            <a:r>
              <a:rPr sz="950" b="1">
                <a:solidFill>
                  <a:srgbClr val="0F172A"/>
                </a:solidFill>
                <a:latin typeface="Segoe UI"/>
              </a:rPr>
              <a:t>The Real-Time Latency Constraint:
</a:t>
            </a:r>
            <a:r>
              <a:rPr sz="880">
                <a:solidFill>
                  <a:srgbClr val="334155"/>
                </a:solidFill>
                <a:latin typeface="Segoe UI"/>
              </a:rPr>
              <a:t>Multi-billion parameter VLAs cannot be deployed across high-latency cloud networks for closed-loop industrial control (&lt;20ms required).</a:t>
            </a:r>
          </a:p>
          <a:p>
            <a:pPr>
              <a:spcBef>
                <a:spcPts val="700"/>
              </a:spcBef>
            </a:pPr>
            <a:r>
              <a:rPr sz="950" b="1">
                <a:solidFill>
                  <a:srgbClr val="0F172A"/>
                </a:solidFill>
                <a:latin typeface="Segoe UI"/>
              </a:rPr>
              <a:t>Channel-Aware Quantization (AutoQVLA):
</a:t>
            </a:r>
            <a:r>
              <a:rPr sz="880">
                <a:solidFill>
                  <a:srgbClr val="334155"/>
                </a:solidFill>
                <a:latin typeface="Segoe UI"/>
              </a:rPr>
              <a:t>Advanced compression pipelines preserve control sensitivity while reducing weights to INT4/FP8 formats.</a:t>
            </a:r>
          </a:p>
          <a:p>
            <a:pPr>
              <a:spcBef>
                <a:spcPts val="700"/>
              </a:spcBef>
            </a:pPr>
            <a:r>
              <a:rPr sz="950" b="1">
                <a:solidFill>
                  <a:srgbClr val="0F172A"/>
                </a:solidFill>
                <a:latin typeface="Segoe UI"/>
              </a:rPr>
              <a:t>Deterministic Jetson Execution:
</a:t>
            </a:r>
            <a:r>
              <a:rPr sz="880">
                <a:solidFill>
                  <a:srgbClr val="334155"/>
                </a:solidFill>
                <a:latin typeface="Segoe UI"/>
              </a:rPr>
              <a:t>Enables deterministic, low-jitter policy execution directly on embedded industrial GPUs (NVIDIA Jetson AGX Orin).</a:t>
            </a:r>
          </a:p>
        </p:txBody>
      </p:sp>
      <p:sp>
        <p:nvSpPr>
          <p:cNvPr id="19" name="Rectangle 18"/>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The combination of RFT error recovery, human video scaling, and Jetson edge quantization makes industrial embodied AI technically viable.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2 · RESEARCH FRONTIERS</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Canonical Failure Modes (FM1 &amp; FM2): Drift &amp; Executability</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Every physical AI failure mode has an identified physical mechanism and engineering mitigation.</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92808"/>
            <a:ext cx="1920239" cy="219456"/>
          </a:xfrm>
          <a:prstGeom prst="roundRect">
            <a:avLst/>
          </a:prstGeom>
          <a:solidFill>
            <a:srgbClr val="FEE2E2"/>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B91C1C"/>
                </a:solidFill>
                <a:latin typeface="Segoe UI"/>
              </a:rPr>
              <a:t>CANONICAL FAILURE MODE 1</a:t>
            </a:r>
          </a:p>
        </p:txBody>
      </p:sp>
      <p:sp>
        <p:nvSpPr>
          <p:cNvPr id="10" name="TextBox 9"/>
          <p:cNvSpPr txBox="1"/>
          <p:nvPr/>
        </p:nvSpPr>
        <p:spPr>
          <a:xfrm>
            <a:off x="960120" y="2240280"/>
            <a:ext cx="4754880" cy="3657600"/>
          </a:xfrm>
          <a:prstGeom prst="rect">
            <a:avLst/>
          </a:prstGeom>
          <a:noFill/>
        </p:spPr>
        <p:txBody>
          <a:bodyPr wrap="square" lIns="0" rIns="0" tIns="0" bIns="0">
            <a:spAutoFit/>
          </a:bodyPr>
          <a:lstStyle/>
          <a:p>
            <a:r>
              <a:rPr sz="1250" b="1">
                <a:solidFill>
                  <a:srgbClr val="0F172A"/>
                </a:solidFill>
                <a:latin typeface="Segoe UI"/>
              </a:rPr>
              <a:t>Compounding Autoregressive Drift
</a:t>
            </a:r>
          </a:p>
          <a:p>
            <a:pPr>
              <a:spcBef>
                <a:spcPts val="600"/>
              </a:spcBef>
            </a:pPr>
            <a:r>
              <a:rPr sz="950" b="1">
                <a:solidFill>
                  <a:srgbClr val="002B49"/>
                </a:solidFill>
                <a:latin typeface="Segoe UI"/>
              </a:rPr>
              <a:t>Physical Mechanism: Error Compounding Across Rollouts
</a:t>
            </a:r>
            <a:r>
              <a:rPr sz="900">
                <a:solidFill>
                  <a:srgbClr val="334155"/>
                </a:solidFill>
                <a:latin typeface="Segoe UI"/>
              </a:rPr>
              <a:t>In autoregressive policy execution, minor per-step prediction errors (sub-millimeter positioning drift, slight angular offsets) multiply exponentially over extended time horizons. A 1% per-step error compounds to catastrophic task failure after a 100-step trajectory, causing the robot to completely miss target fixtures or crash into boundaries.</a:t>
            </a:r>
          </a:p>
          <a:p>
            <a:pPr>
              <a:spcBef>
                <a:spcPts val="800"/>
              </a:spcBef>
            </a:pPr>
            <a:r>
              <a:rPr sz="950" b="1">
                <a:solidFill>
                  <a:srgbClr val="0A58CA"/>
                </a:solidFill>
                <a:latin typeface="Segoe UI"/>
              </a:rPr>
              <a:t>Active Engineering Mitigation:
</a:t>
            </a:r>
            <a:r>
              <a:rPr sz="900">
                <a:solidFill>
                  <a:srgbClr val="334155"/>
                </a:solidFill>
                <a:latin typeface="Segoe UI"/>
              </a:rPr>
              <a:t>Hierarchical state space representations, receding-horizon Model Predictive Control (MPC) re-planning, and continuous action flow matching that resynchronizes with sensory state at 50Hz.</a:t>
            </a:r>
          </a:p>
          <a:p>
            <a:pPr>
              <a:spcBef>
                <a:spcPts val="800"/>
              </a:spcBef>
            </a:pPr>
            <a:r>
              <a:rPr sz="900" b="1">
                <a:solidFill>
                  <a:srgbClr val="C2410C"/>
                </a:solidFill>
                <a:latin typeface="Segoe UI"/>
              </a:rPr>
              <a:t>Status: Resolution Status: Partially solved on academic benchmarks; active engineering deployment ongoing in production fields.</a:t>
            </a:r>
          </a:p>
        </p:txBody>
      </p:sp>
      <p:sp>
        <p:nvSpPr>
          <p:cNvPr id="11" name="Rectangle 10"/>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691640"/>
            <a:ext cx="5212080" cy="2286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73952" y="1892808"/>
            <a:ext cx="1920239" cy="219456"/>
          </a:xfrm>
          <a:prstGeom prst="roundRect">
            <a:avLst/>
          </a:prstGeom>
          <a:solidFill>
            <a:srgbClr val="FFEDD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C2410C"/>
                </a:solidFill>
                <a:latin typeface="Segoe UI"/>
              </a:rPr>
              <a:t>CANONICAL FAILURE MODE 2</a:t>
            </a:r>
          </a:p>
        </p:txBody>
      </p:sp>
      <p:sp>
        <p:nvSpPr>
          <p:cNvPr id="14" name="TextBox 13"/>
          <p:cNvSpPr txBox="1"/>
          <p:nvPr/>
        </p:nvSpPr>
        <p:spPr>
          <a:xfrm>
            <a:off x="6473952" y="2240280"/>
            <a:ext cx="4754880" cy="3657600"/>
          </a:xfrm>
          <a:prstGeom prst="rect">
            <a:avLst/>
          </a:prstGeom>
          <a:noFill/>
        </p:spPr>
        <p:txBody>
          <a:bodyPr wrap="square" lIns="0" rIns="0" tIns="0" bIns="0">
            <a:spAutoFit/>
          </a:bodyPr>
          <a:lstStyle/>
          <a:p>
            <a:r>
              <a:rPr sz="1250" b="1">
                <a:solidFill>
                  <a:srgbClr val="0F172A"/>
                </a:solidFill>
                <a:latin typeface="Segoe UI"/>
              </a:rPr>
              <a:t>The Executability Gap
</a:t>
            </a:r>
          </a:p>
          <a:p>
            <a:pPr>
              <a:spcBef>
                <a:spcPts val="600"/>
              </a:spcBef>
            </a:pPr>
            <a:r>
              <a:rPr sz="950" b="1">
                <a:solidFill>
                  <a:srgbClr val="002B49"/>
                </a:solidFill>
                <a:latin typeface="Segoe UI"/>
              </a:rPr>
              <a:t>Physical Mechanism: Visual Plausibility vs. Physical Validity
</a:t>
            </a:r>
            <a:r>
              <a:rPr sz="900">
                <a:solidFill>
                  <a:srgbClr val="334155"/>
                </a:solidFill>
                <a:latin typeface="Segoe UI"/>
              </a:rPr>
              <a:t>Generative diffusion and video world models produce sequences of future visual frames that look highly plausible to human eyes but violate real contact mechanics—such as objects penetrating rigid surfaces, frictionless sliding, or phantom reaction forces. Robot controllers attempting to track these unphysical trajectories generate unbounded torques or stall.</a:t>
            </a:r>
          </a:p>
          <a:p>
            <a:pPr>
              <a:spcBef>
                <a:spcPts val="800"/>
              </a:spcBef>
            </a:pPr>
            <a:r>
              <a:rPr sz="950" b="1">
                <a:solidFill>
                  <a:srgbClr val="0A58CA"/>
                </a:solidFill>
                <a:latin typeface="Segoe UI"/>
              </a:rPr>
              <a:t>Active Engineering Mitigation:
</a:t>
            </a:r>
            <a:r>
              <a:rPr sz="900">
                <a:solidFill>
                  <a:srgbClr val="334155"/>
                </a:solidFill>
                <a:latin typeface="Segoe UI"/>
              </a:rPr>
              <a:t>Incorporating physics-informed loss constraints (PINN formulations) directly into latent loss functions and embedding differentiable physics engines into the generation loop.</a:t>
            </a:r>
          </a:p>
          <a:p>
            <a:pPr>
              <a:spcBef>
                <a:spcPts val="800"/>
              </a:spcBef>
            </a:pPr>
            <a:r>
              <a:rPr sz="900" b="1">
                <a:solidFill>
                  <a:srgbClr val="047857"/>
                </a:solidFill>
                <a:latin typeface="Segoe UI"/>
              </a:rPr>
              <a:t>Status: Resolution Status: Gaining rapid traction in commercial simulation tooling (NVIDIA Isaac Sim / Cosmos).</a:t>
            </a:r>
          </a:p>
        </p:txBody>
      </p:sp>
      <p:sp>
        <p:nvSpPr>
          <p:cNvPr id="15" name="Rectangle 14"/>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FM1 and FM2 prove why raw generative video models cannot drive robots without physics-informed bounds and real-time receding MPC.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2 · RESEARCH FRONTIERS</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Canonical Failure Modes (FM3, FM4, FM5): Residuals &amp; Sim-to-Real</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Perceptual Hallucination, Action Marginalization, and the Sim-to-Real Reality Gap.</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3364992" cy="228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892808"/>
            <a:ext cx="1234440" cy="219456"/>
          </a:xfrm>
          <a:prstGeom prst="roundRect">
            <a:avLst/>
          </a:prstGeom>
          <a:solidFill>
            <a:srgbClr val="FEE2E2"/>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B91C1C"/>
                </a:solidFill>
                <a:latin typeface="Segoe UI"/>
              </a:rPr>
              <a:t>FAILURE MODE 3</a:t>
            </a:r>
          </a:p>
        </p:txBody>
      </p:sp>
      <p:sp>
        <p:nvSpPr>
          <p:cNvPr id="10" name="TextBox 9"/>
          <p:cNvSpPr txBox="1"/>
          <p:nvPr/>
        </p:nvSpPr>
        <p:spPr>
          <a:xfrm>
            <a:off x="914400" y="2240280"/>
            <a:ext cx="2999232" cy="594360"/>
          </a:xfrm>
          <a:prstGeom prst="rect">
            <a:avLst/>
          </a:prstGeom>
          <a:noFill/>
        </p:spPr>
        <p:txBody>
          <a:bodyPr wrap="square" lIns="0" rIns="0" tIns="0" bIns="0">
            <a:spAutoFit/>
          </a:bodyPr>
          <a:lstStyle/>
          <a:p>
            <a:r>
              <a:rPr sz="1150" b="1">
                <a:solidFill>
                  <a:srgbClr val="0F172A"/>
                </a:solidFill>
                <a:latin typeface="Segoe UI"/>
              </a:rPr>
              <a:t>Perceptual Hallucination</a:t>
            </a:r>
          </a:p>
        </p:txBody>
      </p:sp>
      <p:sp>
        <p:nvSpPr>
          <p:cNvPr id="11" name="TextBox 10"/>
          <p:cNvSpPr txBox="1"/>
          <p:nvPr/>
        </p:nvSpPr>
        <p:spPr>
          <a:xfrm>
            <a:off x="914400" y="2834640"/>
            <a:ext cx="2999232" cy="1188720"/>
          </a:xfrm>
          <a:prstGeom prst="rect">
            <a:avLst/>
          </a:prstGeom>
          <a:noFill/>
        </p:spPr>
        <p:txBody>
          <a:bodyPr wrap="square" lIns="0" rIns="0" tIns="0" bIns="0">
            <a:spAutoFit/>
          </a:bodyPr>
          <a:lstStyle/>
          <a:p>
            <a:r>
              <a:rPr sz="900" b="1">
                <a:solidFill>
                  <a:srgbClr val="002B49"/>
                </a:solidFill>
                <a:latin typeface="Segoe UI"/>
              </a:rPr>
              <a:t>Physical Mechanism:
</a:t>
            </a:r>
            <a:r>
              <a:rPr sz="880">
                <a:solidFill>
                  <a:srgbClr val="334155"/>
                </a:solidFill>
                <a:latin typeface="Segoe UI"/>
              </a:rPr>
              <a:t>Novel industrial lighting conditions, unexpected reflections from metallic sheet surfaces, or occluded parts cause neural encoders to collapse out-of-distribution (OOD) states into incorrect known tokens.</a:t>
            </a:r>
          </a:p>
        </p:txBody>
      </p:sp>
      <p:sp>
        <p:nvSpPr>
          <p:cNvPr id="12" name="Rectangle 11"/>
          <p:cNvSpPr/>
          <p:nvPr/>
        </p:nvSpPr>
        <p:spPr>
          <a:xfrm>
            <a:off x="914400" y="4114800"/>
            <a:ext cx="2999232" cy="5943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1051560" y="4206240"/>
            <a:ext cx="847344" cy="249936"/>
          </a:xfrm>
          <a:prstGeom prst="rect">
            <a:avLst/>
          </a:prstGeom>
        </p:spPr>
      </p:pic>
      <p:sp>
        <p:nvSpPr>
          <p:cNvPr id="14" name="TextBox 13"/>
          <p:cNvSpPr txBox="1"/>
          <p:nvPr/>
        </p:nvSpPr>
        <p:spPr>
          <a:xfrm>
            <a:off x="914400" y="4846320"/>
            <a:ext cx="2999232" cy="1280160"/>
          </a:xfrm>
          <a:prstGeom prst="rect">
            <a:avLst/>
          </a:prstGeom>
          <a:noFill/>
        </p:spPr>
        <p:txBody>
          <a:bodyPr wrap="square" lIns="0" rIns="0" tIns="0" bIns="0">
            <a:spAutoFit/>
          </a:bodyPr>
          <a:lstStyle/>
          <a:p>
            <a:r>
              <a:rPr sz="900" b="1">
                <a:solidFill>
                  <a:srgbClr val="0A58CA"/>
                </a:solidFill>
                <a:latin typeface="Segoe UI"/>
              </a:rPr>
              <a:t>Mitigation &amp; Resolution:
</a:t>
            </a:r>
            <a:r>
              <a:rPr sz="850">
                <a:solidFill>
                  <a:srgbClr val="334155"/>
                </a:solidFill>
                <a:latin typeface="Segoe UI"/>
              </a:rPr>
              <a:t>Mitigation: Latent reconstruction residual gating. If reconstruction error exceeds threshold tau, the model trips safety interlocks rather than commanding motion.
</a:t>
            </a:r>
            <a:r>
              <a:rPr sz="850" b="1">
                <a:solidFill>
                  <a:srgbClr val="047857"/>
                </a:solidFill>
                <a:latin typeface="Segoe UI"/>
              </a:rPr>
              <a:t>Status: Critical for formal safety interlocks.</a:t>
            </a:r>
          </a:p>
        </p:txBody>
      </p:sp>
      <p:sp>
        <p:nvSpPr>
          <p:cNvPr id="15" name="Rectangle 14"/>
          <p:cNvSpPr/>
          <p:nvPr/>
        </p:nvSpPr>
        <p:spPr>
          <a:xfrm>
            <a:off x="4407408"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07408" y="1691640"/>
            <a:ext cx="3364992" cy="2286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90288" y="1892808"/>
            <a:ext cx="1234440" cy="219456"/>
          </a:xfrm>
          <a:prstGeom prst="roundRect">
            <a:avLst/>
          </a:prstGeom>
          <a:solidFill>
            <a:srgbClr val="FFEDD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C2410C"/>
                </a:solidFill>
                <a:latin typeface="Segoe UI"/>
              </a:rPr>
              <a:t>FAILURE MODE 4</a:t>
            </a:r>
          </a:p>
        </p:txBody>
      </p:sp>
      <p:sp>
        <p:nvSpPr>
          <p:cNvPr id="18" name="TextBox 17"/>
          <p:cNvSpPr txBox="1"/>
          <p:nvPr/>
        </p:nvSpPr>
        <p:spPr>
          <a:xfrm>
            <a:off x="4590288" y="2240280"/>
            <a:ext cx="2999232" cy="594360"/>
          </a:xfrm>
          <a:prstGeom prst="rect">
            <a:avLst/>
          </a:prstGeom>
          <a:noFill/>
        </p:spPr>
        <p:txBody>
          <a:bodyPr wrap="square" lIns="0" rIns="0" tIns="0" bIns="0">
            <a:spAutoFit/>
          </a:bodyPr>
          <a:lstStyle/>
          <a:p>
            <a:r>
              <a:rPr sz="1150" b="1">
                <a:solidFill>
                  <a:srgbClr val="0F172A"/>
                </a:solidFill>
                <a:latin typeface="Segoe UI"/>
              </a:rPr>
              <a:t>Action Marginalization</a:t>
            </a:r>
          </a:p>
        </p:txBody>
      </p:sp>
      <p:sp>
        <p:nvSpPr>
          <p:cNvPr id="19" name="TextBox 18"/>
          <p:cNvSpPr txBox="1"/>
          <p:nvPr/>
        </p:nvSpPr>
        <p:spPr>
          <a:xfrm>
            <a:off x="4590288" y="2834640"/>
            <a:ext cx="2999232" cy="1188720"/>
          </a:xfrm>
          <a:prstGeom prst="rect">
            <a:avLst/>
          </a:prstGeom>
          <a:noFill/>
        </p:spPr>
        <p:txBody>
          <a:bodyPr wrap="square" lIns="0" rIns="0" tIns="0" bIns="0">
            <a:spAutoFit/>
          </a:bodyPr>
          <a:lstStyle/>
          <a:p>
            <a:r>
              <a:rPr sz="900" b="1">
                <a:solidFill>
                  <a:srgbClr val="002B49"/>
                </a:solidFill>
                <a:latin typeface="Segoe UI"/>
              </a:rPr>
              <a:t>Physical Mechanism:
</a:t>
            </a:r>
            <a:r>
              <a:rPr sz="880">
                <a:solidFill>
                  <a:srgbClr val="334155"/>
                </a:solidFill>
                <a:latin typeface="Segoe UI"/>
              </a:rPr>
              <a:t>When world models are trained on massive video corpora with weak action grounding, predicted future states become invariant to real-time control commands, effectively ignoring teleoperator or safety override signals.</a:t>
            </a:r>
          </a:p>
        </p:txBody>
      </p:sp>
      <p:sp>
        <p:nvSpPr>
          <p:cNvPr id="20" name="Rectangle 19"/>
          <p:cNvSpPr/>
          <p:nvPr/>
        </p:nvSpPr>
        <p:spPr>
          <a:xfrm>
            <a:off x="4590288" y="4114800"/>
            <a:ext cx="2999232" cy="5943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4727448" y="4206240"/>
            <a:ext cx="1331976" cy="265176"/>
          </a:xfrm>
          <a:prstGeom prst="rect">
            <a:avLst/>
          </a:prstGeom>
        </p:spPr>
      </p:pic>
      <p:sp>
        <p:nvSpPr>
          <p:cNvPr id="22" name="TextBox 21"/>
          <p:cNvSpPr txBox="1"/>
          <p:nvPr/>
        </p:nvSpPr>
        <p:spPr>
          <a:xfrm>
            <a:off x="4590288" y="4846320"/>
            <a:ext cx="2999232" cy="1280160"/>
          </a:xfrm>
          <a:prstGeom prst="rect">
            <a:avLst/>
          </a:prstGeom>
          <a:noFill/>
        </p:spPr>
        <p:txBody>
          <a:bodyPr wrap="square" lIns="0" rIns="0" tIns="0" bIns="0">
            <a:spAutoFit/>
          </a:bodyPr>
          <a:lstStyle/>
          <a:p>
            <a:r>
              <a:rPr sz="900" b="1">
                <a:solidFill>
                  <a:srgbClr val="0A58CA"/>
                </a:solidFill>
                <a:latin typeface="Segoe UI"/>
              </a:rPr>
              <a:t>Mitigation &amp; Resolution:
</a:t>
            </a:r>
            <a:r>
              <a:rPr sz="850">
                <a:solidFill>
                  <a:srgbClr val="334155"/>
                </a:solidFill>
                <a:latin typeface="Segoe UI"/>
              </a:rPr>
              <a:t>Mitigation: Action-conditioned contrastive losses and dedicated inverse dynamics heads that explicitly penalize predictions failing to reflect control inputs.
</a:t>
            </a:r>
            <a:r>
              <a:rPr sz="850" b="1">
                <a:solidFill>
                  <a:srgbClr val="047857"/>
                </a:solidFill>
                <a:latin typeface="Segoe UI"/>
              </a:rPr>
              <a:t>Status: Active research in foundation labs.</a:t>
            </a:r>
          </a:p>
        </p:txBody>
      </p:sp>
      <p:sp>
        <p:nvSpPr>
          <p:cNvPr id="23" name="Rectangle 22"/>
          <p:cNvSpPr/>
          <p:nvPr/>
        </p:nvSpPr>
        <p:spPr>
          <a:xfrm>
            <a:off x="8083296"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83296" y="1691640"/>
            <a:ext cx="3364992" cy="228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66176" y="1892808"/>
            <a:ext cx="1234440" cy="219456"/>
          </a:xfrm>
          <a:prstGeom prst="roundRect">
            <a:avLst/>
          </a:prstGeom>
          <a:solidFill>
            <a:srgbClr val="F3E8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6D28D9"/>
                </a:solidFill>
                <a:latin typeface="Segoe UI"/>
              </a:rPr>
              <a:t>FAILURE MODE 5</a:t>
            </a:r>
          </a:p>
        </p:txBody>
      </p:sp>
      <p:sp>
        <p:nvSpPr>
          <p:cNvPr id="26" name="TextBox 25"/>
          <p:cNvSpPr txBox="1"/>
          <p:nvPr/>
        </p:nvSpPr>
        <p:spPr>
          <a:xfrm>
            <a:off x="8266176" y="2240280"/>
            <a:ext cx="2999232" cy="594360"/>
          </a:xfrm>
          <a:prstGeom prst="rect">
            <a:avLst/>
          </a:prstGeom>
          <a:noFill/>
        </p:spPr>
        <p:txBody>
          <a:bodyPr wrap="square" lIns="0" rIns="0" tIns="0" bIns="0">
            <a:spAutoFit/>
          </a:bodyPr>
          <a:lstStyle/>
          <a:p>
            <a:r>
              <a:rPr sz="1150" b="1">
                <a:solidFill>
                  <a:srgbClr val="0F172A"/>
                </a:solidFill>
                <a:latin typeface="Segoe UI"/>
              </a:rPr>
              <a:t>Sim-to-Real Reality Gap</a:t>
            </a:r>
          </a:p>
        </p:txBody>
      </p:sp>
      <p:sp>
        <p:nvSpPr>
          <p:cNvPr id="27" name="TextBox 26"/>
          <p:cNvSpPr txBox="1"/>
          <p:nvPr/>
        </p:nvSpPr>
        <p:spPr>
          <a:xfrm>
            <a:off x="8266176" y="2834640"/>
            <a:ext cx="2999232" cy="1188720"/>
          </a:xfrm>
          <a:prstGeom prst="rect">
            <a:avLst/>
          </a:prstGeom>
          <a:noFill/>
        </p:spPr>
        <p:txBody>
          <a:bodyPr wrap="square" lIns="0" rIns="0" tIns="0" bIns="0">
            <a:spAutoFit/>
          </a:bodyPr>
          <a:lstStyle/>
          <a:p>
            <a:r>
              <a:rPr sz="900" b="1">
                <a:solidFill>
                  <a:srgbClr val="002B49"/>
                </a:solidFill>
                <a:latin typeface="Segoe UI"/>
              </a:rPr>
              <a:t>Physical Mechanism:
</a:t>
            </a:r>
            <a:r>
              <a:rPr sz="880">
                <a:solidFill>
                  <a:srgbClr val="334155"/>
                </a:solidFill>
                <a:latin typeface="Segoe UI"/>
              </a:rPr>
              <a:t>Mismatches between rigid-body simulation dynamics and real-world micro-friction, payload inertia, and cable elasticity cause high-performing simulated policies to fail instantly in real plants.</a:t>
            </a:r>
          </a:p>
        </p:txBody>
      </p:sp>
      <p:sp>
        <p:nvSpPr>
          <p:cNvPr id="28" name="Rectangle 27"/>
          <p:cNvSpPr/>
          <p:nvPr/>
        </p:nvSpPr>
        <p:spPr>
          <a:xfrm>
            <a:off x="8266176" y="4114800"/>
            <a:ext cx="2999232" cy="5943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mage.png"/>
          <p:cNvPicPr>
            <a:picLocks noChangeAspect="1"/>
          </p:cNvPicPr>
          <p:nvPr/>
        </p:nvPicPr>
        <p:blipFill>
          <a:blip r:embed="rId4"/>
          <a:stretch>
            <a:fillRect/>
          </a:stretch>
        </p:blipFill>
        <p:spPr>
          <a:xfrm>
            <a:off x="8403336" y="4206240"/>
            <a:ext cx="1892808" cy="249936"/>
          </a:xfrm>
          <a:prstGeom prst="rect">
            <a:avLst/>
          </a:prstGeom>
        </p:spPr>
      </p:pic>
      <p:sp>
        <p:nvSpPr>
          <p:cNvPr id="30" name="TextBox 29"/>
          <p:cNvSpPr txBox="1"/>
          <p:nvPr/>
        </p:nvSpPr>
        <p:spPr>
          <a:xfrm>
            <a:off x="8266176" y="4846320"/>
            <a:ext cx="2999232" cy="1280160"/>
          </a:xfrm>
          <a:prstGeom prst="rect">
            <a:avLst/>
          </a:prstGeom>
          <a:noFill/>
        </p:spPr>
        <p:txBody>
          <a:bodyPr wrap="square" lIns="0" rIns="0" tIns="0" bIns="0">
            <a:spAutoFit/>
          </a:bodyPr>
          <a:lstStyle/>
          <a:p>
            <a:r>
              <a:rPr sz="900" b="1">
                <a:solidFill>
                  <a:srgbClr val="0A58CA"/>
                </a:solidFill>
                <a:latin typeface="Segoe UI"/>
              </a:rPr>
              <a:t>Mitigation &amp; Resolution:
</a:t>
            </a:r>
            <a:r>
              <a:rPr sz="850">
                <a:solidFill>
                  <a:srgbClr val="334155"/>
                </a:solidFill>
                <a:latin typeface="Segoe UI"/>
              </a:rPr>
              <a:t>Mitigation: Real2Sim2Real closed loops with automated physics system identification, extreme domain randomization, and hybrid synthetic-plus-real fine-tuning.
</a:t>
            </a:r>
            <a:r>
              <a:rPr sz="850" b="1">
                <a:solidFill>
                  <a:srgbClr val="047857"/>
                </a:solidFill>
                <a:latin typeface="Segoe UI"/>
              </a:rPr>
              <a:t>Status: Standard industrial engineering practice.</a:t>
            </a:r>
          </a:p>
        </p:txBody>
      </p:sp>
      <p:sp>
        <p:nvSpPr>
          <p:cNvPr id="31" name="Rectangle 30"/>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No known deployment failure mode is beyond engineering control. Every failure has a quantitative mathematical mitigation.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2 · RESEARCH FRONTIERS</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Pearl's Causal Ladder: Why LLMs Fail at Robotics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Deploying standard language models into robotics fails due to a fundamental representational mismatch.</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364992" cy="4389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45920"/>
            <a:ext cx="3364992" cy="22860"/>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828800"/>
            <a:ext cx="1577340"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A58CA"/>
                </a:solidFill>
                <a:latin typeface="Segoe UI"/>
              </a:rPr>
              <a:t>RUNG 1 OF CAUSALITY</a:t>
            </a:r>
          </a:p>
        </p:txBody>
      </p:sp>
      <p:sp>
        <p:nvSpPr>
          <p:cNvPr id="10" name="TextBox 9"/>
          <p:cNvSpPr txBox="1"/>
          <p:nvPr/>
        </p:nvSpPr>
        <p:spPr>
          <a:xfrm>
            <a:off x="914400" y="2194560"/>
            <a:ext cx="2999232" cy="640080"/>
          </a:xfrm>
          <a:prstGeom prst="rect">
            <a:avLst/>
          </a:prstGeom>
          <a:noFill/>
        </p:spPr>
        <p:txBody>
          <a:bodyPr wrap="square" lIns="0" rIns="0" tIns="0" bIns="0">
            <a:spAutoFit/>
          </a:bodyPr>
          <a:lstStyle/>
          <a:p>
            <a:r>
              <a:rPr sz="1200" b="1">
                <a:solidFill>
                  <a:srgbClr val="0F172A"/>
                </a:solidFill>
                <a:latin typeface="Segoe UI"/>
              </a:rPr>
              <a:t>Association &amp; Observation
</a:t>
            </a:r>
            <a:r>
              <a:rPr sz="900" b="1">
                <a:solidFill>
                  <a:srgbClr val="0A58CA"/>
                </a:solidFill>
                <a:latin typeface="Segoe UI"/>
              </a:rPr>
              <a:t>Where LLMs Operate (Static Semantic Space)</a:t>
            </a:r>
          </a:p>
        </p:txBody>
      </p:sp>
      <p:sp>
        <p:nvSpPr>
          <p:cNvPr id="11" name="Rectangle 10"/>
          <p:cNvSpPr/>
          <p:nvPr/>
        </p:nvSpPr>
        <p:spPr>
          <a:xfrm>
            <a:off x="914400" y="2971800"/>
            <a:ext cx="2999232" cy="5943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1051560" y="3063240"/>
            <a:ext cx="819912" cy="292608"/>
          </a:xfrm>
          <a:prstGeom prst="rect">
            <a:avLst/>
          </a:prstGeom>
        </p:spPr>
      </p:pic>
      <p:sp>
        <p:nvSpPr>
          <p:cNvPr id="13" name="TextBox 12"/>
          <p:cNvSpPr txBox="1"/>
          <p:nvPr/>
        </p:nvSpPr>
        <p:spPr>
          <a:xfrm>
            <a:off x="914400" y="3703320"/>
            <a:ext cx="2999232" cy="2103120"/>
          </a:xfrm>
          <a:prstGeom prst="rect">
            <a:avLst/>
          </a:prstGeom>
          <a:noFill/>
        </p:spPr>
        <p:txBody>
          <a:bodyPr wrap="square" lIns="0" rIns="0" tIns="0" bIns="0">
            <a:spAutoFit/>
          </a:bodyPr>
          <a:lstStyle/>
          <a:p>
            <a:r>
              <a:rPr sz="919">
                <a:solidFill>
                  <a:srgbClr val="334155"/>
                </a:solidFill>
                <a:latin typeface="Segoe UI"/>
              </a:rPr>
              <a:t>Standard language models operate strictly on observational correlations: P(Y | X). They predict the most probable next token based on statistical co-occurrences in historical training corpora.</a:t>
            </a:r>
          </a:p>
          <a:p>
            <a:pPr>
              <a:spcBef>
                <a:spcPts val="800"/>
              </a:spcBef>
            </a:pPr>
            <a:r>
              <a:rPr sz="880">
                <a:solidFill>
                  <a:srgbClr val="64748B"/>
                </a:solidFill>
                <a:latin typeface="Segoe UI"/>
              </a:rPr>
              <a:t>Limitation: Passive observation cannot distinguish causal influence from spurious correlation. A language model knows 'smoke follows fire' but has no concept of physical mass, velocity, or friction.</a:t>
            </a:r>
          </a:p>
        </p:txBody>
      </p:sp>
      <p:sp>
        <p:nvSpPr>
          <p:cNvPr id="14" name="Rectangle 13"/>
          <p:cNvSpPr/>
          <p:nvPr/>
        </p:nvSpPr>
        <p:spPr>
          <a:xfrm>
            <a:off x="4407408" y="1645920"/>
            <a:ext cx="3364992" cy="4389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07408" y="1645920"/>
            <a:ext cx="3364992"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90288" y="1828800"/>
            <a:ext cx="1577340"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RUNG 2 OF CAUSALITY</a:t>
            </a:r>
          </a:p>
        </p:txBody>
      </p:sp>
      <p:sp>
        <p:nvSpPr>
          <p:cNvPr id="17" name="TextBox 16"/>
          <p:cNvSpPr txBox="1"/>
          <p:nvPr/>
        </p:nvSpPr>
        <p:spPr>
          <a:xfrm>
            <a:off x="4590288" y="2194560"/>
            <a:ext cx="2999232" cy="640080"/>
          </a:xfrm>
          <a:prstGeom prst="rect">
            <a:avLst/>
          </a:prstGeom>
          <a:noFill/>
        </p:spPr>
        <p:txBody>
          <a:bodyPr wrap="square" lIns="0" rIns="0" tIns="0" bIns="0">
            <a:spAutoFit/>
          </a:bodyPr>
          <a:lstStyle/>
          <a:p>
            <a:r>
              <a:rPr sz="1200" b="1">
                <a:solidFill>
                  <a:srgbClr val="0F172A"/>
                </a:solidFill>
                <a:latin typeface="Segoe UI"/>
              </a:rPr>
              <a:t>Intervention &amp; Action
</a:t>
            </a:r>
            <a:r>
              <a:rPr sz="900" b="1">
                <a:solidFill>
                  <a:srgbClr val="002B49"/>
                </a:solidFill>
                <a:latin typeface="Segoe UI"/>
              </a:rPr>
              <a:t>The Domain of Physical AI (Dynamic Closed-Loop)</a:t>
            </a:r>
          </a:p>
        </p:txBody>
      </p:sp>
      <p:sp>
        <p:nvSpPr>
          <p:cNvPr id="18" name="Rectangle 17"/>
          <p:cNvSpPr/>
          <p:nvPr/>
        </p:nvSpPr>
        <p:spPr>
          <a:xfrm>
            <a:off x="4590288" y="2971800"/>
            <a:ext cx="2999232" cy="5943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3"/>
          <a:stretch>
            <a:fillRect/>
          </a:stretch>
        </p:blipFill>
        <p:spPr>
          <a:xfrm>
            <a:off x="4727448" y="3063240"/>
            <a:ext cx="1179576" cy="292608"/>
          </a:xfrm>
          <a:prstGeom prst="rect">
            <a:avLst/>
          </a:prstGeom>
        </p:spPr>
      </p:pic>
      <p:sp>
        <p:nvSpPr>
          <p:cNvPr id="20" name="TextBox 19"/>
          <p:cNvSpPr txBox="1"/>
          <p:nvPr/>
        </p:nvSpPr>
        <p:spPr>
          <a:xfrm>
            <a:off x="4590288" y="3703320"/>
            <a:ext cx="2999232" cy="2103120"/>
          </a:xfrm>
          <a:prstGeom prst="rect">
            <a:avLst/>
          </a:prstGeom>
          <a:noFill/>
        </p:spPr>
        <p:txBody>
          <a:bodyPr wrap="square" lIns="0" rIns="0" tIns="0" bIns="0">
            <a:spAutoFit/>
          </a:bodyPr>
          <a:lstStyle/>
          <a:p>
            <a:r>
              <a:rPr sz="919">
                <a:solidFill>
                  <a:srgbClr val="334155"/>
                </a:solidFill>
                <a:latin typeface="Segoe UI"/>
              </a:rPr>
              <a:t>Physical control mandates causal intervention: P(Y | do(u)). A robot controller cannot merely guess tokens; it must predict precisely what physical state Y occurs when it commands a specific 15N torque u to an actuator.</a:t>
            </a:r>
          </a:p>
          <a:p>
            <a:pPr>
              <a:spcBef>
                <a:spcPts val="800"/>
              </a:spcBef>
            </a:pPr>
            <a:r>
              <a:rPr sz="880">
                <a:solidFill>
                  <a:srgbClr val="64748B"/>
                </a:solidFill>
                <a:latin typeface="Segoe UI"/>
              </a:rPr>
              <a:t>Requirement: Demands dedicated physical world models that map continuous control forces to kinematic motion under Newton's equations.</a:t>
            </a:r>
          </a:p>
        </p:txBody>
      </p:sp>
      <p:sp>
        <p:nvSpPr>
          <p:cNvPr id="21" name="Rectangle 20"/>
          <p:cNvSpPr/>
          <p:nvPr/>
        </p:nvSpPr>
        <p:spPr>
          <a:xfrm>
            <a:off x="8083296" y="1645920"/>
            <a:ext cx="3364992" cy="4389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1645920"/>
            <a:ext cx="3364992"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66176" y="1828800"/>
            <a:ext cx="1577340" cy="219456"/>
          </a:xfrm>
          <a:prstGeom prst="roundRect">
            <a:avLst/>
          </a:prstGeom>
          <a:solidFill>
            <a:srgbClr val="D1FAE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47857"/>
                </a:solidFill>
                <a:latin typeface="Segoe UI"/>
              </a:rPr>
              <a:t>RUNG 3 OF CAUSALITY</a:t>
            </a:r>
          </a:p>
        </p:txBody>
      </p:sp>
      <p:sp>
        <p:nvSpPr>
          <p:cNvPr id="24" name="TextBox 23"/>
          <p:cNvSpPr txBox="1"/>
          <p:nvPr/>
        </p:nvSpPr>
        <p:spPr>
          <a:xfrm>
            <a:off x="8266176" y="2194560"/>
            <a:ext cx="2999232" cy="640080"/>
          </a:xfrm>
          <a:prstGeom prst="rect">
            <a:avLst/>
          </a:prstGeom>
          <a:noFill/>
        </p:spPr>
        <p:txBody>
          <a:bodyPr wrap="square" lIns="0" rIns="0" tIns="0" bIns="0">
            <a:spAutoFit/>
          </a:bodyPr>
          <a:lstStyle/>
          <a:p>
            <a:r>
              <a:rPr sz="1200" b="1">
                <a:solidFill>
                  <a:srgbClr val="0F172A"/>
                </a:solidFill>
                <a:latin typeface="Segoe UI"/>
              </a:rPr>
              <a:t>Counterfactuals &amp; Planning
</a:t>
            </a:r>
            <a:r>
              <a:rPr sz="900" b="1">
                <a:solidFill>
                  <a:srgbClr val="047857"/>
                </a:solidFill>
                <a:latin typeface="Segoe UI"/>
              </a:rPr>
              <a:t>The Benchmark for Certified Safety &amp; V&amp;V</a:t>
            </a:r>
          </a:p>
        </p:txBody>
      </p:sp>
      <p:sp>
        <p:nvSpPr>
          <p:cNvPr id="25" name="Rectangle 24"/>
          <p:cNvSpPr/>
          <p:nvPr/>
        </p:nvSpPr>
        <p:spPr>
          <a:xfrm>
            <a:off x="8266176" y="2971800"/>
            <a:ext cx="2999232" cy="5943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4"/>
          <a:stretch>
            <a:fillRect/>
          </a:stretch>
        </p:blipFill>
        <p:spPr>
          <a:xfrm>
            <a:off x="8403336" y="3063240"/>
            <a:ext cx="1331976" cy="295656"/>
          </a:xfrm>
          <a:prstGeom prst="rect">
            <a:avLst/>
          </a:prstGeom>
        </p:spPr>
      </p:pic>
      <p:sp>
        <p:nvSpPr>
          <p:cNvPr id="27" name="TextBox 26"/>
          <p:cNvSpPr txBox="1"/>
          <p:nvPr/>
        </p:nvSpPr>
        <p:spPr>
          <a:xfrm>
            <a:off x="8266176" y="3703320"/>
            <a:ext cx="2999232" cy="2103120"/>
          </a:xfrm>
          <a:prstGeom prst="rect">
            <a:avLst/>
          </a:prstGeom>
          <a:noFill/>
        </p:spPr>
        <p:txBody>
          <a:bodyPr wrap="square" lIns="0" rIns="0" tIns="0" bIns="0">
            <a:spAutoFit/>
          </a:bodyPr>
          <a:lstStyle/>
          <a:p>
            <a:r>
              <a:rPr sz="919">
                <a:solidFill>
                  <a:srgbClr val="334155"/>
                </a:solidFill>
                <a:latin typeface="Segoe UI"/>
              </a:rPr>
              <a:t>Safe autonomous execution requires evaluating counterfactual alternatives: P(Yu | X', Y'). The system must compute: 'Given that obstacle X was encountered, would trajectory u have prevented collision?'</a:t>
            </a:r>
          </a:p>
          <a:p>
            <a:pPr>
              <a:spcBef>
                <a:spcPts val="800"/>
              </a:spcBef>
            </a:pPr>
            <a:r>
              <a:rPr sz="880">
                <a:solidFill>
                  <a:srgbClr val="64748B"/>
                </a:solidFill>
                <a:latin typeface="Segoe UI"/>
              </a:rPr>
              <a:t>Requirement: Essential for formal functional safety dossiers, reachability verification, and insurance compliance in brownfield plants.</a:t>
            </a:r>
          </a:p>
        </p:txBody>
      </p:sp>
      <p:sp>
        <p:nvSpPr>
          <p:cNvPr id="28" name="Rectangle 27"/>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This causal hierarchy proves why industrial robotics requires dedicated physics-grounded verification rather than raw LLM prompt engineering.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7315200" cy="274320"/>
          </a:xfrm>
          <a:prstGeom prst="rect">
            <a:avLst/>
          </a:prstGeom>
          <a:noFill/>
        </p:spPr>
        <p:txBody>
          <a:bodyPr wrap="none" lIns="0" rIns="0" tIns="0" bIns="0">
            <a:spAutoFit/>
          </a:bodyPr>
          <a:lstStyle/>
          <a:p>
            <a:r>
              <a:rPr sz="900" b="1">
                <a:solidFill>
                  <a:srgbClr val="B45309"/>
                </a:solidFill>
                <a:latin typeface="Segoe UI"/>
              </a:rPr>
              <a:t>MODULE 03 · STRATEGIC FOCUS</a:t>
            </a:r>
          </a:p>
        </p:txBody>
      </p:sp>
      <p:sp>
        <p:nvSpPr>
          <p:cNvPr id="4" name="TextBox 3"/>
          <p:cNvSpPr txBox="1"/>
          <p:nvPr/>
        </p:nvSpPr>
        <p:spPr>
          <a:xfrm>
            <a:off x="914400" y="1463040"/>
            <a:ext cx="10058400" cy="1371600"/>
          </a:xfrm>
          <a:prstGeom prst="rect">
            <a:avLst/>
          </a:prstGeom>
          <a:noFill/>
        </p:spPr>
        <p:txBody>
          <a:bodyPr wrap="square" lIns="0" rIns="0" tIns="0" bIns="0">
            <a:spAutoFit/>
          </a:bodyPr>
          <a:lstStyle/>
          <a:p>
            <a:r>
              <a:rPr sz="3600" b="1">
                <a:solidFill>
                  <a:srgbClr val="FFFFFF"/>
                </a:solidFill>
                <a:latin typeface="Segoe UI"/>
              </a:rPr>
              <a:t>Commercialization Dynamics</a:t>
            </a:r>
          </a:p>
          <a:p>
            <a:pPr>
              <a:spcBef>
                <a:spcPts val="600"/>
              </a:spcBef>
            </a:pPr>
            <a:r>
              <a:rPr sz="1400">
                <a:solidFill>
                  <a:srgbClr val="93C5FD"/>
                </a:solidFill>
                <a:latin typeface="Segoe UI"/>
              </a:rPr>
              <a:t>How Physical AI Generates Revenue &amp; The LTTS Engineering Services Playbook</a:t>
            </a:r>
          </a:p>
        </p:txBody>
      </p:sp>
      <p:sp>
        <p:nvSpPr>
          <p:cNvPr id="5" name="Rectangle 4"/>
          <p:cNvSpPr/>
          <p:nvPr/>
        </p:nvSpPr>
        <p:spPr>
          <a:xfrm>
            <a:off x="914400" y="3108960"/>
            <a:ext cx="73152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83280"/>
            <a:ext cx="9144000" cy="2743200"/>
          </a:xfrm>
          <a:prstGeom prst="rect">
            <a:avLst/>
          </a:prstGeom>
          <a:noFill/>
        </p:spPr>
        <p:txBody>
          <a:bodyPr wrap="square" lIns="0" rIns="0" tIns="0" bIns="0">
            <a:spAutoFit/>
          </a:bodyPr>
          <a:lstStyle/>
          <a:p>
            <a:r>
              <a:rPr sz="1200" b="1">
                <a:solidFill>
                  <a:srgbClr val="B45309"/>
                </a:solidFill>
                <a:latin typeface="Segoe UI"/>
              </a:rPr>
              <a:t>—   </a:t>
            </a:r>
            <a:r>
              <a:rPr sz="1200">
                <a:solidFill>
                  <a:srgbClr val="F1F5F9"/>
                </a:solidFill>
                <a:latin typeface="Segoe UI"/>
              </a:rPr>
              <a:t>Commercial models, contract structures, ACV ranges, and sales cycles (Table 3)</a:t>
            </a:r>
          </a:p>
          <a:p>
            <a:pPr>
              <a:spcBef>
                <a:spcPts val="800"/>
              </a:spcBef>
            </a:pPr>
            <a:r>
              <a:rPr sz="1200" b="1">
                <a:solidFill>
                  <a:srgbClr val="B45309"/>
                </a:solidFill>
                <a:latin typeface="Segoe UI"/>
              </a:rPr>
              <a:t>—   </a:t>
            </a:r>
            <a:r>
              <a:rPr sz="1200">
                <a:solidFill>
                  <a:srgbClr val="F1F5F9"/>
                </a:solidFill>
                <a:latin typeface="Segoe UI"/>
              </a:rPr>
              <a:t>Primary buyer personas across robotics R&amp;D, plant operations, and safety</a:t>
            </a:r>
          </a:p>
          <a:p>
            <a:pPr>
              <a:spcBef>
                <a:spcPts val="800"/>
              </a:spcBef>
            </a:pPr>
            <a:r>
              <a:rPr sz="1200" b="1">
                <a:solidFill>
                  <a:srgbClr val="B45309"/>
                </a:solidFill>
                <a:latin typeface="Segoe UI"/>
              </a:rPr>
              <a:t>—   </a:t>
            </a:r>
            <a:r>
              <a:rPr sz="1200">
                <a:solidFill>
                  <a:srgbClr val="F1F5F9"/>
                </a:solidFill>
                <a:latin typeface="Segoe UI"/>
              </a:rPr>
              <a:t>The engineering services opportunity: addressing client deficits without hardware capital drag</a:t>
            </a:r>
          </a:p>
          <a:p>
            <a:pPr>
              <a:spcBef>
                <a:spcPts val="800"/>
              </a:spcBef>
            </a:pPr>
            <a:r>
              <a:rPr sz="1200" b="1">
                <a:solidFill>
                  <a:srgbClr val="B45309"/>
                </a:solidFill>
                <a:latin typeface="Segoe UI"/>
              </a:rPr>
              <a:t>—   </a:t>
            </a:r>
            <a:r>
              <a:rPr sz="1200">
                <a:solidFill>
                  <a:srgbClr val="F1F5F9"/>
                </a:solidFill>
                <a:latin typeface="Segoe UI"/>
              </a:rPr>
              <a:t>LTTS's four commercial offerings: SD-FaaS, PLC Integration, V&amp;V, and Embodied MLOps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3 · COMMERCIALIZATION</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Commercial Models, Deal Economics &amp; Buyer Personas (Table 3)</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Comprehensive benchmark of revenue archetypes across foundation models, OEMs, software, and systems integration.</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725912" cy="34747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2286000" cy="256032"/>
          </a:xfrm>
          <a:prstGeom prst="rect">
            <a:avLst/>
          </a:prstGeom>
          <a:noFill/>
        </p:spPr>
        <p:txBody>
          <a:bodyPr wrap="square" lIns="0" rIns="0" tIns="0" bIns="0">
            <a:spAutoFit/>
          </a:bodyPr>
          <a:lstStyle/>
          <a:p>
            <a:r>
              <a:rPr sz="850" b="1">
                <a:solidFill>
                  <a:srgbClr val="FFFFFF"/>
                </a:solidFill>
                <a:latin typeface="Segoe UI"/>
              </a:rPr>
              <a:t>BUSINESS MODEL ARCHETYPE</a:t>
            </a:r>
          </a:p>
        </p:txBody>
      </p:sp>
      <p:sp>
        <p:nvSpPr>
          <p:cNvPr id="9" name="TextBox 8"/>
          <p:cNvSpPr txBox="1"/>
          <p:nvPr/>
        </p:nvSpPr>
        <p:spPr>
          <a:xfrm>
            <a:off x="3291840" y="1691640"/>
            <a:ext cx="2057400" cy="256032"/>
          </a:xfrm>
          <a:prstGeom prst="rect">
            <a:avLst/>
          </a:prstGeom>
          <a:noFill/>
        </p:spPr>
        <p:txBody>
          <a:bodyPr wrap="square" lIns="0" rIns="0" tIns="0" bIns="0">
            <a:spAutoFit/>
          </a:bodyPr>
          <a:lstStyle/>
          <a:p>
            <a:r>
              <a:rPr sz="850" b="1">
                <a:solidFill>
                  <a:srgbClr val="FFFFFF"/>
                </a:solidFill>
                <a:latin typeface="Segoe UI"/>
              </a:rPr>
              <a:t>REPRESENTATIVE ENTITIES</a:t>
            </a:r>
          </a:p>
        </p:txBody>
      </p:sp>
      <p:sp>
        <p:nvSpPr>
          <p:cNvPr id="10" name="TextBox 9"/>
          <p:cNvSpPr txBox="1"/>
          <p:nvPr/>
        </p:nvSpPr>
        <p:spPr>
          <a:xfrm>
            <a:off x="5532120" y="1691640"/>
            <a:ext cx="2468879" cy="256032"/>
          </a:xfrm>
          <a:prstGeom prst="rect">
            <a:avLst/>
          </a:prstGeom>
          <a:noFill/>
        </p:spPr>
        <p:txBody>
          <a:bodyPr wrap="square" lIns="0" rIns="0" tIns="0" bIns="0">
            <a:spAutoFit/>
          </a:bodyPr>
          <a:lstStyle/>
          <a:p>
            <a:r>
              <a:rPr sz="850" b="1">
                <a:solidFill>
                  <a:srgbClr val="FFFFFF"/>
                </a:solidFill>
                <a:latin typeface="Segoe UI"/>
              </a:rPr>
              <a:t>CONTRACT &amp; DEAL ECONOMICS</a:t>
            </a:r>
          </a:p>
        </p:txBody>
      </p:sp>
      <p:sp>
        <p:nvSpPr>
          <p:cNvPr id="11" name="TextBox 10"/>
          <p:cNvSpPr txBox="1"/>
          <p:nvPr/>
        </p:nvSpPr>
        <p:spPr>
          <a:xfrm>
            <a:off x="8183879" y="1691640"/>
            <a:ext cx="1078992" cy="256032"/>
          </a:xfrm>
          <a:prstGeom prst="rect">
            <a:avLst/>
          </a:prstGeom>
          <a:noFill/>
        </p:spPr>
        <p:txBody>
          <a:bodyPr wrap="square" lIns="0" rIns="0" tIns="0" bIns="0">
            <a:spAutoFit/>
          </a:bodyPr>
          <a:lstStyle/>
          <a:p>
            <a:r>
              <a:rPr sz="850" b="1">
                <a:solidFill>
                  <a:srgbClr val="FFFFFF"/>
                </a:solidFill>
                <a:latin typeface="Segoe UI"/>
              </a:rPr>
              <a:t>SALES CYCLE</a:t>
            </a:r>
          </a:p>
        </p:txBody>
      </p:sp>
      <p:sp>
        <p:nvSpPr>
          <p:cNvPr id="12" name="TextBox 11"/>
          <p:cNvSpPr txBox="1"/>
          <p:nvPr/>
        </p:nvSpPr>
        <p:spPr>
          <a:xfrm>
            <a:off x="9445752" y="1691640"/>
            <a:ext cx="1920239" cy="256032"/>
          </a:xfrm>
          <a:prstGeom prst="rect">
            <a:avLst/>
          </a:prstGeom>
          <a:noFill/>
        </p:spPr>
        <p:txBody>
          <a:bodyPr wrap="square" lIns="0" rIns="0" tIns="0" bIns="0">
            <a:spAutoFit/>
          </a:bodyPr>
          <a:lstStyle/>
          <a:p>
            <a:r>
              <a:rPr sz="850" b="1">
                <a:solidFill>
                  <a:srgbClr val="FFFFFF"/>
                </a:solidFill>
                <a:latin typeface="Segoe UI"/>
              </a:rPr>
              <a:t>PRIMARY BUYER PERSONA</a:t>
            </a:r>
          </a:p>
        </p:txBody>
      </p:sp>
      <p:sp>
        <p:nvSpPr>
          <p:cNvPr id="13" name="Rectangle 12"/>
          <p:cNvSpPr/>
          <p:nvPr/>
        </p:nvSpPr>
        <p:spPr>
          <a:xfrm>
            <a:off x="731520" y="1993392"/>
            <a:ext cx="10725912" cy="80467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2103120"/>
            <a:ext cx="2286000" cy="585216"/>
          </a:xfrm>
          <a:prstGeom prst="rect">
            <a:avLst/>
          </a:prstGeom>
          <a:noFill/>
        </p:spPr>
        <p:txBody>
          <a:bodyPr wrap="square" lIns="0" rIns="0" tIns="0" bIns="0">
            <a:spAutoFit/>
          </a:bodyPr>
          <a:lstStyle/>
          <a:p>
            <a:r>
              <a:rPr sz="1050" b="1">
                <a:solidFill>
                  <a:srgbClr val="0F172A"/>
                </a:solidFill>
                <a:latin typeface="Segoe UI"/>
              </a:rPr>
              <a:t>Model Licensing / FMaaS</a:t>
            </a:r>
          </a:p>
        </p:txBody>
      </p:sp>
      <p:sp>
        <p:nvSpPr>
          <p:cNvPr id="15" name="TextBox 14"/>
          <p:cNvSpPr txBox="1"/>
          <p:nvPr/>
        </p:nvSpPr>
        <p:spPr>
          <a:xfrm>
            <a:off x="3291840" y="2121408"/>
            <a:ext cx="2057400" cy="548640"/>
          </a:xfrm>
          <a:prstGeom prst="rect">
            <a:avLst/>
          </a:prstGeom>
          <a:noFill/>
        </p:spPr>
        <p:txBody>
          <a:bodyPr wrap="square" lIns="0" rIns="0" tIns="0" bIns="0">
            <a:spAutoFit/>
          </a:bodyPr>
          <a:lstStyle/>
          <a:p>
            <a:r>
              <a:rPr sz="900">
                <a:solidFill>
                  <a:srgbClr val="334155"/>
                </a:solidFill>
                <a:latin typeface="Segoe UI"/>
              </a:rPr>
              <a:t>Physical Intelligence, Skild AI, Covariant</a:t>
            </a:r>
          </a:p>
        </p:txBody>
      </p:sp>
      <p:sp>
        <p:nvSpPr>
          <p:cNvPr id="16" name="TextBox 15"/>
          <p:cNvSpPr txBox="1"/>
          <p:nvPr/>
        </p:nvSpPr>
        <p:spPr>
          <a:xfrm>
            <a:off x="5532120" y="2103120"/>
            <a:ext cx="2468879" cy="585216"/>
          </a:xfrm>
          <a:prstGeom prst="rect">
            <a:avLst/>
          </a:prstGeom>
          <a:noFill/>
        </p:spPr>
        <p:txBody>
          <a:bodyPr wrap="square" lIns="0" rIns="0" tIns="0" bIns="0">
            <a:spAutoFit/>
          </a:bodyPr>
          <a:lstStyle/>
          <a:p>
            <a:r>
              <a:rPr sz="900">
                <a:solidFill>
                  <a:srgbClr val="334155"/>
                </a:solidFill>
                <a:latin typeface="Segoe UI"/>
              </a:rPr>
              <a:t>Annual base license + API overage
($100k - $500k+ ARR) [Estimated]</a:t>
            </a:r>
          </a:p>
        </p:txBody>
      </p:sp>
      <p:sp>
        <p:nvSpPr>
          <p:cNvPr id="17" name="TextBox 16"/>
          <p:cNvSpPr txBox="1"/>
          <p:nvPr/>
        </p:nvSpPr>
        <p:spPr>
          <a:xfrm>
            <a:off x="8165592" y="2176272"/>
            <a:ext cx="1115568" cy="512064"/>
          </a:xfrm>
          <a:prstGeom prst="rect">
            <a:avLst/>
          </a:prstGeom>
          <a:noFill/>
        </p:spPr>
        <p:txBody>
          <a:bodyPr wrap="square" lIns="0" rIns="0" tIns="0" bIns="0">
            <a:spAutoFit/>
          </a:bodyPr>
          <a:lstStyle/>
          <a:p>
            <a:r>
              <a:rPr sz="950" b="1">
                <a:solidFill>
                  <a:srgbClr val="047857"/>
                </a:solidFill>
                <a:latin typeface="Segoe UI"/>
              </a:rPr>
              <a:t>3 - 6 mos</a:t>
            </a:r>
          </a:p>
        </p:txBody>
      </p:sp>
      <p:sp>
        <p:nvSpPr>
          <p:cNvPr id="18" name="TextBox 17"/>
          <p:cNvSpPr txBox="1"/>
          <p:nvPr/>
        </p:nvSpPr>
        <p:spPr>
          <a:xfrm>
            <a:off x="9445752" y="2103120"/>
            <a:ext cx="1920239" cy="585216"/>
          </a:xfrm>
          <a:prstGeom prst="rect">
            <a:avLst/>
          </a:prstGeom>
          <a:noFill/>
        </p:spPr>
        <p:txBody>
          <a:bodyPr wrap="square" lIns="0" rIns="0" tIns="0" bIns="0">
            <a:spAutoFit/>
          </a:bodyPr>
          <a:lstStyle/>
          <a:p>
            <a:r>
              <a:rPr sz="900" b="0">
                <a:solidFill>
                  <a:srgbClr val="0F172A"/>
                </a:solidFill>
                <a:latin typeface="Segoe UI"/>
              </a:rPr>
              <a:t>VP Software /
Head of Robotics R&amp;D</a:t>
            </a:r>
          </a:p>
        </p:txBody>
      </p:sp>
      <p:sp>
        <p:nvSpPr>
          <p:cNvPr id="19" name="Rectangle 18"/>
          <p:cNvSpPr/>
          <p:nvPr/>
        </p:nvSpPr>
        <p:spPr>
          <a:xfrm>
            <a:off x="731520" y="2798064"/>
            <a:ext cx="10725912" cy="80467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2907792"/>
            <a:ext cx="2286000" cy="585216"/>
          </a:xfrm>
          <a:prstGeom prst="rect">
            <a:avLst/>
          </a:prstGeom>
          <a:noFill/>
        </p:spPr>
        <p:txBody>
          <a:bodyPr wrap="square" lIns="0" rIns="0" tIns="0" bIns="0">
            <a:spAutoFit/>
          </a:bodyPr>
          <a:lstStyle/>
          <a:p>
            <a:r>
              <a:rPr sz="1050" b="1">
                <a:solidFill>
                  <a:srgbClr val="0F172A"/>
                </a:solidFill>
                <a:latin typeface="Segoe UI"/>
              </a:rPr>
              <a:t>Integrated HW+SW OEM</a:t>
            </a:r>
          </a:p>
        </p:txBody>
      </p:sp>
      <p:sp>
        <p:nvSpPr>
          <p:cNvPr id="21" name="TextBox 20"/>
          <p:cNvSpPr txBox="1"/>
          <p:nvPr/>
        </p:nvSpPr>
        <p:spPr>
          <a:xfrm>
            <a:off x="3291840" y="2926080"/>
            <a:ext cx="2057400" cy="548640"/>
          </a:xfrm>
          <a:prstGeom prst="rect">
            <a:avLst/>
          </a:prstGeom>
          <a:noFill/>
        </p:spPr>
        <p:txBody>
          <a:bodyPr wrap="square" lIns="0" rIns="0" tIns="0" bIns="0">
            <a:spAutoFit/>
          </a:bodyPr>
          <a:lstStyle/>
          <a:p>
            <a:r>
              <a:rPr sz="900">
                <a:solidFill>
                  <a:srgbClr val="334155"/>
                </a:solidFill>
                <a:latin typeface="Segoe UI"/>
              </a:rPr>
              <a:t>Figure AI, Agility Robotics, Boston Dynamics</a:t>
            </a:r>
          </a:p>
        </p:txBody>
      </p:sp>
      <p:sp>
        <p:nvSpPr>
          <p:cNvPr id="22" name="TextBox 21"/>
          <p:cNvSpPr txBox="1"/>
          <p:nvPr/>
        </p:nvSpPr>
        <p:spPr>
          <a:xfrm>
            <a:off x="5532120" y="2907792"/>
            <a:ext cx="2468879" cy="585216"/>
          </a:xfrm>
          <a:prstGeom prst="rect">
            <a:avLst/>
          </a:prstGeom>
          <a:noFill/>
        </p:spPr>
        <p:txBody>
          <a:bodyPr wrap="square" lIns="0" rIns="0" tIns="0" bIns="0">
            <a:spAutoFit/>
          </a:bodyPr>
          <a:lstStyle/>
          <a:p>
            <a:r>
              <a:rPr sz="900">
                <a:solidFill>
                  <a:srgbClr val="334155"/>
                </a:solidFill>
                <a:latin typeface="Segoe UI"/>
              </a:rPr>
              <a:t>Robotics-as-a-Service ($5k-$15k/robot/mo)
or CapEx + maintenance SLA [Reported]</a:t>
            </a:r>
          </a:p>
        </p:txBody>
      </p:sp>
      <p:sp>
        <p:nvSpPr>
          <p:cNvPr id="23" name="TextBox 22"/>
          <p:cNvSpPr txBox="1"/>
          <p:nvPr/>
        </p:nvSpPr>
        <p:spPr>
          <a:xfrm>
            <a:off x="8165592" y="2980944"/>
            <a:ext cx="1115568" cy="512064"/>
          </a:xfrm>
          <a:prstGeom prst="rect">
            <a:avLst/>
          </a:prstGeom>
          <a:noFill/>
        </p:spPr>
        <p:txBody>
          <a:bodyPr wrap="square" lIns="0" rIns="0" tIns="0" bIns="0">
            <a:spAutoFit/>
          </a:bodyPr>
          <a:lstStyle/>
          <a:p>
            <a:r>
              <a:rPr sz="950" b="1">
                <a:solidFill>
                  <a:srgbClr val="334155"/>
                </a:solidFill>
                <a:latin typeface="Segoe UI"/>
              </a:rPr>
              <a:t>12 - 18 mos</a:t>
            </a:r>
          </a:p>
        </p:txBody>
      </p:sp>
      <p:sp>
        <p:nvSpPr>
          <p:cNvPr id="24" name="TextBox 23"/>
          <p:cNvSpPr txBox="1"/>
          <p:nvPr/>
        </p:nvSpPr>
        <p:spPr>
          <a:xfrm>
            <a:off x="9445752" y="2907792"/>
            <a:ext cx="1920239" cy="585216"/>
          </a:xfrm>
          <a:prstGeom prst="rect">
            <a:avLst/>
          </a:prstGeom>
          <a:noFill/>
        </p:spPr>
        <p:txBody>
          <a:bodyPr wrap="square" lIns="0" rIns="0" tIns="0" bIns="0">
            <a:spAutoFit/>
          </a:bodyPr>
          <a:lstStyle/>
          <a:p>
            <a:r>
              <a:rPr sz="900" b="0">
                <a:solidFill>
                  <a:srgbClr val="0F172A"/>
                </a:solidFill>
                <a:latin typeface="Segoe UI"/>
              </a:rPr>
              <a:t>VP Logistics /
Plant General Manager</a:t>
            </a:r>
          </a:p>
        </p:txBody>
      </p:sp>
      <p:sp>
        <p:nvSpPr>
          <p:cNvPr id="25" name="Rectangle 24"/>
          <p:cNvSpPr/>
          <p:nvPr/>
        </p:nvSpPr>
        <p:spPr>
          <a:xfrm>
            <a:off x="731520" y="3602736"/>
            <a:ext cx="10725912" cy="80467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3712464"/>
            <a:ext cx="2286000" cy="585216"/>
          </a:xfrm>
          <a:prstGeom prst="rect">
            <a:avLst/>
          </a:prstGeom>
          <a:noFill/>
        </p:spPr>
        <p:txBody>
          <a:bodyPr wrap="square" lIns="0" rIns="0" tIns="0" bIns="0">
            <a:spAutoFit/>
          </a:bodyPr>
          <a:lstStyle/>
          <a:p>
            <a:r>
              <a:rPr sz="1050" b="1">
                <a:solidFill>
                  <a:srgbClr val="0F172A"/>
                </a:solidFill>
                <a:latin typeface="Segoe UI"/>
              </a:rPr>
              <a:t>Simulation &amp; Validation Tooling</a:t>
            </a:r>
          </a:p>
        </p:txBody>
      </p:sp>
      <p:sp>
        <p:nvSpPr>
          <p:cNvPr id="27" name="TextBox 26"/>
          <p:cNvSpPr txBox="1"/>
          <p:nvPr/>
        </p:nvSpPr>
        <p:spPr>
          <a:xfrm>
            <a:off x="3291840" y="3730752"/>
            <a:ext cx="2057400" cy="548640"/>
          </a:xfrm>
          <a:prstGeom prst="rect">
            <a:avLst/>
          </a:prstGeom>
          <a:noFill/>
        </p:spPr>
        <p:txBody>
          <a:bodyPr wrap="square" lIns="0" rIns="0" tIns="0" bIns="0">
            <a:spAutoFit/>
          </a:bodyPr>
          <a:lstStyle/>
          <a:p>
            <a:r>
              <a:rPr sz="900">
                <a:solidFill>
                  <a:srgbClr val="334155"/>
                </a:solidFill>
                <a:latin typeface="Segoe UI"/>
              </a:rPr>
              <a:t>NVIDIA Isaac Sim, Applied Intuition</a:t>
            </a:r>
          </a:p>
        </p:txBody>
      </p:sp>
      <p:sp>
        <p:nvSpPr>
          <p:cNvPr id="28" name="TextBox 27"/>
          <p:cNvSpPr txBox="1"/>
          <p:nvPr/>
        </p:nvSpPr>
        <p:spPr>
          <a:xfrm>
            <a:off x="5532120" y="3712464"/>
            <a:ext cx="2468879" cy="585216"/>
          </a:xfrm>
          <a:prstGeom prst="rect">
            <a:avLst/>
          </a:prstGeom>
          <a:noFill/>
        </p:spPr>
        <p:txBody>
          <a:bodyPr wrap="square" lIns="0" rIns="0" tIns="0" bIns="0">
            <a:spAutoFit/>
          </a:bodyPr>
          <a:lstStyle/>
          <a:p>
            <a:r>
              <a:rPr sz="900">
                <a:solidFill>
                  <a:srgbClr val="334155"/>
                </a:solidFill>
                <a:latin typeface="Segoe UI"/>
              </a:rPr>
              <a:t>Enterprise SaaS subscription
($250k - $2.0M+ ACV) [Reported]</a:t>
            </a:r>
          </a:p>
        </p:txBody>
      </p:sp>
      <p:sp>
        <p:nvSpPr>
          <p:cNvPr id="29" name="TextBox 28"/>
          <p:cNvSpPr txBox="1"/>
          <p:nvPr/>
        </p:nvSpPr>
        <p:spPr>
          <a:xfrm>
            <a:off x="8165592" y="3785616"/>
            <a:ext cx="1115568" cy="512064"/>
          </a:xfrm>
          <a:prstGeom prst="rect">
            <a:avLst/>
          </a:prstGeom>
          <a:noFill/>
        </p:spPr>
        <p:txBody>
          <a:bodyPr wrap="square" lIns="0" rIns="0" tIns="0" bIns="0">
            <a:spAutoFit/>
          </a:bodyPr>
          <a:lstStyle/>
          <a:p>
            <a:r>
              <a:rPr sz="950" b="1">
                <a:solidFill>
                  <a:srgbClr val="334155"/>
                </a:solidFill>
                <a:latin typeface="Segoe UI"/>
              </a:rPr>
              <a:t>6 - 9 mos</a:t>
            </a:r>
          </a:p>
        </p:txBody>
      </p:sp>
      <p:sp>
        <p:nvSpPr>
          <p:cNvPr id="30" name="TextBox 29"/>
          <p:cNvSpPr txBox="1"/>
          <p:nvPr/>
        </p:nvSpPr>
        <p:spPr>
          <a:xfrm>
            <a:off x="9445752" y="3712464"/>
            <a:ext cx="1920239" cy="585216"/>
          </a:xfrm>
          <a:prstGeom prst="rect">
            <a:avLst/>
          </a:prstGeom>
          <a:noFill/>
        </p:spPr>
        <p:txBody>
          <a:bodyPr wrap="square" lIns="0" rIns="0" tIns="0" bIns="0">
            <a:spAutoFit/>
          </a:bodyPr>
          <a:lstStyle/>
          <a:p>
            <a:r>
              <a:rPr sz="900" b="0">
                <a:solidFill>
                  <a:srgbClr val="0F172A"/>
                </a:solidFill>
                <a:latin typeface="Segoe UI"/>
              </a:rPr>
              <a:t>VP Engineering /
Head of Autonomous Systems</a:t>
            </a:r>
          </a:p>
        </p:txBody>
      </p:sp>
      <p:sp>
        <p:nvSpPr>
          <p:cNvPr id="31" name="Rectangle 30"/>
          <p:cNvSpPr/>
          <p:nvPr/>
        </p:nvSpPr>
        <p:spPr>
          <a:xfrm>
            <a:off x="731520" y="4407408"/>
            <a:ext cx="10725912" cy="80467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4517136"/>
            <a:ext cx="2286000" cy="585216"/>
          </a:xfrm>
          <a:prstGeom prst="rect">
            <a:avLst/>
          </a:prstGeom>
          <a:noFill/>
        </p:spPr>
        <p:txBody>
          <a:bodyPr wrap="square" lIns="0" rIns="0" tIns="0" bIns="0">
            <a:spAutoFit/>
          </a:bodyPr>
          <a:lstStyle/>
          <a:p>
            <a:r>
              <a:rPr sz="1050" b="1">
                <a:solidFill>
                  <a:srgbClr val="0F172A"/>
                </a:solidFill>
                <a:latin typeface="Segoe UI"/>
              </a:rPr>
              <a:t>Compliance &amp; Safety Verification</a:t>
            </a:r>
          </a:p>
        </p:txBody>
      </p:sp>
      <p:sp>
        <p:nvSpPr>
          <p:cNvPr id="33" name="TextBox 32"/>
          <p:cNvSpPr txBox="1"/>
          <p:nvPr/>
        </p:nvSpPr>
        <p:spPr>
          <a:xfrm>
            <a:off x="3291840" y="4535424"/>
            <a:ext cx="2057400" cy="548640"/>
          </a:xfrm>
          <a:prstGeom prst="rect">
            <a:avLst/>
          </a:prstGeom>
          <a:noFill/>
        </p:spPr>
        <p:txBody>
          <a:bodyPr wrap="square" lIns="0" rIns="0" tIns="0" bIns="0">
            <a:spAutoFit/>
          </a:bodyPr>
          <a:lstStyle/>
          <a:p>
            <a:r>
              <a:rPr sz="900">
                <a:solidFill>
                  <a:srgbClr val="334155"/>
                </a:solidFill>
                <a:latin typeface="Segoe UI"/>
              </a:rPr>
              <a:t>TÜV SÜD, UL Solutions, Credo AI</a:t>
            </a:r>
          </a:p>
        </p:txBody>
      </p:sp>
      <p:sp>
        <p:nvSpPr>
          <p:cNvPr id="34" name="TextBox 33"/>
          <p:cNvSpPr txBox="1"/>
          <p:nvPr/>
        </p:nvSpPr>
        <p:spPr>
          <a:xfrm>
            <a:off x="5532120" y="4517136"/>
            <a:ext cx="2468879" cy="585216"/>
          </a:xfrm>
          <a:prstGeom prst="rect">
            <a:avLst/>
          </a:prstGeom>
          <a:noFill/>
        </p:spPr>
        <p:txBody>
          <a:bodyPr wrap="square" lIns="0" rIns="0" tIns="0" bIns="0">
            <a:spAutoFit/>
          </a:bodyPr>
          <a:lstStyle/>
          <a:p>
            <a:r>
              <a:rPr sz="900">
                <a:solidFill>
                  <a:srgbClr val="334155"/>
                </a:solidFill>
                <a:latin typeface="Segoe UI"/>
              </a:rPr>
              <a:t>Safety audit fee + recurring testing suite
($150k - $750k per engagement) [Estimated]</a:t>
            </a:r>
          </a:p>
        </p:txBody>
      </p:sp>
      <p:sp>
        <p:nvSpPr>
          <p:cNvPr id="35" name="TextBox 34"/>
          <p:cNvSpPr txBox="1"/>
          <p:nvPr/>
        </p:nvSpPr>
        <p:spPr>
          <a:xfrm>
            <a:off x="8165592" y="4590288"/>
            <a:ext cx="1115568" cy="512064"/>
          </a:xfrm>
          <a:prstGeom prst="rect">
            <a:avLst/>
          </a:prstGeom>
          <a:noFill/>
        </p:spPr>
        <p:txBody>
          <a:bodyPr wrap="square" lIns="0" rIns="0" tIns="0" bIns="0">
            <a:spAutoFit/>
          </a:bodyPr>
          <a:lstStyle/>
          <a:p>
            <a:r>
              <a:rPr sz="950" b="1">
                <a:solidFill>
                  <a:srgbClr val="334155"/>
                </a:solidFill>
                <a:latin typeface="Segoe UI"/>
              </a:rPr>
              <a:t>6 - 12 mos</a:t>
            </a:r>
          </a:p>
        </p:txBody>
      </p:sp>
      <p:sp>
        <p:nvSpPr>
          <p:cNvPr id="36" name="TextBox 35"/>
          <p:cNvSpPr txBox="1"/>
          <p:nvPr/>
        </p:nvSpPr>
        <p:spPr>
          <a:xfrm>
            <a:off x="9445752" y="4517136"/>
            <a:ext cx="1920239" cy="585216"/>
          </a:xfrm>
          <a:prstGeom prst="rect">
            <a:avLst/>
          </a:prstGeom>
          <a:noFill/>
        </p:spPr>
        <p:txBody>
          <a:bodyPr wrap="square" lIns="0" rIns="0" tIns="0" bIns="0">
            <a:spAutoFit/>
          </a:bodyPr>
          <a:lstStyle/>
          <a:p>
            <a:r>
              <a:rPr sz="900" b="0">
                <a:solidFill>
                  <a:srgbClr val="0F172A"/>
                </a:solidFill>
                <a:latin typeface="Segoe UI"/>
              </a:rPr>
              <a:t>Chief Safety Officer /
VP Quality &amp; Compliance</a:t>
            </a:r>
          </a:p>
        </p:txBody>
      </p:sp>
      <p:sp>
        <p:nvSpPr>
          <p:cNvPr id="37" name="Rectangle 36"/>
          <p:cNvSpPr/>
          <p:nvPr/>
        </p:nvSpPr>
        <p:spPr>
          <a:xfrm>
            <a:off x="731520" y="5212080"/>
            <a:ext cx="10725912" cy="804672"/>
          </a:xfrm>
          <a:prstGeom prst="rect">
            <a:avLst/>
          </a:prstGeom>
          <a:solidFill>
            <a:srgbClr val="EEF4FA"/>
          </a:solidFill>
          <a:ln w="12700">
            <a:solidFill>
              <a:srgbClr val="0A5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5212080"/>
            <a:ext cx="36576" cy="804672"/>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8" y="5321808"/>
            <a:ext cx="2286000" cy="585216"/>
          </a:xfrm>
          <a:prstGeom prst="rect">
            <a:avLst/>
          </a:prstGeom>
          <a:noFill/>
        </p:spPr>
        <p:txBody>
          <a:bodyPr wrap="square" lIns="0" rIns="0" tIns="0" bIns="0">
            <a:spAutoFit/>
          </a:bodyPr>
          <a:lstStyle/>
          <a:p>
            <a:r>
              <a:rPr sz="1050" b="1">
                <a:solidFill>
                  <a:srgbClr val="0F172A"/>
                </a:solidFill>
                <a:latin typeface="Segoe UI"/>
              </a:rPr>
              <a:t>Systems Integration &amp; Deployment</a:t>
            </a:r>
          </a:p>
          <a:p>
            <a:pPr>
              <a:spcBef>
                <a:spcPts val="200"/>
              </a:spcBef>
            </a:pPr>
            <a:r>
              <a:rPr sz="800" b="1">
                <a:solidFill>
                  <a:srgbClr val="0A58CA"/>
                </a:solidFill>
                <a:latin typeface="Segoe UI"/>
              </a:rPr>
              <a:t>★ LTTS CORE OPPORTUNITY</a:t>
            </a:r>
          </a:p>
        </p:txBody>
      </p:sp>
      <p:sp>
        <p:nvSpPr>
          <p:cNvPr id="40" name="TextBox 39"/>
          <p:cNvSpPr txBox="1"/>
          <p:nvPr/>
        </p:nvSpPr>
        <p:spPr>
          <a:xfrm>
            <a:off x="3291840" y="5340096"/>
            <a:ext cx="2057400" cy="548640"/>
          </a:xfrm>
          <a:prstGeom prst="rect">
            <a:avLst/>
          </a:prstGeom>
          <a:noFill/>
        </p:spPr>
        <p:txBody>
          <a:bodyPr wrap="square" lIns="0" rIns="0" tIns="0" bIns="0">
            <a:spAutoFit/>
          </a:bodyPr>
          <a:lstStyle/>
          <a:p>
            <a:r>
              <a:rPr sz="900">
                <a:solidFill>
                  <a:srgbClr val="334155"/>
                </a:solidFill>
                <a:latin typeface="Segoe UI"/>
              </a:rPr>
              <a:t>LTTS, KPIT Tech, Accenture Industry X</a:t>
            </a:r>
          </a:p>
        </p:txBody>
      </p:sp>
      <p:sp>
        <p:nvSpPr>
          <p:cNvPr id="41" name="TextBox 40"/>
          <p:cNvSpPr txBox="1"/>
          <p:nvPr/>
        </p:nvSpPr>
        <p:spPr>
          <a:xfrm>
            <a:off x="5532120" y="5321808"/>
            <a:ext cx="2468879" cy="585216"/>
          </a:xfrm>
          <a:prstGeom prst="rect">
            <a:avLst/>
          </a:prstGeom>
          <a:noFill/>
        </p:spPr>
        <p:txBody>
          <a:bodyPr wrap="square" lIns="0" rIns="0" tIns="0" bIns="0">
            <a:spAutoFit/>
          </a:bodyPr>
          <a:lstStyle/>
          <a:p>
            <a:r>
              <a:rPr sz="900">
                <a:solidFill>
                  <a:srgbClr val="334155"/>
                </a:solidFill>
                <a:latin typeface="Segoe UI"/>
              </a:rPr>
              <a:t>T&amp;M + Milestone-gated deployment
($1.0M - $8.0M+ per site) [Estimated]</a:t>
            </a:r>
          </a:p>
        </p:txBody>
      </p:sp>
      <p:sp>
        <p:nvSpPr>
          <p:cNvPr id="42" name="TextBox 41"/>
          <p:cNvSpPr txBox="1"/>
          <p:nvPr/>
        </p:nvSpPr>
        <p:spPr>
          <a:xfrm>
            <a:off x="8165592" y="5394960"/>
            <a:ext cx="1115568" cy="512064"/>
          </a:xfrm>
          <a:prstGeom prst="rect">
            <a:avLst/>
          </a:prstGeom>
          <a:noFill/>
        </p:spPr>
        <p:txBody>
          <a:bodyPr wrap="square" lIns="0" rIns="0" tIns="0" bIns="0">
            <a:spAutoFit/>
          </a:bodyPr>
          <a:lstStyle/>
          <a:p>
            <a:r>
              <a:rPr sz="950" b="1">
                <a:solidFill>
                  <a:srgbClr val="047857"/>
                </a:solidFill>
                <a:latin typeface="Segoe UI"/>
              </a:rPr>
              <a:t>4 - 8 mos</a:t>
            </a:r>
          </a:p>
        </p:txBody>
      </p:sp>
      <p:sp>
        <p:nvSpPr>
          <p:cNvPr id="43" name="TextBox 42"/>
          <p:cNvSpPr txBox="1"/>
          <p:nvPr/>
        </p:nvSpPr>
        <p:spPr>
          <a:xfrm>
            <a:off x="9445752" y="5321808"/>
            <a:ext cx="1920239" cy="585216"/>
          </a:xfrm>
          <a:prstGeom prst="rect">
            <a:avLst/>
          </a:prstGeom>
          <a:noFill/>
        </p:spPr>
        <p:txBody>
          <a:bodyPr wrap="square" lIns="0" rIns="0" tIns="0" bIns="0">
            <a:spAutoFit/>
          </a:bodyPr>
          <a:lstStyle/>
          <a:p>
            <a:r>
              <a:rPr sz="900" b="1">
                <a:solidFill>
                  <a:srgbClr val="0F172A"/>
                </a:solidFill>
                <a:latin typeface="Segoe UI"/>
              </a:rPr>
              <a:t>Chief Information Officer /
VP Manufacturing Operations</a:t>
            </a:r>
          </a:p>
        </p:txBody>
      </p:sp>
      <p:sp>
        <p:nvSpPr>
          <p:cNvPr id="44" name="Rectangle 43"/>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Systems integration captures the largest single-site budget ($1.0M-$8.0M+) with relatively fast 4-8 month enterprise sales cycles.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3 · COMMERCIALIZATION</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The Engineering Services Opportunity: The LTTS Advantage</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Solving the structural capability deficit of industrial clients without taking on hardware capital drag.</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429000" cy="11430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755648"/>
            <a:ext cx="3099816" cy="923544"/>
          </a:xfrm>
          <a:prstGeom prst="rect">
            <a:avLst/>
          </a:prstGeom>
          <a:noFill/>
        </p:spPr>
        <p:txBody>
          <a:bodyPr wrap="square" lIns="0" rIns="0" tIns="0" bIns="0">
            <a:spAutoFit/>
          </a:bodyPr>
          <a:lstStyle/>
          <a:p>
            <a:r>
              <a:rPr sz="2600" b="1">
                <a:solidFill>
                  <a:srgbClr val="002B49"/>
                </a:solidFill>
                <a:latin typeface="Segoe UI"/>
              </a:rPr>
              <a:t>$1.0M-$8.0M+</a:t>
            </a:r>
          </a:p>
          <a:p>
            <a:pPr>
              <a:spcBef>
                <a:spcPts val="300"/>
              </a:spcBef>
            </a:pPr>
            <a:r>
              <a:rPr sz="1000" b="1">
                <a:solidFill>
                  <a:srgbClr val="0F172A"/>
                </a:solidFill>
                <a:latin typeface="Segoe UI"/>
              </a:rPr>
              <a:t>Per-Site Deployment</a:t>
            </a:r>
          </a:p>
          <a:p>
            <a:pPr>
              <a:spcBef>
                <a:spcPts val="200"/>
              </a:spcBef>
            </a:pPr>
            <a:r>
              <a:rPr sz="850">
                <a:solidFill>
                  <a:srgbClr val="64748B"/>
                </a:solidFill>
                <a:latin typeface="Segoe UI"/>
              </a:rPr>
              <a:t>Systems integration &amp; brownfield rollout budget [Estimated]</a:t>
            </a:r>
          </a:p>
        </p:txBody>
      </p:sp>
      <p:sp>
        <p:nvSpPr>
          <p:cNvPr id="9" name="Rectangle 8"/>
          <p:cNvSpPr/>
          <p:nvPr/>
        </p:nvSpPr>
        <p:spPr>
          <a:xfrm>
            <a:off x="4389120" y="1645920"/>
            <a:ext cx="3429000" cy="11430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755648"/>
            <a:ext cx="3099816" cy="923544"/>
          </a:xfrm>
          <a:prstGeom prst="rect">
            <a:avLst/>
          </a:prstGeom>
          <a:noFill/>
        </p:spPr>
        <p:txBody>
          <a:bodyPr wrap="square" lIns="0" rIns="0" tIns="0" bIns="0">
            <a:spAutoFit/>
          </a:bodyPr>
          <a:lstStyle/>
          <a:p>
            <a:r>
              <a:rPr sz="2600" b="1">
                <a:solidFill>
                  <a:srgbClr val="047857"/>
                </a:solidFill>
                <a:latin typeface="Segoe UI"/>
              </a:rPr>
              <a:t>Zero Hardware</a:t>
            </a:r>
          </a:p>
          <a:p>
            <a:pPr>
              <a:spcBef>
                <a:spcPts val="300"/>
              </a:spcBef>
            </a:pPr>
            <a:r>
              <a:rPr sz="1000" b="1">
                <a:solidFill>
                  <a:srgbClr val="0F172A"/>
                </a:solidFill>
                <a:latin typeface="Segoe UI"/>
              </a:rPr>
              <a:t>Capital Drag Avoided</a:t>
            </a:r>
          </a:p>
          <a:p>
            <a:pPr>
              <a:spcBef>
                <a:spcPts val="200"/>
              </a:spcBef>
            </a:pPr>
            <a:r>
              <a:rPr sz="850">
                <a:solidFill>
                  <a:srgbClr val="64748B"/>
                </a:solidFill>
                <a:latin typeface="Segoe UI"/>
              </a:rPr>
              <a:t>No robotics manufacturing or warranty liability [Verified]</a:t>
            </a:r>
          </a:p>
        </p:txBody>
      </p:sp>
      <p:sp>
        <p:nvSpPr>
          <p:cNvPr id="11" name="Rectangle 10"/>
          <p:cNvSpPr/>
          <p:nvPr/>
        </p:nvSpPr>
        <p:spPr>
          <a:xfrm>
            <a:off x="8046720" y="1645920"/>
            <a:ext cx="3410712" cy="11430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1755648"/>
            <a:ext cx="3081528" cy="923544"/>
          </a:xfrm>
          <a:prstGeom prst="rect">
            <a:avLst/>
          </a:prstGeom>
          <a:noFill/>
        </p:spPr>
        <p:txBody>
          <a:bodyPr wrap="square" lIns="0" rIns="0" tIns="0" bIns="0">
            <a:spAutoFit/>
          </a:bodyPr>
          <a:lstStyle/>
          <a:p>
            <a:r>
              <a:rPr sz="2600" b="1">
                <a:solidFill>
                  <a:srgbClr val="0A58CA"/>
                </a:solidFill>
                <a:latin typeface="Segoe UI"/>
              </a:rPr>
              <a:t>4-8 Months</a:t>
            </a:r>
          </a:p>
          <a:p>
            <a:pPr>
              <a:spcBef>
                <a:spcPts val="300"/>
              </a:spcBef>
            </a:pPr>
            <a:r>
              <a:rPr sz="1000" b="1">
                <a:solidFill>
                  <a:srgbClr val="0F172A"/>
                </a:solidFill>
                <a:latin typeface="Segoe UI"/>
              </a:rPr>
              <a:t>Rapid Sales Velocity</a:t>
            </a:r>
          </a:p>
          <a:p>
            <a:pPr>
              <a:spcBef>
                <a:spcPts val="200"/>
              </a:spcBef>
            </a:pPr>
            <a:r>
              <a:rPr sz="850">
                <a:solidFill>
                  <a:srgbClr val="64748B"/>
                </a:solidFill>
                <a:latin typeface="Segoe UI"/>
              </a:rPr>
              <a:t>Direct sponsorship from enterprise CIOs &amp; VP Mfg [Verified]</a:t>
            </a:r>
          </a:p>
        </p:txBody>
      </p:sp>
      <p:sp>
        <p:nvSpPr>
          <p:cNvPr id="13" name="Rectangle 12"/>
          <p:cNvSpPr/>
          <p:nvPr/>
        </p:nvSpPr>
        <p:spPr>
          <a:xfrm>
            <a:off x="731520" y="2971800"/>
            <a:ext cx="5212080" cy="30632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971800"/>
            <a:ext cx="5212080" cy="2286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154680"/>
            <a:ext cx="4754880" cy="2743200"/>
          </a:xfrm>
          <a:prstGeom prst="rect">
            <a:avLst/>
          </a:prstGeom>
          <a:noFill/>
        </p:spPr>
        <p:txBody>
          <a:bodyPr wrap="square" lIns="0" rIns="0" tIns="0" bIns="0">
            <a:spAutoFit/>
          </a:bodyPr>
          <a:lstStyle/>
          <a:p>
            <a:r>
              <a:rPr sz="1100" b="1">
                <a:solidFill>
                  <a:srgbClr val="C2410C"/>
                </a:solidFill>
                <a:latin typeface="Segoe UI"/>
              </a:rPr>
              <a:t>THE CLIENT CAPABILITY DEFICIT
</a:t>
            </a:r>
          </a:p>
          <a:p>
            <a:pPr>
              <a:spcBef>
                <a:spcPts val="500"/>
              </a:spcBef>
            </a:pPr>
            <a:r>
              <a:rPr sz="950" b="1">
                <a:solidFill>
                  <a:srgbClr val="0F172A"/>
                </a:solidFill>
                <a:latin typeface="Segoe UI"/>
              </a:rPr>
              <a:t>•  Brownfield Plant Heterogeneity: </a:t>
            </a:r>
            <a:r>
              <a:rPr sz="900">
                <a:solidFill>
                  <a:srgbClr val="334155"/>
                </a:solidFill>
                <a:latin typeface="Segoe UI"/>
              </a:rPr>
              <a:t>Automotive and industrial plants run decades-old Siemens, Rockwell, and Mitsubishi PLCs. They cannot simply plug in Python APIs from AI startups.</a:t>
            </a:r>
          </a:p>
          <a:p>
            <a:pPr>
              <a:spcBef>
                <a:spcPts val="500"/>
              </a:spcBef>
            </a:pPr>
            <a:r>
              <a:rPr sz="950" b="1">
                <a:solidFill>
                  <a:srgbClr val="0F172A"/>
                </a:solidFill>
                <a:latin typeface="Segoe UI"/>
              </a:rPr>
              <a:t>•  Compliance &amp; Liability Gaps: </a:t>
            </a:r>
            <a:r>
              <a:rPr sz="900">
                <a:solidFill>
                  <a:srgbClr val="334155"/>
                </a:solidFill>
                <a:latin typeface="Segoe UI"/>
              </a:rPr>
              <a:t>Plant managers cannot deploy uncertified neural policies without voiding insurance or risking catastrophic downtime.</a:t>
            </a:r>
          </a:p>
          <a:p>
            <a:pPr>
              <a:spcBef>
                <a:spcPts val="500"/>
              </a:spcBef>
            </a:pPr>
            <a:r>
              <a:rPr sz="950" b="1">
                <a:solidFill>
                  <a:srgbClr val="0F172A"/>
                </a:solidFill>
                <a:latin typeface="Segoe UI"/>
              </a:rPr>
              <a:t>•  CAD-to-Sim Bottlenecks: </a:t>
            </a:r>
            <a:r>
              <a:rPr sz="900">
                <a:solidFill>
                  <a:srgbClr val="334155"/>
                </a:solidFill>
                <a:latin typeface="Segoe UI"/>
              </a:rPr>
              <a:t>Industrial clients own immense CAD and PLM assets (Siemens Teamcenter, NX, CATIA) but lack the internal capability to convert them into simulation digital twins.</a:t>
            </a:r>
          </a:p>
        </p:txBody>
      </p:sp>
      <p:sp>
        <p:nvSpPr>
          <p:cNvPr id="16" name="Rectangle 15"/>
          <p:cNvSpPr/>
          <p:nvPr/>
        </p:nvSpPr>
        <p:spPr>
          <a:xfrm>
            <a:off x="6245352" y="2971800"/>
            <a:ext cx="5212080" cy="30632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45352" y="2971800"/>
            <a:ext cx="5212080"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3154680"/>
            <a:ext cx="4754880" cy="2743200"/>
          </a:xfrm>
          <a:prstGeom prst="rect">
            <a:avLst/>
          </a:prstGeom>
          <a:noFill/>
        </p:spPr>
        <p:txBody>
          <a:bodyPr wrap="square" lIns="0" rIns="0" tIns="0" bIns="0">
            <a:spAutoFit/>
          </a:bodyPr>
          <a:lstStyle/>
          <a:p>
            <a:r>
              <a:rPr sz="1100" b="1">
                <a:solidFill>
                  <a:srgbClr val="047857"/>
                </a:solidFill>
                <a:latin typeface="Segoe UI"/>
              </a:rPr>
              <a:t>LTTS'S STRATEGIC PLAYBOOK ADVANTAGE
</a:t>
            </a:r>
          </a:p>
          <a:p>
            <a:pPr>
              <a:spcBef>
                <a:spcPts val="500"/>
              </a:spcBef>
            </a:pPr>
            <a:r>
              <a:rPr sz="950" b="1">
                <a:solidFill>
                  <a:srgbClr val="0F172A"/>
                </a:solidFill>
                <a:latin typeface="Segoe UI"/>
              </a:rPr>
              <a:t>✔  Pure-Play Engineering Heritage: </a:t>
            </a:r>
            <a:r>
              <a:rPr sz="900">
                <a:solidFill>
                  <a:srgbClr val="334155"/>
                </a:solidFill>
                <a:latin typeface="Segoe UI"/>
              </a:rPr>
              <a:t>LTTS possesses decades of deep industrial automation, mechatronics, and safety engineering DNA that pure-software AI labs completely lack.</a:t>
            </a:r>
          </a:p>
          <a:p>
            <a:pPr>
              <a:spcBef>
                <a:spcPts val="500"/>
              </a:spcBef>
            </a:pPr>
            <a:r>
              <a:rPr sz="950" b="1">
                <a:solidFill>
                  <a:srgbClr val="0F172A"/>
                </a:solidFill>
                <a:latin typeface="Segoe UI"/>
              </a:rPr>
              <a:t>✔  Trusted Plant Access: </a:t>
            </a:r>
            <a:r>
              <a:rPr sz="900">
                <a:solidFill>
                  <a:srgbClr val="334155"/>
                </a:solidFill>
                <a:latin typeface="Segoe UI"/>
              </a:rPr>
              <a:t>Already embedded across hundreds of Tier-1 industrial manufacturing plants worldwide with established master service agreements (MSAs).</a:t>
            </a:r>
          </a:p>
          <a:p>
            <a:pPr>
              <a:spcBef>
                <a:spcPts val="500"/>
              </a:spcBef>
            </a:pPr>
            <a:r>
              <a:rPr sz="950" b="1">
                <a:solidFill>
                  <a:srgbClr val="0F172A"/>
                </a:solidFill>
                <a:latin typeface="Segoe UI"/>
              </a:rPr>
              <a:t>✔  The Neutral Bridge: </a:t>
            </a:r>
            <a:r>
              <a:rPr sz="900">
                <a:solidFill>
                  <a:srgbClr val="334155"/>
                </a:solidFill>
                <a:latin typeface="Segoe UI"/>
              </a:rPr>
              <a:t>LTTS does not compete with robot OEMs or foundation model builders. LTTS partners with all of them, capturing services revenue from each deployment.</a:t>
            </a:r>
          </a:p>
        </p:txBody>
      </p:sp>
      <p:sp>
        <p:nvSpPr>
          <p:cNvPr id="19" name="Rectangle 18"/>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LTTS bridges the massive gap between agile Silicon Valley AI models and rigid, highly regulated brownfield plant operations.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3 · COMMERCIALIZATION</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LTTS Commercial Offerings (1 &amp; 2): SD-FaaS &amp; PLC Integration</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High-margin technical services transforming client digital assets and plant automation.</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92808"/>
            <a:ext cx="960120"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OFFERING 1</a:t>
            </a:r>
          </a:p>
        </p:txBody>
      </p:sp>
      <p:sp>
        <p:nvSpPr>
          <p:cNvPr id="10" name="TextBox 9"/>
          <p:cNvSpPr txBox="1"/>
          <p:nvPr/>
        </p:nvSpPr>
        <p:spPr>
          <a:xfrm>
            <a:off x="960120" y="2221992"/>
            <a:ext cx="4754880" cy="777240"/>
          </a:xfrm>
          <a:prstGeom prst="rect">
            <a:avLst/>
          </a:prstGeom>
          <a:noFill/>
        </p:spPr>
        <p:txBody>
          <a:bodyPr wrap="square" lIns="0" rIns="0" tIns="0" bIns="0">
            <a:spAutoFit/>
          </a:bodyPr>
          <a:lstStyle/>
          <a:p>
            <a:r>
              <a:rPr sz="1250" b="1">
                <a:solidFill>
                  <a:srgbClr val="0F172A"/>
                </a:solidFill>
                <a:latin typeface="Segoe UI"/>
              </a:rPr>
              <a:t>Synthetic Data Factory as a Service (SD-FaaS)
</a:t>
            </a:r>
            <a:r>
              <a:rPr sz="950" b="1">
                <a:solidFill>
                  <a:srgbClr val="002B49"/>
                </a:solidFill>
                <a:latin typeface="Segoe UI"/>
              </a:rPr>
              <a:t>$1.0M - $3.5M Annual Recurring Engagements [Estimated]</a:t>
            </a:r>
          </a:p>
        </p:txBody>
      </p:sp>
      <p:sp>
        <p:nvSpPr>
          <p:cNvPr id="11" name="TextBox 10"/>
          <p:cNvSpPr txBox="1"/>
          <p:nvPr/>
        </p:nvSpPr>
        <p:spPr>
          <a:xfrm>
            <a:off x="960120" y="3044952"/>
            <a:ext cx="4754880" cy="320040"/>
          </a:xfrm>
          <a:prstGeom prst="rect">
            <a:avLst/>
          </a:prstGeom>
          <a:noFill/>
        </p:spPr>
        <p:txBody>
          <a:bodyPr wrap="square" lIns="0" rIns="0" tIns="0" bIns="0">
            <a:spAutoFit/>
          </a:bodyPr>
          <a:lstStyle/>
          <a:p>
            <a:r>
              <a:rPr sz="880" i="1">
                <a:solidFill>
                  <a:srgbClr val="64748B"/>
                </a:solidFill>
                <a:latin typeface="Segoe UI"/>
              </a:rPr>
              <a:t>Target Client: Automotive, Aerospace, and Industrial Machinery OEMs</a:t>
            </a:r>
          </a:p>
        </p:txBody>
      </p:sp>
      <p:sp>
        <p:nvSpPr>
          <p:cNvPr id="12" name="TextBox 11"/>
          <p:cNvSpPr txBox="1"/>
          <p:nvPr/>
        </p:nvSpPr>
        <p:spPr>
          <a:xfrm>
            <a:off x="960120" y="3429000"/>
            <a:ext cx="4754880" cy="2468880"/>
          </a:xfrm>
          <a:prstGeom prst="rect">
            <a:avLst/>
          </a:prstGeom>
          <a:noFill/>
        </p:spPr>
        <p:txBody>
          <a:bodyPr wrap="square" lIns="0" rIns="0" tIns="0" bIns="0">
            <a:spAutoFit/>
          </a:bodyPr>
          <a:lstStyle/>
          <a:p>
            <a:r>
              <a:rPr sz="950" b="1">
                <a:solidFill>
                  <a:srgbClr val="0F172A"/>
                </a:solidFill>
                <a:latin typeface="Segoe UI"/>
              </a:rPr>
              <a:t>•  Asset Ingestion: </a:t>
            </a:r>
            <a:r>
              <a:rPr sz="900">
                <a:solidFill>
                  <a:srgbClr val="334155"/>
                </a:solidFill>
                <a:latin typeface="Segoe UI"/>
              </a:rPr>
              <a:t>Ingesting complex client CAD, BIM, and PLM assemblies directly from Siemens NX, Teamcenter, CATIA, and PTC Creo.</a:t>
            </a:r>
          </a:p>
          <a:p>
            <a:pPr>
              <a:spcBef>
                <a:spcPts val="500"/>
              </a:spcBef>
            </a:pPr>
            <a:r>
              <a:rPr sz="950" b="1">
                <a:solidFill>
                  <a:srgbClr val="0F172A"/>
                </a:solidFill>
                <a:latin typeface="Segoe UI"/>
              </a:rPr>
              <a:t>•  Digital Twin Construction: </a:t>
            </a:r>
            <a:r>
              <a:rPr sz="900">
                <a:solidFill>
                  <a:srgbClr val="334155"/>
                </a:solidFill>
                <a:latin typeface="Segoe UI"/>
              </a:rPr>
              <a:t>Automating the conversion of mechanical models into kinematic, contact-calibrated digital twin environments in NVIDIA Isaac Sim and Omniverse.</a:t>
            </a:r>
          </a:p>
          <a:p>
            <a:pPr>
              <a:spcBef>
                <a:spcPts val="500"/>
              </a:spcBef>
            </a:pPr>
            <a:r>
              <a:rPr sz="950" b="1">
                <a:solidFill>
                  <a:srgbClr val="0F172A"/>
                </a:solidFill>
                <a:latin typeface="Segoe UI"/>
              </a:rPr>
              <a:t>•  Extreme Domain Randomization: </a:t>
            </a:r>
            <a:r>
              <a:rPr sz="900">
                <a:solidFill>
                  <a:srgbClr val="334155"/>
                </a:solidFill>
                <a:latin typeface="Segoe UI"/>
              </a:rPr>
              <a:t>Generating millions of synthetic photorealistic frames and physics variations (lighting, textures, friction, tolerances) to train robust robot policies.</a:t>
            </a:r>
          </a:p>
          <a:p>
            <a:pPr>
              <a:spcBef>
                <a:spcPts val="500"/>
              </a:spcBef>
            </a:pPr>
            <a:r>
              <a:rPr sz="950" b="1">
                <a:solidFill>
                  <a:srgbClr val="0F172A"/>
                </a:solidFill>
                <a:latin typeface="Segoe UI"/>
              </a:rPr>
              <a:t>•  Monetization Model: </a:t>
            </a:r>
            <a:r>
              <a:rPr sz="900">
                <a:solidFill>
                  <a:srgbClr val="334155"/>
                </a:solidFill>
                <a:latin typeface="Segoe UI"/>
              </a:rPr>
              <a:t>Annual platform subscription + fee per thousand validated scenario hours.</a:t>
            </a:r>
          </a:p>
        </p:txBody>
      </p:sp>
      <p:sp>
        <p:nvSpPr>
          <p:cNvPr id="13" name="Rectangle 12"/>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5352" y="1691640"/>
            <a:ext cx="5212080" cy="22860"/>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73952" y="1892808"/>
            <a:ext cx="960120"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A58CA"/>
                </a:solidFill>
                <a:latin typeface="Segoe UI"/>
              </a:rPr>
              <a:t>OFFERING 2</a:t>
            </a:r>
          </a:p>
        </p:txBody>
      </p:sp>
      <p:sp>
        <p:nvSpPr>
          <p:cNvPr id="16" name="TextBox 15"/>
          <p:cNvSpPr txBox="1"/>
          <p:nvPr/>
        </p:nvSpPr>
        <p:spPr>
          <a:xfrm>
            <a:off x="6473952" y="2221992"/>
            <a:ext cx="4754880" cy="777240"/>
          </a:xfrm>
          <a:prstGeom prst="rect">
            <a:avLst/>
          </a:prstGeom>
          <a:noFill/>
        </p:spPr>
        <p:txBody>
          <a:bodyPr wrap="square" lIns="0" rIns="0" tIns="0" bIns="0">
            <a:spAutoFit/>
          </a:bodyPr>
          <a:lstStyle/>
          <a:p>
            <a:r>
              <a:rPr sz="1250" b="1">
                <a:solidFill>
                  <a:srgbClr val="0F172A"/>
                </a:solidFill>
                <a:latin typeface="Segoe UI"/>
              </a:rPr>
              <a:t>Brownfield PLC-to-AI Integration Middleware
</a:t>
            </a:r>
            <a:r>
              <a:rPr sz="950" b="1">
                <a:solidFill>
                  <a:srgbClr val="0A58CA"/>
                </a:solidFill>
                <a:latin typeface="Segoe UI"/>
              </a:rPr>
              <a:t>$1.5M - $5.0M Per Plant Rollout [Estimated]</a:t>
            </a:r>
          </a:p>
        </p:txBody>
      </p:sp>
      <p:sp>
        <p:nvSpPr>
          <p:cNvPr id="17" name="TextBox 16"/>
          <p:cNvSpPr txBox="1"/>
          <p:nvPr/>
        </p:nvSpPr>
        <p:spPr>
          <a:xfrm>
            <a:off x="6473952" y="3044952"/>
            <a:ext cx="4754880" cy="320040"/>
          </a:xfrm>
          <a:prstGeom prst="rect">
            <a:avLst/>
          </a:prstGeom>
          <a:noFill/>
        </p:spPr>
        <p:txBody>
          <a:bodyPr wrap="square" lIns="0" rIns="0" tIns="0" bIns="0">
            <a:spAutoFit/>
          </a:bodyPr>
          <a:lstStyle/>
          <a:p>
            <a:r>
              <a:rPr sz="880" i="1">
                <a:solidFill>
                  <a:srgbClr val="64748B"/>
                </a:solidFill>
                <a:latin typeface="Segoe UI"/>
              </a:rPr>
              <a:t>Target Client: Discrete Manufacturing, Tier-1 Auto Suppliers, Warehouses</a:t>
            </a:r>
          </a:p>
        </p:txBody>
      </p:sp>
      <p:sp>
        <p:nvSpPr>
          <p:cNvPr id="18" name="TextBox 17"/>
          <p:cNvSpPr txBox="1"/>
          <p:nvPr/>
        </p:nvSpPr>
        <p:spPr>
          <a:xfrm>
            <a:off x="6473952" y="3429000"/>
            <a:ext cx="4754880" cy="2468880"/>
          </a:xfrm>
          <a:prstGeom prst="rect">
            <a:avLst/>
          </a:prstGeom>
          <a:noFill/>
        </p:spPr>
        <p:txBody>
          <a:bodyPr wrap="square" lIns="0" rIns="0" tIns="0" bIns="0">
            <a:spAutoFit/>
          </a:bodyPr>
          <a:lstStyle/>
          <a:p>
            <a:r>
              <a:rPr sz="950" b="1">
                <a:solidFill>
                  <a:srgbClr val="0F172A"/>
                </a:solidFill>
                <a:latin typeface="Segoe UI"/>
              </a:rPr>
              <a:t>•  Deterministic Bridge Middleware: </a:t>
            </a:r>
            <a:r>
              <a:rPr sz="900">
                <a:solidFill>
                  <a:srgbClr val="334155"/>
                </a:solidFill>
                <a:latin typeface="Segoe UI"/>
              </a:rPr>
              <a:t>Engineering hard-real-time software bridges connecting high-level neural policy outputs to industrial field controllers.</a:t>
            </a:r>
          </a:p>
          <a:p>
            <a:pPr>
              <a:spcBef>
                <a:spcPts val="500"/>
              </a:spcBef>
            </a:pPr>
            <a:r>
              <a:rPr sz="950" b="1">
                <a:solidFill>
                  <a:srgbClr val="0F172A"/>
                </a:solidFill>
                <a:latin typeface="Segoe UI"/>
              </a:rPr>
              <a:t>•  Fieldbus Protocol Interfacing: </a:t>
            </a:r>
            <a:r>
              <a:rPr sz="900">
                <a:solidFill>
                  <a:srgbClr val="334155"/>
                </a:solidFill>
                <a:latin typeface="Segoe UI"/>
              </a:rPr>
              <a:t>Zero-jitter integration with Siemens S7-1500 and Rockwell ControlLogix PLCs via Profinet, EtherCAT, and OPC UA at sub-millisecond latency.</a:t>
            </a:r>
          </a:p>
          <a:p>
            <a:pPr>
              <a:spcBef>
                <a:spcPts val="500"/>
              </a:spcBef>
            </a:pPr>
            <a:r>
              <a:rPr sz="950" b="1">
                <a:solidFill>
                  <a:srgbClr val="0F172A"/>
                </a:solidFill>
                <a:latin typeface="Segoe UI"/>
              </a:rPr>
              <a:t>•  Hardware Safety Interlocks: </a:t>
            </a:r>
            <a:r>
              <a:rPr sz="900">
                <a:solidFill>
                  <a:srgbClr val="334155"/>
                </a:solidFill>
                <a:latin typeface="Segoe UI"/>
              </a:rPr>
              <a:t>Embedding deterministic safety envelopes that cut motor power via Cat 4 / PL e safety relays if neural policies violate velocity or keep-out zones.</a:t>
            </a:r>
          </a:p>
          <a:p>
            <a:pPr>
              <a:spcBef>
                <a:spcPts val="500"/>
              </a:spcBef>
            </a:pPr>
            <a:r>
              <a:rPr sz="950" b="1">
                <a:solidFill>
                  <a:srgbClr val="0F172A"/>
                </a:solidFill>
                <a:latin typeface="Segoe UI"/>
              </a:rPr>
              <a:t>•  Monetization Model: </a:t>
            </a:r>
            <a:r>
              <a:rPr sz="900">
                <a:solidFill>
                  <a:srgbClr val="334155"/>
                </a:solidFill>
                <a:latin typeface="Segoe UI"/>
              </a:rPr>
              <a:t>Base integration fee per cell + site license + SLA maintenance.</a:t>
            </a:r>
          </a:p>
        </p:txBody>
      </p:sp>
      <p:sp>
        <p:nvSpPr>
          <p:cNvPr id="19" name="Rectangle 18"/>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SD-FaaS monetizes enterprise CAD assets into synthetic data; Brownfield Integration secures plant floor PLC fieldbus control.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3 · COMMERCIALIZATION</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LTTS Commercial Offerings (3 &amp; 4): V&amp;V Practice &amp; Embodied MLOps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Regulatory safety assurance and continuous lifecycle maintenance across plant operations.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92808"/>
            <a:ext cx="960120" cy="219456"/>
          </a:xfrm>
          <a:prstGeom prst="roundRect">
            <a:avLst/>
          </a:prstGeom>
          <a:solidFill>
            <a:srgbClr val="D1FAE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47857"/>
                </a:solidFill>
                <a:latin typeface="Segoe UI"/>
              </a:rPr>
              <a:t>OFFERING 3</a:t>
            </a:r>
          </a:p>
        </p:txBody>
      </p:sp>
      <p:sp>
        <p:nvSpPr>
          <p:cNvPr id="10" name="TextBox 9"/>
          <p:cNvSpPr txBox="1"/>
          <p:nvPr/>
        </p:nvSpPr>
        <p:spPr>
          <a:xfrm>
            <a:off x="960120" y="2221992"/>
            <a:ext cx="4754880" cy="777240"/>
          </a:xfrm>
          <a:prstGeom prst="rect">
            <a:avLst/>
          </a:prstGeom>
          <a:noFill/>
        </p:spPr>
        <p:txBody>
          <a:bodyPr wrap="square" lIns="0" rIns="0" tIns="0" bIns="0">
            <a:spAutoFit/>
          </a:bodyPr>
          <a:lstStyle/>
          <a:p>
            <a:r>
              <a:rPr sz="1250" b="1">
                <a:solidFill>
                  <a:srgbClr val="0F172A"/>
                </a:solidFill>
                <a:latin typeface="Segoe UI"/>
              </a:rPr>
              <a:t>Physical AI Verification &amp; Validation (V&amp;V)
</a:t>
            </a:r>
            <a:r>
              <a:rPr sz="950" b="1">
                <a:solidFill>
                  <a:srgbClr val="047857"/>
                </a:solidFill>
                <a:latin typeface="Segoe UI"/>
              </a:rPr>
              <a:t>$500k - $1.5M Per Engagement [Estimated]</a:t>
            </a:r>
          </a:p>
        </p:txBody>
      </p:sp>
      <p:sp>
        <p:nvSpPr>
          <p:cNvPr id="11" name="TextBox 10"/>
          <p:cNvSpPr txBox="1"/>
          <p:nvPr/>
        </p:nvSpPr>
        <p:spPr>
          <a:xfrm>
            <a:off x="960120" y="3044952"/>
            <a:ext cx="4754880" cy="320040"/>
          </a:xfrm>
          <a:prstGeom prst="rect">
            <a:avLst/>
          </a:prstGeom>
          <a:noFill/>
        </p:spPr>
        <p:txBody>
          <a:bodyPr wrap="square" lIns="0" rIns="0" tIns="0" bIns="0">
            <a:spAutoFit/>
          </a:bodyPr>
          <a:lstStyle/>
          <a:p>
            <a:r>
              <a:rPr sz="880" i="1">
                <a:solidFill>
                  <a:srgbClr val="64748B"/>
                </a:solidFill>
                <a:latin typeface="Segoe UI"/>
              </a:rPr>
              <a:t>Target Client: Regulated OEMs, Factory Operators, Model Developers</a:t>
            </a:r>
          </a:p>
        </p:txBody>
      </p:sp>
      <p:sp>
        <p:nvSpPr>
          <p:cNvPr id="12" name="TextBox 11"/>
          <p:cNvSpPr txBox="1"/>
          <p:nvPr/>
        </p:nvSpPr>
        <p:spPr>
          <a:xfrm>
            <a:off x="960120" y="3429000"/>
            <a:ext cx="4754880" cy="2468880"/>
          </a:xfrm>
          <a:prstGeom prst="rect">
            <a:avLst/>
          </a:prstGeom>
          <a:noFill/>
        </p:spPr>
        <p:txBody>
          <a:bodyPr wrap="square" lIns="0" rIns="0" tIns="0" bIns="0">
            <a:spAutoFit/>
          </a:bodyPr>
          <a:lstStyle/>
          <a:p>
            <a:r>
              <a:rPr sz="950" b="1">
                <a:solidFill>
                  <a:srgbClr val="0F172A"/>
                </a:solidFill>
                <a:latin typeface="Segoe UI"/>
              </a:rPr>
              <a:t>•  Independent Neural Stress-Testing: </a:t>
            </a:r>
            <a:r>
              <a:rPr sz="900">
                <a:solidFill>
                  <a:srgbClr val="334155"/>
                </a:solidFill>
                <a:latin typeface="Segoe UI"/>
              </a:rPr>
              <a:t>Independent rigorous auditing and stress-testing of third-party neural controllers and VLAs under edge-case conditions.</a:t>
            </a:r>
          </a:p>
          <a:p>
            <a:pPr>
              <a:spcBef>
                <a:spcPts val="500"/>
              </a:spcBef>
            </a:pPr>
            <a:r>
              <a:rPr sz="950" b="1">
                <a:solidFill>
                  <a:srgbClr val="0F172A"/>
                </a:solidFill>
                <a:latin typeface="Segoe UI"/>
              </a:rPr>
              <a:t>•  Regulatory Compliance Audits: </a:t>
            </a:r>
            <a:r>
              <a:rPr sz="900">
                <a:solidFill>
                  <a:srgbClr val="334155"/>
                </a:solidFill>
                <a:latin typeface="Segoe UI"/>
              </a:rPr>
              <a:t>Certifying neural controllers against ISO 13849 (Machinery Safety) and IEC 61508 (Functional Safety) international standards.</a:t>
            </a:r>
          </a:p>
          <a:p>
            <a:pPr>
              <a:spcBef>
                <a:spcPts val="500"/>
              </a:spcBef>
            </a:pPr>
            <a:r>
              <a:rPr sz="950" b="1">
                <a:solidFill>
                  <a:srgbClr val="0F172A"/>
                </a:solidFill>
                <a:latin typeface="Segoe UI"/>
              </a:rPr>
              <a:t>•  Automated Safety Dossier Compiler: </a:t>
            </a:r>
            <a:r>
              <a:rPr sz="900">
                <a:solidFill>
                  <a:srgbClr val="334155"/>
                </a:solidFill>
                <a:latin typeface="Segoe UI"/>
              </a:rPr>
              <a:t>Software toolchain evaluating Control Barrier Functions (CBFs) and forward reachable sets via interval bound propagation (alpha,beta-CROWN).</a:t>
            </a:r>
          </a:p>
          <a:p>
            <a:pPr>
              <a:spcBef>
                <a:spcPts val="500"/>
              </a:spcBef>
            </a:pPr>
            <a:r>
              <a:rPr sz="950" b="1">
                <a:solidFill>
                  <a:srgbClr val="0F172A"/>
                </a:solidFill>
                <a:latin typeface="Segoe UI"/>
              </a:rPr>
              <a:t>•  Monetization Model: </a:t>
            </a:r>
            <a:r>
              <a:rPr sz="900">
                <a:solidFill>
                  <a:srgbClr val="334155"/>
                </a:solidFill>
                <a:latin typeface="Segoe UI"/>
              </a:rPr>
              <a:t>Fixed audit engagement fee + compliance dossier certification report.</a:t>
            </a:r>
          </a:p>
        </p:txBody>
      </p:sp>
      <p:sp>
        <p:nvSpPr>
          <p:cNvPr id="13" name="Rectangle 12"/>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45352" y="1691640"/>
            <a:ext cx="5212080" cy="228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73952" y="1892808"/>
            <a:ext cx="960120" cy="219456"/>
          </a:xfrm>
          <a:prstGeom prst="roundRect">
            <a:avLst/>
          </a:prstGeom>
          <a:solidFill>
            <a:srgbClr val="F3E8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6D28D9"/>
                </a:solidFill>
                <a:latin typeface="Segoe UI"/>
              </a:rPr>
              <a:t>OFFERING 4</a:t>
            </a:r>
          </a:p>
        </p:txBody>
      </p:sp>
      <p:sp>
        <p:nvSpPr>
          <p:cNvPr id="16" name="TextBox 15"/>
          <p:cNvSpPr txBox="1"/>
          <p:nvPr/>
        </p:nvSpPr>
        <p:spPr>
          <a:xfrm>
            <a:off x="6473952" y="2221992"/>
            <a:ext cx="4754880" cy="777240"/>
          </a:xfrm>
          <a:prstGeom prst="rect">
            <a:avLst/>
          </a:prstGeom>
          <a:noFill/>
        </p:spPr>
        <p:txBody>
          <a:bodyPr wrap="square" lIns="0" rIns="0" tIns="0" bIns="0">
            <a:spAutoFit/>
          </a:bodyPr>
          <a:lstStyle/>
          <a:p>
            <a:r>
              <a:rPr sz="1250" b="1">
                <a:solidFill>
                  <a:srgbClr val="0F172A"/>
                </a:solidFill>
                <a:latin typeface="Segoe UI"/>
              </a:rPr>
              <a:t>Managed Embodied MLOps &amp; Fleet Telemetry
</a:t>
            </a:r>
            <a:r>
              <a:rPr sz="950" b="1">
                <a:solidFill>
                  <a:srgbClr val="6D28D9"/>
                </a:solidFill>
                <a:latin typeface="Segoe UI"/>
              </a:rPr>
              <a:t>$500k - $2.0M Annual Recurring Revenue (ARR) [Estimated]</a:t>
            </a:r>
          </a:p>
        </p:txBody>
      </p:sp>
      <p:sp>
        <p:nvSpPr>
          <p:cNvPr id="17" name="TextBox 16"/>
          <p:cNvSpPr txBox="1"/>
          <p:nvPr/>
        </p:nvSpPr>
        <p:spPr>
          <a:xfrm>
            <a:off x="6473952" y="3044952"/>
            <a:ext cx="4754880" cy="320040"/>
          </a:xfrm>
          <a:prstGeom prst="rect">
            <a:avLst/>
          </a:prstGeom>
          <a:noFill/>
        </p:spPr>
        <p:txBody>
          <a:bodyPr wrap="square" lIns="0" rIns="0" tIns="0" bIns="0">
            <a:spAutoFit/>
          </a:bodyPr>
          <a:lstStyle/>
          <a:p>
            <a:r>
              <a:rPr sz="880" i="1">
                <a:solidFill>
                  <a:srgbClr val="64748B"/>
                </a:solidFill>
                <a:latin typeface="Segoe UI"/>
              </a:rPr>
              <a:t>Target Client: Enterprise Robot Fleet Operators, Logistics Hubs</a:t>
            </a:r>
          </a:p>
        </p:txBody>
      </p:sp>
      <p:sp>
        <p:nvSpPr>
          <p:cNvPr id="18" name="TextBox 17"/>
          <p:cNvSpPr txBox="1"/>
          <p:nvPr/>
        </p:nvSpPr>
        <p:spPr>
          <a:xfrm>
            <a:off x="6473952" y="3429000"/>
            <a:ext cx="4754880" cy="2468880"/>
          </a:xfrm>
          <a:prstGeom prst="rect">
            <a:avLst/>
          </a:prstGeom>
          <a:noFill/>
        </p:spPr>
        <p:txBody>
          <a:bodyPr wrap="square" lIns="0" rIns="0" tIns="0" bIns="0">
            <a:spAutoFit/>
          </a:bodyPr>
          <a:lstStyle/>
          <a:p>
            <a:r>
              <a:rPr sz="950" b="1">
                <a:solidFill>
                  <a:srgbClr val="0F172A"/>
                </a:solidFill>
                <a:latin typeface="Segoe UI"/>
              </a:rPr>
              <a:t>•  Continuous Telemetry Logging: </a:t>
            </a:r>
            <a:r>
              <a:rPr sz="900">
                <a:solidFill>
                  <a:srgbClr val="334155"/>
                </a:solidFill>
                <a:latin typeface="Segoe UI"/>
              </a:rPr>
              <a:t>Real-time edge ingestion of motor torques, currents, joint temperatures, and visual odometry across deployed fleets.</a:t>
            </a:r>
          </a:p>
          <a:p>
            <a:pPr>
              <a:spcBef>
                <a:spcPts val="500"/>
              </a:spcBef>
            </a:pPr>
            <a:r>
              <a:rPr sz="950" b="1">
                <a:solidFill>
                  <a:srgbClr val="0F172A"/>
                </a:solidFill>
                <a:latin typeface="Segoe UI"/>
              </a:rPr>
              <a:t>•  Automated Drift Detection: </a:t>
            </a:r>
            <a:r>
              <a:rPr sz="900">
                <a:solidFill>
                  <a:srgbClr val="334155"/>
                </a:solidFill>
                <a:latin typeface="Segoe UI"/>
              </a:rPr>
              <a:t>Automated monitoring detecting model drift, mechanical wear, friction changes, or out-of-distribution environmental anomalies.</a:t>
            </a:r>
          </a:p>
          <a:p>
            <a:pPr>
              <a:spcBef>
                <a:spcPts val="500"/>
              </a:spcBef>
            </a:pPr>
            <a:r>
              <a:rPr sz="950" b="1">
                <a:solidFill>
                  <a:srgbClr val="0F172A"/>
                </a:solidFill>
                <a:latin typeface="Segoe UI"/>
              </a:rPr>
              <a:t>•  Automated Retraining Loop: </a:t>
            </a:r>
            <a:r>
              <a:rPr sz="900">
                <a:solidFill>
                  <a:srgbClr val="334155"/>
                </a:solidFill>
                <a:latin typeface="Segoe UI"/>
              </a:rPr>
              <a:t>Flagged edge anomalies automatically trigger synthetic re-simulation in Isaac Sim, continuous fine-tuning, and OTA policy deployment.</a:t>
            </a:r>
          </a:p>
          <a:p>
            <a:pPr>
              <a:spcBef>
                <a:spcPts val="500"/>
              </a:spcBef>
            </a:pPr>
            <a:r>
              <a:rPr sz="950" b="1">
                <a:solidFill>
                  <a:srgbClr val="0F172A"/>
                </a:solidFill>
                <a:latin typeface="Segoe UI"/>
              </a:rPr>
              <a:t>•  Monetization Model: </a:t>
            </a:r>
            <a:r>
              <a:rPr sz="900">
                <a:solidFill>
                  <a:srgbClr val="334155"/>
                </a:solidFill>
                <a:latin typeface="Segoe UI"/>
              </a:rPr>
              <a:t>Per-robot/per-cell annual managed services subscription with 99.9% uptime SLA.</a:t>
            </a:r>
          </a:p>
        </p:txBody>
      </p:sp>
      <p:sp>
        <p:nvSpPr>
          <p:cNvPr id="19" name="Rectangle 18"/>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V&amp;V establishes LTTS as the trusted certification gatekeeper, while Managed MLOps generates long-term recurring SaaS/services ARR.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7315200" cy="274320"/>
          </a:xfrm>
          <a:prstGeom prst="rect">
            <a:avLst/>
          </a:prstGeom>
          <a:noFill/>
        </p:spPr>
        <p:txBody>
          <a:bodyPr wrap="none" lIns="0" rIns="0" tIns="0" bIns="0">
            <a:spAutoFit/>
          </a:bodyPr>
          <a:lstStyle/>
          <a:p>
            <a:r>
              <a:rPr sz="900" b="1">
                <a:solidFill>
                  <a:srgbClr val="B45309"/>
                </a:solidFill>
                <a:latin typeface="Segoe UI"/>
              </a:rPr>
              <a:t>MODULE 04 · STRATEGIC FOCUS</a:t>
            </a:r>
          </a:p>
        </p:txBody>
      </p:sp>
      <p:sp>
        <p:nvSpPr>
          <p:cNvPr id="4" name="TextBox 3"/>
          <p:cNvSpPr txBox="1"/>
          <p:nvPr/>
        </p:nvSpPr>
        <p:spPr>
          <a:xfrm>
            <a:off x="914400" y="1463040"/>
            <a:ext cx="10058400" cy="1371600"/>
          </a:xfrm>
          <a:prstGeom prst="rect">
            <a:avLst/>
          </a:prstGeom>
          <a:noFill/>
        </p:spPr>
        <p:txBody>
          <a:bodyPr wrap="square" lIns="0" rIns="0" tIns="0" bIns="0">
            <a:spAutoFit/>
          </a:bodyPr>
          <a:lstStyle/>
          <a:p>
            <a:r>
              <a:rPr sz="3600" b="1">
                <a:solidFill>
                  <a:srgbClr val="FFFFFF"/>
                </a:solidFill>
                <a:latin typeface="Segoe UI"/>
              </a:rPr>
              <a:t>Use Cases &amp; Adoption Patterns</a:t>
            </a:r>
          </a:p>
          <a:p>
            <a:pPr>
              <a:spcBef>
                <a:spcPts val="600"/>
              </a:spcBef>
            </a:pPr>
            <a:r>
              <a:rPr sz="1400">
                <a:solidFill>
                  <a:srgbClr val="93C5FD"/>
                </a:solidFill>
                <a:latin typeface="Segoe UI"/>
              </a:rPr>
              <a:t>Production Reality vs. Hype &amp; The Dominance of the Hybrid Model</a:t>
            </a:r>
          </a:p>
        </p:txBody>
      </p:sp>
      <p:sp>
        <p:nvSpPr>
          <p:cNvPr id="5" name="Rectangle 4"/>
          <p:cNvSpPr/>
          <p:nvPr/>
        </p:nvSpPr>
        <p:spPr>
          <a:xfrm>
            <a:off x="914400" y="3108960"/>
            <a:ext cx="73152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83280"/>
            <a:ext cx="9144000" cy="2743200"/>
          </a:xfrm>
          <a:prstGeom prst="rect">
            <a:avLst/>
          </a:prstGeom>
          <a:noFill/>
        </p:spPr>
        <p:txBody>
          <a:bodyPr wrap="square" lIns="0" rIns="0" tIns="0" bIns="0">
            <a:spAutoFit/>
          </a:bodyPr>
          <a:lstStyle/>
          <a:p>
            <a:r>
              <a:rPr sz="1200" b="1">
                <a:solidFill>
                  <a:srgbClr val="B45309"/>
                </a:solidFill>
                <a:latin typeface="Segoe UI"/>
              </a:rPr>
              <a:t>—   </a:t>
            </a:r>
            <a:r>
              <a:rPr sz="1200">
                <a:solidFill>
                  <a:srgbClr val="F1F5F9"/>
                </a:solidFill>
                <a:latin typeface="Segoe UI"/>
              </a:rPr>
              <a:t>Verified production deployments across 5 core industrial sectors</a:t>
            </a:r>
          </a:p>
          <a:p>
            <a:pPr>
              <a:spcBef>
                <a:spcPts val="800"/>
              </a:spcBef>
            </a:pPr>
            <a:r>
              <a:rPr sz="1200" b="1">
                <a:solidFill>
                  <a:srgbClr val="B45309"/>
                </a:solidFill>
                <a:latin typeface="Segoe UI"/>
              </a:rPr>
              <a:t>—   </a:t>
            </a:r>
            <a:r>
              <a:rPr sz="1200">
                <a:solidFill>
                  <a:srgbClr val="F1F5F9"/>
                </a:solidFill>
                <a:latin typeface="Segoe UI"/>
              </a:rPr>
              <a:t>Technical analysis of hype-ahead-of-deployment categories (humanoids, outdoor, surgical)</a:t>
            </a:r>
          </a:p>
          <a:p>
            <a:pPr>
              <a:spcBef>
                <a:spcPts val="800"/>
              </a:spcBef>
            </a:pPr>
            <a:r>
              <a:rPr sz="1200" b="1">
                <a:solidFill>
                  <a:srgbClr val="B45309"/>
                </a:solidFill>
                <a:latin typeface="Segoe UI"/>
              </a:rPr>
              <a:t>—   </a:t>
            </a:r>
            <a:r>
              <a:rPr sz="1200">
                <a:solidFill>
                  <a:srgbClr val="F1F5F9"/>
                </a:solidFill>
                <a:latin typeface="Segoe UI"/>
              </a:rPr>
              <a:t>The dominance of the hybrid incumbent-partner adoption model</a:t>
            </a:r>
          </a:p>
          <a:p>
            <a:pPr>
              <a:spcBef>
                <a:spcPts val="800"/>
              </a:spcBef>
            </a:pPr>
            <a:r>
              <a:rPr sz="1200" b="1">
                <a:solidFill>
                  <a:srgbClr val="B45309"/>
                </a:solidFill>
                <a:latin typeface="Segoe UI"/>
              </a:rPr>
              <a:t>—   </a:t>
            </a:r>
            <a:r>
              <a:rPr sz="1200">
                <a:solidFill>
                  <a:srgbClr val="F1F5F9"/>
                </a:solidFill>
                <a:latin typeface="Segoe UI"/>
              </a:rPr>
              <a:t>Why factory managers never bypass certified PLCs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4 · USE CASES &amp; ADOPTION</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Verified Production Deployments Across 5 Core Sectors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Documented enterprise deployments actively operating on global factory floors.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10725912" cy="8046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10451592" cy="621792"/>
          </a:xfrm>
          <a:prstGeom prst="rect">
            <a:avLst/>
          </a:prstGeom>
          <a:noFill/>
        </p:spPr>
        <p:txBody>
          <a:bodyPr wrap="square" lIns="0" rIns="0" tIns="0" bIns="0">
            <a:spAutoFit/>
          </a:bodyPr>
          <a:lstStyle/>
          <a:p>
            <a:r>
              <a:rPr sz="1100" b="1">
                <a:solidFill>
                  <a:srgbClr val="0F172A"/>
                </a:solidFill>
                <a:latin typeface="Segoe UI"/>
              </a:rPr>
              <a:t>Automotive Manufacturing   </a:t>
            </a:r>
          </a:p>
          <a:p>
            <a:pPr>
              <a:spcBef>
                <a:spcPts val="200"/>
              </a:spcBef>
            </a:pPr>
            <a:r>
              <a:rPr sz="900" b="1">
                <a:solidFill>
                  <a:srgbClr val="047857"/>
                </a:solidFill>
                <a:latin typeface="Segoe UI"/>
              </a:rPr>
              <a:t>• Optical &amp; Acoustic Battery Inspection: </a:t>
            </a:r>
            <a:r>
              <a:rPr sz="880">
                <a:solidFill>
                  <a:srgbClr val="334155"/>
                </a:solidFill>
                <a:latin typeface="Segoe UI"/>
              </a:rPr>
              <a:t>Automated optical and acoustic vibration inspection for EV battery cells and body assembly modules deployed at BMW, Ford, and Mercedes facilities [Reported].</a:t>
            </a:r>
          </a:p>
          <a:p>
            <a:pPr>
              <a:spcBef>
                <a:spcPts val="200"/>
              </a:spcBef>
            </a:pPr>
            <a:r>
              <a:rPr sz="900" b="1">
                <a:solidFill>
                  <a:srgbClr val="047857"/>
                </a:solidFill>
                <a:latin typeface="Segoe UI"/>
              </a:rPr>
              <a:t>• Robotic Sheet Metal Handling: </a:t>
            </a:r>
            <a:r>
              <a:rPr sz="880">
                <a:solidFill>
                  <a:srgbClr val="334155"/>
                </a:solidFill>
                <a:latin typeface="Segoe UI"/>
              </a:rPr>
              <a:t>Robotic sheet metal positioning and parts handling in body shop cells operating under fixed mechanical fixture constraints [Verified].</a:t>
            </a:r>
          </a:p>
        </p:txBody>
      </p:sp>
      <p:sp>
        <p:nvSpPr>
          <p:cNvPr id="9" name="Rectangle 8"/>
          <p:cNvSpPr/>
          <p:nvPr/>
        </p:nvSpPr>
        <p:spPr>
          <a:xfrm>
            <a:off x="731520" y="2587752"/>
            <a:ext cx="10725912" cy="8046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79192"/>
            <a:ext cx="10451592" cy="621792"/>
          </a:xfrm>
          <a:prstGeom prst="rect">
            <a:avLst/>
          </a:prstGeom>
          <a:noFill/>
        </p:spPr>
        <p:txBody>
          <a:bodyPr wrap="square" lIns="0" rIns="0" tIns="0" bIns="0">
            <a:spAutoFit/>
          </a:bodyPr>
          <a:lstStyle/>
          <a:p>
            <a:r>
              <a:rPr sz="1100" b="1">
                <a:solidFill>
                  <a:srgbClr val="0F172A"/>
                </a:solidFill>
                <a:latin typeface="Segoe UI"/>
              </a:rPr>
              <a:t>Aerospace &amp; Defense   </a:t>
            </a:r>
          </a:p>
          <a:p>
            <a:pPr>
              <a:spcBef>
                <a:spcPts val="200"/>
              </a:spcBef>
            </a:pPr>
            <a:r>
              <a:rPr sz="900" b="1">
                <a:solidFill>
                  <a:srgbClr val="0284C7"/>
                </a:solidFill>
                <a:latin typeface="Segoe UI"/>
              </a:rPr>
              <a:t>• Composite Layup &amp; Drilling: </a:t>
            </a:r>
            <a:r>
              <a:rPr sz="880">
                <a:solidFill>
                  <a:srgbClr val="334155"/>
                </a:solidFill>
                <a:latin typeface="Segoe UI"/>
              </a:rPr>
              <a:t>Automated composite layup inspection and precision robotic drilling guidance deployed across Airbus and Boeing commercial programs, cutting fuselage rework [Reported].</a:t>
            </a:r>
          </a:p>
        </p:txBody>
      </p:sp>
      <p:sp>
        <p:nvSpPr>
          <p:cNvPr id="11" name="Rectangle 10"/>
          <p:cNvSpPr/>
          <p:nvPr/>
        </p:nvSpPr>
        <p:spPr>
          <a:xfrm>
            <a:off x="731520" y="3483864"/>
            <a:ext cx="10725912" cy="8046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575304"/>
            <a:ext cx="10451592" cy="621792"/>
          </a:xfrm>
          <a:prstGeom prst="rect">
            <a:avLst/>
          </a:prstGeom>
          <a:noFill/>
        </p:spPr>
        <p:txBody>
          <a:bodyPr wrap="square" lIns="0" rIns="0" tIns="0" bIns="0">
            <a:spAutoFit/>
          </a:bodyPr>
          <a:lstStyle/>
          <a:p>
            <a:r>
              <a:rPr sz="1100" b="1">
                <a:solidFill>
                  <a:srgbClr val="0F172A"/>
                </a:solidFill>
                <a:latin typeface="Segoe UI"/>
              </a:rPr>
              <a:t>Semiconductor Fabrication   </a:t>
            </a:r>
          </a:p>
          <a:p>
            <a:pPr>
              <a:spcBef>
                <a:spcPts val="200"/>
              </a:spcBef>
            </a:pPr>
            <a:r>
              <a:rPr sz="900" b="1">
                <a:solidFill>
                  <a:srgbClr val="002B49"/>
                </a:solidFill>
                <a:latin typeface="Segoe UI"/>
              </a:rPr>
              <a:t>• Physics-Informed Defect Classification: </a:t>
            </a:r>
            <a:r>
              <a:rPr sz="880">
                <a:solidFill>
                  <a:srgbClr val="334155"/>
                </a:solidFill>
                <a:latin typeface="Segoe UI"/>
              </a:rPr>
              <a:t>Physics-informed defect prediction and classification pipelines across wafer lithography stages (TSMC, Intel), optimizing tool uptime and yield [Reported].</a:t>
            </a:r>
          </a:p>
        </p:txBody>
      </p:sp>
      <p:sp>
        <p:nvSpPr>
          <p:cNvPr id="13" name="Rectangle 12"/>
          <p:cNvSpPr/>
          <p:nvPr/>
        </p:nvSpPr>
        <p:spPr>
          <a:xfrm>
            <a:off x="731520" y="4379976"/>
            <a:ext cx="10725912" cy="8046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471416"/>
            <a:ext cx="10451592" cy="621792"/>
          </a:xfrm>
          <a:prstGeom prst="rect">
            <a:avLst/>
          </a:prstGeom>
          <a:noFill/>
        </p:spPr>
        <p:txBody>
          <a:bodyPr wrap="square" lIns="0" rIns="0" tIns="0" bIns="0">
            <a:spAutoFit/>
          </a:bodyPr>
          <a:lstStyle/>
          <a:p>
            <a:r>
              <a:rPr sz="1100" b="1">
                <a:solidFill>
                  <a:srgbClr val="0F172A"/>
                </a:solidFill>
                <a:latin typeface="Segoe UI"/>
              </a:rPr>
              <a:t>Logistics, Warehousing &amp; Distribution   </a:t>
            </a:r>
          </a:p>
          <a:p>
            <a:pPr>
              <a:spcBef>
                <a:spcPts val="200"/>
              </a:spcBef>
            </a:pPr>
            <a:r>
              <a:rPr sz="900" b="1">
                <a:solidFill>
                  <a:srgbClr val="0A58CA"/>
                </a:solidFill>
                <a:latin typeface="Segoe UI"/>
              </a:rPr>
              <a:t>• Automated Container Unloading: </a:t>
            </a:r>
            <a:r>
              <a:rPr sz="880">
                <a:solidFill>
                  <a:srgbClr val="334155"/>
                </a:solidFill>
                <a:latin typeface="Segoe UI"/>
              </a:rPr>
              <a:t>Boston Dynamics Stretch mobile manipulators deployed at DHL Supply Chain for floor-loaded shipping container unloading [Verified].</a:t>
            </a:r>
          </a:p>
          <a:p>
            <a:pPr>
              <a:spcBef>
                <a:spcPts val="200"/>
              </a:spcBef>
            </a:pPr>
            <a:r>
              <a:rPr sz="900" b="1">
                <a:solidFill>
                  <a:srgbClr val="0A58CA"/>
                </a:solidFill>
                <a:latin typeface="Segoe UI"/>
              </a:rPr>
              <a:t>• AMR Fleet Orchestration: </a:t>
            </a:r>
            <a:r>
              <a:rPr sz="880">
                <a:solidFill>
                  <a:srgbClr val="334155"/>
                </a:solidFill>
                <a:latin typeface="Segoe UI"/>
              </a:rPr>
              <a:t>Autonomous mobile robot fleets for tote transport and rack consolidation (Amazon Robotics, Symbotic at Walmart) [Verified].</a:t>
            </a:r>
          </a:p>
        </p:txBody>
      </p:sp>
      <p:sp>
        <p:nvSpPr>
          <p:cNvPr id="15" name="Rectangle 14"/>
          <p:cNvSpPr/>
          <p:nvPr/>
        </p:nvSpPr>
        <p:spPr>
          <a:xfrm>
            <a:off x="731520" y="5276088"/>
            <a:ext cx="10725912" cy="804672"/>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367527"/>
            <a:ext cx="10451592" cy="621792"/>
          </a:xfrm>
          <a:prstGeom prst="rect">
            <a:avLst/>
          </a:prstGeom>
          <a:noFill/>
        </p:spPr>
        <p:txBody>
          <a:bodyPr wrap="square" lIns="0" rIns="0" tIns="0" bIns="0">
            <a:spAutoFit/>
          </a:bodyPr>
          <a:lstStyle/>
          <a:p>
            <a:r>
              <a:rPr sz="1100" b="1">
                <a:solidFill>
                  <a:srgbClr val="0F172A"/>
                </a:solidFill>
                <a:latin typeface="Segoe UI"/>
              </a:rPr>
              <a:t>Energy &amp; Utilities   </a:t>
            </a:r>
          </a:p>
          <a:p>
            <a:pPr>
              <a:spcBef>
                <a:spcPts val="200"/>
              </a:spcBef>
            </a:pPr>
            <a:r>
              <a:rPr sz="900" b="1">
                <a:solidFill>
                  <a:srgbClr val="6D28D9"/>
                </a:solidFill>
                <a:latin typeface="Segoe UI"/>
              </a:rPr>
              <a:t>• Turbine Health Monitoring: </a:t>
            </a:r>
            <a:r>
              <a:rPr sz="880">
                <a:solidFill>
                  <a:srgbClr val="334155"/>
                </a:solidFill>
                <a:latin typeface="Segoe UI"/>
              </a:rPr>
              <a:t>Predictive thermal and vibration monitoring on heavy gas turbines (GE Vernova SmartSignal, Siemens Energy Omnivise), mitigating unplanned trip events [Verified].</a:t>
            </a:r>
          </a:p>
        </p:txBody>
      </p:sp>
      <p:sp>
        <p:nvSpPr>
          <p:cNvPr id="17" name="Rectangle 16"/>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Industrial Physical AI is already scaling in inspection, guided drilling, container unloading, and turbine monitoring.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4 · USE CASES &amp; ADOPTION</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Hype-Ahead-of-Deployment: Three Overstated Categories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Rigorous engineering evaluation of three application categories facing severe physical barriers.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3364992" cy="228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892808"/>
            <a:ext cx="1097280" cy="219456"/>
          </a:xfrm>
          <a:prstGeom prst="roundRect">
            <a:avLst/>
          </a:prstGeom>
          <a:solidFill>
            <a:srgbClr val="FEE2E2"/>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B91C1C"/>
                </a:solidFill>
                <a:latin typeface="Segoe UI"/>
              </a:rPr>
              <a:t>HYPE ALERT 1</a:t>
            </a:r>
          </a:p>
        </p:txBody>
      </p:sp>
      <p:sp>
        <p:nvSpPr>
          <p:cNvPr id="10" name="TextBox 9"/>
          <p:cNvSpPr txBox="1"/>
          <p:nvPr/>
        </p:nvSpPr>
        <p:spPr>
          <a:xfrm>
            <a:off x="914400" y="2240280"/>
            <a:ext cx="2999232" cy="822960"/>
          </a:xfrm>
          <a:prstGeom prst="rect">
            <a:avLst/>
          </a:prstGeom>
          <a:noFill/>
        </p:spPr>
        <p:txBody>
          <a:bodyPr wrap="square" lIns="0" rIns="0" tIns="0" bIns="0">
            <a:spAutoFit/>
          </a:bodyPr>
          <a:lstStyle/>
          <a:p>
            <a:r>
              <a:rPr sz="1150" b="1">
                <a:solidFill>
                  <a:srgbClr val="0F172A"/>
                </a:solidFill>
                <a:latin typeface="Segoe UI"/>
              </a:rPr>
              <a:t>Unstructured Humanoid Assembly Workers
</a:t>
            </a:r>
            <a:r>
              <a:rPr sz="900" b="1">
                <a:solidFill>
                  <a:srgbClr val="B91C1C"/>
                </a:solidFill>
                <a:latin typeface="Segoe UI"/>
              </a:rPr>
              <a:t>The Takt Time &amp; Deformable Materials Wall</a:t>
            </a:r>
          </a:p>
        </p:txBody>
      </p:sp>
      <p:sp>
        <p:nvSpPr>
          <p:cNvPr id="11" name="TextBox 10"/>
          <p:cNvSpPr txBox="1"/>
          <p:nvPr/>
        </p:nvSpPr>
        <p:spPr>
          <a:xfrm>
            <a:off x="914400" y="3108960"/>
            <a:ext cx="2999232" cy="2743200"/>
          </a:xfrm>
          <a:prstGeom prst="rect">
            <a:avLst/>
          </a:prstGeom>
          <a:noFill/>
        </p:spPr>
        <p:txBody>
          <a:bodyPr wrap="square" lIns="0" rIns="0" tIns="0" bIns="0">
            <a:spAutoFit/>
          </a:bodyPr>
          <a:lstStyle/>
          <a:p>
            <a:r>
              <a:rPr sz="950" b="1">
                <a:solidFill>
                  <a:srgbClr val="0F172A"/>
                </a:solidFill>
                <a:latin typeface="Segoe UI"/>
              </a:rPr>
              <a:t>• Marketing Narrative:
</a:t>
            </a:r>
            <a:r>
              <a:rPr sz="880">
                <a:solidFill>
                  <a:srgbClr val="334155"/>
                </a:solidFill>
                <a:latin typeface="Segoe UI"/>
              </a:rPr>
              <a:t>Claims that humanoid robots will broadly replace automotive final assembly line workers within the next 12 to 24 months are ungrounded [Speculative].</a:t>
            </a:r>
          </a:p>
          <a:p>
            <a:pPr>
              <a:spcBef>
                <a:spcPts val="600"/>
              </a:spcBef>
            </a:pPr>
            <a:r>
              <a:rPr sz="950" b="1">
                <a:solidFill>
                  <a:srgbClr val="0F172A"/>
                </a:solidFill>
                <a:latin typeface="Segoe UI"/>
              </a:rPr>
              <a:t>• Tactile &amp; Dexterity Bottlenecks:
</a:t>
            </a:r>
            <a:r>
              <a:rPr sz="880">
                <a:solidFill>
                  <a:srgbClr val="334155"/>
                </a:solidFill>
                <a:latin typeface="Segoe UI"/>
              </a:rPr>
              <a:t>Final assembly requires handling flexible electrical cables, seating deformable rubber grommets, and routing wire harnesses—tasks requiring dense tactile feedback that current humanoid hands lack.</a:t>
            </a:r>
          </a:p>
          <a:p>
            <a:pPr>
              <a:spcBef>
                <a:spcPts val="600"/>
              </a:spcBef>
            </a:pPr>
            <a:r>
              <a:rPr sz="950" b="1">
                <a:solidFill>
                  <a:srgbClr val="0F172A"/>
                </a:solidFill>
                <a:latin typeface="Segoe UI"/>
              </a:rPr>
              <a:t>• The 60-Second Takt Barrier:
</a:t>
            </a:r>
            <a:r>
              <a:rPr sz="880">
                <a:solidFill>
                  <a:srgbClr val="334155"/>
                </a:solidFill>
                <a:latin typeface="Segoe UI"/>
              </a:rPr>
              <a:t>Automotive assembly lines operate on rigid takt times (&lt; 60 seconds per station). Current humanoids operate at 0.2x-0.4x human speed, creating instant line stoppage bottlenecks.</a:t>
            </a:r>
          </a:p>
        </p:txBody>
      </p:sp>
      <p:sp>
        <p:nvSpPr>
          <p:cNvPr id="12" name="Rectangle 11"/>
          <p:cNvSpPr/>
          <p:nvPr/>
        </p:nvSpPr>
        <p:spPr>
          <a:xfrm>
            <a:off x="4407408"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691640"/>
            <a:ext cx="3364992" cy="2286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90288" y="1892808"/>
            <a:ext cx="1097280" cy="219456"/>
          </a:xfrm>
          <a:prstGeom prst="roundRect">
            <a:avLst/>
          </a:prstGeom>
          <a:solidFill>
            <a:srgbClr val="FFEDD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C2410C"/>
                </a:solidFill>
                <a:latin typeface="Segoe UI"/>
              </a:rPr>
              <a:t>HYPE ALERT 2</a:t>
            </a:r>
          </a:p>
        </p:txBody>
      </p:sp>
      <p:sp>
        <p:nvSpPr>
          <p:cNvPr id="15" name="TextBox 14"/>
          <p:cNvSpPr txBox="1"/>
          <p:nvPr/>
        </p:nvSpPr>
        <p:spPr>
          <a:xfrm>
            <a:off x="4590288" y="2240280"/>
            <a:ext cx="2999232" cy="822960"/>
          </a:xfrm>
          <a:prstGeom prst="rect">
            <a:avLst/>
          </a:prstGeom>
          <a:noFill/>
        </p:spPr>
        <p:txBody>
          <a:bodyPr wrap="square" lIns="0" rIns="0" tIns="0" bIns="0">
            <a:spAutoFit/>
          </a:bodyPr>
          <a:lstStyle/>
          <a:p>
            <a:r>
              <a:rPr sz="1150" b="1">
                <a:solidFill>
                  <a:srgbClr val="0F172A"/>
                </a:solidFill>
                <a:latin typeface="Segoe UI"/>
              </a:rPr>
              <a:t>Autonomous Outdoor Heavy Construction
</a:t>
            </a:r>
            <a:r>
              <a:rPr sz="900" b="1">
                <a:solidFill>
                  <a:srgbClr val="C2410C"/>
                </a:solidFill>
                <a:latin typeface="Segoe UI"/>
              </a:rPr>
              <a:t>The Environmental Dynamics Barrier</a:t>
            </a:r>
          </a:p>
        </p:txBody>
      </p:sp>
      <p:sp>
        <p:nvSpPr>
          <p:cNvPr id="16" name="TextBox 15"/>
          <p:cNvSpPr txBox="1"/>
          <p:nvPr/>
        </p:nvSpPr>
        <p:spPr>
          <a:xfrm>
            <a:off x="4590288" y="3108960"/>
            <a:ext cx="2999232" cy="2743200"/>
          </a:xfrm>
          <a:prstGeom prst="rect">
            <a:avLst/>
          </a:prstGeom>
          <a:noFill/>
        </p:spPr>
        <p:txBody>
          <a:bodyPr wrap="square" lIns="0" rIns="0" tIns="0" bIns="0">
            <a:spAutoFit/>
          </a:bodyPr>
          <a:lstStyle/>
          <a:p>
            <a:r>
              <a:rPr sz="950" b="1">
                <a:solidFill>
                  <a:srgbClr val="0F172A"/>
                </a:solidFill>
                <a:latin typeface="Segoe UI"/>
              </a:rPr>
              <a:t>• Marketing Narrative:
</a:t>
            </a:r>
            <a:r>
              <a:rPr sz="880">
                <a:solidFill>
                  <a:srgbClr val="334155"/>
                </a:solidFill>
                <a:latin typeface="Segoe UI"/>
              </a:rPr>
              <a:t>Autonomous excavators, graders, and multi-agent construction robots operating without human site supervisors [Reported].</a:t>
            </a:r>
          </a:p>
          <a:p>
            <a:pPr>
              <a:spcBef>
                <a:spcPts val="600"/>
              </a:spcBef>
            </a:pPr>
            <a:r>
              <a:rPr sz="950" b="1">
                <a:solidFill>
                  <a:srgbClr val="0F172A"/>
                </a:solidFill>
                <a:latin typeface="Segoe UI"/>
              </a:rPr>
              <a:t>• Soil &amp; Weather Physics:
</a:t>
            </a:r>
            <a:r>
              <a:rPr sz="880">
                <a:solidFill>
                  <a:srgbClr val="334155"/>
                </a:solidFill>
                <a:latin typeface="Segoe UI"/>
              </a:rPr>
              <a:t>Changing weather, heavy rain, thick mud, and shifting soil mechanics continuously disrupt visual odometry, traction control, and sim-to-real transfer.</a:t>
            </a:r>
          </a:p>
          <a:p>
            <a:pPr>
              <a:spcBef>
                <a:spcPts val="600"/>
              </a:spcBef>
            </a:pPr>
            <a:r>
              <a:rPr sz="950" b="1">
                <a:solidFill>
                  <a:srgbClr val="0F172A"/>
                </a:solidFill>
                <a:latin typeface="Segoe UI"/>
              </a:rPr>
              <a:t>• Unstructured Boundaries:
</a:t>
            </a:r>
            <a:r>
              <a:rPr sz="880">
                <a:solidFill>
                  <a:srgbClr val="334155"/>
                </a:solidFill>
                <a:latin typeface="Segoe UI"/>
              </a:rPr>
              <a:t>Unlike bounded indoor plants with fixed geometry, construction sites change topology dynamically each day, requiring human heavy-equipment operators for safety.</a:t>
            </a:r>
          </a:p>
        </p:txBody>
      </p:sp>
      <p:sp>
        <p:nvSpPr>
          <p:cNvPr id="17" name="Rectangle 16"/>
          <p:cNvSpPr/>
          <p:nvPr/>
        </p:nvSpPr>
        <p:spPr>
          <a:xfrm>
            <a:off x="8083296"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91640"/>
            <a:ext cx="3364992" cy="228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66176" y="1892808"/>
            <a:ext cx="1097280" cy="219456"/>
          </a:xfrm>
          <a:prstGeom prst="roundRect">
            <a:avLst/>
          </a:prstGeom>
          <a:solidFill>
            <a:srgbClr val="F3E8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6D28D9"/>
                </a:solidFill>
                <a:latin typeface="Segoe UI"/>
              </a:rPr>
              <a:t>HYPE ALERT 3</a:t>
            </a:r>
          </a:p>
        </p:txBody>
      </p:sp>
      <p:sp>
        <p:nvSpPr>
          <p:cNvPr id="20" name="TextBox 19"/>
          <p:cNvSpPr txBox="1"/>
          <p:nvPr/>
        </p:nvSpPr>
        <p:spPr>
          <a:xfrm>
            <a:off x="8266176" y="2240280"/>
            <a:ext cx="2999232" cy="822960"/>
          </a:xfrm>
          <a:prstGeom prst="rect">
            <a:avLst/>
          </a:prstGeom>
          <a:noFill/>
        </p:spPr>
        <p:txBody>
          <a:bodyPr wrap="square" lIns="0" rIns="0" tIns="0" bIns="0">
            <a:spAutoFit/>
          </a:bodyPr>
          <a:lstStyle/>
          <a:p>
            <a:r>
              <a:rPr sz="1150" b="1">
                <a:solidFill>
                  <a:srgbClr val="0F172A"/>
                </a:solidFill>
                <a:latin typeface="Segoe UI"/>
              </a:rPr>
              <a:t>Unsupervised Class III Surgical Robotics
</a:t>
            </a:r>
            <a:r>
              <a:rPr sz="900" b="1">
                <a:solidFill>
                  <a:srgbClr val="6D28D9"/>
                </a:solidFill>
                <a:latin typeface="Segoe UI"/>
              </a:rPr>
              <a:t>The Statutory &amp; Clinical Liability Barrier</a:t>
            </a:r>
          </a:p>
        </p:txBody>
      </p:sp>
      <p:sp>
        <p:nvSpPr>
          <p:cNvPr id="21" name="TextBox 20"/>
          <p:cNvSpPr txBox="1"/>
          <p:nvPr/>
        </p:nvSpPr>
        <p:spPr>
          <a:xfrm>
            <a:off x="8266176" y="3108960"/>
            <a:ext cx="2999232" cy="2743200"/>
          </a:xfrm>
          <a:prstGeom prst="rect">
            <a:avLst/>
          </a:prstGeom>
          <a:noFill/>
        </p:spPr>
        <p:txBody>
          <a:bodyPr wrap="square" lIns="0" rIns="0" tIns="0" bIns="0">
            <a:spAutoFit/>
          </a:bodyPr>
          <a:lstStyle/>
          <a:p>
            <a:r>
              <a:rPr sz="950" b="1">
                <a:solidFill>
                  <a:srgbClr val="0F172A"/>
                </a:solidFill>
                <a:latin typeface="Segoe UI"/>
              </a:rPr>
              <a:t>• Marketing Narrative:
</a:t>
            </a:r>
            <a:r>
              <a:rPr sz="880">
                <a:solidFill>
                  <a:srgbClr val="334155"/>
                </a:solidFill>
                <a:latin typeface="Segoe UI"/>
              </a:rPr>
              <a:t>Fully autonomous robotic tissue resection, suturing, and organ manipulation without surgeon guidance [Verified].</a:t>
            </a:r>
          </a:p>
          <a:p>
            <a:pPr>
              <a:spcBef>
                <a:spcPts val="600"/>
              </a:spcBef>
            </a:pPr>
            <a:r>
              <a:rPr sz="950" b="1">
                <a:solidFill>
                  <a:srgbClr val="0F172A"/>
                </a:solidFill>
                <a:latin typeface="Segoe UI"/>
              </a:rPr>
              <a:t>• FDA Class III Guardrails:
</a:t>
            </a:r>
            <a:r>
              <a:rPr sz="880">
                <a:solidFill>
                  <a:srgbClr val="334155"/>
                </a:solidFill>
                <a:latin typeface="Segoe UI"/>
              </a:rPr>
              <a:t>Strict medical device regulatory frameworks (FDA Class III, CE Mark) mandate that systems remain strictly surgeon-in-the-loop with physical master-slave haptics.</a:t>
            </a:r>
          </a:p>
          <a:p>
            <a:pPr>
              <a:spcBef>
                <a:spcPts val="600"/>
              </a:spcBef>
            </a:pPr>
            <a:r>
              <a:rPr sz="950" b="1">
                <a:solidFill>
                  <a:srgbClr val="0F172A"/>
                </a:solidFill>
                <a:latin typeface="Segoe UI"/>
              </a:rPr>
              <a:t>• Zero Legal Precedent:
</a:t>
            </a:r>
            <a:r>
              <a:rPr sz="880">
                <a:solidFill>
                  <a:srgbClr val="334155"/>
                </a:solidFill>
                <a:latin typeface="Segoe UI"/>
              </a:rPr>
              <a:t>No hospital or insurer will indemnify autonomous neural networks for invasive soft-tissue surgical cuts without deterministic oversight.</a:t>
            </a:r>
          </a:p>
        </p:txBody>
      </p:sp>
      <p:sp>
        <p:nvSpPr>
          <p:cNvPr id="22" name="Rectangle 21"/>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Do not build strategic business cases on unconstrained humanoids or autonomous surgery. Real growth is in bounded, structured industrial automation.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4 · USE CASES &amp; ADOPTION</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Adoption Pattern: Dominance of the Hybrid Incumbent Model</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Industrial enterprise adoption follows a Hybrid Incumbent-Partner Pattern, not startup displacement.</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3364992"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92808"/>
            <a:ext cx="2999232" cy="868680"/>
          </a:xfrm>
          <a:prstGeom prst="rect">
            <a:avLst/>
          </a:prstGeom>
          <a:noFill/>
        </p:spPr>
        <p:txBody>
          <a:bodyPr wrap="square" lIns="0" rIns="0" tIns="0" bIns="0">
            <a:spAutoFit/>
          </a:bodyPr>
          <a:lstStyle/>
          <a:p>
            <a:r>
              <a:rPr sz="1200" b="1">
                <a:solidFill>
                  <a:srgbClr val="0F172A"/>
                </a:solidFill>
                <a:latin typeface="Segoe UI"/>
              </a:rPr>
              <a:t>1. Incumbent Defense &amp; Plant Trust
</a:t>
            </a:r>
            <a:r>
              <a:rPr sz="900" b="1">
                <a:solidFill>
                  <a:srgbClr val="002B49"/>
                </a:solidFill>
                <a:latin typeface="Segoe UI"/>
              </a:rPr>
              <a:t>Why Factory Managers Refuse Pure-Startup Stacks</a:t>
            </a:r>
          </a:p>
        </p:txBody>
      </p:sp>
      <p:sp>
        <p:nvSpPr>
          <p:cNvPr id="10" name="TextBox 9"/>
          <p:cNvSpPr txBox="1"/>
          <p:nvPr/>
        </p:nvSpPr>
        <p:spPr>
          <a:xfrm>
            <a:off x="914400" y="2834640"/>
            <a:ext cx="2999232" cy="3017520"/>
          </a:xfrm>
          <a:prstGeom prst="rect">
            <a:avLst/>
          </a:prstGeom>
          <a:noFill/>
        </p:spPr>
        <p:txBody>
          <a:bodyPr wrap="square" lIns="0" rIns="0" tIns="0" bIns="0">
            <a:spAutoFit/>
          </a:bodyPr>
          <a:lstStyle/>
          <a:p>
            <a:r>
              <a:rPr sz="919">
                <a:solidFill>
                  <a:srgbClr val="334155"/>
                </a:solidFill>
                <a:latin typeface="Segoe UI"/>
              </a:rPr>
              <a:t>Industrial plant managers operate under immense operational pressure. Plant downtime costs upwards of $20,000 to $50,000 per minute in automotive assembly.
</a:t>
            </a:r>
          </a:p>
          <a:p>
            <a:r>
              <a:rPr sz="880">
                <a:solidFill>
                  <a:srgbClr val="64748B"/>
                </a:solidFill>
                <a:latin typeface="Segoe UI"/>
              </a:rPr>
              <a:t>Plant managers will never risk catastrophic production stops, equipment destruction, or voided corporate insurance policies by bypassing certified Siemens S7 or Rockwell ControlLogix safety PLCs to run experimental open-source AI stacks directly on machine drives.</a:t>
            </a:r>
          </a:p>
        </p:txBody>
      </p:sp>
      <p:sp>
        <p:nvSpPr>
          <p:cNvPr id="11" name="Rectangle 10"/>
          <p:cNvSpPr/>
          <p:nvPr/>
        </p:nvSpPr>
        <p:spPr>
          <a:xfrm>
            <a:off x="4407408"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691640"/>
            <a:ext cx="3364992" cy="22860"/>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892808"/>
            <a:ext cx="2999232" cy="868680"/>
          </a:xfrm>
          <a:prstGeom prst="rect">
            <a:avLst/>
          </a:prstGeom>
          <a:noFill/>
        </p:spPr>
        <p:txBody>
          <a:bodyPr wrap="square" lIns="0" rIns="0" tIns="0" bIns="0">
            <a:spAutoFit/>
          </a:bodyPr>
          <a:lstStyle/>
          <a:p>
            <a:r>
              <a:rPr sz="1200" b="1">
                <a:solidFill>
                  <a:srgbClr val="0F172A"/>
                </a:solidFill>
                <a:latin typeface="Segoe UI"/>
              </a:rPr>
              <a:t>2. AI Startup Distribution Limits
</a:t>
            </a:r>
            <a:r>
              <a:rPr sz="900" b="1">
                <a:solidFill>
                  <a:srgbClr val="0A58CA"/>
                </a:solidFill>
                <a:latin typeface="Segoe UI"/>
              </a:rPr>
              <a:t>The Severe Field Engineering Deficit</a:t>
            </a:r>
          </a:p>
        </p:txBody>
      </p:sp>
      <p:sp>
        <p:nvSpPr>
          <p:cNvPr id="14" name="TextBox 13"/>
          <p:cNvSpPr txBox="1"/>
          <p:nvPr/>
        </p:nvSpPr>
        <p:spPr>
          <a:xfrm>
            <a:off x="4590288" y="2834640"/>
            <a:ext cx="2999232" cy="3017520"/>
          </a:xfrm>
          <a:prstGeom prst="rect">
            <a:avLst/>
          </a:prstGeom>
          <a:noFill/>
        </p:spPr>
        <p:txBody>
          <a:bodyPr wrap="square" lIns="0" rIns="0" tIns="0" bIns="0">
            <a:spAutoFit/>
          </a:bodyPr>
          <a:lstStyle/>
          <a:p>
            <a:r>
              <a:rPr sz="919">
                <a:solidFill>
                  <a:srgbClr val="334155"/>
                </a:solidFill>
                <a:latin typeface="Segoe UI"/>
              </a:rPr>
              <a:t>Frontier AI startups possess world-class deep learning researchers, but completely lack the physical field engineering workforce required to execute hands-on deployments.
</a:t>
            </a:r>
          </a:p>
          <a:p>
            <a:r>
              <a:rPr sz="880">
                <a:solidFill>
                  <a:srgbClr val="64748B"/>
                </a:solidFill>
                <a:latin typeface="Segoe UI"/>
              </a:rPr>
              <a:t>Deploying into brownfield manufacturing requires wiring fieldbus drops, configuring safety relays, mounting ruggedized sensor brackets, and writing PLC ladder logic across thousands of non-standard plants. Startups cannot scale this workforce.</a:t>
            </a:r>
          </a:p>
        </p:txBody>
      </p:sp>
      <p:sp>
        <p:nvSpPr>
          <p:cNvPr id="15" name="Rectangle 14"/>
          <p:cNvSpPr/>
          <p:nvPr/>
        </p:nvSpPr>
        <p:spPr>
          <a:xfrm>
            <a:off x="8083296"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1691640"/>
            <a:ext cx="3364992"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1892808"/>
            <a:ext cx="2999232" cy="868680"/>
          </a:xfrm>
          <a:prstGeom prst="rect">
            <a:avLst/>
          </a:prstGeom>
          <a:noFill/>
        </p:spPr>
        <p:txBody>
          <a:bodyPr wrap="square" lIns="0" rIns="0" tIns="0" bIns="0">
            <a:spAutoFit/>
          </a:bodyPr>
          <a:lstStyle/>
          <a:p>
            <a:r>
              <a:rPr sz="1200" b="1">
                <a:solidFill>
                  <a:srgbClr val="0F172A"/>
                </a:solidFill>
                <a:latin typeface="Segoe UI"/>
              </a:rPr>
              <a:t>3. Strategic Alliances: The Winning Model
</a:t>
            </a:r>
            <a:r>
              <a:rPr sz="900" b="1">
                <a:solidFill>
                  <a:srgbClr val="047857"/>
                </a:solidFill>
                <a:latin typeface="Segoe UI"/>
              </a:rPr>
              <a:t>How Enterprise Incumbents Absorb Innovation</a:t>
            </a:r>
          </a:p>
        </p:txBody>
      </p:sp>
      <p:sp>
        <p:nvSpPr>
          <p:cNvPr id="18" name="TextBox 17"/>
          <p:cNvSpPr txBox="1"/>
          <p:nvPr/>
        </p:nvSpPr>
        <p:spPr>
          <a:xfrm>
            <a:off x="8266176" y="2834640"/>
            <a:ext cx="2999232" cy="3017520"/>
          </a:xfrm>
          <a:prstGeom prst="rect">
            <a:avLst/>
          </a:prstGeom>
          <a:noFill/>
        </p:spPr>
        <p:txBody>
          <a:bodyPr wrap="square" lIns="0" rIns="0" tIns="0" bIns="0">
            <a:spAutoFit/>
          </a:bodyPr>
          <a:lstStyle/>
          <a:p>
            <a:r>
              <a:rPr sz="919">
                <a:solidFill>
                  <a:srgbClr val="334155"/>
                </a:solidFill>
                <a:latin typeface="Segoe UI"/>
              </a:rPr>
              <a:t>Rather than being disrupted, industrial incumbents actively partner to absorb foundation model intelligence into their certified ecosystems.
</a:t>
            </a:r>
          </a:p>
          <a:p>
            <a:r>
              <a:rPr sz="880">
                <a:solidFill>
                  <a:srgbClr val="64748B"/>
                </a:solidFill>
                <a:latin typeface="Segoe UI"/>
              </a:rPr>
              <a:t>Key Example: Siemens partnering with Microsoft on the Industrial Copilot and with Intrinsic (Alphabet) on robotics motion software demonstrates how incumbents integrate AI while relying on certified systems integrators for customer delivery [Verified].</a:t>
            </a:r>
          </a:p>
        </p:txBody>
      </p:sp>
      <p:sp>
        <p:nvSpPr>
          <p:cNvPr id="19" name="Rectangle 18"/>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AI startups provide the brains; automation incumbents provide the trust; systems integrators like LTTS deliver the plant floor reality.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7315200" cy="274320"/>
          </a:xfrm>
          <a:prstGeom prst="rect">
            <a:avLst/>
          </a:prstGeom>
          <a:noFill/>
        </p:spPr>
        <p:txBody>
          <a:bodyPr wrap="none" lIns="0" rIns="0" tIns="0" bIns="0">
            <a:spAutoFit/>
          </a:bodyPr>
          <a:lstStyle/>
          <a:p>
            <a:r>
              <a:rPr sz="900" b="1">
                <a:solidFill>
                  <a:srgbClr val="B45309"/>
                </a:solidFill>
                <a:latin typeface="Segoe UI"/>
              </a:rPr>
              <a:t>MODULE 05 · STRATEGIC FOCUS</a:t>
            </a:r>
          </a:p>
        </p:txBody>
      </p:sp>
      <p:sp>
        <p:nvSpPr>
          <p:cNvPr id="4" name="TextBox 3"/>
          <p:cNvSpPr txBox="1"/>
          <p:nvPr/>
        </p:nvSpPr>
        <p:spPr>
          <a:xfrm>
            <a:off x="914400" y="1463040"/>
            <a:ext cx="10058400" cy="1371600"/>
          </a:xfrm>
          <a:prstGeom prst="rect">
            <a:avLst/>
          </a:prstGeom>
          <a:noFill/>
        </p:spPr>
        <p:txBody>
          <a:bodyPr wrap="square" lIns="0" rIns="0" tIns="0" bIns="0">
            <a:spAutoFit/>
          </a:bodyPr>
          <a:lstStyle/>
          <a:p>
            <a:r>
              <a:rPr sz="3600" b="1">
                <a:solidFill>
                  <a:srgbClr val="FFFFFF"/>
                </a:solidFill>
                <a:latin typeface="Segoe UI"/>
              </a:rPr>
              <a:t>Competitive Landscape</a:t>
            </a:r>
          </a:p>
          <a:p>
            <a:pPr>
              <a:spcBef>
                <a:spcPts val="600"/>
              </a:spcBef>
            </a:pPr>
            <a:r>
              <a:rPr sz="1400">
                <a:solidFill>
                  <a:srgbClr val="93C5FD"/>
                </a:solidFill>
                <a:latin typeface="Segoe UI"/>
              </a:rPr>
              <a:t>Layered Industry Analysis &amp; High-Value Underserved Gaps</a:t>
            </a:r>
          </a:p>
        </p:txBody>
      </p:sp>
      <p:sp>
        <p:nvSpPr>
          <p:cNvPr id="5" name="Rectangle 4"/>
          <p:cNvSpPr/>
          <p:nvPr/>
        </p:nvSpPr>
        <p:spPr>
          <a:xfrm>
            <a:off x="914400" y="3108960"/>
            <a:ext cx="73152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83280"/>
            <a:ext cx="9144000" cy="2743200"/>
          </a:xfrm>
          <a:prstGeom prst="rect">
            <a:avLst/>
          </a:prstGeom>
          <a:noFill/>
        </p:spPr>
        <p:txBody>
          <a:bodyPr wrap="square" lIns="0" rIns="0" tIns="0" bIns="0">
            <a:spAutoFit/>
          </a:bodyPr>
          <a:lstStyle/>
          <a:p>
            <a:r>
              <a:rPr sz="1200" b="1">
                <a:solidFill>
                  <a:srgbClr val="B45309"/>
                </a:solidFill>
                <a:latin typeface="Segoe UI"/>
              </a:rPr>
              <a:t>—   </a:t>
            </a:r>
            <a:r>
              <a:rPr sz="1200">
                <a:solidFill>
                  <a:srgbClr val="F1F5F9"/>
                </a:solidFill>
                <a:latin typeface="Segoe UI"/>
              </a:rPr>
              <a:t>Mapping the 5 structural competitive layers across Physical AI (Table 4)</a:t>
            </a:r>
          </a:p>
          <a:p>
            <a:pPr>
              <a:spcBef>
                <a:spcPts val="800"/>
              </a:spcBef>
            </a:pPr>
            <a:r>
              <a:rPr sz="1200" b="1">
                <a:solidFill>
                  <a:srgbClr val="B45309"/>
                </a:solidFill>
                <a:latin typeface="Segoe UI"/>
              </a:rPr>
              <a:t>—   </a:t>
            </a:r>
            <a:r>
              <a:rPr sz="1200">
                <a:solidFill>
                  <a:srgbClr val="F1F5F9"/>
                </a:solidFill>
                <a:latin typeface="Segoe UI"/>
              </a:rPr>
              <a:t>Challengers, dominant platform incumbents, and regulatory gatekeepers</a:t>
            </a:r>
          </a:p>
          <a:p>
            <a:pPr>
              <a:spcBef>
                <a:spcPts val="800"/>
              </a:spcBef>
            </a:pPr>
            <a:r>
              <a:rPr sz="1200" b="1">
                <a:solidFill>
                  <a:srgbClr val="B45309"/>
                </a:solidFill>
                <a:latin typeface="Segoe UI"/>
              </a:rPr>
              <a:t>—   </a:t>
            </a:r>
            <a:r>
              <a:rPr sz="1200">
                <a:solidFill>
                  <a:srgbClr val="F1F5F9"/>
                </a:solidFill>
                <a:latin typeface="Segoe UI"/>
              </a:rPr>
              <a:t>Direct competitors in ER&amp;D engineering services (LTTS, KPIT, Cyient, Tata Tech)</a:t>
            </a:r>
          </a:p>
          <a:p>
            <a:pPr>
              <a:spcBef>
                <a:spcPts val="800"/>
              </a:spcBef>
            </a:pPr>
            <a:r>
              <a:rPr sz="1200" b="1">
                <a:solidFill>
                  <a:srgbClr val="B45309"/>
                </a:solidFill>
                <a:latin typeface="Segoe UI"/>
              </a:rPr>
              <a:t>—   </a:t>
            </a:r>
            <a:r>
              <a:rPr sz="1200">
                <a:solidFill>
                  <a:srgbClr val="F1F5F9"/>
                </a:solidFill>
                <a:latin typeface="Segoe UI"/>
              </a:rPr>
              <a:t>Identifying high-value underserved market gaps ripe for LTTS commercial entry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5 · COMPETITIVE LANDSCAPE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Layered Competitive Landscape Across Physical AI (Table 4)</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Five structural tiers define the global ecosystem from foundation models to statutory compliance.</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725912" cy="34747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2286000" cy="256032"/>
          </a:xfrm>
          <a:prstGeom prst="rect">
            <a:avLst/>
          </a:prstGeom>
          <a:noFill/>
        </p:spPr>
        <p:txBody>
          <a:bodyPr wrap="square" lIns="0" rIns="0" tIns="0" bIns="0">
            <a:spAutoFit/>
          </a:bodyPr>
          <a:lstStyle/>
          <a:p>
            <a:r>
              <a:rPr sz="850" b="1">
                <a:solidFill>
                  <a:srgbClr val="FFFFFF"/>
                </a:solidFill>
                <a:latin typeface="Segoe UI"/>
              </a:rPr>
              <a:t>ECOSYSTEM LAYER</a:t>
            </a:r>
          </a:p>
        </p:txBody>
      </p:sp>
      <p:sp>
        <p:nvSpPr>
          <p:cNvPr id="9" name="TextBox 8"/>
          <p:cNvSpPr txBox="1"/>
          <p:nvPr/>
        </p:nvSpPr>
        <p:spPr>
          <a:xfrm>
            <a:off x="3291840" y="1691640"/>
            <a:ext cx="2103120" cy="256032"/>
          </a:xfrm>
          <a:prstGeom prst="rect">
            <a:avLst/>
          </a:prstGeom>
          <a:noFill/>
        </p:spPr>
        <p:txBody>
          <a:bodyPr wrap="square" lIns="0" rIns="0" tIns="0" bIns="0">
            <a:spAutoFit/>
          </a:bodyPr>
          <a:lstStyle/>
          <a:p>
            <a:r>
              <a:rPr sz="850" b="1">
                <a:solidFill>
                  <a:srgbClr val="FFFFFF"/>
                </a:solidFill>
                <a:latin typeface="Segoe UI"/>
              </a:rPr>
              <a:t>KEY INDUSTRY PLAYERS</a:t>
            </a:r>
          </a:p>
        </p:txBody>
      </p:sp>
      <p:sp>
        <p:nvSpPr>
          <p:cNvPr id="10" name="TextBox 9"/>
          <p:cNvSpPr txBox="1"/>
          <p:nvPr/>
        </p:nvSpPr>
        <p:spPr>
          <a:xfrm>
            <a:off x="5577840" y="1691640"/>
            <a:ext cx="2377439" cy="256032"/>
          </a:xfrm>
          <a:prstGeom prst="rect">
            <a:avLst/>
          </a:prstGeom>
          <a:noFill/>
        </p:spPr>
        <p:txBody>
          <a:bodyPr wrap="square" lIns="0" rIns="0" tIns="0" bIns="0">
            <a:spAutoFit/>
          </a:bodyPr>
          <a:lstStyle/>
          <a:p>
            <a:r>
              <a:rPr sz="850" b="1">
                <a:solidFill>
                  <a:srgbClr val="FFFFFF"/>
                </a:solidFill>
                <a:latin typeface="Segoe UI"/>
              </a:rPr>
              <a:t>CORE TECHNICAL OFFERING</a:t>
            </a:r>
          </a:p>
        </p:txBody>
      </p:sp>
      <p:sp>
        <p:nvSpPr>
          <p:cNvPr id="11" name="TextBox 10"/>
          <p:cNvSpPr txBox="1"/>
          <p:nvPr/>
        </p:nvSpPr>
        <p:spPr>
          <a:xfrm>
            <a:off x="8138160" y="1691640"/>
            <a:ext cx="3227832" cy="256032"/>
          </a:xfrm>
          <a:prstGeom prst="rect">
            <a:avLst/>
          </a:prstGeom>
          <a:noFill/>
        </p:spPr>
        <p:txBody>
          <a:bodyPr wrap="square" lIns="0" rIns="0" tIns="0" bIns="0">
            <a:spAutoFit/>
          </a:bodyPr>
          <a:lstStyle/>
          <a:p>
            <a:r>
              <a:rPr sz="850" b="1">
                <a:solidFill>
                  <a:srgbClr val="FFFFFF"/>
                </a:solidFill>
                <a:latin typeface="Segoe UI"/>
              </a:rPr>
              <a:t>STRATEGIC STRUCTURAL POSITION</a:t>
            </a:r>
          </a:p>
        </p:txBody>
      </p:sp>
      <p:sp>
        <p:nvSpPr>
          <p:cNvPr id="12" name="Rectangle 11"/>
          <p:cNvSpPr/>
          <p:nvPr/>
        </p:nvSpPr>
        <p:spPr>
          <a:xfrm>
            <a:off x="731520" y="1993392"/>
            <a:ext cx="10725912" cy="80467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103120"/>
            <a:ext cx="2286000" cy="585216"/>
          </a:xfrm>
          <a:prstGeom prst="rect">
            <a:avLst/>
          </a:prstGeom>
          <a:noFill/>
        </p:spPr>
        <p:txBody>
          <a:bodyPr wrap="square" lIns="0" rIns="0" tIns="0" bIns="0">
            <a:spAutoFit/>
          </a:bodyPr>
          <a:lstStyle/>
          <a:p>
            <a:r>
              <a:rPr sz="1050" b="1">
                <a:solidFill>
                  <a:srgbClr val="0F172A"/>
                </a:solidFill>
                <a:latin typeface="Segoe UI"/>
              </a:rPr>
              <a:t>Robotics Foundation Models</a:t>
            </a:r>
          </a:p>
        </p:txBody>
      </p:sp>
      <p:sp>
        <p:nvSpPr>
          <p:cNvPr id="14" name="TextBox 13"/>
          <p:cNvSpPr txBox="1"/>
          <p:nvPr/>
        </p:nvSpPr>
        <p:spPr>
          <a:xfrm>
            <a:off x="3291840" y="2121408"/>
            <a:ext cx="2103120" cy="548640"/>
          </a:xfrm>
          <a:prstGeom prst="rect">
            <a:avLst/>
          </a:prstGeom>
          <a:noFill/>
        </p:spPr>
        <p:txBody>
          <a:bodyPr wrap="square" lIns="0" rIns="0" tIns="0" bIns="0">
            <a:spAutoFit/>
          </a:bodyPr>
          <a:lstStyle/>
          <a:p>
            <a:r>
              <a:rPr sz="900">
                <a:solidFill>
                  <a:srgbClr val="334155"/>
                </a:solidFill>
                <a:latin typeface="Segoe UI"/>
              </a:rPr>
              <a:t>Physical Intelligence, Skild AI, DeepMind</a:t>
            </a:r>
          </a:p>
        </p:txBody>
      </p:sp>
      <p:sp>
        <p:nvSpPr>
          <p:cNvPr id="15" name="TextBox 14"/>
          <p:cNvSpPr txBox="1"/>
          <p:nvPr/>
        </p:nvSpPr>
        <p:spPr>
          <a:xfrm>
            <a:off x="5577840" y="2103120"/>
            <a:ext cx="2377439" cy="585216"/>
          </a:xfrm>
          <a:prstGeom prst="rect">
            <a:avLst/>
          </a:prstGeom>
          <a:noFill/>
        </p:spPr>
        <p:txBody>
          <a:bodyPr wrap="square" lIns="0" rIns="0" tIns="0" bIns="0">
            <a:spAutoFit/>
          </a:bodyPr>
          <a:lstStyle/>
          <a:p>
            <a:r>
              <a:rPr sz="900">
                <a:solidFill>
                  <a:srgbClr val="334155"/>
                </a:solidFill>
                <a:latin typeface="Segoe UI"/>
              </a:rPr>
              <a:t>Pretrained generalist VLA models (π0, Skild Brain)</a:t>
            </a:r>
          </a:p>
        </p:txBody>
      </p:sp>
      <p:sp>
        <p:nvSpPr>
          <p:cNvPr id="16" name="TextBox 15"/>
          <p:cNvSpPr txBox="1"/>
          <p:nvPr/>
        </p:nvSpPr>
        <p:spPr>
          <a:xfrm>
            <a:off x="8138160" y="2103120"/>
            <a:ext cx="3227832" cy="585216"/>
          </a:xfrm>
          <a:prstGeom prst="rect">
            <a:avLst/>
          </a:prstGeom>
          <a:noFill/>
        </p:spPr>
        <p:txBody>
          <a:bodyPr wrap="square" lIns="0" rIns="0" tIns="0" bIns="0">
            <a:spAutoFit/>
          </a:bodyPr>
          <a:lstStyle/>
          <a:p>
            <a:r>
              <a:rPr sz="880">
                <a:solidFill>
                  <a:srgbClr val="334155"/>
                </a:solidFill>
                <a:latin typeface="Segoe UI"/>
              </a:rPr>
              <a:t>Challengers: Frontier algorithms, high venture capital, but dependent on partners for field plant distribution.</a:t>
            </a:r>
          </a:p>
        </p:txBody>
      </p:sp>
      <p:sp>
        <p:nvSpPr>
          <p:cNvPr id="17" name="Rectangle 16"/>
          <p:cNvSpPr/>
          <p:nvPr/>
        </p:nvSpPr>
        <p:spPr>
          <a:xfrm>
            <a:off x="731520" y="2798064"/>
            <a:ext cx="10725912" cy="804672"/>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2907792"/>
            <a:ext cx="2286000" cy="585216"/>
          </a:xfrm>
          <a:prstGeom prst="rect">
            <a:avLst/>
          </a:prstGeom>
          <a:noFill/>
        </p:spPr>
        <p:txBody>
          <a:bodyPr wrap="square" lIns="0" rIns="0" tIns="0" bIns="0">
            <a:spAutoFit/>
          </a:bodyPr>
          <a:lstStyle/>
          <a:p>
            <a:r>
              <a:rPr sz="1050" b="1">
                <a:solidFill>
                  <a:srgbClr val="0F172A"/>
                </a:solidFill>
                <a:latin typeface="Segoe UI"/>
              </a:rPr>
              <a:t>Industrial Automation Incumbents</a:t>
            </a:r>
          </a:p>
        </p:txBody>
      </p:sp>
      <p:sp>
        <p:nvSpPr>
          <p:cNvPr id="19" name="TextBox 18"/>
          <p:cNvSpPr txBox="1"/>
          <p:nvPr/>
        </p:nvSpPr>
        <p:spPr>
          <a:xfrm>
            <a:off x="3291840" y="2926080"/>
            <a:ext cx="2103120" cy="548640"/>
          </a:xfrm>
          <a:prstGeom prst="rect">
            <a:avLst/>
          </a:prstGeom>
          <a:noFill/>
        </p:spPr>
        <p:txBody>
          <a:bodyPr wrap="square" lIns="0" rIns="0" tIns="0" bIns="0">
            <a:spAutoFit/>
          </a:bodyPr>
          <a:lstStyle/>
          <a:p>
            <a:r>
              <a:rPr sz="900">
                <a:solidFill>
                  <a:srgbClr val="334155"/>
                </a:solidFill>
                <a:latin typeface="Segoe UI"/>
              </a:rPr>
              <a:t>Siemens, Rockwell Automation, ABB, Schneider</a:t>
            </a:r>
          </a:p>
        </p:txBody>
      </p:sp>
      <p:sp>
        <p:nvSpPr>
          <p:cNvPr id="20" name="TextBox 19"/>
          <p:cNvSpPr txBox="1"/>
          <p:nvPr/>
        </p:nvSpPr>
        <p:spPr>
          <a:xfrm>
            <a:off x="5577840" y="2907792"/>
            <a:ext cx="2377439" cy="585216"/>
          </a:xfrm>
          <a:prstGeom prst="rect">
            <a:avLst/>
          </a:prstGeom>
          <a:noFill/>
        </p:spPr>
        <p:txBody>
          <a:bodyPr wrap="square" lIns="0" rIns="0" tIns="0" bIns="0">
            <a:spAutoFit/>
          </a:bodyPr>
          <a:lstStyle/>
          <a:p>
            <a:r>
              <a:rPr sz="900">
                <a:solidFill>
                  <a:srgbClr val="334155"/>
                </a:solidFill>
                <a:latin typeface="Segoe UI"/>
              </a:rPr>
              <a:t>PLCs, DCS, SCADA, FactoryTalk, TIA Portal ecosystems</a:t>
            </a:r>
          </a:p>
        </p:txBody>
      </p:sp>
      <p:sp>
        <p:nvSpPr>
          <p:cNvPr id="21" name="TextBox 20"/>
          <p:cNvSpPr txBox="1"/>
          <p:nvPr/>
        </p:nvSpPr>
        <p:spPr>
          <a:xfrm>
            <a:off x="8138160" y="2907792"/>
            <a:ext cx="3227832" cy="585216"/>
          </a:xfrm>
          <a:prstGeom prst="rect">
            <a:avLst/>
          </a:prstGeom>
          <a:noFill/>
        </p:spPr>
        <p:txBody>
          <a:bodyPr wrap="square" lIns="0" rIns="0" tIns="0" bIns="0">
            <a:spAutoFit/>
          </a:bodyPr>
          <a:lstStyle/>
          <a:p>
            <a:r>
              <a:rPr sz="880">
                <a:solidFill>
                  <a:srgbClr val="334155"/>
                </a:solidFill>
                <a:latin typeface="Segoe UI"/>
              </a:rPr>
              <a:t>Dominant: Own factory floors, machine safety certifications, and decades of customer trust.</a:t>
            </a:r>
          </a:p>
        </p:txBody>
      </p:sp>
      <p:sp>
        <p:nvSpPr>
          <p:cNvPr id="22" name="Rectangle 21"/>
          <p:cNvSpPr/>
          <p:nvPr/>
        </p:nvSpPr>
        <p:spPr>
          <a:xfrm>
            <a:off x="731520" y="3602736"/>
            <a:ext cx="10725912" cy="80467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3712464"/>
            <a:ext cx="2286000" cy="585216"/>
          </a:xfrm>
          <a:prstGeom prst="rect">
            <a:avLst/>
          </a:prstGeom>
          <a:noFill/>
        </p:spPr>
        <p:txBody>
          <a:bodyPr wrap="square" lIns="0" rIns="0" tIns="0" bIns="0">
            <a:spAutoFit/>
          </a:bodyPr>
          <a:lstStyle/>
          <a:p>
            <a:r>
              <a:rPr sz="1050" b="1">
                <a:solidFill>
                  <a:srgbClr val="0F172A"/>
                </a:solidFill>
                <a:latin typeface="Segoe UI"/>
              </a:rPr>
              <a:t>Simulation &amp; Digital Twin Platforms</a:t>
            </a:r>
          </a:p>
        </p:txBody>
      </p:sp>
      <p:sp>
        <p:nvSpPr>
          <p:cNvPr id="24" name="TextBox 23"/>
          <p:cNvSpPr txBox="1"/>
          <p:nvPr/>
        </p:nvSpPr>
        <p:spPr>
          <a:xfrm>
            <a:off x="3291840" y="3730752"/>
            <a:ext cx="2103120" cy="548640"/>
          </a:xfrm>
          <a:prstGeom prst="rect">
            <a:avLst/>
          </a:prstGeom>
          <a:noFill/>
        </p:spPr>
        <p:txBody>
          <a:bodyPr wrap="square" lIns="0" rIns="0" tIns="0" bIns="0">
            <a:spAutoFit/>
          </a:bodyPr>
          <a:lstStyle/>
          <a:p>
            <a:r>
              <a:rPr sz="900">
                <a:solidFill>
                  <a:srgbClr val="334155"/>
                </a:solidFill>
                <a:latin typeface="Segoe UI"/>
              </a:rPr>
              <a:t>NVIDIA (Isaac/Cosmos), Applied Intuition</a:t>
            </a:r>
          </a:p>
        </p:txBody>
      </p:sp>
      <p:sp>
        <p:nvSpPr>
          <p:cNvPr id="25" name="TextBox 24"/>
          <p:cNvSpPr txBox="1"/>
          <p:nvPr/>
        </p:nvSpPr>
        <p:spPr>
          <a:xfrm>
            <a:off x="5577840" y="3712464"/>
            <a:ext cx="2377439" cy="585216"/>
          </a:xfrm>
          <a:prstGeom prst="rect">
            <a:avLst/>
          </a:prstGeom>
          <a:noFill/>
        </p:spPr>
        <p:txBody>
          <a:bodyPr wrap="square" lIns="0" rIns="0" tIns="0" bIns="0">
            <a:spAutoFit/>
          </a:bodyPr>
          <a:lstStyle/>
          <a:p>
            <a:r>
              <a:rPr sz="900">
                <a:solidFill>
                  <a:srgbClr val="334155"/>
                </a:solidFill>
                <a:latin typeface="Segoe UI"/>
              </a:rPr>
              <a:t>Physics simulation, synthetic data generation pipelines</a:t>
            </a:r>
          </a:p>
        </p:txBody>
      </p:sp>
      <p:sp>
        <p:nvSpPr>
          <p:cNvPr id="26" name="TextBox 25"/>
          <p:cNvSpPr txBox="1"/>
          <p:nvPr/>
        </p:nvSpPr>
        <p:spPr>
          <a:xfrm>
            <a:off x="8138160" y="3712464"/>
            <a:ext cx="3227832" cy="585216"/>
          </a:xfrm>
          <a:prstGeom prst="rect">
            <a:avLst/>
          </a:prstGeom>
          <a:noFill/>
        </p:spPr>
        <p:txBody>
          <a:bodyPr wrap="square" lIns="0" rIns="0" tIns="0" bIns="0">
            <a:spAutoFit/>
          </a:bodyPr>
          <a:lstStyle/>
          <a:p>
            <a:r>
              <a:rPr sz="880">
                <a:solidFill>
                  <a:srgbClr val="334155"/>
                </a:solidFill>
                <a:latin typeface="Segoe UI"/>
              </a:rPr>
              <a:t>Dominant: Platform standards for testing, virtual commissioning, and synthetic policy generation.</a:t>
            </a:r>
          </a:p>
        </p:txBody>
      </p:sp>
      <p:sp>
        <p:nvSpPr>
          <p:cNvPr id="27" name="Rectangle 26"/>
          <p:cNvSpPr/>
          <p:nvPr/>
        </p:nvSpPr>
        <p:spPr>
          <a:xfrm>
            <a:off x="731520" y="4407408"/>
            <a:ext cx="10725912" cy="804672"/>
          </a:xfrm>
          <a:prstGeom prst="rect">
            <a:avLst/>
          </a:prstGeom>
          <a:solidFill>
            <a:srgbClr val="EEF4FA"/>
          </a:solidFill>
          <a:ln w="12700">
            <a:solidFill>
              <a:srgbClr val="0A5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1520" y="4407408"/>
            <a:ext cx="36576" cy="804672"/>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4517136"/>
            <a:ext cx="2286000" cy="585216"/>
          </a:xfrm>
          <a:prstGeom prst="rect">
            <a:avLst/>
          </a:prstGeom>
          <a:noFill/>
        </p:spPr>
        <p:txBody>
          <a:bodyPr wrap="square" lIns="0" rIns="0" tIns="0" bIns="0">
            <a:spAutoFit/>
          </a:bodyPr>
          <a:lstStyle/>
          <a:p>
            <a:r>
              <a:rPr sz="1050" b="1">
                <a:solidFill>
                  <a:srgbClr val="0F172A"/>
                </a:solidFill>
                <a:latin typeface="Segoe UI"/>
              </a:rPr>
              <a:t>ER&amp;D Engineering Services</a:t>
            </a:r>
          </a:p>
          <a:p>
            <a:pPr>
              <a:spcBef>
                <a:spcPts val="200"/>
              </a:spcBef>
            </a:pPr>
            <a:r>
              <a:rPr sz="800" b="1">
                <a:solidFill>
                  <a:srgbClr val="0A58CA"/>
                </a:solidFill>
                <a:latin typeface="Segoe UI"/>
              </a:rPr>
              <a:t>★ LTTS COMPETITIVE POSITION</a:t>
            </a:r>
          </a:p>
        </p:txBody>
      </p:sp>
      <p:sp>
        <p:nvSpPr>
          <p:cNvPr id="30" name="TextBox 29"/>
          <p:cNvSpPr txBox="1"/>
          <p:nvPr/>
        </p:nvSpPr>
        <p:spPr>
          <a:xfrm>
            <a:off x="3291840" y="4535424"/>
            <a:ext cx="2103120" cy="548640"/>
          </a:xfrm>
          <a:prstGeom prst="rect">
            <a:avLst/>
          </a:prstGeom>
          <a:noFill/>
        </p:spPr>
        <p:txBody>
          <a:bodyPr wrap="square" lIns="0" rIns="0" tIns="0" bIns="0">
            <a:spAutoFit/>
          </a:bodyPr>
          <a:lstStyle/>
          <a:p>
            <a:r>
              <a:rPr sz="900">
                <a:solidFill>
                  <a:srgbClr val="334155"/>
                </a:solidFill>
                <a:latin typeface="Segoe UI"/>
              </a:rPr>
              <a:t>LTTS, KPIT Tech, Tata Tech, Cyient, Accenture</a:t>
            </a:r>
          </a:p>
        </p:txBody>
      </p:sp>
      <p:sp>
        <p:nvSpPr>
          <p:cNvPr id="31" name="TextBox 30"/>
          <p:cNvSpPr txBox="1"/>
          <p:nvPr/>
        </p:nvSpPr>
        <p:spPr>
          <a:xfrm>
            <a:off x="5577840" y="4517136"/>
            <a:ext cx="2377439" cy="585216"/>
          </a:xfrm>
          <a:prstGeom prst="rect">
            <a:avLst/>
          </a:prstGeom>
          <a:noFill/>
        </p:spPr>
        <p:txBody>
          <a:bodyPr wrap="square" lIns="0" rIns="0" tIns="0" bIns="0">
            <a:spAutoFit/>
          </a:bodyPr>
          <a:lstStyle/>
          <a:p>
            <a:r>
              <a:rPr sz="900">
                <a:solidFill>
                  <a:srgbClr val="334155"/>
                </a:solidFill>
                <a:latin typeface="Segoe UI"/>
              </a:rPr>
              <a:t>Systems integration, V&amp;V, digital engineering &amp; PLC bridges</a:t>
            </a:r>
          </a:p>
        </p:txBody>
      </p:sp>
      <p:sp>
        <p:nvSpPr>
          <p:cNvPr id="32" name="TextBox 31"/>
          <p:cNvSpPr txBox="1"/>
          <p:nvPr/>
        </p:nvSpPr>
        <p:spPr>
          <a:xfrm>
            <a:off x="8138160" y="4517136"/>
            <a:ext cx="3227832" cy="585216"/>
          </a:xfrm>
          <a:prstGeom prst="rect">
            <a:avLst/>
          </a:prstGeom>
          <a:noFill/>
        </p:spPr>
        <p:txBody>
          <a:bodyPr wrap="square" lIns="0" rIns="0" tIns="0" bIns="0">
            <a:spAutoFit/>
          </a:bodyPr>
          <a:lstStyle/>
          <a:p>
            <a:r>
              <a:rPr sz="880">
                <a:solidFill>
                  <a:srgbClr val="334155"/>
                </a:solidFill>
                <a:latin typeface="Segoe UI"/>
              </a:rPr>
              <a:t>Direct Competitors: Race to build certified Physical AI field practices and bridge neural policies with industrial machinery.</a:t>
            </a:r>
          </a:p>
        </p:txBody>
      </p:sp>
      <p:sp>
        <p:nvSpPr>
          <p:cNvPr id="33" name="Rectangle 32"/>
          <p:cNvSpPr/>
          <p:nvPr/>
        </p:nvSpPr>
        <p:spPr>
          <a:xfrm>
            <a:off x="731520" y="5212080"/>
            <a:ext cx="10725912" cy="80467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321808"/>
            <a:ext cx="2286000" cy="585216"/>
          </a:xfrm>
          <a:prstGeom prst="rect">
            <a:avLst/>
          </a:prstGeom>
          <a:noFill/>
        </p:spPr>
        <p:txBody>
          <a:bodyPr wrap="square" lIns="0" rIns="0" tIns="0" bIns="0">
            <a:spAutoFit/>
          </a:bodyPr>
          <a:lstStyle/>
          <a:p>
            <a:r>
              <a:rPr sz="1050" b="1">
                <a:solidFill>
                  <a:srgbClr val="0F172A"/>
                </a:solidFill>
                <a:latin typeface="Segoe UI"/>
              </a:rPr>
              <a:t>Safety &amp; Statutory Compliance</a:t>
            </a:r>
          </a:p>
        </p:txBody>
      </p:sp>
      <p:sp>
        <p:nvSpPr>
          <p:cNvPr id="35" name="TextBox 34"/>
          <p:cNvSpPr txBox="1"/>
          <p:nvPr/>
        </p:nvSpPr>
        <p:spPr>
          <a:xfrm>
            <a:off x="3291840" y="5340096"/>
            <a:ext cx="2103120" cy="548640"/>
          </a:xfrm>
          <a:prstGeom prst="rect">
            <a:avLst/>
          </a:prstGeom>
          <a:noFill/>
        </p:spPr>
        <p:txBody>
          <a:bodyPr wrap="square" lIns="0" rIns="0" tIns="0" bIns="0">
            <a:spAutoFit/>
          </a:bodyPr>
          <a:lstStyle/>
          <a:p>
            <a:r>
              <a:rPr sz="900">
                <a:solidFill>
                  <a:srgbClr val="334155"/>
                </a:solidFill>
                <a:latin typeface="Segoe UI"/>
              </a:rPr>
              <a:t>TÜV SÜD, UL Solutions, Credo AI, Holistic AI</a:t>
            </a:r>
          </a:p>
        </p:txBody>
      </p:sp>
      <p:sp>
        <p:nvSpPr>
          <p:cNvPr id="36" name="TextBox 35"/>
          <p:cNvSpPr txBox="1"/>
          <p:nvPr/>
        </p:nvSpPr>
        <p:spPr>
          <a:xfrm>
            <a:off x="5577840" y="5321808"/>
            <a:ext cx="2377439" cy="585216"/>
          </a:xfrm>
          <a:prstGeom prst="rect">
            <a:avLst/>
          </a:prstGeom>
          <a:noFill/>
        </p:spPr>
        <p:txBody>
          <a:bodyPr wrap="square" lIns="0" rIns="0" tIns="0" bIns="0">
            <a:spAutoFit/>
          </a:bodyPr>
          <a:lstStyle/>
          <a:p>
            <a:r>
              <a:rPr sz="900">
                <a:solidFill>
                  <a:srgbClr val="334155"/>
                </a:solidFill>
                <a:latin typeface="Segoe UI"/>
              </a:rPr>
              <a:t>Functional safety audits, regulatory compliance dossiers</a:t>
            </a:r>
          </a:p>
        </p:txBody>
      </p:sp>
      <p:sp>
        <p:nvSpPr>
          <p:cNvPr id="37" name="TextBox 36"/>
          <p:cNvSpPr txBox="1"/>
          <p:nvPr/>
        </p:nvSpPr>
        <p:spPr>
          <a:xfrm>
            <a:off x="8138160" y="5321808"/>
            <a:ext cx="3227832" cy="585216"/>
          </a:xfrm>
          <a:prstGeom prst="rect">
            <a:avLst/>
          </a:prstGeom>
          <a:noFill/>
        </p:spPr>
        <p:txBody>
          <a:bodyPr wrap="square" lIns="0" rIns="0" tIns="0" bIns="0">
            <a:spAutoFit/>
          </a:bodyPr>
          <a:lstStyle/>
          <a:p>
            <a:r>
              <a:rPr sz="880">
                <a:solidFill>
                  <a:srgbClr val="334155"/>
                </a:solidFill>
                <a:latin typeface="Segoe UI"/>
              </a:rPr>
              <a:t>Gatekeepers: Mandatory for legal operation, safety dossiers, and factory insurance underwriting.</a:t>
            </a:r>
          </a:p>
        </p:txBody>
      </p:sp>
      <p:sp>
        <p:nvSpPr>
          <p:cNvPr id="38" name="Rectangle 37"/>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ER&amp;D engineering services is the linchpin layer connecting generalist model challengers with entrenched factory incumbents.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5 · COMPETITIVE LANDSCAPE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High-Value Underserved Gaps in the Market</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Three critical white-space opportunities where enterprise demand far outstrips current tooling.</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3364992" cy="228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892808"/>
            <a:ext cx="777240" cy="219456"/>
          </a:xfrm>
          <a:prstGeom prst="roundRect">
            <a:avLst/>
          </a:prstGeom>
          <a:solidFill>
            <a:srgbClr val="FEE2E2"/>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B91C1C"/>
                </a:solidFill>
                <a:latin typeface="Segoe UI"/>
              </a:rPr>
              <a:t>GAP 1</a:t>
            </a:r>
          </a:p>
        </p:txBody>
      </p:sp>
      <p:sp>
        <p:nvSpPr>
          <p:cNvPr id="10" name="TextBox 9"/>
          <p:cNvSpPr txBox="1"/>
          <p:nvPr/>
        </p:nvSpPr>
        <p:spPr>
          <a:xfrm>
            <a:off x="914400" y="2240280"/>
            <a:ext cx="2999232" cy="868680"/>
          </a:xfrm>
          <a:prstGeom prst="rect">
            <a:avLst/>
          </a:prstGeom>
          <a:noFill/>
        </p:spPr>
        <p:txBody>
          <a:bodyPr wrap="square" lIns="0" rIns="0" tIns="0" bIns="0">
            <a:spAutoFit/>
          </a:bodyPr>
          <a:lstStyle/>
          <a:p>
            <a:r>
              <a:rPr sz="1150" b="1">
                <a:solidFill>
                  <a:srgbClr val="0F172A"/>
                </a:solidFill>
                <a:latin typeface="Segoe UI"/>
              </a:rPr>
              <a:t>Formal Safety Verification Tooling for Neural Policies
</a:t>
            </a:r>
            <a:r>
              <a:rPr sz="900" b="1">
                <a:solidFill>
                  <a:srgbClr val="B91C1C"/>
                </a:solidFill>
                <a:latin typeface="Segoe UI"/>
              </a:rPr>
              <a:t>The Certification Deficit for Probabilistic Controllers</a:t>
            </a:r>
          </a:p>
        </p:txBody>
      </p:sp>
      <p:sp>
        <p:nvSpPr>
          <p:cNvPr id="11" name="TextBox 10"/>
          <p:cNvSpPr txBox="1"/>
          <p:nvPr/>
        </p:nvSpPr>
        <p:spPr>
          <a:xfrm>
            <a:off x="914400" y="3154680"/>
            <a:ext cx="2999232" cy="2743200"/>
          </a:xfrm>
          <a:prstGeom prst="rect">
            <a:avLst/>
          </a:prstGeom>
          <a:noFill/>
        </p:spPr>
        <p:txBody>
          <a:bodyPr wrap="square" lIns="0" rIns="0" tIns="0" bIns="0">
            <a:spAutoFit/>
          </a:bodyPr>
          <a:lstStyle/>
          <a:p>
            <a:r>
              <a:rPr sz="950" b="1">
                <a:solidFill>
                  <a:srgbClr val="0F172A"/>
                </a:solidFill>
                <a:latin typeface="Segoe UI"/>
              </a:rPr>
              <a:t>• The Industry Stalemate:
</a:t>
            </a:r>
            <a:r>
              <a:rPr sz="880">
                <a:solidFill>
                  <a:srgbClr val="334155"/>
                </a:solidFill>
                <a:latin typeface="Segoe UI"/>
              </a:rPr>
              <a:t>Foundation model startups generate neural policies, but industrial certifiers (TÜV, UL) and plant insurers demand deterministic mathematical safety proofs.</a:t>
            </a:r>
          </a:p>
          <a:p>
            <a:pPr>
              <a:spcBef>
                <a:spcPts val="600"/>
              </a:spcBef>
            </a:pPr>
            <a:r>
              <a:rPr sz="950" b="1">
                <a:solidFill>
                  <a:srgbClr val="0F172A"/>
                </a:solidFill>
                <a:latin typeface="Segoe UI"/>
              </a:rPr>
              <a:t>• The Missing Toolchain:
</a:t>
            </a:r>
            <a:r>
              <a:rPr sz="880">
                <a:solidFill>
                  <a:srgbClr val="334155"/>
                </a:solidFill>
                <a:latin typeface="Segoe UI"/>
              </a:rPr>
              <a:t>A major market vacuum exists for automated software toolchains that translate neural network weights into formal functional safety compliance dossiers (satisfying IEC 61508 and ISO 13849).</a:t>
            </a:r>
          </a:p>
          <a:p>
            <a:pPr>
              <a:spcBef>
                <a:spcPts val="600"/>
              </a:spcBef>
            </a:pPr>
            <a:r>
              <a:rPr sz="950" b="1">
                <a:solidFill>
                  <a:srgbClr val="0F172A"/>
                </a:solidFill>
                <a:latin typeface="Segoe UI"/>
              </a:rPr>
              <a:t>• LTTS Opportunity:
</a:t>
            </a:r>
            <a:r>
              <a:rPr sz="880">
                <a:solidFill>
                  <a:srgbClr val="334155"/>
                </a:solidFill>
                <a:latin typeface="Segoe UI"/>
              </a:rPr>
              <a:t>Build the first automated Neural Safety Dossier Compiler, using Control Barrier Functions and interval bound propagation (Priority 1).</a:t>
            </a:r>
          </a:p>
        </p:txBody>
      </p:sp>
      <p:sp>
        <p:nvSpPr>
          <p:cNvPr id="12" name="Rectangle 11"/>
          <p:cNvSpPr/>
          <p:nvPr/>
        </p:nvSpPr>
        <p:spPr>
          <a:xfrm>
            <a:off x="4407408"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691640"/>
            <a:ext cx="3364992"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90288" y="1892808"/>
            <a:ext cx="777240"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GAP 2</a:t>
            </a:r>
          </a:p>
        </p:txBody>
      </p:sp>
      <p:sp>
        <p:nvSpPr>
          <p:cNvPr id="15" name="TextBox 14"/>
          <p:cNvSpPr txBox="1"/>
          <p:nvPr/>
        </p:nvSpPr>
        <p:spPr>
          <a:xfrm>
            <a:off x="4590288" y="2240280"/>
            <a:ext cx="2999232" cy="868680"/>
          </a:xfrm>
          <a:prstGeom prst="rect">
            <a:avLst/>
          </a:prstGeom>
          <a:noFill/>
        </p:spPr>
        <p:txBody>
          <a:bodyPr wrap="square" lIns="0" rIns="0" tIns="0" bIns="0">
            <a:spAutoFit/>
          </a:bodyPr>
          <a:lstStyle/>
          <a:p>
            <a:r>
              <a:rPr sz="1150" b="1">
                <a:solidFill>
                  <a:srgbClr val="0F172A"/>
                </a:solidFill>
                <a:latin typeface="Segoe UI"/>
              </a:rPr>
              <a:t>CAD/PLM to Differentiable Physics Pipelines
</a:t>
            </a:r>
            <a:r>
              <a:rPr sz="900" b="1">
                <a:solidFill>
                  <a:srgbClr val="002B49"/>
                </a:solidFill>
                <a:latin typeface="Segoe UI"/>
              </a:rPr>
              <a:t>The High-Friction Digital Twin Ingestion Bottleneck</a:t>
            </a:r>
          </a:p>
        </p:txBody>
      </p:sp>
      <p:sp>
        <p:nvSpPr>
          <p:cNvPr id="16" name="TextBox 15"/>
          <p:cNvSpPr txBox="1"/>
          <p:nvPr/>
        </p:nvSpPr>
        <p:spPr>
          <a:xfrm>
            <a:off x="4590288" y="3154680"/>
            <a:ext cx="2999232" cy="2743200"/>
          </a:xfrm>
          <a:prstGeom prst="rect">
            <a:avLst/>
          </a:prstGeom>
          <a:noFill/>
        </p:spPr>
        <p:txBody>
          <a:bodyPr wrap="square" lIns="0" rIns="0" tIns="0" bIns="0">
            <a:spAutoFit/>
          </a:bodyPr>
          <a:lstStyle/>
          <a:p>
            <a:r>
              <a:rPr sz="950" b="1">
                <a:solidFill>
                  <a:srgbClr val="0F172A"/>
                </a:solidFill>
                <a:latin typeface="Segoe UI"/>
              </a:rPr>
              <a:t>• The Manual Engineering Drag:
</a:t>
            </a:r>
            <a:r>
              <a:rPr sz="880">
                <a:solidFill>
                  <a:srgbClr val="334155"/>
                </a:solidFill>
                <a:latin typeface="Segoe UI"/>
              </a:rPr>
              <a:t>Converting complex enterprise CAD/PLM assemblies (Siemens NX, Teamcenter, CATIA) into simulation-ready digital twin environments currently requires weeks of manual engineering.</a:t>
            </a:r>
          </a:p>
          <a:p>
            <a:pPr>
              <a:spcBef>
                <a:spcPts val="600"/>
              </a:spcBef>
            </a:pPr>
            <a:r>
              <a:rPr sz="950" b="1">
                <a:solidFill>
                  <a:srgbClr val="0F172A"/>
                </a:solidFill>
                <a:latin typeface="Segoe UI"/>
              </a:rPr>
              <a:t>• Friction &amp; Contact Breakdown:
</a:t>
            </a:r>
            <a:r>
              <a:rPr sz="880">
                <a:solidFill>
                  <a:srgbClr val="334155"/>
                </a:solidFill>
                <a:latin typeface="Segoe UI"/>
              </a:rPr>
              <a:t>Translating CAD geometry into mesh representations with accurate contact dynamics, mass matrices, and collision hulls is severely fragmented.</a:t>
            </a:r>
          </a:p>
          <a:p>
            <a:pPr>
              <a:spcBef>
                <a:spcPts val="600"/>
              </a:spcBef>
            </a:pPr>
            <a:r>
              <a:rPr sz="950" b="1">
                <a:solidFill>
                  <a:srgbClr val="0F172A"/>
                </a:solidFill>
                <a:latin typeface="Segoe UI"/>
              </a:rPr>
              <a:t>• LTTS Opportunity:
</a:t>
            </a:r>
            <a:r>
              <a:rPr sz="880">
                <a:solidFill>
                  <a:srgbClr val="334155"/>
                </a:solidFill>
                <a:latin typeface="Segoe UI"/>
              </a:rPr>
              <a:t>Offer automated ingestion pipelines converting mechanical CAD into calibrated Isaac Sim environments (Priority 3).</a:t>
            </a:r>
          </a:p>
        </p:txBody>
      </p:sp>
      <p:sp>
        <p:nvSpPr>
          <p:cNvPr id="17" name="Rectangle 16"/>
          <p:cNvSpPr/>
          <p:nvPr/>
        </p:nvSpPr>
        <p:spPr>
          <a:xfrm>
            <a:off x="8083296"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91640"/>
            <a:ext cx="3364992" cy="22860"/>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66176" y="1892808"/>
            <a:ext cx="777240"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A58CA"/>
                </a:solidFill>
                <a:latin typeface="Segoe UI"/>
              </a:rPr>
              <a:t>GAP 3</a:t>
            </a:r>
          </a:p>
        </p:txBody>
      </p:sp>
      <p:sp>
        <p:nvSpPr>
          <p:cNvPr id="20" name="TextBox 19"/>
          <p:cNvSpPr txBox="1"/>
          <p:nvPr/>
        </p:nvSpPr>
        <p:spPr>
          <a:xfrm>
            <a:off x="8266176" y="2240280"/>
            <a:ext cx="2999232" cy="868680"/>
          </a:xfrm>
          <a:prstGeom prst="rect">
            <a:avLst/>
          </a:prstGeom>
          <a:noFill/>
        </p:spPr>
        <p:txBody>
          <a:bodyPr wrap="square" lIns="0" rIns="0" tIns="0" bIns="0">
            <a:spAutoFit/>
          </a:bodyPr>
          <a:lstStyle/>
          <a:p>
            <a:r>
              <a:rPr sz="1150" b="1">
                <a:solidFill>
                  <a:srgbClr val="0F172A"/>
                </a:solidFill>
                <a:latin typeface="Segoe UI"/>
              </a:rPr>
              <a:t>Deterministic Edge Deployment Middleware
</a:t>
            </a:r>
            <a:r>
              <a:rPr sz="900" b="1">
                <a:solidFill>
                  <a:srgbClr val="0A58CA"/>
                </a:solidFill>
                <a:latin typeface="Segoe UI"/>
              </a:rPr>
              <a:t>The Real-Time Jitter &amp; Latency Barrier</a:t>
            </a:r>
          </a:p>
        </p:txBody>
      </p:sp>
      <p:sp>
        <p:nvSpPr>
          <p:cNvPr id="21" name="TextBox 20"/>
          <p:cNvSpPr txBox="1"/>
          <p:nvPr/>
        </p:nvSpPr>
        <p:spPr>
          <a:xfrm>
            <a:off x="8266176" y="3154680"/>
            <a:ext cx="2999232" cy="2743200"/>
          </a:xfrm>
          <a:prstGeom prst="rect">
            <a:avLst/>
          </a:prstGeom>
          <a:noFill/>
        </p:spPr>
        <p:txBody>
          <a:bodyPr wrap="square" lIns="0" rIns="0" tIns="0" bIns="0">
            <a:spAutoFit/>
          </a:bodyPr>
          <a:lstStyle/>
          <a:p>
            <a:r>
              <a:rPr sz="950" b="1">
                <a:solidFill>
                  <a:srgbClr val="0F172A"/>
                </a:solidFill>
                <a:latin typeface="Segoe UI"/>
              </a:rPr>
              <a:t>• The Embedded Real-Time Gap:
</a:t>
            </a:r>
            <a:r>
              <a:rPr sz="880">
                <a:solidFill>
                  <a:srgbClr val="334155"/>
                </a:solidFill>
                <a:latin typeface="Segoe UI"/>
              </a:rPr>
              <a:t>Managing the real-time execution of multi-billion parameter VLAs on industrial edge compute (NVIDIA Jetson AGX Orin) without timing jitter or safety watchdog violations.</a:t>
            </a:r>
          </a:p>
          <a:p>
            <a:pPr>
              <a:spcBef>
                <a:spcPts val="600"/>
              </a:spcBef>
            </a:pPr>
            <a:r>
              <a:rPr sz="950" b="1">
                <a:solidFill>
                  <a:srgbClr val="0F172A"/>
                </a:solidFill>
                <a:latin typeface="Segoe UI"/>
              </a:rPr>
              <a:t>• Fieldbus Synchronization:
</a:t>
            </a:r>
            <a:r>
              <a:rPr sz="880">
                <a:solidFill>
                  <a:srgbClr val="334155"/>
                </a:solidFill>
                <a:latin typeface="Segoe UI"/>
              </a:rPr>
              <a:t>Zero commercial middleware exists today that natively bridges PyTorch/TensorRT inference with 1ms EtherCAT cycles with formal RTOS guarantees.</a:t>
            </a:r>
          </a:p>
          <a:p>
            <a:pPr>
              <a:spcBef>
                <a:spcPts val="600"/>
              </a:spcBef>
            </a:pPr>
            <a:r>
              <a:rPr sz="950" b="1">
                <a:solidFill>
                  <a:srgbClr val="0F172A"/>
                </a:solidFill>
                <a:latin typeface="Segoe UI"/>
              </a:rPr>
              <a:t>• LTTS Opportunity:
</a:t>
            </a:r>
            <a:r>
              <a:rPr sz="880">
                <a:solidFill>
                  <a:srgbClr val="334155"/>
                </a:solidFill>
                <a:latin typeface="Segoe UI"/>
              </a:rPr>
              <a:t>Develop proprietary edge integration middleware connecting AI models to industrial fieldbuses (Priority 2).</a:t>
            </a:r>
          </a:p>
        </p:txBody>
      </p:sp>
      <p:sp>
        <p:nvSpPr>
          <p:cNvPr id="22" name="Rectangle 21"/>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These three gaps define LTTS's strategic roadmap: Formal Safety Dossiers (Q1 27), Edge Middleware (Q2 27), and CAD-to-Sim (Q3 27).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7315200" cy="274320"/>
          </a:xfrm>
          <a:prstGeom prst="rect">
            <a:avLst/>
          </a:prstGeom>
          <a:noFill/>
        </p:spPr>
        <p:txBody>
          <a:bodyPr wrap="none" lIns="0" rIns="0" tIns="0" bIns="0">
            <a:spAutoFit/>
          </a:bodyPr>
          <a:lstStyle/>
          <a:p>
            <a:r>
              <a:rPr sz="900" b="1">
                <a:solidFill>
                  <a:srgbClr val="B45309"/>
                </a:solidFill>
                <a:latin typeface="Segoe UI"/>
              </a:rPr>
              <a:t>MODULE 06 · STRATEGIC FOCUS</a:t>
            </a:r>
          </a:p>
        </p:txBody>
      </p:sp>
      <p:sp>
        <p:nvSpPr>
          <p:cNvPr id="4" name="TextBox 3"/>
          <p:cNvSpPr txBox="1"/>
          <p:nvPr/>
        </p:nvSpPr>
        <p:spPr>
          <a:xfrm>
            <a:off x="914400" y="1463040"/>
            <a:ext cx="10058400" cy="1371600"/>
          </a:xfrm>
          <a:prstGeom prst="rect">
            <a:avLst/>
          </a:prstGeom>
          <a:noFill/>
        </p:spPr>
        <p:txBody>
          <a:bodyPr wrap="square" lIns="0" rIns="0" tIns="0" bIns="0">
            <a:spAutoFit/>
          </a:bodyPr>
          <a:lstStyle/>
          <a:p>
            <a:r>
              <a:rPr sz="3600" b="1">
                <a:solidFill>
                  <a:srgbClr val="FFFFFF"/>
                </a:solidFill>
                <a:latin typeface="Segoe UI"/>
              </a:rPr>
              <a:t>The Industrial-AI Bridge</a:t>
            </a:r>
          </a:p>
          <a:p>
            <a:pPr>
              <a:spcBef>
                <a:spcPts val="600"/>
              </a:spcBef>
            </a:pPr>
            <a:r>
              <a:rPr sz="1400">
                <a:solidFill>
                  <a:srgbClr val="93C5FD"/>
                </a:solidFill>
                <a:latin typeface="Segoe UI"/>
              </a:rPr>
              <a:t>Evolution vs. Category Split, Formal Kinematics Moat &amp; The Data Flywheel</a:t>
            </a:r>
          </a:p>
        </p:txBody>
      </p:sp>
      <p:sp>
        <p:nvSpPr>
          <p:cNvPr id="5" name="Rectangle 4"/>
          <p:cNvSpPr/>
          <p:nvPr/>
        </p:nvSpPr>
        <p:spPr>
          <a:xfrm>
            <a:off x="914400" y="3108960"/>
            <a:ext cx="73152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83280"/>
            <a:ext cx="9144000" cy="2743200"/>
          </a:xfrm>
          <a:prstGeom prst="rect">
            <a:avLst/>
          </a:prstGeom>
          <a:noFill/>
        </p:spPr>
        <p:txBody>
          <a:bodyPr wrap="square" lIns="0" rIns="0" tIns="0" bIns="0">
            <a:spAutoFit/>
          </a:bodyPr>
          <a:lstStyle/>
          <a:p>
            <a:r>
              <a:rPr sz="1200" b="1">
                <a:solidFill>
                  <a:srgbClr val="B45309"/>
                </a:solidFill>
                <a:latin typeface="Segoe UI"/>
              </a:rPr>
              <a:t>—   </a:t>
            </a:r>
            <a:r>
              <a:rPr sz="1200">
                <a:solidFill>
                  <a:srgbClr val="F1F5F9"/>
                </a:solidFill>
                <a:latin typeface="Segoe UI"/>
              </a:rPr>
              <a:t>Industrial AI vs. Physical AI: architectural distinctions and coexistence</a:t>
            </a:r>
          </a:p>
          <a:p>
            <a:pPr>
              <a:spcBef>
                <a:spcPts val="800"/>
              </a:spcBef>
            </a:pPr>
            <a:r>
              <a:rPr sz="1200" b="1">
                <a:solidFill>
                  <a:srgbClr val="B45309"/>
                </a:solidFill>
                <a:latin typeface="Segoe UI"/>
              </a:rPr>
              <a:t>—   </a:t>
            </a:r>
            <a:r>
              <a:rPr sz="1200">
                <a:solidFill>
                  <a:srgbClr val="F1F5F9"/>
                </a:solidFill>
                <a:latin typeface="Segoe UI"/>
              </a:rPr>
              <a:t>Where Physical AI replaces traditional models vs. where time-series dominates</a:t>
            </a:r>
          </a:p>
          <a:p>
            <a:pPr>
              <a:spcBef>
                <a:spcPts val="800"/>
              </a:spcBef>
            </a:pPr>
            <a:r>
              <a:rPr sz="1200" b="1">
                <a:solidFill>
                  <a:srgbClr val="B45309"/>
                </a:solidFill>
                <a:latin typeface="Segoe UI"/>
              </a:rPr>
              <a:t>—   </a:t>
            </a:r>
            <a:r>
              <a:rPr sz="1200">
                <a:solidFill>
                  <a:srgbClr val="F1F5F9"/>
                </a:solidFill>
                <a:latin typeface="Segoe UI"/>
              </a:rPr>
              <a:t>The domain engineering moat: formal kinematics, Jacobian singularities, and DLS filtering</a:t>
            </a:r>
          </a:p>
          <a:p>
            <a:pPr>
              <a:spcBef>
                <a:spcPts val="800"/>
              </a:spcBef>
            </a:pPr>
            <a:r>
              <a:rPr sz="1200" b="1">
                <a:solidFill>
                  <a:srgbClr val="B45309"/>
                </a:solidFill>
                <a:latin typeface="Segoe UI"/>
              </a:rPr>
              <a:t>—   </a:t>
            </a:r>
            <a:r>
              <a:rPr sz="1200">
                <a:solidFill>
                  <a:srgbClr val="F1F5F9"/>
                </a:solidFill>
                <a:latin typeface="Segoe UI"/>
              </a:rPr>
              <a:t>Deterministic RTOS timing (&lt;1ms jitter) and ISO 13849 Cat 4 / PL e safety circuits</a:t>
            </a:r>
          </a:p>
          <a:p>
            <a:pPr>
              <a:spcBef>
                <a:spcPts val="800"/>
              </a:spcBef>
            </a:pPr>
            <a:r>
              <a:rPr sz="1200" b="1">
                <a:solidFill>
                  <a:srgbClr val="B45309"/>
                </a:solidFill>
                <a:latin typeface="Segoe UI"/>
              </a:rPr>
              <a:t>—   </a:t>
            </a:r>
            <a:r>
              <a:rPr sz="1200">
                <a:solidFill>
                  <a:srgbClr val="F1F5F9"/>
                </a:solidFill>
                <a:latin typeface="Segoe UI"/>
              </a:rPr>
              <a:t>LTTS's 5-stage closed-loop operational data flywheel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6 · THE BRIDGE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Evolution vs. Separate Category &amp; Replacement Dynamics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Physical AI is a fundamentally distinct technical discipline requiring robotics controls DNA.</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21488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74519"/>
            <a:ext cx="1988819"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284C7"/>
                </a:solidFill>
                <a:latin typeface="Segoe UI"/>
              </a:rPr>
              <a:t>TRADITIONAL INDUSTRIAL AI</a:t>
            </a:r>
          </a:p>
        </p:txBody>
      </p:sp>
      <p:sp>
        <p:nvSpPr>
          <p:cNvPr id="10" name="TextBox 9"/>
          <p:cNvSpPr txBox="1"/>
          <p:nvPr/>
        </p:nvSpPr>
        <p:spPr>
          <a:xfrm>
            <a:off x="960120" y="2176272"/>
            <a:ext cx="4754880" cy="1554480"/>
          </a:xfrm>
          <a:prstGeom prst="rect">
            <a:avLst/>
          </a:prstGeom>
          <a:noFill/>
        </p:spPr>
        <p:txBody>
          <a:bodyPr wrap="square" lIns="0" rIns="0" tIns="0" bIns="0">
            <a:spAutoFit/>
          </a:bodyPr>
          <a:lstStyle/>
          <a:p>
            <a:r>
              <a:rPr sz="1100" b="1">
                <a:solidFill>
                  <a:srgbClr val="0F172A"/>
                </a:solidFill>
                <a:latin typeface="Segoe UI"/>
              </a:rPr>
              <a:t>Association &amp; Open-Loop Monitoring
</a:t>
            </a:r>
          </a:p>
          <a:p>
            <a:pPr>
              <a:spcBef>
                <a:spcPts val="300"/>
              </a:spcBef>
            </a:pPr>
            <a:r>
              <a:rPr sz="900" b="1">
                <a:solidFill>
                  <a:srgbClr val="0284C7"/>
                </a:solidFill>
                <a:latin typeface="Segoe UI"/>
              </a:rPr>
              <a:t>• Data Space: </a:t>
            </a:r>
            <a:r>
              <a:rPr sz="880">
                <a:solidFill>
                  <a:srgbClr val="334155"/>
                </a:solidFill>
                <a:latin typeface="Segoe UI"/>
              </a:rPr>
              <a:t>Operates on 1D scalar time-series (vibration, temp, motor current).</a:t>
            </a:r>
          </a:p>
          <a:p>
            <a:pPr>
              <a:spcBef>
                <a:spcPts val="300"/>
              </a:spcBef>
            </a:pPr>
            <a:r>
              <a:rPr sz="900" b="1">
                <a:solidFill>
                  <a:srgbClr val="0284C7"/>
                </a:solidFill>
                <a:latin typeface="Segoe UI"/>
              </a:rPr>
              <a:t>• Control Loop: </a:t>
            </a:r>
            <a:r>
              <a:rPr sz="880">
                <a:solidFill>
                  <a:srgbClr val="334155"/>
                </a:solidFill>
                <a:latin typeface="Segoe UI"/>
              </a:rPr>
              <a:t>Open-loop. Generates human alerts on minute or hour timescales.</a:t>
            </a:r>
          </a:p>
          <a:p>
            <a:pPr>
              <a:spcBef>
                <a:spcPts val="300"/>
              </a:spcBef>
            </a:pPr>
            <a:r>
              <a:rPr sz="900" b="1">
                <a:solidFill>
                  <a:srgbClr val="0284C7"/>
                </a:solidFill>
                <a:latin typeface="Segoe UI"/>
              </a:rPr>
              <a:t>• Organizational DNA: </a:t>
            </a:r>
            <a:r>
              <a:rPr sz="880">
                <a:solidFill>
                  <a:srgbClr val="334155"/>
                </a:solidFill>
                <a:latin typeface="Segoe UI"/>
              </a:rPr>
              <a:t>Built by software data scientists. Zero kinematics or real-time RTOS requirements.</a:t>
            </a:r>
          </a:p>
        </p:txBody>
      </p:sp>
      <p:sp>
        <p:nvSpPr>
          <p:cNvPr id="11" name="Rectangle 10"/>
          <p:cNvSpPr/>
          <p:nvPr/>
        </p:nvSpPr>
        <p:spPr>
          <a:xfrm>
            <a:off x="6245352" y="1691640"/>
            <a:ext cx="5212080" cy="214884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691640"/>
            <a:ext cx="521208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73952" y="1874519"/>
            <a:ext cx="1645920"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EMBODIED PHYSICAL AI</a:t>
            </a:r>
          </a:p>
        </p:txBody>
      </p:sp>
      <p:sp>
        <p:nvSpPr>
          <p:cNvPr id="14" name="TextBox 13"/>
          <p:cNvSpPr txBox="1"/>
          <p:nvPr/>
        </p:nvSpPr>
        <p:spPr>
          <a:xfrm>
            <a:off x="6473952" y="2176272"/>
            <a:ext cx="4754880" cy="1554480"/>
          </a:xfrm>
          <a:prstGeom prst="rect">
            <a:avLst/>
          </a:prstGeom>
          <a:noFill/>
        </p:spPr>
        <p:txBody>
          <a:bodyPr wrap="square" lIns="0" rIns="0" tIns="0" bIns="0">
            <a:spAutoFit/>
          </a:bodyPr>
          <a:lstStyle/>
          <a:p>
            <a:r>
              <a:rPr sz="1100" b="1">
                <a:solidFill>
                  <a:srgbClr val="0F172A"/>
                </a:solidFill>
                <a:latin typeface="Segoe UI"/>
              </a:rPr>
              <a:t>Causal &amp; Closed-Loop Actuator Control
</a:t>
            </a:r>
          </a:p>
          <a:p>
            <a:pPr>
              <a:spcBef>
                <a:spcPts val="300"/>
              </a:spcBef>
            </a:pPr>
            <a:r>
              <a:rPr sz="900" b="1">
                <a:solidFill>
                  <a:srgbClr val="002B49"/>
                </a:solidFill>
                <a:latin typeface="Segoe UI"/>
              </a:rPr>
              <a:t>• Data Space: </a:t>
            </a:r>
            <a:r>
              <a:rPr sz="880">
                <a:solidFill>
                  <a:srgbClr val="334155"/>
                </a:solidFill>
                <a:latin typeface="Segoe UI"/>
              </a:rPr>
              <a:t>Operates on 3D spatial representations, depth point clouds, force-torque vectors.</a:t>
            </a:r>
          </a:p>
          <a:p>
            <a:pPr>
              <a:spcBef>
                <a:spcPts val="300"/>
              </a:spcBef>
            </a:pPr>
            <a:r>
              <a:rPr sz="900" b="1">
                <a:solidFill>
                  <a:srgbClr val="002B49"/>
                </a:solidFill>
                <a:latin typeface="Segoe UI"/>
              </a:rPr>
              <a:t>• Control Loop: </a:t>
            </a:r>
            <a:r>
              <a:rPr sz="880">
                <a:solidFill>
                  <a:srgbClr val="334155"/>
                </a:solidFill>
                <a:latin typeface="Segoe UI"/>
              </a:rPr>
              <a:t>Closed-loop. Directly commands joint actuators at &gt;= 50Hz (delta-t &lt;= 20ms).</a:t>
            </a:r>
          </a:p>
          <a:p>
            <a:pPr>
              <a:spcBef>
                <a:spcPts val="300"/>
              </a:spcBef>
            </a:pPr>
            <a:r>
              <a:rPr sz="900" b="1">
                <a:solidFill>
                  <a:srgbClr val="002B49"/>
                </a:solidFill>
                <a:latin typeface="Segoe UI"/>
              </a:rPr>
              <a:t>• Organizational DNA: </a:t>
            </a:r>
            <a:r>
              <a:rPr sz="880">
                <a:solidFill>
                  <a:srgbClr val="334155"/>
                </a:solidFill>
                <a:latin typeface="Segoe UI"/>
              </a:rPr>
              <a:t>Requires deep mechatronics, multi-body dynamics, and formal safety engineering.</a:t>
            </a:r>
          </a:p>
        </p:txBody>
      </p:sp>
      <p:sp>
        <p:nvSpPr>
          <p:cNvPr id="15" name="Rectangle 14"/>
          <p:cNvSpPr/>
          <p:nvPr/>
        </p:nvSpPr>
        <p:spPr>
          <a:xfrm>
            <a:off x="731520" y="4023360"/>
            <a:ext cx="5212080" cy="201168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023360"/>
            <a:ext cx="5212080"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160520"/>
            <a:ext cx="4754880" cy="1783080"/>
          </a:xfrm>
          <a:prstGeom prst="rect">
            <a:avLst/>
          </a:prstGeom>
          <a:noFill/>
        </p:spPr>
        <p:txBody>
          <a:bodyPr wrap="square" lIns="0" rIns="0" tIns="0" bIns="0">
            <a:spAutoFit/>
          </a:bodyPr>
          <a:lstStyle/>
          <a:p>
            <a:r>
              <a:rPr sz="1000" b="1">
                <a:solidFill>
                  <a:srgbClr val="047857"/>
                </a:solidFill>
                <a:latin typeface="Segoe UI"/>
              </a:rPr>
              <a:t>WHERE PHYSICAL AI REPLACES INDUSTRIAL AI:
</a:t>
            </a:r>
            <a:r>
              <a:rPr sz="900">
                <a:solidFill>
                  <a:srgbClr val="334155"/>
                </a:solidFill>
                <a:latin typeface="Segoe UI"/>
              </a:rPr>
              <a:t>In dynamic, high-speed closed-loop manufacturing tasks where microsecond feedback alters tool behavior:
• Real-time CNC spindle modulation to suppress chatter vibration.
• Real-time adaptive seam tracking and wire-feed modulation in robotic welding.</a:t>
            </a:r>
          </a:p>
        </p:txBody>
      </p:sp>
      <p:sp>
        <p:nvSpPr>
          <p:cNvPr id="18" name="Rectangle 17"/>
          <p:cNvSpPr/>
          <p:nvPr/>
        </p:nvSpPr>
        <p:spPr>
          <a:xfrm>
            <a:off x="6245352" y="4023360"/>
            <a:ext cx="5212080" cy="201168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5352" y="4023360"/>
            <a:ext cx="5212080" cy="22860"/>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3952" y="4160520"/>
            <a:ext cx="4754880" cy="1783080"/>
          </a:xfrm>
          <a:prstGeom prst="rect">
            <a:avLst/>
          </a:prstGeom>
          <a:noFill/>
        </p:spPr>
        <p:txBody>
          <a:bodyPr wrap="square" lIns="0" rIns="0" tIns="0" bIns="0">
            <a:spAutoFit/>
          </a:bodyPr>
          <a:lstStyle/>
          <a:p>
            <a:r>
              <a:rPr sz="1000" b="1">
                <a:solidFill>
                  <a:srgbClr val="0A58CA"/>
                </a:solidFill>
                <a:latin typeface="Segoe UI"/>
              </a:rPr>
              <a:t>WHERE INDUSTRIAL AI REMAINS DOMINANT:
</a:t>
            </a:r>
            <a:r>
              <a:rPr sz="900">
                <a:solidFill>
                  <a:srgbClr val="334155"/>
                </a:solidFill>
                <a:latin typeface="Segoe UI"/>
              </a:rPr>
              <a:t>In macro enterprise optimization where physical interaction is decoupled from high-frequency execution:
• Plant-wide predictive asset maintenance across hundreds of pumps and motors.
• Macro supply-chain scheduling and enterprise power consumption forecasting.</a:t>
            </a:r>
          </a:p>
        </p:txBody>
      </p:sp>
      <p:sp>
        <p:nvSpPr>
          <p:cNvPr id="21" name="Rectangle 20"/>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Predictive maintenance vendors cannot easily pivot into robotics control; Physical AI demands deep mechatronics and controls engineering.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6 · THE BRIDGE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The Domain Engineering Moat: Kinematics &amp; Singularities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Why software-only AI labs cannot deploy neural policies on real industrial servo hardware.</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74519"/>
            <a:ext cx="2606039"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KINEMATIC INVARIANTS &amp; SINGULARITY</a:t>
            </a:r>
          </a:p>
        </p:txBody>
      </p:sp>
      <p:sp>
        <p:nvSpPr>
          <p:cNvPr id="10" name="TextBox 9"/>
          <p:cNvSpPr txBox="1"/>
          <p:nvPr/>
        </p:nvSpPr>
        <p:spPr>
          <a:xfrm>
            <a:off x="960120" y="2194560"/>
            <a:ext cx="4754880" cy="3657600"/>
          </a:xfrm>
          <a:prstGeom prst="rect">
            <a:avLst/>
          </a:prstGeom>
          <a:noFill/>
        </p:spPr>
        <p:txBody>
          <a:bodyPr wrap="square" lIns="0" rIns="0" tIns="0" bIns="0">
            <a:spAutoFit/>
          </a:bodyPr>
          <a:lstStyle/>
          <a:p>
            <a:r>
              <a:rPr sz="1100" b="1">
                <a:solidFill>
                  <a:srgbClr val="0F172A"/>
                </a:solidFill>
                <a:latin typeface="Segoe UI"/>
              </a:rPr>
              <a:t>Manipulator Jacobian &amp; Inverse Kinematics:
</a:t>
            </a:r>
            <a:r>
              <a:rPr sz="919">
                <a:solidFill>
                  <a:srgbClr val="334155"/>
                </a:solidFill>
                <a:latin typeface="Segoe UI"/>
              </a:rPr>
              <a:t>The mapping from end-effector velocities to joint velocities is governed by the Jacobian matrix J(q):</a:t>
            </a:r>
          </a:p>
        </p:txBody>
      </p:sp>
      <p:sp>
        <p:nvSpPr>
          <p:cNvPr id="11" name="Rectangle 10"/>
          <p:cNvSpPr/>
          <p:nvPr/>
        </p:nvSpPr>
        <p:spPr>
          <a:xfrm>
            <a:off x="960120" y="2971800"/>
            <a:ext cx="4754880" cy="5943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1143000" y="3063240"/>
            <a:ext cx="2493264" cy="289560"/>
          </a:xfrm>
          <a:prstGeom prst="rect">
            <a:avLst/>
          </a:prstGeom>
        </p:spPr>
      </p:pic>
      <p:sp>
        <p:nvSpPr>
          <p:cNvPr id="13" name="TextBox 12"/>
          <p:cNvSpPr txBox="1"/>
          <p:nvPr/>
        </p:nvSpPr>
        <p:spPr>
          <a:xfrm>
            <a:off x="960120" y="3703320"/>
            <a:ext cx="4754880" cy="2194560"/>
          </a:xfrm>
          <a:prstGeom prst="rect">
            <a:avLst/>
          </a:prstGeom>
          <a:noFill/>
        </p:spPr>
        <p:txBody>
          <a:bodyPr wrap="square" lIns="0" rIns="0" tIns="0" bIns="0">
            <a:spAutoFit/>
          </a:bodyPr>
          <a:lstStyle/>
          <a:p>
            <a:r>
              <a:rPr sz="1100" b="1">
                <a:solidFill>
                  <a:srgbClr val="0F172A"/>
                </a:solidFill>
                <a:latin typeface="Segoe UI"/>
              </a:rPr>
              <a:t>Yoshikawa Manipulability Measure:
</a:t>
            </a:r>
            <a:r>
              <a:rPr sz="919">
                <a:solidFill>
                  <a:srgbClr val="334155"/>
                </a:solidFill>
                <a:latin typeface="Segoe UI"/>
              </a:rPr>
              <a:t>Near kinematic singularities, manipulability collapses to zero:</a:t>
            </a:r>
          </a:p>
        </p:txBody>
      </p:sp>
      <p:sp>
        <p:nvSpPr>
          <p:cNvPr id="14" name="Rectangle 13"/>
          <p:cNvSpPr/>
          <p:nvPr/>
        </p:nvSpPr>
        <p:spPr>
          <a:xfrm>
            <a:off x="960120" y="4434840"/>
            <a:ext cx="4754880" cy="5943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3"/>
          <a:stretch>
            <a:fillRect/>
          </a:stretch>
        </p:blipFill>
        <p:spPr>
          <a:xfrm>
            <a:off x="1097280" y="4526280"/>
            <a:ext cx="4047744" cy="356616"/>
          </a:xfrm>
          <a:prstGeom prst="rect">
            <a:avLst/>
          </a:prstGeom>
        </p:spPr>
      </p:pic>
      <p:sp>
        <p:nvSpPr>
          <p:cNvPr id="16" name="TextBox 15"/>
          <p:cNvSpPr txBox="1"/>
          <p:nvPr/>
        </p:nvSpPr>
        <p:spPr>
          <a:xfrm>
            <a:off x="960120" y="5166360"/>
            <a:ext cx="4754880" cy="777240"/>
          </a:xfrm>
          <a:prstGeom prst="rect">
            <a:avLst/>
          </a:prstGeom>
          <a:noFill/>
        </p:spPr>
        <p:txBody>
          <a:bodyPr wrap="square" lIns="0" rIns="0" tIns="0" bIns="0">
            <a:spAutoFit/>
          </a:bodyPr>
          <a:lstStyle/>
          <a:p>
            <a:r>
              <a:rPr sz="900">
                <a:solidFill>
                  <a:srgbClr val="B91C1C"/>
                </a:solidFill>
                <a:latin typeface="Segoe UI"/>
              </a:rPr>
              <a:t>Even a small, bounded Cartesian command outputs unbounded joint speeds, triggering emergency trips or destroying gearboxes.</a:t>
            </a:r>
          </a:p>
        </p:txBody>
      </p:sp>
      <p:sp>
        <p:nvSpPr>
          <p:cNvPr id="17" name="Rectangle 16"/>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45352" y="1691640"/>
            <a:ext cx="5212080" cy="22860"/>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73952" y="1874519"/>
            <a:ext cx="2606039"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A58CA"/>
                </a:solidFill>
                <a:latin typeface="Segoe UI"/>
              </a:rPr>
              <a:t>WHY PURE ML FAILS ON REAL HARDWARE</a:t>
            </a:r>
          </a:p>
        </p:txBody>
      </p:sp>
      <p:sp>
        <p:nvSpPr>
          <p:cNvPr id="20" name="TextBox 19"/>
          <p:cNvSpPr txBox="1"/>
          <p:nvPr/>
        </p:nvSpPr>
        <p:spPr>
          <a:xfrm>
            <a:off x="6473952" y="2194560"/>
            <a:ext cx="4754880" cy="3657600"/>
          </a:xfrm>
          <a:prstGeom prst="rect">
            <a:avLst/>
          </a:prstGeom>
          <a:noFill/>
        </p:spPr>
        <p:txBody>
          <a:bodyPr wrap="square" lIns="0" rIns="0" tIns="0" bIns="0">
            <a:spAutoFit/>
          </a:bodyPr>
          <a:lstStyle/>
          <a:p>
            <a:r>
              <a:rPr sz="1200" b="1">
                <a:solidFill>
                  <a:srgbClr val="0F172A"/>
                </a:solidFill>
                <a:latin typeface="Segoe UI"/>
              </a:rPr>
              <a:t>The Indispensable Mechatronics Filtering Layer
</a:t>
            </a:r>
          </a:p>
          <a:p>
            <a:pPr>
              <a:spcBef>
                <a:spcPts val="600"/>
              </a:spcBef>
            </a:pPr>
            <a:r>
              <a:rPr sz="950" b="1">
                <a:solidFill>
                  <a:srgbClr val="0A58CA"/>
                </a:solidFill>
                <a:latin typeface="Segoe UI"/>
              </a:rPr>
              <a:t>• The AI Startup Blind Spot: </a:t>
            </a:r>
            <a:r>
              <a:rPr sz="900">
                <a:solidFill>
                  <a:srgbClr val="334155"/>
                </a:solidFill>
                <a:latin typeface="Segoe UI"/>
              </a:rPr>
              <a:t>Pure machine learning engineers treat robot arms as abstract point masses. When a VLA model plans a path passing near a wrist or elbow singularity, it demands infinite joint velocity.</a:t>
            </a:r>
          </a:p>
          <a:p>
            <a:pPr>
              <a:spcBef>
                <a:spcPts val="600"/>
              </a:spcBef>
            </a:pPr>
            <a:r>
              <a:rPr sz="950" b="1">
                <a:solidFill>
                  <a:srgbClr val="0A58CA"/>
                </a:solidFill>
                <a:latin typeface="Segoe UI"/>
              </a:rPr>
              <a:t>• Real Factory Consequences: </a:t>
            </a:r>
            <a:r>
              <a:rPr sz="900">
                <a:solidFill>
                  <a:srgbClr val="334155"/>
                </a:solidFill>
                <a:latin typeface="Segoe UI"/>
              </a:rPr>
              <a:t>In real production cells, this causes instant drive over-current trips, emergency brake engagements, or stripped harmonic gears.</a:t>
            </a:r>
          </a:p>
          <a:p>
            <a:pPr>
              <a:spcBef>
                <a:spcPts val="600"/>
              </a:spcBef>
            </a:pPr>
            <a:r>
              <a:rPr sz="950" b="1">
                <a:solidFill>
                  <a:srgbClr val="0A58CA"/>
                </a:solidFill>
                <a:latin typeface="Segoe UI"/>
              </a:rPr>
              <a:t>• Damped Least-Squares (DLS) Filtering: </a:t>
            </a:r>
            <a:r>
              <a:rPr sz="900">
                <a:solidFill>
                  <a:srgbClr val="334155"/>
                </a:solidFill>
                <a:latin typeface="Segoe UI"/>
              </a:rPr>
              <a:t>LTTS controls engineers insert singularity-robust inverse kinematics, singularity avoidance gradient projection, and DLS damping layers between neural outputs and motor servo drives.</a:t>
            </a:r>
          </a:p>
          <a:p>
            <a:pPr>
              <a:spcBef>
                <a:spcPts val="600"/>
              </a:spcBef>
            </a:pPr>
            <a:r>
              <a:rPr sz="950" b="1">
                <a:solidFill>
                  <a:srgbClr val="0A58CA"/>
                </a:solidFill>
                <a:latin typeface="Segoe UI"/>
              </a:rPr>
              <a:t>• The Durable Moat: </a:t>
            </a:r>
            <a:r>
              <a:rPr sz="900">
                <a:solidFill>
                  <a:srgbClr val="334155"/>
                </a:solidFill>
                <a:latin typeface="Segoe UI"/>
              </a:rPr>
              <a:t>This mechatronics filtering layer is mandatory for production deployment. Foundation model providers cannot build or certify this without industrial controls engineering.</a:t>
            </a:r>
          </a:p>
        </p:txBody>
      </p:sp>
      <p:sp>
        <p:nvSpPr>
          <p:cNvPr id="21" name="Rectangle 20"/>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AI labs build the neural planners; LTTS builds the singularity-robust kinematics and safety filters that keep physical robots from destroying themselves.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6 · THE BRIDGE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The Domain Engineering Moat: Deterministic Timing &amp; Safety</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Real-time industrial fieldbus synchronization and statutory functional safety architecture.</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74519"/>
            <a:ext cx="2606039"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284C7"/>
                </a:solidFill>
                <a:latin typeface="Segoe UI"/>
              </a:rPr>
              <a:t>REAL-TIME DETERMINISTIC BOUNDARIES</a:t>
            </a:r>
          </a:p>
        </p:txBody>
      </p:sp>
      <p:sp>
        <p:nvSpPr>
          <p:cNvPr id="10" name="TextBox 9"/>
          <p:cNvSpPr txBox="1"/>
          <p:nvPr/>
        </p:nvSpPr>
        <p:spPr>
          <a:xfrm>
            <a:off x="960120" y="2194560"/>
            <a:ext cx="4754880" cy="3657600"/>
          </a:xfrm>
          <a:prstGeom prst="rect">
            <a:avLst/>
          </a:prstGeom>
          <a:noFill/>
        </p:spPr>
        <p:txBody>
          <a:bodyPr wrap="square" lIns="0" rIns="0" tIns="0" bIns="0">
            <a:spAutoFit/>
          </a:bodyPr>
          <a:lstStyle/>
          <a:p>
            <a:r>
              <a:rPr sz="1200" b="1">
                <a:solidFill>
                  <a:srgbClr val="0F172A"/>
                </a:solidFill>
                <a:latin typeface="Segoe UI"/>
              </a:rPr>
              <a:t>Sub-Millisecond Fieldbus Synchronization
</a:t>
            </a:r>
          </a:p>
          <a:p>
            <a:pPr>
              <a:spcBef>
                <a:spcPts val="600"/>
              </a:spcBef>
            </a:pPr>
            <a:r>
              <a:rPr sz="950" b="1">
                <a:solidFill>
                  <a:srgbClr val="0284C7"/>
                </a:solidFill>
                <a:latin typeface="Segoe UI"/>
              </a:rPr>
              <a:t>• The Fieldbus Cycle Clock: </a:t>
            </a:r>
            <a:r>
              <a:rPr sz="900">
                <a:solidFill>
                  <a:srgbClr val="334155"/>
                </a:solidFill>
                <a:latin typeface="Segoe UI"/>
              </a:rPr>
              <a:t>Industrial fieldbuses—specifically Profinet IRT and EtherCAT—operate on deterministic cyclic synchronous positioning (CSP) clocks at 1ms to 2ms intervals.</a:t>
            </a:r>
          </a:p>
          <a:p>
            <a:pPr>
              <a:spcBef>
                <a:spcPts val="600"/>
              </a:spcBef>
            </a:pPr>
            <a:r>
              <a:rPr sz="950" b="1">
                <a:solidFill>
                  <a:srgbClr val="0284C7"/>
                </a:solidFill>
                <a:latin typeface="Segoe UI"/>
              </a:rPr>
              <a:t>• The Jitter Constraint (&lt; 1ms): </a:t>
            </a:r>
            <a:r>
              <a:rPr sz="900">
                <a:solidFill>
                  <a:srgbClr val="334155"/>
                </a:solidFill>
                <a:latin typeface="Segoe UI"/>
              </a:rPr>
              <a:t>If neural policy inference suffers from memory bus contention, garbage collection, or OS jitter exceeding 1ms, fieldbus communication watchdogs trip, throwing the entire production cell into an emergency halt.</a:t>
            </a:r>
          </a:p>
          <a:p>
            <a:pPr>
              <a:spcBef>
                <a:spcPts val="600"/>
              </a:spcBef>
            </a:pPr>
            <a:r>
              <a:rPr sz="950" b="1">
                <a:solidFill>
                  <a:srgbClr val="0284C7"/>
                </a:solidFill>
                <a:latin typeface="Segoe UI"/>
              </a:rPr>
              <a:t>• The RTOS Hardware Interface: </a:t>
            </a:r>
            <a:r>
              <a:rPr sz="900">
                <a:solidFill>
                  <a:srgbClr val="334155"/>
                </a:solidFill>
                <a:latin typeface="Segoe UI"/>
              </a:rPr>
              <a:t>Deploying Physical AI requires architecting real-time operating system (RTOS / Xenomai / PREEMPT_RT) bridge layers running on industrial edge PCs paired with NVIDIA Jetson units.</a:t>
            </a:r>
          </a:p>
          <a:p>
            <a:pPr>
              <a:spcBef>
                <a:spcPts val="600"/>
              </a:spcBef>
            </a:pPr>
            <a:r>
              <a:rPr sz="950" b="1">
                <a:solidFill>
                  <a:srgbClr val="0284C7"/>
                </a:solidFill>
                <a:latin typeface="Segoe UI"/>
              </a:rPr>
              <a:t>• Asynchronous Policy Buffering: </a:t>
            </a:r>
            <a:r>
              <a:rPr sz="900">
                <a:solidFill>
                  <a:srgbClr val="334155"/>
                </a:solidFill>
                <a:latin typeface="Segoe UI"/>
              </a:rPr>
              <a:t>Decoupling 50Hz neural inference from 1000Hz low-level servo interpolators through deterministic ring buffers.</a:t>
            </a:r>
          </a:p>
        </p:txBody>
      </p:sp>
      <p:sp>
        <p:nvSpPr>
          <p:cNvPr id="11" name="Rectangle 10"/>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691640"/>
            <a:ext cx="5212080"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73952" y="1874519"/>
            <a:ext cx="3154679" cy="219456"/>
          </a:xfrm>
          <a:prstGeom prst="roundRect">
            <a:avLst/>
          </a:prstGeom>
          <a:solidFill>
            <a:srgbClr val="D1FAE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47857"/>
                </a:solidFill>
                <a:latin typeface="Segoe UI"/>
              </a:rPr>
              <a:t>STATUTORY FUNCTIONAL SAFETY (PL e / SIL 3)</a:t>
            </a:r>
          </a:p>
        </p:txBody>
      </p:sp>
      <p:sp>
        <p:nvSpPr>
          <p:cNvPr id="14" name="TextBox 13"/>
          <p:cNvSpPr txBox="1"/>
          <p:nvPr/>
        </p:nvSpPr>
        <p:spPr>
          <a:xfrm>
            <a:off x="6473952" y="2194560"/>
            <a:ext cx="4754880" cy="3657600"/>
          </a:xfrm>
          <a:prstGeom prst="rect">
            <a:avLst/>
          </a:prstGeom>
          <a:noFill/>
        </p:spPr>
        <p:txBody>
          <a:bodyPr wrap="square" lIns="0" rIns="0" tIns="0" bIns="0">
            <a:spAutoFit/>
          </a:bodyPr>
          <a:lstStyle/>
          <a:p>
            <a:r>
              <a:rPr sz="1200" b="1">
                <a:solidFill>
                  <a:srgbClr val="0F172A"/>
                </a:solidFill>
                <a:latin typeface="Segoe UI"/>
              </a:rPr>
              <a:t>Dual-Channel Safety &amp; Hardware Interlocks
</a:t>
            </a:r>
          </a:p>
          <a:p>
            <a:pPr>
              <a:spcBef>
                <a:spcPts val="600"/>
              </a:spcBef>
            </a:pPr>
            <a:r>
              <a:rPr sz="950" b="1">
                <a:solidFill>
                  <a:srgbClr val="047857"/>
                </a:solidFill>
                <a:latin typeface="Segoe UI"/>
              </a:rPr>
              <a:t>• ISO 13849 &amp; IEC 61508 Compliance: </a:t>
            </a:r>
            <a:r>
              <a:rPr sz="900">
                <a:solidFill>
                  <a:srgbClr val="334155"/>
                </a:solidFill>
                <a:latin typeface="Segoe UI"/>
              </a:rPr>
              <a:t>Global manufacturing safety regulations mandate Performance Level e (PL e) / Category 4 architecture for collaborative robotic cells.</a:t>
            </a:r>
          </a:p>
          <a:p>
            <a:pPr>
              <a:spcBef>
                <a:spcPts val="600"/>
              </a:spcBef>
            </a:pPr>
            <a:r>
              <a:rPr sz="950" b="1">
                <a:solidFill>
                  <a:srgbClr val="047857"/>
                </a:solidFill>
                <a:latin typeface="Segoe UI"/>
              </a:rPr>
              <a:t>• Hardware-Gated Safety Envelopes: </a:t>
            </a:r>
            <a:r>
              <a:rPr sz="900">
                <a:solidFill>
                  <a:srgbClr val="334155"/>
                </a:solidFill>
                <a:latin typeface="Segoe UI"/>
              </a:rPr>
              <a:t>Neural policy outputs are never permitted direct, unmediated control of servo drives. They are wrapped in deterministic mathematical safety envelopes evaluated by certified safety controllers.</a:t>
            </a:r>
          </a:p>
          <a:p>
            <a:pPr>
              <a:spcBef>
                <a:spcPts val="600"/>
              </a:spcBef>
            </a:pPr>
            <a:r>
              <a:rPr sz="950" b="1">
                <a:solidFill>
                  <a:srgbClr val="047857"/>
                </a:solidFill>
                <a:latin typeface="Segoe UI"/>
              </a:rPr>
              <a:t>• Dual-Channel Cross-Monitoring: </a:t>
            </a:r>
            <a:r>
              <a:rPr sz="900">
                <a:solidFill>
                  <a:srgbClr val="334155"/>
                </a:solidFill>
                <a:latin typeface="Segoe UI"/>
              </a:rPr>
              <a:t>Redundant safety channels independently monitor Cartesian joint speeds and payload force limits. If the AI policy breaches dynamic limits, hardware safety contacts de-energize the motor coils in &lt; 15ms.</a:t>
            </a:r>
          </a:p>
          <a:p>
            <a:pPr>
              <a:spcBef>
                <a:spcPts val="600"/>
              </a:spcBef>
            </a:pPr>
            <a:r>
              <a:rPr sz="950" b="1">
                <a:solidFill>
                  <a:srgbClr val="047857"/>
                </a:solidFill>
                <a:latin typeface="Segoe UI"/>
              </a:rPr>
              <a:t>• The Factory Insurance Gate: </a:t>
            </a:r>
            <a:r>
              <a:rPr sz="900">
                <a:solidFill>
                  <a:srgbClr val="334155"/>
                </a:solidFill>
                <a:latin typeface="Segoe UI"/>
              </a:rPr>
              <a:t>No automotive Tier-1 will sign off on an AI robot without an audited functional safety dossier approved by TÜV or UL.</a:t>
            </a:r>
          </a:p>
        </p:txBody>
      </p:sp>
      <p:sp>
        <p:nvSpPr>
          <p:cNvPr id="15" name="Rectangle 14"/>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Sub-millisecond fieldbus timing and Cat 4 / PL e safety interlocks represent non-negotiable legal requirements that protect plant workers and equipment.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6 · THE BRIDGE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The Closed-Loop Operational Data Flywheel</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LTTS's 5-stage deployment architecture converting factory operations into continuously refined models.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828800"/>
            <a:ext cx="1965960" cy="406908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1965960"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2029968"/>
            <a:ext cx="777240"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284C7"/>
                </a:solidFill>
                <a:latin typeface="Segoe UI"/>
              </a:rPr>
              <a:t>STAGE 1</a:t>
            </a:r>
          </a:p>
        </p:txBody>
      </p:sp>
      <p:sp>
        <p:nvSpPr>
          <p:cNvPr id="10" name="TextBox 9"/>
          <p:cNvSpPr txBox="1"/>
          <p:nvPr/>
        </p:nvSpPr>
        <p:spPr>
          <a:xfrm>
            <a:off x="868680" y="2377440"/>
            <a:ext cx="1691639" cy="777240"/>
          </a:xfrm>
          <a:prstGeom prst="rect">
            <a:avLst/>
          </a:prstGeom>
          <a:noFill/>
        </p:spPr>
        <p:txBody>
          <a:bodyPr wrap="square" lIns="0" rIns="0" tIns="0" bIns="0">
            <a:spAutoFit/>
          </a:bodyPr>
          <a:lstStyle/>
          <a:p>
            <a:r>
              <a:rPr sz="1100" b="1">
                <a:solidFill>
                  <a:srgbClr val="0F172A"/>
                </a:solidFill>
                <a:latin typeface="Segoe UI"/>
              </a:rPr>
              <a:t>Telemetry Ingestion</a:t>
            </a:r>
          </a:p>
        </p:txBody>
      </p:sp>
      <p:sp>
        <p:nvSpPr>
          <p:cNvPr id="11" name="TextBox 10"/>
          <p:cNvSpPr txBox="1"/>
          <p:nvPr/>
        </p:nvSpPr>
        <p:spPr>
          <a:xfrm>
            <a:off x="868680" y="3200400"/>
            <a:ext cx="1691639" cy="2468880"/>
          </a:xfrm>
          <a:prstGeom prst="rect">
            <a:avLst/>
          </a:prstGeom>
          <a:noFill/>
        </p:spPr>
        <p:txBody>
          <a:bodyPr wrap="square" lIns="0" rIns="0" tIns="0" bIns="0">
            <a:spAutoFit/>
          </a:bodyPr>
          <a:lstStyle/>
          <a:p>
            <a:r>
              <a:rPr sz="900">
                <a:solidFill>
                  <a:srgbClr val="334155"/>
                </a:solidFill>
                <a:latin typeface="Segoe UI"/>
              </a:rPr>
              <a:t>Logging high-frequency motor torques, currents, joint velocities, and visual streams directly from industrial fieldbuses in live production.</a:t>
            </a:r>
          </a:p>
        </p:txBody>
      </p:sp>
      <p:sp>
        <p:nvSpPr>
          <p:cNvPr id="12" name="Rectangle 11"/>
          <p:cNvSpPr/>
          <p:nvPr/>
        </p:nvSpPr>
        <p:spPr>
          <a:xfrm>
            <a:off x="2921508" y="1828800"/>
            <a:ext cx="1965960" cy="406908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21508" y="1828800"/>
            <a:ext cx="196596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58668" y="2029968"/>
            <a:ext cx="777240"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STAGE 2</a:t>
            </a:r>
          </a:p>
        </p:txBody>
      </p:sp>
      <p:sp>
        <p:nvSpPr>
          <p:cNvPr id="15" name="TextBox 14"/>
          <p:cNvSpPr txBox="1"/>
          <p:nvPr/>
        </p:nvSpPr>
        <p:spPr>
          <a:xfrm>
            <a:off x="3058668" y="2377440"/>
            <a:ext cx="1691639" cy="777240"/>
          </a:xfrm>
          <a:prstGeom prst="rect">
            <a:avLst/>
          </a:prstGeom>
          <a:noFill/>
        </p:spPr>
        <p:txBody>
          <a:bodyPr wrap="square" lIns="0" rIns="0" tIns="0" bIns="0">
            <a:spAutoFit/>
          </a:bodyPr>
          <a:lstStyle/>
          <a:p>
            <a:r>
              <a:rPr sz="1100" b="1">
                <a:solidFill>
                  <a:srgbClr val="0F172A"/>
                </a:solidFill>
                <a:latin typeface="Segoe UI"/>
              </a:rPr>
              <a:t>Physics Calibration</a:t>
            </a:r>
          </a:p>
        </p:txBody>
      </p:sp>
      <p:sp>
        <p:nvSpPr>
          <p:cNvPr id="16" name="TextBox 15"/>
          <p:cNvSpPr txBox="1"/>
          <p:nvPr/>
        </p:nvSpPr>
        <p:spPr>
          <a:xfrm>
            <a:off x="3058668" y="3200400"/>
            <a:ext cx="1691639" cy="2468880"/>
          </a:xfrm>
          <a:prstGeom prst="rect">
            <a:avLst/>
          </a:prstGeom>
          <a:noFill/>
        </p:spPr>
        <p:txBody>
          <a:bodyPr wrap="square" lIns="0" rIns="0" tIns="0" bIns="0">
            <a:spAutoFit/>
          </a:bodyPr>
          <a:lstStyle/>
          <a:p>
            <a:r>
              <a:rPr sz="900">
                <a:solidFill>
                  <a:srgbClr val="334155"/>
                </a:solidFill>
                <a:latin typeface="Segoe UI"/>
              </a:rPr>
              <a:t>Refining simulation physics parameters (friction coefficients, link backlash, payload inertia) by fitting sim models against real-world telemetry.</a:t>
            </a:r>
          </a:p>
        </p:txBody>
      </p:sp>
      <p:sp>
        <p:nvSpPr>
          <p:cNvPr id="17" name="Rectangle 16"/>
          <p:cNvSpPr/>
          <p:nvPr/>
        </p:nvSpPr>
        <p:spPr>
          <a:xfrm>
            <a:off x="5111496" y="1828800"/>
            <a:ext cx="1965960" cy="406908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11496" y="1828800"/>
            <a:ext cx="1965960"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48656" y="2029968"/>
            <a:ext cx="777240" cy="219456"/>
          </a:xfrm>
          <a:prstGeom prst="roundRect">
            <a:avLst/>
          </a:prstGeom>
          <a:solidFill>
            <a:srgbClr val="D1FAE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47857"/>
                </a:solidFill>
                <a:latin typeface="Segoe UI"/>
              </a:rPr>
              <a:t>STAGE 3</a:t>
            </a:r>
          </a:p>
        </p:txBody>
      </p:sp>
      <p:sp>
        <p:nvSpPr>
          <p:cNvPr id="20" name="TextBox 19"/>
          <p:cNvSpPr txBox="1"/>
          <p:nvPr/>
        </p:nvSpPr>
        <p:spPr>
          <a:xfrm>
            <a:off x="5248656" y="2377440"/>
            <a:ext cx="1691639" cy="777240"/>
          </a:xfrm>
          <a:prstGeom prst="rect">
            <a:avLst/>
          </a:prstGeom>
          <a:noFill/>
        </p:spPr>
        <p:txBody>
          <a:bodyPr wrap="square" lIns="0" rIns="0" tIns="0" bIns="0">
            <a:spAutoFit/>
          </a:bodyPr>
          <a:lstStyle/>
          <a:p>
            <a:r>
              <a:rPr sz="1100" b="1">
                <a:solidFill>
                  <a:srgbClr val="0F172A"/>
                </a:solidFill>
                <a:latin typeface="Segoe UI"/>
              </a:rPr>
              <a:t>Synthetic Generation</a:t>
            </a:r>
          </a:p>
        </p:txBody>
      </p:sp>
      <p:sp>
        <p:nvSpPr>
          <p:cNvPr id="21" name="TextBox 20"/>
          <p:cNvSpPr txBox="1"/>
          <p:nvPr/>
        </p:nvSpPr>
        <p:spPr>
          <a:xfrm>
            <a:off x="5248656" y="3200400"/>
            <a:ext cx="1691639" cy="2468880"/>
          </a:xfrm>
          <a:prstGeom prst="rect">
            <a:avLst/>
          </a:prstGeom>
          <a:noFill/>
        </p:spPr>
        <p:txBody>
          <a:bodyPr wrap="square" lIns="0" rIns="0" tIns="0" bIns="0">
            <a:spAutoFit/>
          </a:bodyPr>
          <a:lstStyle/>
          <a:p>
            <a:r>
              <a:rPr sz="900">
                <a:solidFill>
                  <a:srgbClr val="334155"/>
                </a:solidFill>
                <a:latin typeface="Segoe UI"/>
              </a:rPr>
              <a:t>Generating millions of extreme edge-case permutations, lighting shifts, and obstacle scenarios in NVIDIA Isaac Sim to train robust policies.</a:t>
            </a:r>
          </a:p>
        </p:txBody>
      </p:sp>
      <p:sp>
        <p:nvSpPr>
          <p:cNvPr id="22" name="Rectangle 21"/>
          <p:cNvSpPr/>
          <p:nvPr/>
        </p:nvSpPr>
        <p:spPr>
          <a:xfrm>
            <a:off x="7301484" y="1828800"/>
            <a:ext cx="1965960" cy="406908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01484" y="1828800"/>
            <a:ext cx="1965960" cy="228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38644" y="2029968"/>
            <a:ext cx="777240" cy="219456"/>
          </a:xfrm>
          <a:prstGeom prst="roundRect">
            <a:avLst/>
          </a:prstGeom>
          <a:solidFill>
            <a:srgbClr val="F3E8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6D28D9"/>
                </a:solidFill>
                <a:latin typeface="Segoe UI"/>
              </a:rPr>
              <a:t>STAGE 4</a:t>
            </a:r>
          </a:p>
        </p:txBody>
      </p:sp>
      <p:sp>
        <p:nvSpPr>
          <p:cNvPr id="25" name="TextBox 24"/>
          <p:cNvSpPr txBox="1"/>
          <p:nvPr/>
        </p:nvSpPr>
        <p:spPr>
          <a:xfrm>
            <a:off x="7438644" y="2377440"/>
            <a:ext cx="1691639" cy="777240"/>
          </a:xfrm>
          <a:prstGeom prst="rect">
            <a:avLst/>
          </a:prstGeom>
          <a:noFill/>
        </p:spPr>
        <p:txBody>
          <a:bodyPr wrap="square" lIns="0" rIns="0" tIns="0" bIns="0">
            <a:spAutoFit/>
          </a:bodyPr>
          <a:lstStyle/>
          <a:p>
            <a:r>
              <a:rPr sz="1100" b="1">
                <a:solidFill>
                  <a:srgbClr val="0F172A"/>
                </a:solidFill>
                <a:latin typeface="Segoe UI"/>
              </a:rPr>
              <a:t>Edge Deployment</a:t>
            </a:r>
          </a:p>
        </p:txBody>
      </p:sp>
      <p:sp>
        <p:nvSpPr>
          <p:cNvPr id="26" name="TextBox 25"/>
          <p:cNvSpPr txBox="1"/>
          <p:nvPr/>
        </p:nvSpPr>
        <p:spPr>
          <a:xfrm>
            <a:off x="7438644" y="3200400"/>
            <a:ext cx="1691639" cy="2468880"/>
          </a:xfrm>
          <a:prstGeom prst="rect">
            <a:avLst/>
          </a:prstGeom>
          <a:noFill/>
        </p:spPr>
        <p:txBody>
          <a:bodyPr wrap="square" lIns="0" rIns="0" tIns="0" bIns="0">
            <a:spAutoFit/>
          </a:bodyPr>
          <a:lstStyle/>
          <a:p>
            <a:r>
              <a:rPr sz="900">
                <a:solidFill>
                  <a:srgbClr val="334155"/>
                </a:solidFill>
                <a:latin typeface="Segoe UI"/>
              </a:rPr>
              <a:t>Deploying compressed INT4/FP8 quantized policies onto industrial edge hardware (NVIDIA Jetson) wrapped in deterministic safety envelopes.</a:t>
            </a:r>
          </a:p>
        </p:txBody>
      </p:sp>
      <p:sp>
        <p:nvSpPr>
          <p:cNvPr id="27" name="Rectangle 26"/>
          <p:cNvSpPr/>
          <p:nvPr/>
        </p:nvSpPr>
        <p:spPr>
          <a:xfrm>
            <a:off x="9491472" y="1828800"/>
            <a:ext cx="1965960" cy="406908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491472" y="1828800"/>
            <a:ext cx="1965960" cy="228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28632" y="2029968"/>
            <a:ext cx="777240" cy="219456"/>
          </a:xfrm>
          <a:prstGeom prst="roundRect">
            <a:avLst/>
          </a:prstGeom>
          <a:solidFill>
            <a:srgbClr val="FEE2E2"/>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B91C1C"/>
                </a:solidFill>
                <a:latin typeface="Segoe UI"/>
              </a:rPr>
              <a:t>STAGE 5</a:t>
            </a:r>
          </a:p>
        </p:txBody>
      </p:sp>
      <p:sp>
        <p:nvSpPr>
          <p:cNvPr id="30" name="TextBox 29"/>
          <p:cNvSpPr txBox="1"/>
          <p:nvPr/>
        </p:nvSpPr>
        <p:spPr>
          <a:xfrm>
            <a:off x="9628632" y="2377440"/>
            <a:ext cx="1691639" cy="777240"/>
          </a:xfrm>
          <a:prstGeom prst="rect">
            <a:avLst/>
          </a:prstGeom>
          <a:noFill/>
        </p:spPr>
        <p:txBody>
          <a:bodyPr wrap="square" lIns="0" rIns="0" tIns="0" bIns="0">
            <a:spAutoFit/>
          </a:bodyPr>
          <a:lstStyle/>
          <a:p>
            <a:r>
              <a:rPr sz="1100" b="1">
                <a:solidFill>
                  <a:srgbClr val="0F172A"/>
                </a:solidFill>
                <a:latin typeface="Segoe UI"/>
              </a:rPr>
              <a:t>OOD Feedback Loop</a:t>
            </a:r>
          </a:p>
        </p:txBody>
      </p:sp>
      <p:sp>
        <p:nvSpPr>
          <p:cNvPr id="31" name="TextBox 30"/>
          <p:cNvSpPr txBox="1"/>
          <p:nvPr/>
        </p:nvSpPr>
        <p:spPr>
          <a:xfrm>
            <a:off x="9628632" y="3200400"/>
            <a:ext cx="1691639" cy="2468880"/>
          </a:xfrm>
          <a:prstGeom prst="rect">
            <a:avLst/>
          </a:prstGeom>
          <a:noFill/>
        </p:spPr>
        <p:txBody>
          <a:bodyPr wrap="square" lIns="0" rIns="0" tIns="0" bIns="0">
            <a:spAutoFit/>
          </a:bodyPr>
          <a:lstStyle/>
          <a:p>
            <a:r>
              <a:rPr sz="900">
                <a:solidFill>
                  <a:srgbClr val="334155"/>
                </a:solidFill>
                <a:latin typeface="Segoe UI"/>
              </a:rPr>
              <a:t>Detecting out-of-distribution (OOD) states in production; automatically routing failure telemetry back to Stage 2 for instant re-simulation.</a:t>
            </a:r>
          </a:p>
        </p:txBody>
      </p:sp>
      <p:sp>
        <p:nvSpPr>
          <p:cNvPr id="32" name="Rectangle 31"/>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The Flywheel creates permanent compounding advantage: every hour of plant operation makes LTTS's synthetic simulation models more accurate.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7315200" cy="274320"/>
          </a:xfrm>
          <a:prstGeom prst="rect">
            <a:avLst/>
          </a:prstGeom>
          <a:noFill/>
        </p:spPr>
        <p:txBody>
          <a:bodyPr wrap="none" lIns="0" rIns="0" tIns="0" bIns="0">
            <a:spAutoFit/>
          </a:bodyPr>
          <a:lstStyle/>
          <a:p>
            <a:r>
              <a:rPr sz="900" b="1">
                <a:solidFill>
                  <a:srgbClr val="B45309"/>
                </a:solidFill>
                <a:latin typeface="Segoe UI"/>
              </a:rPr>
              <a:t>MODULE 07 · STRATEGIC FOCUS</a:t>
            </a:r>
          </a:p>
        </p:txBody>
      </p:sp>
      <p:sp>
        <p:nvSpPr>
          <p:cNvPr id="4" name="TextBox 3"/>
          <p:cNvSpPr txBox="1"/>
          <p:nvPr/>
        </p:nvSpPr>
        <p:spPr>
          <a:xfrm>
            <a:off x="914400" y="1463040"/>
            <a:ext cx="10058400" cy="1371600"/>
          </a:xfrm>
          <a:prstGeom prst="rect">
            <a:avLst/>
          </a:prstGeom>
          <a:noFill/>
        </p:spPr>
        <p:txBody>
          <a:bodyPr wrap="square" lIns="0" rIns="0" tIns="0" bIns="0">
            <a:spAutoFit/>
          </a:bodyPr>
          <a:lstStyle/>
          <a:p>
            <a:r>
              <a:rPr sz="3600" b="1">
                <a:solidFill>
                  <a:srgbClr val="FFFFFF"/>
                </a:solidFill>
                <a:latin typeface="Segoe UI"/>
              </a:rPr>
              <a:t>3–5 Year Structural Forecast</a:t>
            </a:r>
          </a:p>
          <a:p>
            <a:pPr>
              <a:spcBef>
                <a:spcPts val="600"/>
              </a:spcBef>
            </a:pPr>
            <a:r>
              <a:rPr sz="1400">
                <a:solidFill>
                  <a:srgbClr val="93C5FD"/>
                </a:solidFill>
                <a:latin typeface="Segoe UI"/>
              </a:rPr>
              <a:t>Market Evolution Dynamics (2026–2030) &amp; Critical Strategic Uncertainties</a:t>
            </a:r>
          </a:p>
        </p:txBody>
      </p:sp>
      <p:sp>
        <p:nvSpPr>
          <p:cNvPr id="5" name="Rectangle 4"/>
          <p:cNvSpPr/>
          <p:nvPr/>
        </p:nvSpPr>
        <p:spPr>
          <a:xfrm>
            <a:off x="914400" y="3108960"/>
            <a:ext cx="73152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83280"/>
            <a:ext cx="9144000" cy="2743200"/>
          </a:xfrm>
          <a:prstGeom prst="rect">
            <a:avLst/>
          </a:prstGeom>
          <a:noFill/>
        </p:spPr>
        <p:txBody>
          <a:bodyPr wrap="square" lIns="0" rIns="0" tIns="0" bIns="0">
            <a:spAutoFit/>
          </a:bodyPr>
          <a:lstStyle/>
          <a:p>
            <a:r>
              <a:rPr sz="1200" b="1">
                <a:solidFill>
                  <a:srgbClr val="B45309"/>
                </a:solidFill>
                <a:latin typeface="Segoe UI"/>
              </a:rPr>
              <a:t>—   </a:t>
            </a:r>
            <a:r>
              <a:rPr sz="1200">
                <a:solidFill>
                  <a:srgbClr val="F1F5F9"/>
                </a:solidFill>
                <a:latin typeface="Segoe UI"/>
              </a:rPr>
              <a:t>Four structural market forces reshaping robotics: commoditization to data exhaustion</a:t>
            </a:r>
          </a:p>
          <a:p>
            <a:pPr>
              <a:spcBef>
                <a:spcPts val="800"/>
              </a:spcBef>
            </a:pPr>
            <a:r>
              <a:rPr sz="1200" b="1">
                <a:solidFill>
                  <a:srgbClr val="B45309"/>
                </a:solidFill>
                <a:latin typeface="Segoe UI"/>
              </a:rPr>
              <a:t>—   </a:t>
            </a:r>
            <a:r>
              <a:rPr sz="1200">
                <a:solidFill>
                  <a:srgbClr val="F1F5F9"/>
                </a:solidFill>
                <a:latin typeface="Segoe UI"/>
              </a:rPr>
              <a:t>Hardware commoditization: value shifts irreversibly to software &amp; systems integration</a:t>
            </a:r>
          </a:p>
          <a:p>
            <a:pPr>
              <a:spcBef>
                <a:spcPts val="800"/>
              </a:spcBef>
            </a:pPr>
            <a:r>
              <a:rPr sz="1200" b="1">
                <a:solidFill>
                  <a:srgbClr val="B45309"/>
                </a:solidFill>
                <a:latin typeface="Segoe UI"/>
              </a:rPr>
              <a:t>—   </a:t>
            </a:r>
            <a:r>
              <a:rPr sz="1200">
                <a:solidFill>
                  <a:srgbClr val="F1F5F9"/>
                </a:solidFill>
                <a:latin typeface="Segoe UI"/>
              </a:rPr>
              <a:t>Robotics foundation models consolidate into 2 to 3 hyperscale ecosystems</a:t>
            </a:r>
          </a:p>
          <a:p>
            <a:pPr>
              <a:spcBef>
                <a:spcPts val="800"/>
              </a:spcBef>
            </a:pPr>
            <a:r>
              <a:rPr sz="1200" b="1">
                <a:solidFill>
                  <a:srgbClr val="B45309"/>
                </a:solidFill>
                <a:latin typeface="Segoe UI"/>
              </a:rPr>
              <a:t>—   </a:t>
            </a:r>
            <a:r>
              <a:rPr sz="1200">
                <a:solidFill>
                  <a:srgbClr val="F1F5F9"/>
                </a:solidFill>
                <a:latin typeface="Segoe UI"/>
              </a:rPr>
              <a:t>Key sources of uncertainty: regulatory caging mandates, geopolitical decoupling, and sim-to-real progress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7 · STRUCTURAL FORECAST</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Market Evolution Dynamics (2026–2030): Four Shifts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Structural forces shifting economic value across the global Physical AI technology stack.</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2103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4846320" cy="594360"/>
          </a:xfrm>
          <a:prstGeom prst="rect">
            <a:avLst/>
          </a:prstGeom>
          <a:noFill/>
        </p:spPr>
        <p:txBody>
          <a:bodyPr wrap="square" lIns="0" rIns="0" tIns="0" bIns="0">
            <a:spAutoFit/>
          </a:bodyPr>
          <a:lstStyle/>
          <a:p>
            <a:r>
              <a:rPr sz="1150" b="1">
                <a:solidFill>
                  <a:srgbClr val="0F172A"/>
                </a:solidFill>
                <a:latin typeface="Segoe UI"/>
              </a:rPr>
              <a:t>1. Rapid Hardware Commoditization
</a:t>
            </a:r>
            <a:r>
              <a:rPr sz="900" b="1">
                <a:solidFill>
                  <a:srgbClr val="0284C7"/>
                </a:solidFill>
                <a:latin typeface="Segoe UI"/>
              </a:rPr>
              <a:t>Value Migrates from Metal to Software &amp; Integration</a:t>
            </a:r>
          </a:p>
        </p:txBody>
      </p:sp>
      <p:sp>
        <p:nvSpPr>
          <p:cNvPr id="10" name="TextBox 9"/>
          <p:cNvSpPr txBox="1"/>
          <p:nvPr/>
        </p:nvSpPr>
        <p:spPr>
          <a:xfrm>
            <a:off x="914400" y="2468880"/>
            <a:ext cx="4846320" cy="1234440"/>
          </a:xfrm>
          <a:prstGeom prst="rect">
            <a:avLst/>
          </a:prstGeom>
          <a:noFill/>
        </p:spPr>
        <p:txBody>
          <a:bodyPr wrap="square" lIns="0" rIns="0" tIns="0" bIns="0">
            <a:spAutoFit/>
          </a:bodyPr>
          <a:lstStyle/>
          <a:p>
            <a:r>
              <a:rPr sz="900">
                <a:solidFill>
                  <a:srgbClr val="334155"/>
                </a:solidFill>
                <a:latin typeface="Segoe UI"/>
              </a:rPr>
              <a:t>Standard 6-DOF robotic arms, parallel grippers, and mobile AMR bases will commoditize rapidly due to aggressive Asian manufacturing scale. </a:t>
            </a:r>
          </a:p>
          <a:p>
            <a:pPr>
              <a:spcBef>
                <a:spcPts val="300"/>
              </a:spcBef>
            </a:pPr>
            <a:r>
              <a:rPr sz="880">
                <a:solidFill>
                  <a:srgbClr val="64748B"/>
                </a:solidFill>
                <a:latin typeface="Segoe UI"/>
              </a:rPr>
              <a:t>As hardware margins compress toward 15%-20%, the vast majority of economic profit pools will shift irreversibly to upstream software intelligence, simulation, and brownfield systems integration.</a:t>
            </a:r>
          </a:p>
        </p:txBody>
      </p:sp>
      <p:sp>
        <p:nvSpPr>
          <p:cNvPr id="11" name="Rectangle 10"/>
          <p:cNvSpPr/>
          <p:nvPr/>
        </p:nvSpPr>
        <p:spPr>
          <a:xfrm>
            <a:off x="6245352" y="1691640"/>
            <a:ext cx="5212080" cy="2103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691640"/>
            <a:ext cx="521208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28800"/>
            <a:ext cx="4846320" cy="594360"/>
          </a:xfrm>
          <a:prstGeom prst="rect">
            <a:avLst/>
          </a:prstGeom>
          <a:noFill/>
        </p:spPr>
        <p:txBody>
          <a:bodyPr wrap="square" lIns="0" rIns="0" tIns="0" bIns="0">
            <a:spAutoFit/>
          </a:bodyPr>
          <a:lstStyle/>
          <a:p>
            <a:r>
              <a:rPr sz="1150" b="1">
                <a:solidFill>
                  <a:srgbClr val="0F172A"/>
                </a:solidFill>
                <a:latin typeface="Segoe UI"/>
              </a:rPr>
              <a:t>2. Model Layer Consolidation
</a:t>
            </a:r>
            <a:r>
              <a:rPr sz="900" b="1">
                <a:solidFill>
                  <a:srgbClr val="002B49"/>
                </a:solidFill>
                <a:latin typeface="Segoe UI"/>
              </a:rPr>
              <a:t>Consolidation into 2 to 3 Hyperscale Ecosystems</a:t>
            </a:r>
          </a:p>
        </p:txBody>
      </p:sp>
      <p:sp>
        <p:nvSpPr>
          <p:cNvPr id="14" name="TextBox 13"/>
          <p:cNvSpPr txBox="1"/>
          <p:nvPr/>
        </p:nvSpPr>
        <p:spPr>
          <a:xfrm>
            <a:off x="6428232" y="2468880"/>
            <a:ext cx="4846320" cy="1234440"/>
          </a:xfrm>
          <a:prstGeom prst="rect">
            <a:avLst/>
          </a:prstGeom>
          <a:noFill/>
        </p:spPr>
        <p:txBody>
          <a:bodyPr wrap="square" lIns="0" rIns="0" tIns="0" bIns="0">
            <a:spAutoFit/>
          </a:bodyPr>
          <a:lstStyle/>
          <a:p>
            <a:r>
              <a:rPr sz="900">
                <a:solidFill>
                  <a:srgbClr val="334155"/>
                </a:solidFill>
                <a:latin typeface="Segoe UI"/>
              </a:rPr>
              <a:t>The robotics foundation model layer will follow the path of LLMs, consolidating into 2 to 3 dominant ecosystems (NVIDIA, Google DeepMind, and 1-2 venture leaders). </a:t>
            </a:r>
          </a:p>
          <a:p>
            <a:pPr>
              <a:spcBef>
                <a:spcPts val="300"/>
              </a:spcBef>
            </a:pPr>
            <a:r>
              <a:rPr sz="880">
                <a:solidFill>
                  <a:srgbClr val="64748B"/>
                </a:solidFill>
                <a:latin typeface="Segoe UI"/>
              </a:rPr>
              <a:t>Proprietary model training from scratch will become economically unviable for engineering service providers. LTTS should partner with dominant foundation builders rather than training 50B models.</a:t>
            </a:r>
          </a:p>
        </p:txBody>
      </p:sp>
      <p:sp>
        <p:nvSpPr>
          <p:cNvPr id="15" name="Rectangle 14"/>
          <p:cNvSpPr/>
          <p:nvPr/>
        </p:nvSpPr>
        <p:spPr>
          <a:xfrm>
            <a:off x="731520" y="3931920"/>
            <a:ext cx="5212080" cy="2103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931920"/>
            <a:ext cx="5212080"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69080"/>
            <a:ext cx="4846320" cy="594360"/>
          </a:xfrm>
          <a:prstGeom prst="rect">
            <a:avLst/>
          </a:prstGeom>
          <a:noFill/>
        </p:spPr>
        <p:txBody>
          <a:bodyPr wrap="square" lIns="0" rIns="0" tIns="0" bIns="0">
            <a:spAutoFit/>
          </a:bodyPr>
          <a:lstStyle/>
          <a:p>
            <a:r>
              <a:rPr sz="1150" b="1">
                <a:solidFill>
                  <a:srgbClr val="0F172A"/>
                </a:solidFill>
                <a:latin typeface="Segoe UI"/>
              </a:rPr>
              <a:t>3. Integration Layer Fragmentation
</a:t>
            </a:r>
            <a:r>
              <a:rPr sz="900" b="1">
                <a:solidFill>
                  <a:srgbClr val="047857"/>
                </a:solidFill>
                <a:latin typeface="Segoe UI"/>
              </a:rPr>
              <a:t>A Fragmented, High-Margin Bastion for ER&amp;D</a:t>
            </a:r>
          </a:p>
        </p:txBody>
      </p:sp>
      <p:sp>
        <p:nvSpPr>
          <p:cNvPr id="18" name="TextBox 17"/>
          <p:cNvSpPr txBox="1"/>
          <p:nvPr/>
        </p:nvSpPr>
        <p:spPr>
          <a:xfrm>
            <a:off x="914400" y="4709160"/>
            <a:ext cx="4846320" cy="1234440"/>
          </a:xfrm>
          <a:prstGeom prst="rect">
            <a:avLst/>
          </a:prstGeom>
          <a:noFill/>
        </p:spPr>
        <p:txBody>
          <a:bodyPr wrap="square" lIns="0" rIns="0" tIns="0" bIns="0">
            <a:spAutoFit/>
          </a:bodyPr>
          <a:lstStyle/>
          <a:p>
            <a:r>
              <a:rPr sz="900">
                <a:solidFill>
                  <a:srgbClr val="334155"/>
                </a:solidFill>
                <a:latin typeface="Segoe UI"/>
              </a:rPr>
              <a:t>Unlike consumer software, factory floors cannot be standardized with a single universal API. </a:t>
            </a:r>
          </a:p>
          <a:p>
            <a:pPr>
              <a:spcBef>
                <a:spcPts val="300"/>
              </a:spcBef>
            </a:pPr>
            <a:r>
              <a:rPr sz="880">
                <a:solidFill>
                  <a:srgbClr val="64748B"/>
                </a:solidFill>
                <a:latin typeface="Segoe UI"/>
              </a:rPr>
              <a:t>Heterogeneous factory layouts, bespoke mechanical tooling, legacy PLCs, and unique plant safety rules ensure systems integration remains an intensely fragmented, high-margin domain favoring specialized engineering firms.</a:t>
            </a:r>
          </a:p>
        </p:txBody>
      </p:sp>
      <p:sp>
        <p:nvSpPr>
          <p:cNvPr id="19" name="Rectangle 18"/>
          <p:cNvSpPr/>
          <p:nvPr/>
        </p:nvSpPr>
        <p:spPr>
          <a:xfrm>
            <a:off x="6245352" y="3931920"/>
            <a:ext cx="5212080" cy="210312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5352" y="3931920"/>
            <a:ext cx="5212080" cy="228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4069080"/>
            <a:ext cx="4846320" cy="594360"/>
          </a:xfrm>
          <a:prstGeom prst="rect">
            <a:avLst/>
          </a:prstGeom>
          <a:noFill/>
        </p:spPr>
        <p:txBody>
          <a:bodyPr wrap="square" lIns="0" rIns="0" tIns="0" bIns="0">
            <a:spAutoFit/>
          </a:bodyPr>
          <a:lstStyle/>
          <a:p>
            <a:r>
              <a:rPr sz="1150" b="1">
                <a:solidFill>
                  <a:srgbClr val="0F172A"/>
                </a:solidFill>
                <a:latin typeface="Segoe UI"/>
              </a:rPr>
              <a:t>4. The Data Exhaustion Pivot
</a:t>
            </a:r>
            <a:r>
              <a:rPr sz="900" b="1">
                <a:solidFill>
                  <a:srgbClr val="6D28D9"/>
                </a:solidFill>
                <a:latin typeface="Segoe UI"/>
              </a:rPr>
              <a:t>Proprietary Telemetry &amp; Synthetic Simulation Win</a:t>
            </a:r>
          </a:p>
        </p:txBody>
      </p:sp>
      <p:sp>
        <p:nvSpPr>
          <p:cNvPr id="22" name="TextBox 21"/>
          <p:cNvSpPr txBox="1"/>
          <p:nvPr/>
        </p:nvSpPr>
        <p:spPr>
          <a:xfrm>
            <a:off x="6428232" y="4709160"/>
            <a:ext cx="4846320" cy="1234440"/>
          </a:xfrm>
          <a:prstGeom prst="rect">
            <a:avLst/>
          </a:prstGeom>
          <a:noFill/>
        </p:spPr>
        <p:txBody>
          <a:bodyPr wrap="square" lIns="0" rIns="0" tIns="0" bIns="0">
            <a:spAutoFit/>
          </a:bodyPr>
          <a:lstStyle/>
          <a:p>
            <a:r>
              <a:rPr sz="900">
                <a:solidFill>
                  <a:srgbClr val="334155"/>
                </a:solidFill>
                <a:latin typeface="Segoe UI"/>
              </a:rPr>
              <a:t>As public internet text corpora are fully exhausted by frontier LLMs, the AI capability frontier pivots entirely to physical world interaction. </a:t>
            </a:r>
          </a:p>
          <a:p>
            <a:pPr>
              <a:spcBef>
                <a:spcPts val="300"/>
              </a:spcBef>
            </a:pPr>
            <a:r>
              <a:rPr sz="880">
                <a:solidFill>
                  <a:srgbClr val="64748B"/>
                </a:solidFill>
                <a:latin typeface="Segoe UI"/>
              </a:rPr>
              <a:t>Proprietary physical telemetry and high-fidelity synthetic simulation data become the primary determinants of competitive advantage. Whoever owns calibrated industrial CAD digital twins holds the training data moat.</a:t>
            </a:r>
          </a:p>
        </p:txBody>
      </p:sp>
      <p:sp>
        <p:nvSpPr>
          <p:cNvPr id="23" name="Rectangle 22"/>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Hardware commoditizes; models consolidate; but integration remains permanently fragmented and highly profitable.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7 · STRUCTURAL FORECAST</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Key Sources of Uncertainty: Three Strategic Wildcards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External regulatory, geopolitical, and technical vectors that could disrupt deployment timelines.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3364992" cy="2286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892808"/>
            <a:ext cx="1645920" cy="219456"/>
          </a:xfrm>
          <a:prstGeom prst="roundRect">
            <a:avLst/>
          </a:prstGeom>
          <a:solidFill>
            <a:srgbClr val="FEE2E2"/>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B91C1C"/>
                </a:solidFill>
                <a:latin typeface="Segoe UI"/>
              </a:rPr>
              <a:t>STRATEGIC WILDCARD 1</a:t>
            </a:r>
          </a:p>
        </p:txBody>
      </p:sp>
      <p:sp>
        <p:nvSpPr>
          <p:cNvPr id="10" name="TextBox 9"/>
          <p:cNvSpPr txBox="1"/>
          <p:nvPr/>
        </p:nvSpPr>
        <p:spPr>
          <a:xfrm>
            <a:off x="914400" y="2240280"/>
            <a:ext cx="2999232" cy="777240"/>
          </a:xfrm>
          <a:prstGeom prst="rect">
            <a:avLst/>
          </a:prstGeom>
          <a:noFill/>
        </p:spPr>
        <p:txBody>
          <a:bodyPr wrap="square" lIns="0" rIns="0" tIns="0" bIns="0">
            <a:spAutoFit/>
          </a:bodyPr>
          <a:lstStyle/>
          <a:p>
            <a:r>
              <a:rPr sz="1150" b="1">
                <a:solidFill>
                  <a:srgbClr val="0F172A"/>
                </a:solidFill>
                <a:latin typeface="Segoe UI"/>
              </a:rPr>
              <a:t>1. Regulatory Caging Mandates
</a:t>
            </a:r>
            <a:r>
              <a:rPr sz="900" b="1">
                <a:solidFill>
                  <a:srgbClr val="B91C1C"/>
                </a:solidFill>
                <a:latin typeface="Segoe UI"/>
              </a:rPr>
              <a:t>The Collaborative Safety Precedent</a:t>
            </a:r>
          </a:p>
        </p:txBody>
      </p:sp>
      <p:sp>
        <p:nvSpPr>
          <p:cNvPr id="11" name="TextBox 10"/>
          <p:cNvSpPr txBox="1"/>
          <p:nvPr/>
        </p:nvSpPr>
        <p:spPr>
          <a:xfrm>
            <a:off x="914400" y="3108960"/>
            <a:ext cx="2999232" cy="2743200"/>
          </a:xfrm>
          <a:prstGeom prst="rect">
            <a:avLst/>
          </a:prstGeom>
          <a:noFill/>
        </p:spPr>
        <p:txBody>
          <a:bodyPr wrap="square" lIns="0" rIns="0" tIns="0" bIns="0">
            <a:spAutoFit/>
          </a:bodyPr>
          <a:lstStyle/>
          <a:p>
            <a:r>
              <a:rPr sz="919">
                <a:solidFill>
                  <a:srgbClr val="334155"/>
                </a:solidFill>
                <a:latin typeface="Segoe UI"/>
              </a:rPr>
              <a:t>If occupational safety regulators (OSHA in the US, EU Machinery Directive) mandate that autonomous AI-driven mobile humanoids must operate inside physical caging or interlocked optical light curtains, adoption timelines for unconstrained collaborative workers will extend by 3 to 5 years.
</a:t>
            </a:r>
          </a:p>
          <a:p>
            <a:r>
              <a:rPr sz="900" b="1">
                <a:solidFill>
                  <a:srgbClr val="002B49"/>
                </a:solidFill>
                <a:latin typeface="Segoe UI"/>
              </a:rPr>
              <a:t>Strategic Impact: Validates LTTS's focus on structured manufacturing cells and functional safety V&amp;V.</a:t>
            </a:r>
          </a:p>
        </p:txBody>
      </p:sp>
      <p:sp>
        <p:nvSpPr>
          <p:cNvPr id="12" name="Rectangle 11"/>
          <p:cNvSpPr/>
          <p:nvPr/>
        </p:nvSpPr>
        <p:spPr>
          <a:xfrm>
            <a:off x="4407408"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7408" y="1691640"/>
            <a:ext cx="3364992" cy="22860"/>
          </a:xfrm>
          <a:prstGeom prst="rect">
            <a:avLst/>
          </a:prstGeom>
          <a:solidFill>
            <a:srgbClr val="C241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90288" y="1892808"/>
            <a:ext cx="1645920" cy="219456"/>
          </a:xfrm>
          <a:prstGeom prst="roundRect">
            <a:avLst/>
          </a:prstGeom>
          <a:solidFill>
            <a:srgbClr val="FFEDD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C2410C"/>
                </a:solidFill>
                <a:latin typeface="Segoe UI"/>
              </a:rPr>
              <a:t>STRATEGIC WILDCARD 2</a:t>
            </a:r>
          </a:p>
        </p:txBody>
      </p:sp>
      <p:sp>
        <p:nvSpPr>
          <p:cNvPr id="15" name="TextBox 14"/>
          <p:cNvSpPr txBox="1"/>
          <p:nvPr/>
        </p:nvSpPr>
        <p:spPr>
          <a:xfrm>
            <a:off x="4590288" y="2240280"/>
            <a:ext cx="2999232" cy="777240"/>
          </a:xfrm>
          <a:prstGeom prst="rect">
            <a:avLst/>
          </a:prstGeom>
          <a:noFill/>
        </p:spPr>
        <p:txBody>
          <a:bodyPr wrap="square" lIns="0" rIns="0" tIns="0" bIns="0">
            <a:spAutoFit/>
          </a:bodyPr>
          <a:lstStyle/>
          <a:p>
            <a:r>
              <a:rPr sz="1150" b="1">
                <a:solidFill>
                  <a:srgbClr val="0F172A"/>
                </a:solidFill>
                <a:latin typeface="Segoe UI"/>
              </a:rPr>
              <a:t>2. Geopolitical &amp; Compute Decoupling
</a:t>
            </a:r>
            <a:r>
              <a:rPr sz="900" b="1">
                <a:solidFill>
                  <a:srgbClr val="C2410C"/>
                </a:solidFill>
                <a:latin typeface="Segoe UI"/>
              </a:rPr>
              <a:t>Export Restrictions &amp; Dual Ecosystems</a:t>
            </a:r>
          </a:p>
        </p:txBody>
      </p:sp>
      <p:sp>
        <p:nvSpPr>
          <p:cNvPr id="16" name="TextBox 15"/>
          <p:cNvSpPr txBox="1"/>
          <p:nvPr/>
        </p:nvSpPr>
        <p:spPr>
          <a:xfrm>
            <a:off x="4590288" y="3108960"/>
            <a:ext cx="2999232" cy="2743200"/>
          </a:xfrm>
          <a:prstGeom prst="rect">
            <a:avLst/>
          </a:prstGeom>
          <a:noFill/>
        </p:spPr>
        <p:txBody>
          <a:bodyPr wrap="square" lIns="0" rIns="0" tIns="0" bIns="0">
            <a:spAutoFit/>
          </a:bodyPr>
          <a:lstStyle/>
          <a:p>
            <a:r>
              <a:rPr sz="919">
                <a:solidFill>
                  <a:srgbClr val="334155"/>
                </a:solidFill>
                <a:latin typeface="Segoe UI"/>
              </a:rPr>
              <a:t>Expanding semiconductor export controls on advanced training GPUs (NVIDIA B200/H100) and edge accelerators (Jetson AGX) could bifurcate Western and Asian Physical AI ecosystems.
</a:t>
            </a:r>
          </a:p>
          <a:p>
            <a:r>
              <a:rPr sz="900" b="1">
                <a:solidFill>
                  <a:srgbClr val="002B49"/>
                </a:solidFill>
                <a:latin typeface="Segoe UI"/>
              </a:rPr>
              <a:t>Strategic Impact: LTTS must maintain multi-vendor integration capability across both Western (NVIDIA, Intel) and sovereign/regional compute architectures to insulate global operations.</a:t>
            </a:r>
          </a:p>
        </p:txBody>
      </p:sp>
      <p:sp>
        <p:nvSpPr>
          <p:cNvPr id="17" name="Rectangle 16"/>
          <p:cNvSpPr/>
          <p:nvPr/>
        </p:nvSpPr>
        <p:spPr>
          <a:xfrm>
            <a:off x="8083296" y="1691640"/>
            <a:ext cx="3364992"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91640"/>
            <a:ext cx="3364992" cy="228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66176" y="1892808"/>
            <a:ext cx="1645920"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284C7"/>
                </a:solidFill>
                <a:latin typeface="Segoe UI"/>
              </a:rPr>
              <a:t>STRATEGIC WILDCARD 3</a:t>
            </a:r>
          </a:p>
        </p:txBody>
      </p:sp>
      <p:sp>
        <p:nvSpPr>
          <p:cNvPr id="20" name="TextBox 19"/>
          <p:cNvSpPr txBox="1"/>
          <p:nvPr/>
        </p:nvSpPr>
        <p:spPr>
          <a:xfrm>
            <a:off x="8266176" y="2240280"/>
            <a:ext cx="2999232" cy="777240"/>
          </a:xfrm>
          <a:prstGeom prst="rect">
            <a:avLst/>
          </a:prstGeom>
          <a:noFill/>
        </p:spPr>
        <p:txBody>
          <a:bodyPr wrap="square" lIns="0" rIns="0" tIns="0" bIns="0">
            <a:spAutoFit/>
          </a:bodyPr>
          <a:lstStyle/>
          <a:p>
            <a:r>
              <a:rPr sz="1150" b="1">
                <a:solidFill>
                  <a:srgbClr val="0F172A"/>
                </a:solidFill>
                <a:latin typeface="Segoe UI"/>
              </a:rPr>
              <a:t>3. Sim-to-Real Progress in Contact Physics
</a:t>
            </a:r>
            <a:r>
              <a:rPr sz="900" b="1">
                <a:solidFill>
                  <a:srgbClr val="0284C7"/>
                </a:solidFill>
                <a:latin typeface="Segoe UI"/>
              </a:rPr>
              <a:t>The Differentiable Physics Trajectory</a:t>
            </a:r>
          </a:p>
        </p:txBody>
      </p:sp>
      <p:sp>
        <p:nvSpPr>
          <p:cNvPr id="21" name="TextBox 20"/>
          <p:cNvSpPr txBox="1"/>
          <p:nvPr/>
        </p:nvSpPr>
        <p:spPr>
          <a:xfrm>
            <a:off x="8266176" y="3108960"/>
            <a:ext cx="2999232" cy="2743200"/>
          </a:xfrm>
          <a:prstGeom prst="rect">
            <a:avLst/>
          </a:prstGeom>
          <a:noFill/>
        </p:spPr>
        <p:txBody>
          <a:bodyPr wrap="square" lIns="0" rIns="0" tIns="0" bIns="0">
            <a:spAutoFit/>
          </a:bodyPr>
          <a:lstStyle/>
          <a:p>
            <a:r>
              <a:rPr sz="919">
                <a:solidFill>
                  <a:srgbClr val="334155"/>
                </a:solidFill>
                <a:latin typeface="Segoe UI"/>
              </a:rPr>
              <a:t>The rate at which differentiable physics engines solve complex contact-rich mechanical assembly (sub-millimeter snap fits, deformable routing) will dictate how rapidly synthetic training replaces manual robot programming.
</a:t>
            </a:r>
          </a:p>
          <a:p>
            <a:r>
              <a:rPr sz="900" b="1">
                <a:solidFill>
                  <a:srgbClr val="002B49"/>
                </a:solidFill>
                <a:latin typeface="Segoe UI"/>
              </a:rPr>
              <a:t>Strategic Impact: If progress is rapid, SD-FaaS scales aggressively in Q3 2027; if slow, manual integration engineering remains dominant even longer.</a:t>
            </a:r>
          </a:p>
        </p:txBody>
      </p:sp>
      <p:sp>
        <p:nvSpPr>
          <p:cNvPr id="22" name="Rectangle 21"/>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All three uncertainties reinforce LTTS's core value: safety certification, multi-architecture integration, and synthetic simulation.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7315200" cy="274320"/>
          </a:xfrm>
          <a:prstGeom prst="rect">
            <a:avLst/>
          </a:prstGeom>
          <a:noFill/>
        </p:spPr>
        <p:txBody>
          <a:bodyPr wrap="none" lIns="0" rIns="0" tIns="0" bIns="0">
            <a:spAutoFit/>
          </a:bodyPr>
          <a:lstStyle/>
          <a:p>
            <a:r>
              <a:rPr sz="900" b="1">
                <a:solidFill>
                  <a:srgbClr val="B45309"/>
                </a:solidFill>
                <a:latin typeface="Segoe UI"/>
              </a:rPr>
              <a:t>MODULE 08 · STRATEGIC FOCUS</a:t>
            </a:r>
          </a:p>
        </p:txBody>
      </p:sp>
      <p:sp>
        <p:nvSpPr>
          <p:cNvPr id="4" name="TextBox 3"/>
          <p:cNvSpPr txBox="1"/>
          <p:nvPr/>
        </p:nvSpPr>
        <p:spPr>
          <a:xfrm>
            <a:off x="914400" y="1463040"/>
            <a:ext cx="10058400" cy="1371600"/>
          </a:xfrm>
          <a:prstGeom prst="rect">
            <a:avLst/>
          </a:prstGeom>
          <a:noFill/>
        </p:spPr>
        <p:txBody>
          <a:bodyPr wrap="square" lIns="0" rIns="0" tIns="0" bIns="0">
            <a:spAutoFit/>
          </a:bodyPr>
          <a:lstStyle/>
          <a:p>
            <a:r>
              <a:rPr sz="3600" b="1">
                <a:solidFill>
                  <a:srgbClr val="FFFFFF"/>
                </a:solidFill>
                <a:latin typeface="Segoe UI"/>
              </a:rPr>
              <a:t>Strategic Recommendations for LTTS</a:t>
            </a:r>
          </a:p>
          <a:p>
            <a:pPr>
              <a:spcBef>
                <a:spcPts val="600"/>
              </a:spcBef>
            </a:pPr>
            <a:r>
              <a:rPr sz="1400">
                <a:solidFill>
                  <a:srgbClr val="93C5FD"/>
                </a:solidFill>
                <a:latin typeface="Segoe UI"/>
              </a:rPr>
              <a:t>Strategic Roadmap, Phasing Rationale, and Bottom-Up Cost Breakdown</a:t>
            </a:r>
          </a:p>
        </p:txBody>
      </p:sp>
      <p:sp>
        <p:nvSpPr>
          <p:cNvPr id="5" name="Rectangle 4"/>
          <p:cNvSpPr/>
          <p:nvPr/>
        </p:nvSpPr>
        <p:spPr>
          <a:xfrm>
            <a:off x="914400" y="3108960"/>
            <a:ext cx="73152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83280"/>
            <a:ext cx="9144000" cy="2743200"/>
          </a:xfrm>
          <a:prstGeom prst="rect">
            <a:avLst/>
          </a:prstGeom>
          <a:noFill/>
        </p:spPr>
        <p:txBody>
          <a:bodyPr wrap="square" lIns="0" rIns="0" tIns="0" bIns="0">
            <a:spAutoFit/>
          </a:bodyPr>
          <a:lstStyle/>
          <a:p>
            <a:r>
              <a:rPr sz="1200" b="1">
                <a:solidFill>
                  <a:srgbClr val="B45309"/>
                </a:solidFill>
                <a:latin typeface="Segoe UI"/>
              </a:rPr>
              <a:t>—   </a:t>
            </a:r>
            <a:r>
              <a:rPr sz="1200">
                <a:solidFill>
                  <a:srgbClr val="F1F5F9"/>
                </a:solidFill>
                <a:latin typeface="Segoe UI"/>
              </a:rPr>
              <a:t>Sequencing rationale: capital efficiency, client safety dependency, and operational access</a:t>
            </a:r>
          </a:p>
          <a:p>
            <a:pPr>
              <a:spcBef>
                <a:spcPts val="800"/>
              </a:spcBef>
            </a:pPr>
            <a:r>
              <a:rPr sz="1200" b="1">
                <a:solidFill>
                  <a:srgbClr val="B45309"/>
                </a:solidFill>
                <a:latin typeface="Segoe UI"/>
              </a:rPr>
              <a:t>—   </a:t>
            </a:r>
            <a:r>
              <a:rPr sz="1200">
                <a:solidFill>
                  <a:srgbClr val="F1F5F9"/>
                </a:solidFill>
                <a:latin typeface="Segoe UI"/>
              </a:rPr>
              <a:t>Priority 1: Physical AI Verification &amp; Validation (V&amp;V) practice with automated safety dossiers</a:t>
            </a:r>
          </a:p>
          <a:p>
            <a:pPr>
              <a:spcBef>
                <a:spcPts val="800"/>
              </a:spcBef>
            </a:pPr>
            <a:r>
              <a:rPr sz="1200" b="1">
                <a:solidFill>
                  <a:srgbClr val="B45309"/>
                </a:solidFill>
                <a:latin typeface="Segoe UI"/>
              </a:rPr>
              <a:t>—   </a:t>
            </a:r>
            <a:r>
              <a:rPr sz="1200">
                <a:solidFill>
                  <a:srgbClr val="F1F5F9"/>
                </a:solidFill>
                <a:latin typeface="Segoe UI"/>
              </a:rPr>
              <a:t>Priority 2: Strategic alliances with incumbent PLCs (Siemens, Rockwell) &amp; frontier AI labs</a:t>
            </a:r>
          </a:p>
          <a:p>
            <a:pPr>
              <a:spcBef>
                <a:spcPts val="800"/>
              </a:spcBef>
            </a:pPr>
            <a:r>
              <a:rPr sz="1200" b="1">
                <a:solidFill>
                  <a:srgbClr val="B45309"/>
                </a:solidFill>
                <a:latin typeface="Segoe UI"/>
              </a:rPr>
              <a:t>—   </a:t>
            </a:r>
            <a:r>
              <a:rPr sz="1200">
                <a:solidFill>
                  <a:srgbClr val="F1F5F9"/>
                </a:solidFill>
                <a:latin typeface="Segoe UI"/>
              </a:rPr>
              <a:t>Priority 3: Domain-specific synthetic data factories (SD-FaaS) monetizing enterprise CAD</a:t>
            </a:r>
          </a:p>
          <a:p>
            <a:pPr>
              <a:spcBef>
                <a:spcPts val="800"/>
              </a:spcBef>
            </a:pPr>
            <a:r>
              <a:rPr sz="1200" b="1">
                <a:solidFill>
                  <a:srgbClr val="B45309"/>
                </a:solidFill>
                <a:latin typeface="Segoe UI"/>
              </a:rPr>
              <a:t>—   </a:t>
            </a:r>
            <a:r>
              <a:rPr sz="1200">
                <a:solidFill>
                  <a:srgbClr val="F1F5F9"/>
                </a:solidFill>
                <a:latin typeface="Segoe UI"/>
              </a:rPr>
              <a:t>Priority 4: Physical AI Center of Excellence upskilling 250 engineers with lateral PhD hiring</a:t>
            </a:r>
          </a:p>
          <a:p>
            <a:pPr>
              <a:spcBef>
                <a:spcPts val="800"/>
              </a:spcBef>
            </a:pPr>
            <a:r>
              <a:rPr sz="1200" b="1">
                <a:solidFill>
                  <a:srgbClr val="B45309"/>
                </a:solidFill>
                <a:latin typeface="Segoe UI"/>
              </a:rPr>
              <a:t>—   </a:t>
            </a:r>
            <a:r>
              <a:rPr sz="1200">
                <a:solidFill>
                  <a:srgbClr val="F1F5F9"/>
                </a:solidFill>
                <a:latin typeface="Segoe UI"/>
              </a:rPr>
              <a:t>Full execution roadmap and phased budget breakdown ($2.8M + $1.3M + $4.2M + $2.5M/yr)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8 · STRATEGIC ROADMAP</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Strategic Phasing Rationale &amp; Investment Sequencing</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The sequencing of LTTS's Physical AI initiatives across 2027 is mathematically disciplined.</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3364992" cy="224028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3364992"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2999232" cy="594360"/>
          </a:xfrm>
          <a:prstGeom prst="rect">
            <a:avLst/>
          </a:prstGeom>
          <a:noFill/>
        </p:spPr>
        <p:txBody>
          <a:bodyPr wrap="square" lIns="0" rIns="0" tIns="0" bIns="0">
            <a:spAutoFit/>
          </a:bodyPr>
          <a:lstStyle/>
          <a:p>
            <a:r>
              <a:rPr sz="1150" b="1">
                <a:solidFill>
                  <a:srgbClr val="0F172A"/>
                </a:solidFill>
                <a:latin typeface="Segoe UI"/>
              </a:rPr>
              <a:t>Driver 1: Capital Efficiency
</a:t>
            </a:r>
            <a:r>
              <a:rPr sz="900" b="1">
                <a:solidFill>
                  <a:srgbClr val="047857"/>
                </a:solidFill>
                <a:latin typeface="Segoe UI"/>
              </a:rPr>
              <a:t>Lowest Capital Entry First</a:t>
            </a:r>
          </a:p>
        </p:txBody>
      </p:sp>
      <p:sp>
        <p:nvSpPr>
          <p:cNvPr id="10" name="TextBox 9"/>
          <p:cNvSpPr txBox="1"/>
          <p:nvPr/>
        </p:nvSpPr>
        <p:spPr>
          <a:xfrm>
            <a:off x="914400" y="2468880"/>
            <a:ext cx="2999232" cy="1371600"/>
          </a:xfrm>
          <a:prstGeom prst="rect">
            <a:avLst/>
          </a:prstGeom>
          <a:noFill/>
        </p:spPr>
        <p:txBody>
          <a:bodyPr wrap="square" lIns="0" rIns="0" tIns="0" bIns="0">
            <a:spAutoFit/>
          </a:bodyPr>
          <a:lstStyle/>
          <a:p>
            <a:r>
              <a:rPr sz="900">
                <a:solidFill>
                  <a:srgbClr val="334155"/>
                </a:solidFill>
                <a:latin typeface="Segoe UI"/>
              </a:rPr>
              <a:t>Launching V&amp;V first ($2.8M) requires dramatically less capital than building large compute clusters ($4.2M). It generates immediate revenue from existing automotive and aerospace clients in Q1 2027 to help self-fund subsequent phases.</a:t>
            </a:r>
          </a:p>
        </p:txBody>
      </p:sp>
      <p:sp>
        <p:nvSpPr>
          <p:cNvPr id="11" name="Rectangle 10"/>
          <p:cNvSpPr/>
          <p:nvPr/>
        </p:nvSpPr>
        <p:spPr>
          <a:xfrm>
            <a:off x="4407408" y="1691640"/>
            <a:ext cx="3364992" cy="224028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1691640"/>
            <a:ext cx="3364992"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828800"/>
            <a:ext cx="2999232" cy="594360"/>
          </a:xfrm>
          <a:prstGeom prst="rect">
            <a:avLst/>
          </a:prstGeom>
          <a:noFill/>
        </p:spPr>
        <p:txBody>
          <a:bodyPr wrap="square" lIns="0" rIns="0" tIns="0" bIns="0">
            <a:spAutoFit/>
          </a:bodyPr>
          <a:lstStyle/>
          <a:p>
            <a:r>
              <a:rPr sz="1150" b="1">
                <a:solidFill>
                  <a:srgbClr val="0F172A"/>
                </a:solidFill>
                <a:latin typeface="Segoe UI"/>
              </a:rPr>
              <a:t>Driver 2: Client Safety Dependency
</a:t>
            </a:r>
            <a:r>
              <a:rPr sz="900" b="1">
                <a:solidFill>
                  <a:srgbClr val="002B49"/>
                </a:solidFill>
                <a:latin typeface="Segoe UI"/>
              </a:rPr>
              <a:t>Solving the Immediate Regulatory Bottleneck</a:t>
            </a:r>
          </a:p>
        </p:txBody>
      </p:sp>
      <p:sp>
        <p:nvSpPr>
          <p:cNvPr id="14" name="TextBox 13"/>
          <p:cNvSpPr txBox="1"/>
          <p:nvPr/>
        </p:nvSpPr>
        <p:spPr>
          <a:xfrm>
            <a:off x="4590288" y="2468880"/>
            <a:ext cx="2999232" cy="1371600"/>
          </a:xfrm>
          <a:prstGeom prst="rect">
            <a:avLst/>
          </a:prstGeom>
          <a:noFill/>
        </p:spPr>
        <p:txBody>
          <a:bodyPr wrap="square" lIns="0" rIns="0" tIns="0" bIns="0">
            <a:spAutoFit/>
          </a:bodyPr>
          <a:lstStyle/>
          <a:p>
            <a:r>
              <a:rPr sz="900">
                <a:solidFill>
                  <a:srgbClr val="334155"/>
                </a:solidFill>
                <a:latin typeface="Segoe UI"/>
              </a:rPr>
              <a:t>Tier-1 industrial clients are currently paralyzed by safety certification bottlenecks for AI controllers. Establishing formal verification credentials builds the rigorous methodology required before deploying synthetic data models.</a:t>
            </a:r>
          </a:p>
        </p:txBody>
      </p:sp>
      <p:sp>
        <p:nvSpPr>
          <p:cNvPr id="15" name="Rectangle 14"/>
          <p:cNvSpPr/>
          <p:nvPr/>
        </p:nvSpPr>
        <p:spPr>
          <a:xfrm>
            <a:off x="8083296" y="1691640"/>
            <a:ext cx="3364992" cy="224028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83296" y="1691640"/>
            <a:ext cx="3364992" cy="22860"/>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6176" y="1828800"/>
            <a:ext cx="2999232" cy="594360"/>
          </a:xfrm>
          <a:prstGeom prst="rect">
            <a:avLst/>
          </a:prstGeom>
          <a:noFill/>
        </p:spPr>
        <p:txBody>
          <a:bodyPr wrap="square" lIns="0" rIns="0" tIns="0" bIns="0">
            <a:spAutoFit/>
          </a:bodyPr>
          <a:lstStyle/>
          <a:p>
            <a:r>
              <a:rPr sz="1150" b="1">
                <a:solidFill>
                  <a:srgbClr val="0F172A"/>
                </a:solidFill>
                <a:latin typeface="Segoe UI"/>
              </a:rPr>
              <a:t>Driver 3: Operational Access Prerequisites
</a:t>
            </a:r>
            <a:r>
              <a:rPr sz="900" b="1">
                <a:solidFill>
                  <a:srgbClr val="0A58CA"/>
                </a:solidFill>
                <a:latin typeface="Segoe UI"/>
              </a:rPr>
              <a:t>Unlocking Client Plant Floors &amp; CAD Repositories</a:t>
            </a:r>
          </a:p>
        </p:txBody>
      </p:sp>
      <p:sp>
        <p:nvSpPr>
          <p:cNvPr id="18" name="TextBox 17"/>
          <p:cNvSpPr txBox="1"/>
          <p:nvPr/>
        </p:nvSpPr>
        <p:spPr>
          <a:xfrm>
            <a:off x="8266176" y="2468880"/>
            <a:ext cx="2999232" cy="1371600"/>
          </a:xfrm>
          <a:prstGeom prst="rect">
            <a:avLst/>
          </a:prstGeom>
          <a:noFill/>
        </p:spPr>
        <p:txBody>
          <a:bodyPr wrap="square" lIns="0" rIns="0" tIns="0" bIns="0">
            <a:spAutoFit/>
          </a:bodyPr>
          <a:lstStyle/>
          <a:p>
            <a:r>
              <a:rPr sz="900">
                <a:solidFill>
                  <a:srgbClr val="334155"/>
                </a:solidFill>
                <a:latin typeface="Segoe UI"/>
              </a:rPr>
              <a:t>Siemens and Rockwell will only certify integrators possessing verified safety credentials (Priority 1). Once certified (Priority 2), these alliances unlock direct access to client CAD/PLM repositories needed to power the Synthetic Data Factory (Priority 3).</a:t>
            </a:r>
          </a:p>
        </p:txBody>
      </p:sp>
      <p:sp>
        <p:nvSpPr>
          <p:cNvPr id="19" name="Rectangle 18"/>
          <p:cNvSpPr/>
          <p:nvPr/>
        </p:nvSpPr>
        <p:spPr>
          <a:xfrm>
            <a:off x="731520" y="4069080"/>
            <a:ext cx="10725912" cy="201168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160520"/>
            <a:ext cx="10268712" cy="320040"/>
          </a:xfrm>
          <a:prstGeom prst="rect">
            <a:avLst/>
          </a:prstGeom>
          <a:noFill/>
        </p:spPr>
        <p:txBody>
          <a:bodyPr wrap="square" lIns="0" rIns="0" tIns="0" bIns="0">
            <a:spAutoFit/>
          </a:bodyPr>
          <a:lstStyle/>
          <a:p>
            <a:r>
              <a:rPr sz="1050" b="1">
                <a:solidFill>
                  <a:srgbClr val="002B49"/>
                </a:solidFill>
                <a:latin typeface="Segoe UI"/>
              </a:rPr>
              <a:t>SEQUENTIAL INITIATIVE EXECUTION TIMELINE (2027):</a:t>
            </a:r>
          </a:p>
        </p:txBody>
      </p:sp>
      <p:sp>
        <p:nvSpPr>
          <p:cNvPr id="21" name="Rectangle 20"/>
          <p:cNvSpPr/>
          <p:nvPr/>
        </p:nvSpPr>
        <p:spPr>
          <a:xfrm>
            <a:off x="960120" y="4526280"/>
            <a:ext cx="246888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 y="4526280"/>
            <a:ext cx="2468880"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9848" y="4617720"/>
            <a:ext cx="2249424" cy="1234440"/>
          </a:xfrm>
          <a:prstGeom prst="rect">
            <a:avLst/>
          </a:prstGeom>
          <a:noFill/>
        </p:spPr>
        <p:txBody>
          <a:bodyPr wrap="square" lIns="0" rIns="0" tIns="0" bIns="0">
            <a:spAutoFit/>
          </a:bodyPr>
          <a:lstStyle/>
          <a:p>
            <a:r>
              <a:rPr sz="900" b="1">
                <a:solidFill>
                  <a:srgbClr val="047857"/>
                </a:solidFill>
                <a:latin typeface="Segoe UI"/>
              </a:rPr>
              <a:t>Q1 2027  ·  $2.8M Budget
</a:t>
            </a:r>
            <a:r>
              <a:rPr sz="950" b="1">
                <a:solidFill>
                  <a:srgbClr val="0F172A"/>
                </a:solidFill>
                <a:latin typeface="Segoe UI"/>
              </a:rPr>
              <a:t>PRIORITY 1: V&amp;V PRACTICE
</a:t>
            </a:r>
          </a:p>
          <a:p>
            <a:pPr>
              <a:spcBef>
                <a:spcPts val="300"/>
              </a:spcBef>
            </a:pPr>
            <a:r>
              <a:rPr sz="850">
                <a:solidFill>
                  <a:srgbClr val="334155"/>
                </a:solidFill>
                <a:latin typeface="Segoe UI"/>
              </a:rPr>
              <a:t>Launch HIL testbenches &amp; automated safety compiler; establish TÜV SÜD partnership.</a:t>
            </a:r>
          </a:p>
        </p:txBody>
      </p:sp>
      <p:sp>
        <p:nvSpPr>
          <p:cNvPr id="24" name="Rectangle 23"/>
          <p:cNvSpPr/>
          <p:nvPr/>
        </p:nvSpPr>
        <p:spPr>
          <a:xfrm>
            <a:off x="3648456" y="4526280"/>
            <a:ext cx="246888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48456" y="4526280"/>
            <a:ext cx="2468880" cy="22860"/>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58184" y="4617720"/>
            <a:ext cx="2249424" cy="1234440"/>
          </a:xfrm>
          <a:prstGeom prst="rect">
            <a:avLst/>
          </a:prstGeom>
          <a:noFill/>
        </p:spPr>
        <p:txBody>
          <a:bodyPr wrap="square" lIns="0" rIns="0" tIns="0" bIns="0">
            <a:spAutoFit/>
          </a:bodyPr>
          <a:lstStyle/>
          <a:p>
            <a:r>
              <a:rPr sz="900" b="1">
                <a:solidFill>
                  <a:srgbClr val="0A58CA"/>
                </a:solidFill>
                <a:latin typeface="Segoe UI"/>
              </a:rPr>
              <a:t>Q2 2027  ·  $1.3M Budget
</a:t>
            </a:r>
            <a:r>
              <a:rPr sz="950" b="1">
                <a:solidFill>
                  <a:srgbClr val="0F172A"/>
                </a:solidFill>
                <a:latin typeface="Segoe UI"/>
              </a:rPr>
              <a:t>PRIORITY 2: PLC ALLIANCES
</a:t>
            </a:r>
          </a:p>
          <a:p>
            <a:pPr>
              <a:spcBef>
                <a:spcPts val="300"/>
              </a:spcBef>
            </a:pPr>
            <a:r>
              <a:rPr sz="850">
                <a:solidFill>
                  <a:srgbClr val="334155"/>
                </a:solidFill>
                <a:latin typeface="Segoe UI"/>
              </a:rPr>
              <a:t>Joint integration labs with Siemens &amp; Rockwell; deploy Orin edge testbeds.</a:t>
            </a:r>
          </a:p>
        </p:txBody>
      </p:sp>
      <p:sp>
        <p:nvSpPr>
          <p:cNvPr id="27" name="Rectangle 26"/>
          <p:cNvSpPr/>
          <p:nvPr/>
        </p:nvSpPr>
        <p:spPr>
          <a:xfrm>
            <a:off x="6336792" y="4526280"/>
            <a:ext cx="246888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36792" y="4526280"/>
            <a:ext cx="246888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617720"/>
            <a:ext cx="2249424" cy="1234440"/>
          </a:xfrm>
          <a:prstGeom prst="rect">
            <a:avLst/>
          </a:prstGeom>
          <a:noFill/>
        </p:spPr>
        <p:txBody>
          <a:bodyPr wrap="square" lIns="0" rIns="0" tIns="0" bIns="0">
            <a:spAutoFit/>
          </a:bodyPr>
          <a:lstStyle/>
          <a:p>
            <a:r>
              <a:rPr sz="900" b="1">
                <a:solidFill>
                  <a:srgbClr val="002B49"/>
                </a:solidFill>
                <a:latin typeface="Segoe UI"/>
              </a:rPr>
              <a:t>Q3 2027  ·  $4.2M Budget
</a:t>
            </a:r>
            <a:r>
              <a:rPr sz="950" b="1">
                <a:solidFill>
                  <a:srgbClr val="0F172A"/>
                </a:solidFill>
                <a:latin typeface="Segoe UI"/>
              </a:rPr>
              <a:t>PRIORITY 3: SYNTHETIC FACTORY
</a:t>
            </a:r>
          </a:p>
          <a:p>
            <a:pPr>
              <a:spcBef>
                <a:spcPts val="300"/>
              </a:spcBef>
            </a:pPr>
            <a:r>
              <a:rPr sz="850">
                <a:solidFill>
                  <a:srgbClr val="334155"/>
                </a:solidFill>
                <a:latin typeface="Segoe UI"/>
              </a:rPr>
              <a:t>Commission 64-GPU Omniverse cluster; automate CAD/PLM digital twin ingestion.</a:t>
            </a:r>
          </a:p>
        </p:txBody>
      </p:sp>
      <p:sp>
        <p:nvSpPr>
          <p:cNvPr id="30" name="Rectangle 29"/>
          <p:cNvSpPr/>
          <p:nvPr/>
        </p:nvSpPr>
        <p:spPr>
          <a:xfrm>
            <a:off x="9025128" y="4526280"/>
            <a:ext cx="2468880" cy="14173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025128" y="4526280"/>
            <a:ext cx="2468880" cy="228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34856" y="4617720"/>
            <a:ext cx="2249424" cy="1234440"/>
          </a:xfrm>
          <a:prstGeom prst="rect">
            <a:avLst/>
          </a:prstGeom>
          <a:noFill/>
        </p:spPr>
        <p:txBody>
          <a:bodyPr wrap="square" lIns="0" rIns="0" tIns="0" bIns="0">
            <a:spAutoFit/>
          </a:bodyPr>
          <a:lstStyle/>
          <a:p>
            <a:r>
              <a:rPr sz="900" b="1">
                <a:solidFill>
                  <a:srgbClr val="6D28D9"/>
                </a:solidFill>
                <a:latin typeface="Segoe UI"/>
              </a:rPr>
              <a:t>ONGOING  ·  $2.5M/yr Budget
</a:t>
            </a:r>
            <a:r>
              <a:rPr sz="950" b="1">
                <a:solidFill>
                  <a:srgbClr val="0F172A"/>
                </a:solidFill>
                <a:latin typeface="Segoe UI"/>
              </a:rPr>
              <a:t>PRIORITY 4: TALENT COE
</a:t>
            </a:r>
          </a:p>
          <a:p>
            <a:pPr>
              <a:spcBef>
                <a:spcPts val="300"/>
              </a:spcBef>
            </a:pPr>
            <a:r>
              <a:rPr sz="850">
                <a:solidFill>
                  <a:srgbClr val="334155"/>
                </a:solidFill>
                <a:latin typeface="Segoe UI"/>
              </a:rPr>
              <a:t>Upskill 250 engineers across ROS2/Isaac; hire 5 PhD specialists; academic links.</a:t>
            </a:r>
          </a:p>
        </p:txBody>
      </p:sp>
      <p:sp>
        <p:nvSpPr>
          <p:cNvPr id="33" name="Rectangle 32"/>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A disciplined three-stage progression: build safety credibility in Q1, secure plant alliances in Q2, scale compute in Q3.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8 · STRATEGIC ROADMAP</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Priority 1: Physical AI Verification &amp; Validation (V&amp;V)</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Q1 2027 Launch  ·  Establishing the industry's premier neural safety certification practice.</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74519"/>
            <a:ext cx="3771900" cy="219456"/>
          </a:xfrm>
          <a:prstGeom prst="roundRect">
            <a:avLst/>
          </a:prstGeom>
          <a:solidFill>
            <a:srgbClr val="D1FAE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47857"/>
                </a:solidFill>
                <a:latin typeface="Segoe UI"/>
              </a:rPr>
              <a:t>CORE DELIVERABLE: AUTOMATED SAFETY DOSSIER COMPILER</a:t>
            </a:r>
          </a:p>
        </p:txBody>
      </p:sp>
      <p:sp>
        <p:nvSpPr>
          <p:cNvPr id="10" name="TextBox 9"/>
          <p:cNvSpPr txBox="1"/>
          <p:nvPr/>
        </p:nvSpPr>
        <p:spPr>
          <a:xfrm>
            <a:off x="960120" y="2194560"/>
            <a:ext cx="4754880" cy="3657600"/>
          </a:xfrm>
          <a:prstGeom prst="rect">
            <a:avLst/>
          </a:prstGeom>
          <a:noFill/>
        </p:spPr>
        <p:txBody>
          <a:bodyPr wrap="square" lIns="0" rIns="0" tIns="0" bIns="0">
            <a:spAutoFit/>
          </a:bodyPr>
          <a:lstStyle/>
          <a:p>
            <a:r>
              <a:rPr sz="1100" b="1">
                <a:solidFill>
                  <a:srgbClr val="0F172A"/>
                </a:solidFill>
                <a:latin typeface="Segoe UI"/>
              </a:rPr>
              <a:t>Formal Mathematical Specification:
</a:t>
            </a:r>
            <a:r>
              <a:rPr sz="919">
                <a:solidFill>
                  <a:srgbClr val="334155"/>
                </a:solidFill>
                <a:latin typeface="Segoe UI"/>
              </a:rPr>
              <a:t>For any neural policy u = pi_theta(o) controlling continuous dynamics x_dot = f(x, u), the compiler evaluates Control Barrier Functions (CBFs) to formally certify safety against safe set C:</a:t>
            </a:r>
          </a:p>
        </p:txBody>
      </p:sp>
      <p:sp>
        <p:nvSpPr>
          <p:cNvPr id="11" name="Rectangle 10"/>
          <p:cNvSpPr/>
          <p:nvPr/>
        </p:nvSpPr>
        <p:spPr>
          <a:xfrm>
            <a:off x="960120" y="2971800"/>
            <a:ext cx="4754880" cy="5943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1097280" y="3063240"/>
            <a:ext cx="3398520" cy="286512"/>
          </a:xfrm>
          <a:prstGeom prst="rect">
            <a:avLst/>
          </a:prstGeom>
        </p:spPr>
      </p:pic>
      <p:sp>
        <p:nvSpPr>
          <p:cNvPr id="13" name="TextBox 12"/>
          <p:cNvSpPr txBox="1"/>
          <p:nvPr/>
        </p:nvSpPr>
        <p:spPr>
          <a:xfrm>
            <a:off x="960120" y="3703320"/>
            <a:ext cx="4754880" cy="2194560"/>
          </a:xfrm>
          <a:prstGeom prst="rect">
            <a:avLst/>
          </a:prstGeom>
          <a:noFill/>
        </p:spPr>
        <p:txBody>
          <a:bodyPr wrap="square" lIns="0" rIns="0" tIns="0" bIns="0">
            <a:spAutoFit/>
          </a:bodyPr>
          <a:lstStyle/>
          <a:p>
            <a:r>
              <a:rPr sz="1050" b="1">
                <a:solidFill>
                  <a:srgbClr val="0F172A"/>
                </a:solidFill>
                <a:latin typeface="Segoe UI"/>
              </a:rPr>
              <a:t>Forward Reachable Set Verification via alpha,beta-CROWN:
</a:t>
            </a:r>
            <a:r>
              <a:rPr sz="900">
                <a:solidFill>
                  <a:srgbClr val="334155"/>
                </a:solidFill>
                <a:latin typeface="Segoe UI"/>
              </a:rPr>
              <a:t>The software computes bounded forward reachable sets R(T; X0) via interval neural network bound propagation, mathematically guaranteeing that R(T; X0) subset of C for all initial operating conditions X0.</a:t>
            </a:r>
          </a:p>
        </p:txBody>
      </p:sp>
      <p:sp>
        <p:nvSpPr>
          <p:cNvPr id="14" name="Rectangle 13"/>
          <p:cNvSpPr/>
          <p:nvPr/>
        </p:nvSpPr>
        <p:spPr>
          <a:xfrm>
            <a:off x="960120" y="4526280"/>
            <a:ext cx="4754880" cy="54864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3"/>
          <a:stretch>
            <a:fillRect/>
          </a:stretch>
        </p:blipFill>
        <p:spPr>
          <a:xfrm>
            <a:off x="1188720" y="4617720"/>
            <a:ext cx="2855976" cy="295656"/>
          </a:xfrm>
          <a:prstGeom prst="rect">
            <a:avLst/>
          </a:prstGeom>
        </p:spPr>
      </p:pic>
      <p:sp>
        <p:nvSpPr>
          <p:cNvPr id="16" name="TextBox 15"/>
          <p:cNvSpPr txBox="1"/>
          <p:nvPr/>
        </p:nvSpPr>
        <p:spPr>
          <a:xfrm>
            <a:off x="960120" y="5212080"/>
            <a:ext cx="4754880" cy="731520"/>
          </a:xfrm>
          <a:prstGeom prst="rect">
            <a:avLst/>
          </a:prstGeom>
          <a:noFill/>
        </p:spPr>
        <p:txBody>
          <a:bodyPr wrap="square" lIns="0" rIns="0" tIns="0" bIns="0">
            <a:spAutoFit/>
          </a:bodyPr>
          <a:lstStyle/>
          <a:p>
            <a:r>
              <a:rPr sz="900">
                <a:solidFill>
                  <a:srgbClr val="334155"/>
                </a:solidFill>
                <a:latin typeface="Segoe UI"/>
              </a:rPr>
              <a:t>Standard Compliance: Generates automated functional safety dossiers satisfying ISO 13849 (Cat 4 / PL e) and IEC 61508 without requiring millions of physical test trials.</a:t>
            </a:r>
          </a:p>
        </p:txBody>
      </p:sp>
      <p:sp>
        <p:nvSpPr>
          <p:cNvPr id="17" name="Rectangle 16"/>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45352" y="1691640"/>
            <a:ext cx="521208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73952" y="1874519"/>
            <a:ext cx="2263139"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BOTTOM-UP BUDGET: $2.8M TOTAL</a:t>
            </a:r>
          </a:p>
        </p:txBody>
      </p:sp>
      <p:sp>
        <p:nvSpPr>
          <p:cNvPr id="20" name="TextBox 19"/>
          <p:cNvSpPr txBox="1"/>
          <p:nvPr/>
        </p:nvSpPr>
        <p:spPr>
          <a:xfrm>
            <a:off x="6473952" y="2194560"/>
            <a:ext cx="4754880" cy="3657600"/>
          </a:xfrm>
          <a:prstGeom prst="rect">
            <a:avLst/>
          </a:prstGeom>
          <a:noFill/>
        </p:spPr>
        <p:txBody>
          <a:bodyPr wrap="square" lIns="0" rIns="0" tIns="0" bIns="0">
            <a:spAutoFit/>
          </a:bodyPr>
          <a:lstStyle/>
          <a:p>
            <a:r>
              <a:rPr sz="1100" b="1">
                <a:solidFill>
                  <a:srgbClr val="002B49"/>
                </a:solidFill>
                <a:latin typeface="Segoe UI"/>
              </a:rPr>
              <a:t>Target Range: $2.0M - $3.5M [Estimated]
</a:t>
            </a:r>
          </a:p>
          <a:p>
            <a:pPr>
              <a:spcBef>
                <a:spcPts val="600"/>
              </a:spcBef>
            </a:pPr>
            <a:r>
              <a:rPr sz="950" b="1">
                <a:solidFill>
                  <a:srgbClr val="0F172A"/>
                </a:solidFill>
                <a:latin typeface="Segoe UI"/>
              </a:rPr>
              <a:t>✔ HIL Testbenches ($800k): </a:t>
            </a:r>
            <a:r>
              <a:rPr sz="900">
                <a:solidFill>
                  <a:srgbClr val="334155"/>
                </a:solidFill>
                <a:latin typeface="Segoe UI"/>
              </a:rPr>
              <a:t>Two multi-axis industrial robot test cells equipped with optical motion capture, torque dynamometers, and real-time dSPACE/Speedgoat controllers for physical validation.</a:t>
            </a:r>
          </a:p>
          <a:p>
            <a:pPr>
              <a:spcBef>
                <a:spcPts val="600"/>
              </a:spcBef>
            </a:pPr>
            <a:r>
              <a:rPr sz="950" b="1">
                <a:solidFill>
                  <a:srgbClr val="0F172A"/>
                </a:solidFill>
                <a:latin typeface="Segoe UI"/>
              </a:rPr>
              <a:t>✔ Verification Tooling Licenses ($400k): </a:t>
            </a:r>
            <a:r>
              <a:rPr sz="900">
                <a:solidFill>
                  <a:srgbClr val="334155"/>
                </a:solidFill>
                <a:latin typeface="Segoe UI"/>
              </a:rPr>
              <a:t>Formal methods software licenses, computational reachability engines, and interval bound propagation toolchains.</a:t>
            </a:r>
          </a:p>
          <a:p>
            <a:pPr>
              <a:spcBef>
                <a:spcPts val="600"/>
              </a:spcBef>
            </a:pPr>
            <a:r>
              <a:rPr sz="950" b="1">
                <a:solidFill>
                  <a:srgbClr val="0F172A"/>
                </a:solidFill>
                <a:latin typeface="Segoe UI"/>
              </a:rPr>
              <a:t>✔ Core Engineering Team ($1.2M/yr): </a:t>
            </a:r>
            <a:r>
              <a:rPr sz="900">
                <a:solidFill>
                  <a:srgbClr val="334155"/>
                </a:solidFill>
                <a:latin typeface="Segoe UI"/>
              </a:rPr>
              <a:t>6 FTEs at blended $200k/yr loaded cost: 2 Lead TÜV-Certified Functional Safety Engineers, 2 Controls Engineers, and 2 Neural Network Verification Specialists.</a:t>
            </a:r>
          </a:p>
          <a:p>
            <a:pPr>
              <a:spcBef>
                <a:spcPts val="600"/>
              </a:spcBef>
            </a:pPr>
            <a:r>
              <a:rPr sz="950" b="1">
                <a:solidFill>
                  <a:srgbClr val="0F172A"/>
                </a:solidFill>
                <a:latin typeface="Segoe UI"/>
              </a:rPr>
              <a:t>✔ Accredited Lab Certification ($400k): </a:t>
            </a:r>
            <a:r>
              <a:rPr sz="900">
                <a:solidFill>
                  <a:srgbClr val="334155"/>
                </a:solidFill>
                <a:latin typeface="Segoe UI"/>
              </a:rPr>
              <a:t>ISO/IEC 17025 laboratory accreditation and TÜV SÜD partnership audit fees to legally issue compliance dossiers.</a:t>
            </a:r>
          </a:p>
          <a:p>
            <a:pPr>
              <a:spcBef>
                <a:spcPts val="800"/>
              </a:spcBef>
            </a:pPr>
            <a:r>
              <a:rPr sz="1100" b="1">
                <a:solidFill>
                  <a:srgbClr val="047857"/>
                </a:solidFill>
                <a:latin typeface="Segoe UI"/>
              </a:rPr>
              <a:t>TOTAL PHASE 1 BUDGET: $2.8M </a:t>
            </a:r>
            <a:r>
              <a:rPr sz="950">
                <a:solidFill>
                  <a:srgbClr val="64748B"/>
                </a:solidFill>
                <a:latin typeface="Segoe UI"/>
              </a:rPr>
              <a:t>(Anchored in $2.0M-$3.5M range)</a:t>
            </a:r>
          </a:p>
        </p:txBody>
      </p:sp>
      <p:sp>
        <p:nvSpPr>
          <p:cNvPr id="21" name="Rectangle 20"/>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Priority 1 transforms safety verification from an expensive physical trial-and-error process into an automated, mathematically certified software compiler.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8 · STRATEGIC ROADMAP</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Priority 2: Strategic Alliances with Incumbent PLCs &amp; AI Labs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Q2 2027 Launch  ·  Establishing certified bridge partnerships with Siemens, Rockwell &amp; frontier labs.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0A5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74519"/>
            <a:ext cx="2811779" cy="219456"/>
          </a:xfrm>
          <a:prstGeom prst="roundRect">
            <a:avLst/>
          </a:prstGeom>
          <a:solidFill>
            <a:srgbClr val="E0F2FE"/>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A58CA"/>
                </a:solidFill>
                <a:latin typeface="Segoe UI"/>
              </a:rPr>
              <a:t>SEQUENCING RATIONALE &amp; VALUE CREATION</a:t>
            </a:r>
          </a:p>
        </p:txBody>
      </p:sp>
      <p:sp>
        <p:nvSpPr>
          <p:cNvPr id="10" name="TextBox 9"/>
          <p:cNvSpPr txBox="1"/>
          <p:nvPr/>
        </p:nvSpPr>
        <p:spPr>
          <a:xfrm>
            <a:off x="960120" y="2194560"/>
            <a:ext cx="4754880" cy="3657600"/>
          </a:xfrm>
          <a:prstGeom prst="rect">
            <a:avLst/>
          </a:prstGeom>
          <a:noFill/>
        </p:spPr>
        <p:txBody>
          <a:bodyPr wrap="square" lIns="0" rIns="0" tIns="0" bIns="0">
            <a:spAutoFit/>
          </a:bodyPr>
          <a:lstStyle/>
          <a:p>
            <a:r>
              <a:rPr sz="1150" b="1">
                <a:solidFill>
                  <a:srgbClr val="0F172A"/>
                </a:solidFill>
                <a:latin typeface="Segoe UI"/>
              </a:rPr>
              <a:t>Why PLC Alliances Follow V&amp;V Launch:
</a:t>
            </a:r>
          </a:p>
          <a:p>
            <a:pPr>
              <a:spcBef>
                <a:spcPts val="600"/>
              </a:spcBef>
            </a:pPr>
            <a:r>
              <a:rPr sz="950" b="1">
                <a:solidFill>
                  <a:srgbClr val="0A58CA"/>
                </a:solidFill>
                <a:latin typeface="Segoe UI"/>
              </a:rPr>
              <a:t>• The Credential Prerequisite: </a:t>
            </a:r>
            <a:r>
              <a:rPr sz="900">
                <a:solidFill>
                  <a:srgbClr val="334155"/>
                </a:solidFill>
                <a:latin typeface="Segoe UI"/>
              </a:rPr>
              <a:t>Industrial automation giants (Siemens, Rockwell) will not partner with unproven service firms. They require systems integrators to possess verified functional safety credentials before certifying them as authorized AI bridge partners.</a:t>
            </a:r>
          </a:p>
          <a:p>
            <a:pPr>
              <a:spcBef>
                <a:spcPts val="600"/>
              </a:spcBef>
            </a:pPr>
            <a:r>
              <a:rPr sz="950" b="1">
                <a:solidFill>
                  <a:srgbClr val="0A58CA"/>
                </a:solidFill>
                <a:latin typeface="Segoe UI"/>
              </a:rPr>
              <a:t>• Unlocking Brownfield Access: </a:t>
            </a:r>
            <a:r>
              <a:rPr sz="900">
                <a:solidFill>
                  <a:srgbClr val="334155"/>
                </a:solidFill>
                <a:latin typeface="Segoe UI"/>
              </a:rPr>
              <a:t>Once certified, these alliances unlock direct access to brownfield client plant floors, proprietary PLC fieldbus protocols, and engineering CAD repositories.</a:t>
            </a:r>
          </a:p>
          <a:p>
            <a:pPr>
              <a:spcBef>
                <a:spcPts val="600"/>
              </a:spcBef>
            </a:pPr>
            <a:r>
              <a:rPr sz="950" b="1">
                <a:solidFill>
                  <a:srgbClr val="0A58CA"/>
                </a:solidFill>
                <a:latin typeface="Segoe UI"/>
              </a:rPr>
              <a:t>• Bilateral AI Lab Channel: </a:t>
            </a:r>
            <a:r>
              <a:rPr sz="900">
                <a:solidFill>
                  <a:srgbClr val="334155"/>
                </a:solidFill>
                <a:latin typeface="Segoe UI"/>
              </a:rPr>
              <a:t>Frontier AI labs (Physical Intelligence, Skild AI) lack field systems engineering. LTTS becomes their designated deployment arm for enterprise manufacturing rollouts.</a:t>
            </a:r>
          </a:p>
          <a:p>
            <a:pPr>
              <a:spcBef>
                <a:spcPts val="600"/>
              </a:spcBef>
            </a:pPr>
            <a:r>
              <a:rPr sz="950" b="1">
                <a:solidFill>
                  <a:srgbClr val="0A58CA"/>
                </a:solidFill>
                <a:latin typeface="Segoe UI"/>
              </a:rPr>
              <a:t>• Target Output: </a:t>
            </a:r>
            <a:r>
              <a:rPr sz="900">
                <a:solidFill>
                  <a:srgbClr val="334155"/>
                </a:solidFill>
                <a:latin typeface="Segoe UI"/>
              </a:rPr>
              <a:t>Become the preferred global deployment partner for Siemens TIA Portal Industrial Copilot and Rockwell FactoryTalk Physical AI extensions.</a:t>
            </a:r>
          </a:p>
        </p:txBody>
      </p:sp>
      <p:sp>
        <p:nvSpPr>
          <p:cNvPr id="11" name="Rectangle 10"/>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691640"/>
            <a:ext cx="521208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73952" y="1874519"/>
            <a:ext cx="2263139"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BOTTOM-UP BUDGET: $1.3M TOTAL</a:t>
            </a:r>
          </a:p>
        </p:txBody>
      </p:sp>
      <p:sp>
        <p:nvSpPr>
          <p:cNvPr id="14" name="TextBox 13"/>
          <p:cNvSpPr txBox="1"/>
          <p:nvPr/>
        </p:nvSpPr>
        <p:spPr>
          <a:xfrm>
            <a:off x="6473952" y="2194560"/>
            <a:ext cx="4754880" cy="3657600"/>
          </a:xfrm>
          <a:prstGeom prst="rect">
            <a:avLst/>
          </a:prstGeom>
          <a:noFill/>
        </p:spPr>
        <p:txBody>
          <a:bodyPr wrap="square" lIns="0" rIns="0" tIns="0" bIns="0">
            <a:spAutoFit/>
          </a:bodyPr>
          <a:lstStyle/>
          <a:p>
            <a:r>
              <a:rPr sz="1100" b="1">
                <a:solidFill>
                  <a:srgbClr val="002B49"/>
                </a:solidFill>
                <a:latin typeface="Segoe UI"/>
              </a:rPr>
              <a:t>Target Range: $1.0M - $1.5M [Estimated]
</a:t>
            </a:r>
          </a:p>
          <a:p>
            <a:pPr>
              <a:spcBef>
                <a:spcPts val="700"/>
              </a:spcBef>
            </a:pPr>
            <a:r>
              <a:rPr sz="950" b="1">
                <a:solidFill>
                  <a:srgbClr val="0F172A"/>
                </a:solidFill>
                <a:latin typeface="Segoe UI"/>
              </a:rPr>
              <a:t>✔ Joint Integration Lab Hardware ($350k): </a:t>
            </a:r>
            <a:r>
              <a:rPr sz="900">
                <a:solidFill>
                  <a:srgbClr val="334155"/>
                </a:solidFill>
                <a:latin typeface="Segoe UI"/>
              </a:rPr>
              <a:t>Siemens S7-1500 and Rockwell ControlLogix racks with high-speed industrial fieldbus interface cards (Profinet IRT / EtherCAT) paired with edge NVIDIA Jetson AGX Orin units for real-time benchmark testing.</a:t>
            </a:r>
          </a:p>
          <a:p>
            <a:pPr>
              <a:spcBef>
                <a:spcPts val="700"/>
              </a:spcBef>
            </a:pPr>
            <a:r>
              <a:rPr sz="950" b="1">
                <a:solidFill>
                  <a:srgbClr val="0F172A"/>
                </a:solidFill>
                <a:latin typeface="Segoe UI"/>
              </a:rPr>
              <a:t>✔ Alliance Solutions Architecture Team ($650k): </a:t>
            </a:r>
            <a:r>
              <a:rPr sz="900">
                <a:solidFill>
                  <a:srgbClr val="334155"/>
                </a:solidFill>
                <a:latin typeface="Segoe UI"/>
              </a:rPr>
              <a:t>3 dedicated senior FTEs: Siemens-Certified PLC Engineer, Rockwell-Certified Systems Engineer, and Edge AI Systems Architect.</a:t>
            </a:r>
          </a:p>
          <a:p>
            <a:pPr>
              <a:spcBef>
                <a:spcPts val="700"/>
              </a:spcBef>
            </a:pPr>
            <a:r>
              <a:rPr sz="950" b="1">
                <a:solidFill>
                  <a:srgbClr val="0F172A"/>
                </a:solidFill>
                <a:latin typeface="Segoe UI"/>
              </a:rPr>
              <a:t>✔ Partner Enablement &amp; Co-Marketing ($300k): </a:t>
            </a:r>
            <a:r>
              <a:rPr sz="900">
                <a:solidFill>
                  <a:srgbClr val="334155"/>
                </a:solidFill>
                <a:latin typeface="Segoe UI"/>
              </a:rPr>
              <a:t>Development of joint solution briefs, partner portal technical certifications, and live customer demonstration cells.</a:t>
            </a:r>
          </a:p>
          <a:p>
            <a:pPr>
              <a:spcBef>
                <a:spcPts val="1200"/>
              </a:spcBef>
            </a:pPr>
            <a:r>
              <a:rPr sz="1100" b="1">
                <a:solidFill>
                  <a:srgbClr val="047857"/>
                </a:solidFill>
                <a:latin typeface="Segoe UI"/>
              </a:rPr>
              <a:t>TOTAL PHASE 2 BUDGET: $1.3M </a:t>
            </a:r>
            <a:r>
              <a:rPr sz="950">
                <a:solidFill>
                  <a:srgbClr val="64748B"/>
                </a:solidFill>
                <a:latin typeface="Segoe UI"/>
              </a:rPr>
              <a:t>(Within $1.0M-$1.5M target range)</a:t>
            </a:r>
          </a:p>
        </p:txBody>
      </p:sp>
      <p:sp>
        <p:nvSpPr>
          <p:cNvPr id="15" name="Rectangle 14"/>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Priority 2 establishes joint integration testbeds with Siemens and Rockwell, locking in LTTS as the preferred field rollout partner.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8 · STRATEGIC ROADMAP</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Priority 3: Domain-Specific Synthetic Data Factories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Q3 2027 Pilot  ·  Industrial CAD/PLM digital twin ingestion &amp; policy pre-training engine.</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74519"/>
            <a:ext cx="2331720"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SEQUENCING RATIONALE &amp; SD-FAAS</a:t>
            </a:r>
          </a:p>
        </p:txBody>
      </p:sp>
      <p:sp>
        <p:nvSpPr>
          <p:cNvPr id="10" name="TextBox 9"/>
          <p:cNvSpPr txBox="1"/>
          <p:nvPr/>
        </p:nvSpPr>
        <p:spPr>
          <a:xfrm>
            <a:off x="960120" y="2194560"/>
            <a:ext cx="4754880" cy="3657600"/>
          </a:xfrm>
          <a:prstGeom prst="rect">
            <a:avLst/>
          </a:prstGeom>
          <a:noFill/>
        </p:spPr>
        <p:txBody>
          <a:bodyPr wrap="square" lIns="0" rIns="0" tIns="0" bIns="0">
            <a:spAutoFit/>
          </a:bodyPr>
          <a:lstStyle/>
          <a:p>
            <a:r>
              <a:rPr sz="1150" b="1">
                <a:solidFill>
                  <a:srgbClr val="0F172A"/>
                </a:solidFill>
                <a:latin typeface="Segoe UI"/>
              </a:rPr>
              <a:t>Why Synthetic Data Launches in Q3:
</a:t>
            </a:r>
          </a:p>
          <a:p>
            <a:pPr>
              <a:spcBef>
                <a:spcPts val="600"/>
              </a:spcBef>
            </a:pPr>
            <a:r>
              <a:rPr sz="950" b="1">
                <a:solidFill>
                  <a:srgbClr val="002B49"/>
                </a:solidFill>
                <a:latin typeface="Segoe UI"/>
              </a:rPr>
              <a:t>• Capital &amp; Compute Concentration: </a:t>
            </a:r>
            <a:r>
              <a:rPr sz="900">
                <a:solidFill>
                  <a:srgbClr val="334155"/>
                </a:solidFill>
                <a:latin typeface="Segoe UI"/>
              </a:rPr>
              <a:t>Synthetic data generation requires substantial GPU infrastructure and specialized simulation engineering investment ($4.2M).</a:t>
            </a:r>
          </a:p>
          <a:p>
            <a:pPr>
              <a:spcBef>
                <a:spcPts val="600"/>
              </a:spcBef>
            </a:pPr>
            <a:r>
              <a:rPr sz="950" b="1">
                <a:solidFill>
                  <a:srgbClr val="002B49"/>
                </a:solidFill>
                <a:latin typeface="Segoe UI"/>
              </a:rPr>
              <a:t>• Leveraging Prior Phases: </a:t>
            </a:r>
            <a:r>
              <a:rPr sz="900">
                <a:solidFill>
                  <a:srgbClr val="334155"/>
                </a:solidFill>
                <a:latin typeface="Segoe UI"/>
              </a:rPr>
              <a:t>By scheduling this for Q3 2027, the practice directly leverages the CAD/PLM customer access unlocked by Q2 PLC alliances, and the physical validation frameworks built in Q1.</a:t>
            </a:r>
          </a:p>
          <a:p>
            <a:pPr>
              <a:spcBef>
                <a:spcPts val="600"/>
              </a:spcBef>
            </a:pPr>
            <a:r>
              <a:rPr sz="950" b="1">
                <a:solidFill>
                  <a:srgbClr val="002B49"/>
                </a:solidFill>
                <a:latin typeface="Segoe UI"/>
              </a:rPr>
              <a:t>• Automated CAD Ingestion Pipeline: </a:t>
            </a:r>
            <a:r>
              <a:rPr sz="900">
                <a:solidFill>
                  <a:srgbClr val="334155"/>
                </a:solidFill>
                <a:latin typeface="Segoe UI"/>
              </a:rPr>
              <a:t>Ingests client 3D assemblies (Siemens NX, Teamcenter, CATIA) and automatically generates contact-calibrated digital twin environments in NVIDIA Isaac Sim.</a:t>
            </a:r>
          </a:p>
          <a:p>
            <a:pPr>
              <a:spcBef>
                <a:spcPts val="600"/>
              </a:spcBef>
            </a:pPr>
            <a:r>
              <a:rPr sz="950" b="1">
                <a:solidFill>
                  <a:srgbClr val="002B49"/>
                </a:solidFill>
                <a:latin typeface="Segoe UI"/>
              </a:rPr>
              <a:t>• Extreme Domain Randomization: </a:t>
            </a:r>
            <a:r>
              <a:rPr sz="900">
                <a:solidFill>
                  <a:srgbClr val="334155"/>
                </a:solidFill>
                <a:latin typeface="Segoe UI"/>
              </a:rPr>
              <a:t>Trains robust vision-action policies across millions of lighting, texture, and physical friction variations before any physical hardware arrives.</a:t>
            </a:r>
          </a:p>
        </p:txBody>
      </p:sp>
      <p:sp>
        <p:nvSpPr>
          <p:cNvPr id="11" name="Rectangle 10"/>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691640"/>
            <a:ext cx="5212080"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73952" y="1874519"/>
            <a:ext cx="2263139" cy="219456"/>
          </a:xfrm>
          <a:prstGeom prst="roundRect">
            <a:avLst/>
          </a:prstGeom>
          <a:solidFill>
            <a:srgbClr val="D1FAE5"/>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47857"/>
                </a:solidFill>
                <a:latin typeface="Segoe UI"/>
              </a:rPr>
              <a:t>BOTTOM-UP BUDGET: $4.2M TOTAL</a:t>
            </a:r>
          </a:p>
        </p:txBody>
      </p:sp>
      <p:sp>
        <p:nvSpPr>
          <p:cNvPr id="14" name="TextBox 13"/>
          <p:cNvSpPr txBox="1"/>
          <p:nvPr/>
        </p:nvSpPr>
        <p:spPr>
          <a:xfrm>
            <a:off x="6473952" y="2194560"/>
            <a:ext cx="4754880" cy="3657600"/>
          </a:xfrm>
          <a:prstGeom prst="rect">
            <a:avLst/>
          </a:prstGeom>
          <a:noFill/>
        </p:spPr>
        <p:txBody>
          <a:bodyPr wrap="square" lIns="0" rIns="0" tIns="0" bIns="0">
            <a:spAutoFit/>
          </a:bodyPr>
          <a:lstStyle/>
          <a:p>
            <a:r>
              <a:rPr sz="1100" b="1">
                <a:solidFill>
                  <a:srgbClr val="0F172A"/>
                </a:solidFill>
                <a:latin typeface="Segoe UI"/>
              </a:rPr>
              <a:t>Target Range: $3.0M - $5.0M [Estimated]
</a:t>
            </a:r>
          </a:p>
          <a:p>
            <a:pPr>
              <a:spcBef>
                <a:spcPts val="700"/>
              </a:spcBef>
            </a:pPr>
            <a:r>
              <a:rPr sz="950" b="1">
                <a:solidFill>
                  <a:srgbClr val="0F172A"/>
                </a:solidFill>
                <a:latin typeface="Segoe UI"/>
              </a:rPr>
              <a:t>✔ Simulation Compute Cluster ($2.2M): </a:t>
            </a:r>
            <a:r>
              <a:rPr sz="900">
                <a:solidFill>
                  <a:srgbClr val="334155"/>
                </a:solidFill>
                <a:latin typeface="Segoe UI"/>
              </a:rPr>
              <a:t>Dedicated on-premise/hybrid GPU simulation cluster (64 high-end GPUs) engineered for high-throughput Isaac Sim / Omniverse physics rendering and parallel policy generation.</a:t>
            </a:r>
          </a:p>
          <a:p>
            <a:pPr>
              <a:spcBef>
                <a:spcPts val="700"/>
              </a:spcBef>
            </a:pPr>
            <a:r>
              <a:rPr sz="950" b="1">
                <a:solidFill>
                  <a:srgbClr val="0F172A"/>
                </a:solidFill>
                <a:latin typeface="Segoe UI"/>
              </a:rPr>
              <a:t>✔ Simulation Software Enterprise Licensing ($500k): </a:t>
            </a:r>
            <a:r>
              <a:rPr sz="900">
                <a:solidFill>
                  <a:srgbClr val="334155"/>
                </a:solidFill>
                <a:latin typeface="Segoe UI"/>
              </a:rPr>
              <a:t>NVIDIA Omniverse Enterprise, Siemens Tecnomatix CAD ingestion toolchains, and proprietary mesh processing software.</a:t>
            </a:r>
          </a:p>
          <a:p>
            <a:pPr>
              <a:spcBef>
                <a:spcPts val="700"/>
              </a:spcBef>
            </a:pPr>
            <a:r>
              <a:rPr sz="950" b="1">
                <a:solidFill>
                  <a:srgbClr val="0F172A"/>
                </a:solidFill>
                <a:latin typeface="Segoe UI"/>
              </a:rPr>
              <a:t>✔ Simulation Engineering Team ($1.5M/yr): </a:t>
            </a:r>
            <a:r>
              <a:rPr sz="900">
                <a:solidFill>
                  <a:srgbClr val="334155"/>
                </a:solidFill>
                <a:latin typeface="Segoe UI"/>
              </a:rPr>
              <a:t>8 dedicated engineering FTEs: 3D CAD/Meshing Specialists, Differentiable Physics Engineers, and Domain Randomization ML Engineers.</a:t>
            </a:r>
          </a:p>
          <a:p>
            <a:pPr>
              <a:spcBef>
                <a:spcPts val="1200"/>
              </a:spcBef>
            </a:pPr>
            <a:r>
              <a:rPr sz="1100" b="1">
                <a:solidFill>
                  <a:srgbClr val="047857"/>
                </a:solidFill>
                <a:latin typeface="Segoe UI"/>
              </a:rPr>
              <a:t>TOTAL PHASE 3 BUDGET: $4.2M </a:t>
            </a:r>
            <a:r>
              <a:rPr sz="950">
                <a:solidFill>
                  <a:srgbClr val="64748B"/>
                </a:solidFill>
                <a:latin typeface="Segoe UI"/>
              </a:rPr>
              <a:t>(Within $3.0M-$5.0M target range)</a:t>
            </a:r>
          </a:p>
        </p:txBody>
      </p:sp>
      <p:sp>
        <p:nvSpPr>
          <p:cNvPr id="15" name="Rectangle 14"/>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Priority 3 transforms enterprise CAD databases into high-margin Synthetic Data Factory as a Service (SD-FaaS) recurring revenues.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8 · STRATEGIC ROADMAP</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Priority 4: Physical AI Engineering Center of Excellence</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Ongoing Baseline  ·  Cross-training 250 engineers, lateral PhD hiring, and academic fellowships.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691640"/>
            <a:ext cx="5212080" cy="228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60120" y="1874519"/>
            <a:ext cx="2194560" cy="219456"/>
          </a:xfrm>
          <a:prstGeom prst="roundRect">
            <a:avLst/>
          </a:prstGeom>
          <a:solidFill>
            <a:srgbClr val="F3E8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6D28D9"/>
                </a:solidFill>
                <a:latin typeface="Segoe UI"/>
              </a:rPr>
              <a:t>FOUNDATIONAL TALENT STRATEGY</a:t>
            </a:r>
          </a:p>
        </p:txBody>
      </p:sp>
      <p:sp>
        <p:nvSpPr>
          <p:cNvPr id="10" name="TextBox 9"/>
          <p:cNvSpPr txBox="1"/>
          <p:nvPr/>
        </p:nvSpPr>
        <p:spPr>
          <a:xfrm>
            <a:off x="960120" y="2194560"/>
            <a:ext cx="4754880" cy="3657600"/>
          </a:xfrm>
          <a:prstGeom prst="rect">
            <a:avLst/>
          </a:prstGeom>
          <a:noFill/>
        </p:spPr>
        <p:txBody>
          <a:bodyPr wrap="square" lIns="0" rIns="0" tIns="0" bIns="0">
            <a:spAutoFit/>
          </a:bodyPr>
          <a:lstStyle/>
          <a:p>
            <a:r>
              <a:rPr sz="1150" b="1">
                <a:solidFill>
                  <a:srgbClr val="0F172A"/>
                </a:solidFill>
                <a:latin typeface="Segoe UI"/>
              </a:rPr>
              <a:t>The Hybrid Mechatronics + AI Talent Bench:
</a:t>
            </a:r>
          </a:p>
          <a:p>
            <a:pPr>
              <a:spcBef>
                <a:spcPts val="600"/>
              </a:spcBef>
            </a:pPr>
            <a:r>
              <a:rPr sz="950" b="1">
                <a:solidFill>
                  <a:srgbClr val="6D28D9"/>
                </a:solidFill>
                <a:latin typeface="Segoe UI"/>
              </a:rPr>
              <a:t>• The Industry Talent Scarcity: </a:t>
            </a:r>
            <a:r>
              <a:rPr sz="900">
                <a:solidFill>
                  <a:srgbClr val="334155"/>
                </a:solidFill>
                <a:latin typeface="Segoe UI"/>
              </a:rPr>
              <a:t>There are virtually zero engineers who understand both PyTorch reinforcement learning and Siemens S7 ladder logic. Pure ML engineers lack controls knowledge; automation engineers lack neural network training skills.</a:t>
            </a:r>
          </a:p>
          <a:p>
            <a:pPr>
              <a:spcBef>
                <a:spcPts val="600"/>
              </a:spcBef>
            </a:pPr>
            <a:r>
              <a:rPr sz="950" b="1">
                <a:solidFill>
                  <a:srgbClr val="6D28D9"/>
                </a:solidFill>
                <a:latin typeface="Segoe UI"/>
              </a:rPr>
              <a:t>• Underpinning All Commercial Pillars: </a:t>
            </a:r>
            <a:r>
              <a:rPr sz="900">
                <a:solidFill>
                  <a:srgbClr val="334155"/>
                </a:solidFill>
                <a:latin typeface="Segoe UI"/>
              </a:rPr>
              <a:t>Continuous talent upskilling underpins Priorities 1, 2, and 3 from day one, systematically cross-training LTTS's mechatronics bench into robotics AI.</a:t>
            </a:r>
          </a:p>
          <a:p>
            <a:pPr>
              <a:spcBef>
                <a:spcPts val="600"/>
              </a:spcBef>
            </a:pPr>
            <a:r>
              <a:rPr sz="950" b="1">
                <a:solidFill>
                  <a:srgbClr val="6D28D9"/>
                </a:solidFill>
                <a:latin typeface="Segoe UI"/>
              </a:rPr>
              <a:t>• Structured 250-Engineer Cohort: </a:t>
            </a:r>
            <a:r>
              <a:rPr sz="900">
                <a:solidFill>
                  <a:srgbClr val="334155"/>
                </a:solidFill>
                <a:latin typeface="Segoe UI"/>
              </a:rPr>
              <a:t>Cross-training 250 senior mechatronics and controls engineers into ROS2, Isaac Lab, PyTorch, and edge quantization at $4k per engineer.</a:t>
            </a:r>
          </a:p>
          <a:p>
            <a:pPr>
              <a:spcBef>
                <a:spcPts val="600"/>
              </a:spcBef>
            </a:pPr>
            <a:r>
              <a:rPr sz="950" b="1">
                <a:solidFill>
                  <a:srgbClr val="6D28D9"/>
                </a:solidFill>
                <a:latin typeface="Segoe UI"/>
              </a:rPr>
              <a:t>• Creating the Long-Term Moat: </a:t>
            </a:r>
            <a:r>
              <a:rPr sz="900">
                <a:solidFill>
                  <a:srgbClr val="334155"/>
                </a:solidFill>
                <a:latin typeface="Segoe UI"/>
              </a:rPr>
              <a:t>A hybrid workforce that cannot be replicated by software consultancies or traditional IT services firms.</a:t>
            </a:r>
          </a:p>
        </p:txBody>
      </p:sp>
      <p:sp>
        <p:nvSpPr>
          <p:cNvPr id="11" name="Rectangle 10"/>
          <p:cNvSpPr/>
          <p:nvPr/>
        </p:nvSpPr>
        <p:spPr>
          <a:xfrm>
            <a:off x="6245352" y="1691640"/>
            <a:ext cx="5212080" cy="4343400"/>
          </a:xfrm>
          <a:prstGeom prst="rect">
            <a:avLst/>
          </a:prstGeom>
          <a:solidFill>
            <a:srgbClr val="F8FAF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1691640"/>
            <a:ext cx="5212080" cy="2286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73952" y="1874519"/>
            <a:ext cx="2537460" cy="219456"/>
          </a:xfrm>
          <a:prstGeom prst="roundRect">
            <a:avLst/>
          </a:prstGeom>
          <a:solidFill>
            <a:srgbClr val="E2E8F0"/>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002B49"/>
                </a:solidFill>
                <a:latin typeface="Segoe UI"/>
              </a:rPr>
              <a:t>ANNUAL COE BUDGET: $2.5M/YR TOTAL</a:t>
            </a:r>
          </a:p>
        </p:txBody>
      </p:sp>
      <p:sp>
        <p:nvSpPr>
          <p:cNvPr id="14" name="TextBox 13"/>
          <p:cNvSpPr txBox="1"/>
          <p:nvPr/>
        </p:nvSpPr>
        <p:spPr>
          <a:xfrm>
            <a:off x="6473952" y="2194560"/>
            <a:ext cx="4754880" cy="3657600"/>
          </a:xfrm>
          <a:prstGeom prst="rect">
            <a:avLst/>
          </a:prstGeom>
          <a:noFill/>
        </p:spPr>
        <p:txBody>
          <a:bodyPr wrap="square" lIns="0" rIns="0" tIns="0" bIns="0">
            <a:spAutoFit/>
          </a:bodyPr>
          <a:lstStyle/>
          <a:p>
            <a:r>
              <a:rPr sz="1100" b="1">
                <a:solidFill>
                  <a:srgbClr val="002B49"/>
                </a:solidFill>
                <a:latin typeface="Segoe UI"/>
              </a:rPr>
              <a:t>Target Range: $2.0M - $3.0M/yr [Estimated]
</a:t>
            </a:r>
          </a:p>
          <a:p>
            <a:pPr>
              <a:spcBef>
                <a:spcPts val="700"/>
              </a:spcBef>
            </a:pPr>
            <a:r>
              <a:rPr sz="950" b="1">
                <a:solidFill>
                  <a:srgbClr val="0F172A"/>
                </a:solidFill>
                <a:latin typeface="Segoe UI"/>
              </a:rPr>
              <a:t>✔ Structured Upskilling Curriculum ($1.0M/yr): </a:t>
            </a:r>
            <a:r>
              <a:rPr sz="900">
                <a:solidFill>
                  <a:srgbClr val="334155"/>
                </a:solidFill>
                <a:latin typeface="Segoe UI"/>
              </a:rPr>
              <a:t>Formal intensive training of 250 senior engineers across PyTorch, ROS2, Isaac Lab, and embedded edge quantization ($4,000 per engineer loaded program cost).</a:t>
            </a:r>
          </a:p>
          <a:p>
            <a:pPr>
              <a:spcBef>
                <a:spcPts val="700"/>
              </a:spcBef>
            </a:pPr>
            <a:r>
              <a:rPr sz="950" b="1">
                <a:solidFill>
                  <a:srgbClr val="0F172A"/>
                </a:solidFill>
                <a:latin typeface="Segoe UI"/>
              </a:rPr>
              <a:t>✔ Specialized Lateral Hiring ($1.2M/yr): </a:t>
            </a:r>
            <a:r>
              <a:rPr sz="900">
                <a:solidFill>
                  <a:srgbClr val="334155"/>
                </a:solidFill>
                <a:latin typeface="Segoe UI"/>
              </a:rPr>
              <a:t>Recruiting 5 Principal Research Engineers and Ph.D. technical leads in Embodied AI, Differentiable Physics, and Formal Safety Verification.</a:t>
            </a:r>
          </a:p>
          <a:p>
            <a:pPr>
              <a:spcBef>
                <a:spcPts val="700"/>
              </a:spcBef>
            </a:pPr>
            <a:r>
              <a:rPr sz="950" b="1">
                <a:solidFill>
                  <a:srgbClr val="0F172A"/>
                </a:solidFill>
                <a:latin typeface="Segoe UI"/>
              </a:rPr>
              <a:t>✔ Academic Research Fellowships ($300k/yr): </a:t>
            </a:r>
            <a:r>
              <a:rPr sz="900">
                <a:solidFill>
                  <a:srgbClr val="334155"/>
                </a:solidFill>
                <a:latin typeface="Segoe UI"/>
              </a:rPr>
              <a:t>Sponsored research partnerships and doctoral fellowships with leading robotics laboratories (IISc Bangalore, IIT Madras/Bombay, and Stanford/CMU affiliates).</a:t>
            </a:r>
          </a:p>
          <a:p>
            <a:pPr>
              <a:spcBef>
                <a:spcPts val="1200"/>
              </a:spcBef>
            </a:pPr>
            <a:r>
              <a:rPr sz="1100" b="1">
                <a:solidFill>
                  <a:srgbClr val="047857"/>
                </a:solidFill>
                <a:latin typeface="Segoe UI"/>
              </a:rPr>
              <a:t>TOTAL ANNUAL COE BUDGET: $2.5M/yr </a:t>
            </a:r>
            <a:r>
              <a:rPr sz="950">
                <a:solidFill>
                  <a:srgbClr val="64748B"/>
                </a:solidFill>
                <a:latin typeface="Segoe UI"/>
              </a:rPr>
              <a:t>(Within $2.0M-$3.0M target range)</a:t>
            </a:r>
          </a:p>
        </p:txBody>
      </p:sp>
      <p:sp>
        <p:nvSpPr>
          <p:cNvPr id="15" name="Rectangle 14"/>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The CoE builds the world's largest certified workforce of hybrid mechatronics-plus-AI engineers, cementing LTTS's long-term competitive moat.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MODULE 8 · STRATEGIC ROADMAP</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Integrated Strategic Roadmap &amp; Phased Budget Allocation (Table 5)</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Comprehensive execution timeline, strategic capabilities, target deliverables, and capital deployment.</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725912" cy="347472"/>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91640"/>
            <a:ext cx="2194560" cy="256032"/>
          </a:xfrm>
          <a:prstGeom prst="rect">
            <a:avLst/>
          </a:prstGeom>
          <a:noFill/>
        </p:spPr>
        <p:txBody>
          <a:bodyPr wrap="square" lIns="0" rIns="0" tIns="0" bIns="0">
            <a:spAutoFit/>
          </a:bodyPr>
          <a:lstStyle/>
          <a:p>
            <a:r>
              <a:rPr sz="850" b="1">
                <a:solidFill>
                  <a:srgbClr val="FFFFFF"/>
                </a:solidFill>
                <a:latin typeface="Segoe UI"/>
              </a:rPr>
              <a:t>STRATEGIC INITIATIVE</a:t>
            </a:r>
          </a:p>
        </p:txBody>
      </p:sp>
      <p:sp>
        <p:nvSpPr>
          <p:cNvPr id="9" name="TextBox 8"/>
          <p:cNvSpPr txBox="1"/>
          <p:nvPr/>
        </p:nvSpPr>
        <p:spPr>
          <a:xfrm>
            <a:off x="3200400" y="1691640"/>
            <a:ext cx="1051560" cy="256032"/>
          </a:xfrm>
          <a:prstGeom prst="rect">
            <a:avLst/>
          </a:prstGeom>
          <a:noFill/>
        </p:spPr>
        <p:txBody>
          <a:bodyPr wrap="square" lIns="0" rIns="0" tIns="0" bIns="0">
            <a:spAutoFit/>
          </a:bodyPr>
          <a:lstStyle/>
          <a:p>
            <a:r>
              <a:rPr sz="850" b="1">
                <a:solidFill>
                  <a:srgbClr val="FFFFFF"/>
                </a:solidFill>
                <a:latin typeface="Segoe UI"/>
              </a:rPr>
              <a:t>TIMELINE</a:t>
            </a:r>
          </a:p>
        </p:txBody>
      </p:sp>
      <p:sp>
        <p:nvSpPr>
          <p:cNvPr id="10" name="TextBox 9"/>
          <p:cNvSpPr txBox="1"/>
          <p:nvPr/>
        </p:nvSpPr>
        <p:spPr>
          <a:xfrm>
            <a:off x="4434840" y="1691640"/>
            <a:ext cx="2999232" cy="256032"/>
          </a:xfrm>
          <a:prstGeom prst="rect">
            <a:avLst/>
          </a:prstGeom>
          <a:noFill/>
        </p:spPr>
        <p:txBody>
          <a:bodyPr wrap="square" lIns="0" rIns="0" tIns="0" bIns="0">
            <a:spAutoFit/>
          </a:bodyPr>
          <a:lstStyle/>
          <a:p>
            <a:r>
              <a:rPr sz="850" b="1">
                <a:solidFill>
                  <a:srgbClr val="FFFFFF"/>
                </a:solidFill>
                <a:latin typeface="Segoe UI"/>
              </a:rPr>
              <a:t>STRATEGIC FOCUS &amp; CAPABILITY</a:t>
            </a:r>
          </a:p>
        </p:txBody>
      </p:sp>
      <p:sp>
        <p:nvSpPr>
          <p:cNvPr id="11" name="TextBox 10"/>
          <p:cNvSpPr txBox="1"/>
          <p:nvPr/>
        </p:nvSpPr>
        <p:spPr>
          <a:xfrm>
            <a:off x="7616952" y="1691640"/>
            <a:ext cx="2286000" cy="256032"/>
          </a:xfrm>
          <a:prstGeom prst="rect">
            <a:avLst/>
          </a:prstGeom>
          <a:noFill/>
        </p:spPr>
        <p:txBody>
          <a:bodyPr wrap="square" lIns="0" rIns="0" tIns="0" bIns="0">
            <a:spAutoFit/>
          </a:bodyPr>
          <a:lstStyle/>
          <a:p>
            <a:r>
              <a:rPr sz="850" b="1">
                <a:solidFill>
                  <a:srgbClr val="FFFFFF"/>
                </a:solidFill>
                <a:latin typeface="Segoe UI"/>
              </a:rPr>
              <a:t>TARGET DELIVERABLE</a:t>
            </a:r>
          </a:p>
        </p:txBody>
      </p:sp>
      <p:sp>
        <p:nvSpPr>
          <p:cNvPr id="12" name="TextBox 11"/>
          <p:cNvSpPr txBox="1"/>
          <p:nvPr/>
        </p:nvSpPr>
        <p:spPr>
          <a:xfrm>
            <a:off x="10085832" y="1691640"/>
            <a:ext cx="1280160" cy="256032"/>
          </a:xfrm>
          <a:prstGeom prst="rect">
            <a:avLst/>
          </a:prstGeom>
          <a:noFill/>
        </p:spPr>
        <p:txBody>
          <a:bodyPr wrap="square" lIns="0" rIns="0" tIns="0" bIns="0">
            <a:spAutoFit/>
          </a:bodyPr>
          <a:lstStyle/>
          <a:p>
            <a:r>
              <a:rPr sz="850" b="1">
                <a:solidFill>
                  <a:srgbClr val="FFFFFF"/>
                </a:solidFill>
                <a:latin typeface="Segoe UI"/>
              </a:rPr>
              <a:t>PHASED BUDGET</a:t>
            </a:r>
          </a:p>
        </p:txBody>
      </p:sp>
      <p:sp>
        <p:nvSpPr>
          <p:cNvPr id="13" name="Rectangle 12"/>
          <p:cNvSpPr/>
          <p:nvPr/>
        </p:nvSpPr>
        <p:spPr>
          <a:xfrm>
            <a:off x="731520" y="1993392"/>
            <a:ext cx="10725912" cy="91440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2130552"/>
            <a:ext cx="2194560" cy="640080"/>
          </a:xfrm>
          <a:prstGeom prst="rect">
            <a:avLst/>
          </a:prstGeom>
          <a:noFill/>
        </p:spPr>
        <p:txBody>
          <a:bodyPr wrap="square" lIns="0" rIns="0" tIns="0" bIns="0">
            <a:spAutoFit/>
          </a:bodyPr>
          <a:lstStyle/>
          <a:p>
            <a:r>
              <a:rPr sz="1050" b="1">
                <a:solidFill>
                  <a:srgbClr val="0F172A"/>
                </a:solidFill>
                <a:latin typeface="Segoe UI"/>
              </a:rPr>
              <a:t>Priority 1: V&amp;V Practice</a:t>
            </a:r>
          </a:p>
        </p:txBody>
      </p:sp>
      <p:sp>
        <p:nvSpPr>
          <p:cNvPr id="15" name="TextBox 14"/>
          <p:cNvSpPr txBox="1"/>
          <p:nvPr/>
        </p:nvSpPr>
        <p:spPr>
          <a:xfrm>
            <a:off x="3182112" y="2194560"/>
            <a:ext cx="1088136" cy="594360"/>
          </a:xfrm>
          <a:prstGeom prst="rect">
            <a:avLst/>
          </a:prstGeom>
          <a:noFill/>
        </p:spPr>
        <p:txBody>
          <a:bodyPr wrap="square" lIns="0" rIns="0" tIns="0" bIns="0">
            <a:spAutoFit/>
          </a:bodyPr>
          <a:lstStyle/>
          <a:p>
            <a:r>
              <a:rPr sz="1000" b="1">
                <a:solidFill>
                  <a:srgbClr val="047857"/>
                </a:solidFill>
                <a:latin typeface="Segoe UI"/>
              </a:rPr>
              <a:t>Q1 2027</a:t>
            </a:r>
          </a:p>
        </p:txBody>
      </p:sp>
      <p:sp>
        <p:nvSpPr>
          <p:cNvPr id="16" name="TextBox 15"/>
          <p:cNvSpPr txBox="1"/>
          <p:nvPr/>
        </p:nvSpPr>
        <p:spPr>
          <a:xfrm>
            <a:off x="4434840" y="2103120"/>
            <a:ext cx="2999232" cy="694944"/>
          </a:xfrm>
          <a:prstGeom prst="rect">
            <a:avLst/>
          </a:prstGeom>
          <a:noFill/>
        </p:spPr>
        <p:txBody>
          <a:bodyPr wrap="square" lIns="0" rIns="0" tIns="0" bIns="0">
            <a:spAutoFit/>
          </a:bodyPr>
          <a:lstStyle/>
          <a:p>
            <a:r>
              <a:rPr sz="900">
                <a:solidFill>
                  <a:srgbClr val="334155"/>
                </a:solidFill>
                <a:latin typeface="Segoe UI"/>
              </a:rPr>
              <a:t>Functional safety auditing, CBF evaluation &amp; interval bound reachability certification</a:t>
            </a:r>
          </a:p>
        </p:txBody>
      </p:sp>
      <p:sp>
        <p:nvSpPr>
          <p:cNvPr id="17" name="TextBox 16"/>
          <p:cNvSpPr txBox="1"/>
          <p:nvPr/>
        </p:nvSpPr>
        <p:spPr>
          <a:xfrm>
            <a:off x="7616952" y="2103120"/>
            <a:ext cx="2286000" cy="694944"/>
          </a:xfrm>
          <a:prstGeom prst="rect">
            <a:avLst/>
          </a:prstGeom>
          <a:noFill/>
        </p:spPr>
        <p:txBody>
          <a:bodyPr wrap="square" lIns="0" rIns="0" tIns="0" bIns="0">
            <a:spAutoFit/>
          </a:bodyPr>
          <a:lstStyle/>
          <a:p>
            <a:r>
              <a:rPr sz="900">
                <a:solidFill>
                  <a:srgbClr val="334155"/>
                </a:solidFill>
                <a:latin typeface="Segoe UI"/>
              </a:rPr>
              <a:t>Automated Safety Dossier Compiler &amp; certified lab testing under ISO 13849 / IEC 61508</a:t>
            </a:r>
          </a:p>
        </p:txBody>
      </p:sp>
      <p:sp>
        <p:nvSpPr>
          <p:cNvPr id="18" name="TextBox 17"/>
          <p:cNvSpPr txBox="1"/>
          <p:nvPr/>
        </p:nvSpPr>
        <p:spPr>
          <a:xfrm>
            <a:off x="10067544" y="2194560"/>
            <a:ext cx="1316736" cy="594360"/>
          </a:xfrm>
          <a:prstGeom prst="rect">
            <a:avLst/>
          </a:prstGeom>
          <a:noFill/>
        </p:spPr>
        <p:txBody>
          <a:bodyPr wrap="square" lIns="0" rIns="0" tIns="0" bIns="0">
            <a:spAutoFit/>
          </a:bodyPr>
          <a:lstStyle/>
          <a:p>
            <a:r>
              <a:rPr sz="1000" b="1">
                <a:solidFill>
                  <a:srgbClr val="002B49"/>
                </a:solidFill>
                <a:latin typeface="Segoe UI"/>
              </a:rPr>
              <a:t>$2.8M Phase 1</a:t>
            </a:r>
          </a:p>
        </p:txBody>
      </p:sp>
      <p:sp>
        <p:nvSpPr>
          <p:cNvPr id="19" name="Rectangle 18"/>
          <p:cNvSpPr/>
          <p:nvPr/>
        </p:nvSpPr>
        <p:spPr>
          <a:xfrm>
            <a:off x="731520" y="2907792"/>
            <a:ext cx="10725912" cy="9144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044952"/>
            <a:ext cx="2194560" cy="640080"/>
          </a:xfrm>
          <a:prstGeom prst="rect">
            <a:avLst/>
          </a:prstGeom>
          <a:noFill/>
        </p:spPr>
        <p:txBody>
          <a:bodyPr wrap="square" lIns="0" rIns="0" tIns="0" bIns="0">
            <a:spAutoFit/>
          </a:bodyPr>
          <a:lstStyle/>
          <a:p>
            <a:r>
              <a:rPr sz="1050" b="1">
                <a:solidFill>
                  <a:srgbClr val="0F172A"/>
                </a:solidFill>
                <a:latin typeface="Segoe UI"/>
              </a:rPr>
              <a:t>Priority 2: PLC Alliances</a:t>
            </a:r>
          </a:p>
        </p:txBody>
      </p:sp>
      <p:sp>
        <p:nvSpPr>
          <p:cNvPr id="21" name="TextBox 20"/>
          <p:cNvSpPr txBox="1"/>
          <p:nvPr/>
        </p:nvSpPr>
        <p:spPr>
          <a:xfrm>
            <a:off x="3182112" y="3108960"/>
            <a:ext cx="1088136" cy="594360"/>
          </a:xfrm>
          <a:prstGeom prst="rect">
            <a:avLst/>
          </a:prstGeom>
          <a:noFill/>
        </p:spPr>
        <p:txBody>
          <a:bodyPr wrap="square" lIns="0" rIns="0" tIns="0" bIns="0">
            <a:spAutoFit/>
          </a:bodyPr>
          <a:lstStyle/>
          <a:p>
            <a:r>
              <a:rPr sz="1000" b="1">
                <a:solidFill>
                  <a:srgbClr val="0A58CA"/>
                </a:solidFill>
                <a:latin typeface="Segoe UI"/>
              </a:rPr>
              <a:t>Q2 2027</a:t>
            </a:r>
          </a:p>
        </p:txBody>
      </p:sp>
      <p:sp>
        <p:nvSpPr>
          <p:cNvPr id="22" name="TextBox 21"/>
          <p:cNvSpPr txBox="1"/>
          <p:nvPr/>
        </p:nvSpPr>
        <p:spPr>
          <a:xfrm>
            <a:off x="4434840" y="3017520"/>
            <a:ext cx="2999232" cy="694944"/>
          </a:xfrm>
          <a:prstGeom prst="rect">
            <a:avLst/>
          </a:prstGeom>
          <a:noFill/>
        </p:spPr>
        <p:txBody>
          <a:bodyPr wrap="square" lIns="0" rIns="0" tIns="0" bIns="0">
            <a:spAutoFit/>
          </a:bodyPr>
          <a:lstStyle/>
          <a:p>
            <a:r>
              <a:rPr sz="900">
                <a:solidFill>
                  <a:srgbClr val="334155"/>
                </a:solidFill>
                <a:latin typeface="Segoe UI"/>
              </a:rPr>
              <a:t>Joint integration testbeds with Siemens S7-1500 &amp; Rockwell ControlLogix architectures</a:t>
            </a:r>
          </a:p>
        </p:txBody>
      </p:sp>
      <p:sp>
        <p:nvSpPr>
          <p:cNvPr id="23" name="TextBox 22"/>
          <p:cNvSpPr txBox="1"/>
          <p:nvPr/>
        </p:nvSpPr>
        <p:spPr>
          <a:xfrm>
            <a:off x="7616952" y="3017520"/>
            <a:ext cx="2286000" cy="694944"/>
          </a:xfrm>
          <a:prstGeom prst="rect">
            <a:avLst/>
          </a:prstGeom>
          <a:noFill/>
        </p:spPr>
        <p:txBody>
          <a:bodyPr wrap="square" lIns="0" rIns="0" tIns="0" bIns="0">
            <a:spAutoFit/>
          </a:bodyPr>
          <a:lstStyle/>
          <a:p>
            <a:r>
              <a:rPr sz="900">
                <a:solidFill>
                  <a:srgbClr val="334155"/>
                </a:solidFill>
                <a:latin typeface="Segoe UI"/>
              </a:rPr>
              <a:t>Certified bridge middleware connecting neural policies to industrial fieldbuses</a:t>
            </a:r>
          </a:p>
        </p:txBody>
      </p:sp>
      <p:sp>
        <p:nvSpPr>
          <p:cNvPr id="24" name="TextBox 23"/>
          <p:cNvSpPr txBox="1"/>
          <p:nvPr/>
        </p:nvSpPr>
        <p:spPr>
          <a:xfrm>
            <a:off x="10067544" y="3108960"/>
            <a:ext cx="1316736" cy="594360"/>
          </a:xfrm>
          <a:prstGeom prst="rect">
            <a:avLst/>
          </a:prstGeom>
          <a:noFill/>
        </p:spPr>
        <p:txBody>
          <a:bodyPr wrap="square" lIns="0" rIns="0" tIns="0" bIns="0">
            <a:spAutoFit/>
          </a:bodyPr>
          <a:lstStyle/>
          <a:p>
            <a:r>
              <a:rPr sz="1000" b="1">
                <a:solidFill>
                  <a:srgbClr val="002B49"/>
                </a:solidFill>
                <a:latin typeface="Segoe UI"/>
              </a:rPr>
              <a:t>$1.3M Phase 2</a:t>
            </a:r>
          </a:p>
        </p:txBody>
      </p:sp>
      <p:sp>
        <p:nvSpPr>
          <p:cNvPr id="25" name="Rectangle 24"/>
          <p:cNvSpPr/>
          <p:nvPr/>
        </p:nvSpPr>
        <p:spPr>
          <a:xfrm>
            <a:off x="731520" y="3822191"/>
            <a:ext cx="10725912" cy="914400"/>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3959352"/>
            <a:ext cx="2194560" cy="640080"/>
          </a:xfrm>
          <a:prstGeom prst="rect">
            <a:avLst/>
          </a:prstGeom>
          <a:noFill/>
        </p:spPr>
        <p:txBody>
          <a:bodyPr wrap="square" lIns="0" rIns="0" tIns="0" bIns="0">
            <a:spAutoFit/>
          </a:bodyPr>
          <a:lstStyle/>
          <a:p>
            <a:r>
              <a:rPr sz="1050" b="1">
                <a:solidFill>
                  <a:srgbClr val="0F172A"/>
                </a:solidFill>
                <a:latin typeface="Segoe UI"/>
              </a:rPr>
              <a:t>Priority 3: Synthetic Data Factory</a:t>
            </a:r>
          </a:p>
        </p:txBody>
      </p:sp>
      <p:sp>
        <p:nvSpPr>
          <p:cNvPr id="27" name="TextBox 26"/>
          <p:cNvSpPr txBox="1"/>
          <p:nvPr/>
        </p:nvSpPr>
        <p:spPr>
          <a:xfrm>
            <a:off x="3182112" y="4023359"/>
            <a:ext cx="1088136" cy="594360"/>
          </a:xfrm>
          <a:prstGeom prst="rect">
            <a:avLst/>
          </a:prstGeom>
          <a:noFill/>
        </p:spPr>
        <p:txBody>
          <a:bodyPr wrap="square" lIns="0" rIns="0" tIns="0" bIns="0">
            <a:spAutoFit/>
          </a:bodyPr>
          <a:lstStyle/>
          <a:p>
            <a:r>
              <a:rPr sz="1000" b="1">
                <a:solidFill>
                  <a:srgbClr val="002B49"/>
                </a:solidFill>
                <a:latin typeface="Segoe UI"/>
              </a:rPr>
              <a:t>Q3 2027</a:t>
            </a:r>
          </a:p>
        </p:txBody>
      </p:sp>
      <p:sp>
        <p:nvSpPr>
          <p:cNvPr id="28" name="TextBox 27"/>
          <p:cNvSpPr txBox="1"/>
          <p:nvPr/>
        </p:nvSpPr>
        <p:spPr>
          <a:xfrm>
            <a:off x="4434840" y="3931920"/>
            <a:ext cx="2999232" cy="694944"/>
          </a:xfrm>
          <a:prstGeom prst="rect">
            <a:avLst/>
          </a:prstGeom>
          <a:noFill/>
        </p:spPr>
        <p:txBody>
          <a:bodyPr wrap="square" lIns="0" rIns="0" tIns="0" bIns="0">
            <a:spAutoFit/>
          </a:bodyPr>
          <a:lstStyle/>
          <a:p>
            <a:r>
              <a:rPr sz="900">
                <a:solidFill>
                  <a:srgbClr val="334155"/>
                </a:solidFill>
                <a:latin typeface="Segoe UI"/>
              </a:rPr>
              <a:t>Digital twin simulation (SD-FaaS) monetizing enterprise CAD/PLM engineering assemblies</a:t>
            </a:r>
          </a:p>
        </p:txBody>
      </p:sp>
      <p:sp>
        <p:nvSpPr>
          <p:cNvPr id="29" name="TextBox 28"/>
          <p:cNvSpPr txBox="1"/>
          <p:nvPr/>
        </p:nvSpPr>
        <p:spPr>
          <a:xfrm>
            <a:off x="7616952" y="3931920"/>
            <a:ext cx="2286000" cy="694944"/>
          </a:xfrm>
          <a:prstGeom prst="rect">
            <a:avLst/>
          </a:prstGeom>
          <a:noFill/>
        </p:spPr>
        <p:txBody>
          <a:bodyPr wrap="square" lIns="0" rIns="0" tIns="0" bIns="0">
            <a:spAutoFit/>
          </a:bodyPr>
          <a:lstStyle/>
          <a:p>
            <a:r>
              <a:rPr sz="900">
                <a:solidFill>
                  <a:srgbClr val="334155"/>
                </a:solidFill>
                <a:latin typeface="Segoe UI"/>
              </a:rPr>
              <a:t>Dedicated 64-GPU Omniverse cluster generating contact-calibrated simulation policies</a:t>
            </a:r>
          </a:p>
        </p:txBody>
      </p:sp>
      <p:sp>
        <p:nvSpPr>
          <p:cNvPr id="30" name="TextBox 29"/>
          <p:cNvSpPr txBox="1"/>
          <p:nvPr/>
        </p:nvSpPr>
        <p:spPr>
          <a:xfrm>
            <a:off x="10067544" y="4023359"/>
            <a:ext cx="1316736" cy="594360"/>
          </a:xfrm>
          <a:prstGeom prst="rect">
            <a:avLst/>
          </a:prstGeom>
          <a:noFill/>
        </p:spPr>
        <p:txBody>
          <a:bodyPr wrap="square" lIns="0" rIns="0" tIns="0" bIns="0">
            <a:spAutoFit/>
          </a:bodyPr>
          <a:lstStyle/>
          <a:p>
            <a:r>
              <a:rPr sz="1000" b="1">
                <a:solidFill>
                  <a:srgbClr val="002B49"/>
                </a:solidFill>
                <a:latin typeface="Segoe UI"/>
              </a:rPr>
              <a:t>$4.2M Phase 3</a:t>
            </a:r>
          </a:p>
        </p:txBody>
      </p:sp>
      <p:sp>
        <p:nvSpPr>
          <p:cNvPr id="31" name="Rectangle 30"/>
          <p:cNvSpPr/>
          <p:nvPr/>
        </p:nvSpPr>
        <p:spPr>
          <a:xfrm>
            <a:off x="731520" y="4736592"/>
            <a:ext cx="10725912" cy="91440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4873752"/>
            <a:ext cx="2194560" cy="640080"/>
          </a:xfrm>
          <a:prstGeom prst="rect">
            <a:avLst/>
          </a:prstGeom>
          <a:noFill/>
        </p:spPr>
        <p:txBody>
          <a:bodyPr wrap="square" lIns="0" rIns="0" tIns="0" bIns="0">
            <a:spAutoFit/>
          </a:bodyPr>
          <a:lstStyle/>
          <a:p>
            <a:r>
              <a:rPr sz="1050" b="1">
                <a:solidFill>
                  <a:srgbClr val="0F172A"/>
                </a:solidFill>
                <a:latin typeface="Segoe UI"/>
              </a:rPr>
              <a:t>Priority 4: Hybrid Talent CoE</a:t>
            </a:r>
          </a:p>
        </p:txBody>
      </p:sp>
      <p:sp>
        <p:nvSpPr>
          <p:cNvPr id="33" name="TextBox 32"/>
          <p:cNvSpPr txBox="1"/>
          <p:nvPr/>
        </p:nvSpPr>
        <p:spPr>
          <a:xfrm>
            <a:off x="3182112" y="4937759"/>
            <a:ext cx="1088136" cy="594360"/>
          </a:xfrm>
          <a:prstGeom prst="rect">
            <a:avLst/>
          </a:prstGeom>
          <a:noFill/>
        </p:spPr>
        <p:txBody>
          <a:bodyPr wrap="square" lIns="0" rIns="0" tIns="0" bIns="0">
            <a:spAutoFit/>
          </a:bodyPr>
          <a:lstStyle/>
          <a:p>
            <a:r>
              <a:rPr sz="1000" b="1">
                <a:solidFill>
                  <a:srgbClr val="6D28D9"/>
                </a:solidFill>
                <a:latin typeface="Segoe UI"/>
              </a:rPr>
              <a:t>Ongoing</a:t>
            </a:r>
          </a:p>
        </p:txBody>
      </p:sp>
      <p:sp>
        <p:nvSpPr>
          <p:cNvPr id="34" name="TextBox 33"/>
          <p:cNvSpPr txBox="1"/>
          <p:nvPr/>
        </p:nvSpPr>
        <p:spPr>
          <a:xfrm>
            <a:off x="4434840" y="4846320"/>
            <a:ext cx="2999232" cy="694944"/>
          </a:xfrm>
          <a:prstGeom prst="rect">
            <a:avLst/>
          </a:prstGeom>
          <a:noFill/>
        </p:spPr>
        <p:txBody>
          <a:bodyPr wrap="square" lIns="0" rIns="0" tIns="0" bIns="0">
            <a:spAutoFit/>
          </a:bodyPr>
          <a:lstStyle/>
          <a:p>
            <a:r>
              <a:rPr sz="900">
                <a:solidFill>
                  <a:srgbClr val="334155"/>
                </a:solidFill>
                <a:latin typeface="Segoe UI"/>
              </a:rPr>
              <a:t>Cross-training mechatronics bench into robotics AI; recruiting 5 lateral Ph.D. specialists</a:t>
            </a:r>
          </a:p>
        </p:txBody>
      </p:sp>
      <p:sp>
        <p:nvSpPr>
          <p:cNvPr id="35" name="TextBox 34"/>
          <p:cNvSpPr txBox="1"/>
          <p:nvPr/>
        </p:nvSpPr>
        <p:spPr>
          <a:xfrm>
            <a:off x="7616952" y="4846320"/>
            <a:ext cx="2286000" cy="694944"/>
          </a:xfrm>
          <a:prstGeom prst="rect">
            <a:avLst/>
          </a:prstGeom>
          <a:noFill/>
        </p:spPr>
        <p:txBody>
          <a:bodyPr wrap="square" lIns="0" rIns="0" tIns="0" bIns="0">
            <a:spAutoFit/>
          </a:bodyPr>
          <a:lstStyle/>
          <a:p>
            <a:r>
              <a:rPr sz="900">
                <a:solidFill>
                  <a:srgbClr val="334155"/>
                </a:solidFill>
                <a:latin typeface="Segoe UI"/>
              </a:rPr>
              <a:t>250-engineer hybrid workforce bridging controls engineering with deep learning</a:t>
            </a:r>
          </a:p>
        </p:txBody>
      </p:sp>
      <p:sp>
        <p:nvSpPr>
          <p:cNvPr id="36" name="TextBox 35"/>
          <p:cNvSpPr txBox="1"/>
          <p:nvPr/>
        </p:nvSpPr>
        <p:spPr>
          <a:xfrm>
            <a:off x="10067544" y="4937759"/>
            <a:ext cx="1316736" cy="594360"/>
          </a:xfrm>
          <a:prstGeom prst="rect">
            <a:avLst/>
          </a:prstGeom>
          <a:noFill/>
        </p:spPr>
        <p:txBody>
          <a:bodyPr wrap="square" lIns="0" rIns="0" tIns="0" bIns="0">
            <a:spAutoFit/>
          </a:bodyPr>
          <a:lstStyle/>
          <a:p>
            <a:r>
              <a:rPr sz="1000" b="1">
                <a:solidFill>
                  <a:srgbClr val="002B49"/>
                </a:solidFill>
                <a:latin typeface="Segoe UI"/>
              </a:rPr>
              <a:t>$2.5M/yr Annual</a:t>
            </a:r>
          </a:p>
        </p:txBody>
      </p:sp>
      <p:sp>
        <p:nvSpPr>
          <p:cNvPr id="37" name="Rectangle 36"/>
          <p:cNvSpPr/>
          <p:nvPr/>
        </p:nvSpPr>
        <p:spPr>
          <a:xfrm>
            <a:off x="731520" y="5760720"/>
            <a:ext cx="10725912" cy="594360"/>
          </a:xfrm>
          <a:prstGeom prst="rect">
            <a:avLst/>
          </a:prstGeom>
          <a:solidFill>
            <a:srgbClr val="F1F5F9"/>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833872"/>
            <a:ext cx="10360152" cy="457200"/>
          </a:xfrm>
          <a:prstGeom prst="rect">
            <a:avLst/>
          </a:prstGeom>
          <a:noFill/>
        </p:spPr>
        <p:txBody>
          <a:bodyPr wrap="square" lIns="0" rIns="0" tIns="0" bIns="0">
            <a:spAutoFit/>
          </a:bodyPr>
          <a:lstStyle/>
          <a:p>
            <a:r>
              <a:rPr sz="1000" b="1">
                <a:solidFill>
                  <a:srgbClr val="002B49"/>
                </a:solidFill>
                <a:latin typeface="Segoe UI"/>
              </a:rPr>
              <a:t>TOTAL 2027 PROGRAM INVESTMENT: </a:t>
            </a:r>
            <a:r>
              <a:rPr sz="900">
                <a:solidFill>
                  <a:srgbClr val="334155"/>
                </a:solidFill>
                <a:latin typeface="Segoe UI"/>
              </a:rPr>
              <a:t>$8.3M Phased Capex ($2.8M V&amp;V + $1.3M Alliances + $4.2M Data Factory) + $2.5M/yr Ongoing CoE Baseline. Every dollar is directly anchored in customer revenue expansion.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85800"/>
            <a:ext cx="3428999" cy="219456"/>
          </a:xfrm>
          <a:prstGeom prst="roundRect">
            <a:avLst/>
          </a:prstGeom>
          <a:solidFill>
            <a:srgbClr val="001E33"/>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B45309"/>
                </a:solidFill>
                <a:latin typeface="Segoe UI"/>
              </a:rPr>
              <a:t>STRATEGIC CONCLUSION  ·  BOARDROOM ACTION CALL</a:t>
            </a:r>
          </a:p>
        </p:txBody>
      </p:sp>
      <p:sp>
        <p:nvSpPr>
          <p:cNvPr id="4" name="TextBox 3"/>
          <p:cNvSpPr txBox="1"/>
          <p:nvPr/>
        </p:nvSpPr>
        <p:spPr>
          <a:xfrm>
            <a:off x="731520" y="1188720"/>
            <a:ext cx="10515600" cy="1371600"/>
          </a:xfrm>
          <a:prstGeom prst="rect">
            <a:avLst/>
          </a:prstGeom>
          <a:noFill/>
        </p:spPr>
        <p:txBody>
          <a:bodyPr wrap="square" lIns="0" rIns="0" tIns="0" bIns="0">
            <a:spAutoFit/>
          </a:bodyPr>
          <a:lstStyle/>
          <a:p>
            <a:r>
              <a:rPr sz="3600" b="1">
                <a:solidFill>
                  <a:srgbClr val="FFFFFF"/>
                </a:solidFill>
                <a:latin typeface="Segoe UI"/>
              </a:rPr>
              <a:t>The future of industrial automation
is Physical Artificial Intelligence.</a:t>
            </a:r>
          </a:p>
        </p:txBody>
      </p:sp>
      <p:sp>
        <p:nvSpPr>
          <p:cNvPr id="5" name="Rectangle 4"/>
          <p:cNvSpPr/>
          <p:nvPr/>
        </p:nvSpPr>
        <p:spPr>
          <a:xfrm>
            <a:off x="731520" y="2788920"/>
            <a:ext cx="73152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017520"/>
            <a:ext cx="10515600" cy="1920240"/>
          </a:xfrm>
          <a:prstGeom prst="rect">
            <a:avLst/>
          </a:prstGeom>
          <a:noFill/>
        </p:spPr>
        <p:txBody>
          <a:bodyPr wrap="square" lIns="0" rIns="0" tIns="0" bIns="0">
            <a:spAutoFit/>
          </a:bodyPr>
          <a:lstStyle/>
          <a:p>
            <a:r>
              <a:rPr sz="1300">
                <a:solidFill>
                  <a:srgbClr val="93C5FD"/>
                </a:solidFill>
                <a:latin typeface="Segoe UI"/>
              </a:rPr>
              <a:t>The strategic opportunity for L&amp;T Technology Services is not to manufacture commoditizing robot hardware, nor to compete in multi-billion-dollar foundational model training.
</a:t>
            </a:r>
            <a:r>
              <a:rPr sz="1600" b="1">
                <a:solidFill>
                  <a:srgbClr val="B45309"/>
                </a:solidFill>
                <a:latin typeface="Segoe UI"/>
              </a:rPr>
              <a:t>The definitive opportunity for LTTS is to become the indispensable, trusted engineering bridge that verifies, integrates, and deploys Physical AI safely at scale.</a:t>
            </a:r>
          </a:p>
        </p:txBody>
      </p:sp>
      <p:sp>
        <p:nvSpPr>
          <p:cNvPr id="7" name="Rectangle 6"/>
          <p:cNvSpPr/>
          <p:nvPr/>
        </p:nvSpPr>
        <p:spPr>
          <a:xfrm>
            <a:off x="731520" y="5166360"/>
            <a:ext cx="2514600" cy="1234440"/>
          </a:xfrm>
          <a:prstGeom prst="rect">
            <a:avLst/>
          </a:prstGeom>
          <a:solidFill>
            <a:srgbClr val="043354"/>
          </a:solidFill>
          <a:ln w="9525">
            <a:solidFill>
              <a:srgbClr val="0C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166360"/>
            <a:ext cx="2514600" cy="18288"/>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5276088"/>
            <a:ext cx="2295144" cy="1051560"/>
          </a:xfrm>
          <a:prstGeom prst="rect">
            <a:avLst/>
          </a:prstGeom>
          <a:noFill/>
        </p:spPr>
        <p:txBody>
          <a:bodyPr wrap="square" lIns="0" tIns="0" bIns="0">
            <a:spAutoFit/>
          </a:bodyPr>
          <a:lstStyle/>
          <a:p>
            <a:r>
              <a:rPr sz="950" b="1">
                <a:solidFill>
                  <a:srgbClr val="047857"/>
                </a:solidFill>
                <a:latin typeface="Segoe UI"/>
              </a:rPr>
              <a:t>1. VERIFY (Q1 2027)
</a:t>
            </a:r>
          </a:p>
          <a:p>
            <a:pPr>
              <a:spcBef>
                <a:spcPts val="300"/>
              </a:spcBef>
            </a:pPr>
            <a:r>
              <a:rPr sz="850">
                <a:solidFill>
                  <a:srgbClr val="F1F5F9"/>
                </a:solidFill>
                <a:latin typeface="Segoe UI"/>
              </a:rPr>
              <a:t>Formal Safety Dossiers &amp; CBF reachability certification under ISO 13849 / IEC 61508.</a:t>
            </a:r>
          </a:p>
        </p:txBody>
      </p:sp>
      <p:sp>
        <p:nvSpPr>
          <p:cNvPr id="10" name="Rectangle 9"/>
          <p:cNvSpPr/>
          <p:nvPr/>
        </p:nvSpPr>
        <p:spPr>
          <a:xfrm>
            <a:off x="3465576" y="5166360"/>
            <a:ext cx="2514600" cy="1234440"/>
          </a:xfrm>
          <a:prstGeom prst="rect">
            <a:avLst/>
          </a:prstGeom>
          <a:solidFill>
            <a:srgbClr val="043354"/>
          </a:solidFill>
          <a:ln w="9525">
            <a:solidFill>
              <a:srgbClr val="0C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65576" y="5166360"/>
            <a:ext cx="2514600" cy="1828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5304" y="5276088"/>
            <a:ext cx="2295144" cy="1051560"/>
          </a:xfrm>
          <a:prstGeom prst="rect">
            <a:avLst/>
          </a:prstGeom>
          <a:noFill/>
        </p:spPr>
        <p:txBody>
          <a:bodyPr wrap="square" lIns="0" tIns="0" bIns="0">
            <a:spAutoFit/>
          </a:bodyPr>
          <a:lstStyle/>
          <a:p>
            <a:r>
              <a:rPr sz="950" b="1">
                <a:solidFill>
                  <a:srgbClr val="38BDF8"/>
                </a:solidFill>
                <a:latin typeface="Segoe UI"/>
              </a:rPr>
              <a:t>2. INTEGRATE (Q2 2027)
</a:t>
            </a:r>
          </a:p>
          <a:p>
            <a:pPr>
              <a:spcBef>
                <a:spcPts val="300"/>
              </a:spcBef>
            </a:pPr>
            <a:r>
              <a:rPr sz="850">
                <a:solidFill>
                  <a:srgbClr val="F1F5F9"/>
                </a:solidFill>
                <a:latin typeface="Segoe UI"/>
              </a:rPr>
              <a:t>Certified PLC bridge middleware with Siemens S7-1500 &amp; Rockwell ControlLogix.</a:t>
            </a:r>
          </a:p>
        </p:txBody>
      </p:sp>
      <p:sp>
        <p:nvSpPr>
          <p:cNvPr id="13" name="Rectangle 12"/>
          <p:cNvSpPr/>
          <p:nvPr/>
        </p:nvSpPr>
        <p:spPr>
          <a:xfrm>
            <a:off x="6199632" y="5166360"/>
            <a:ext cx="2514600" cy="1234440"/>
          </a:xfrm>
          <a:prstGeom prst="rect">
            <a:avLst/>
          </a:prstGeom>
          <a:solidFill>
            <a:srgbClr val="043354"/>
          </a:solidFill>
          <a:ln w="9525">
            <a:solidFill>
              <a:srgbClr val="0C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9632" y="5166360"/>
            <a:ext cx="2514600" cy="1828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5276088"/>
            <a:ext cx="2295144" cy="1051560"/>
          </a:xfrm>
          <a:prstGeom prst="rect">
            <a:avLst/>
          </a:prstGeom>
          <a:noFill/>
        </p:spPr>
        <p:txBody>
          <a:bodyPr wrap="square" lIns="0" tIns="0" bIns="0">
            <a:spAutoFit/>
          </a:bodyPr>
          <a:lstStyle/>
          <a:p>
            <a:r>
              <a:rPr sz="950" b="1">
                <a:solidFill>
                  <a:srgbClr val="B45309"/>
                </a:solidFill>
                <a:latin typeface="Segoe UI"/>
              </a:rPr>
              <a:t>3. SCALE (Q3 2027)
</a:t>
            </a:r>
          </a:p>
          <a:p>
            <a:pPr>
              <a:spcBef>
                <a:spcPts val="300"/>
              </a:spcBef>
            </a:pPr>
            <a:r>
              <a:rPr sz="850">
                <a:solidFill>
                  <a:srgbClr val="F1F5F9"/>
                </a:solidFill>
                <a:latin typeface="Segoe UI"/>
              </a:rPr>
              <a:t>Domain-Specific Synthetic Data Factories monetizing enterprise CAD/PLM assemblies.</a:t>
            </a:r>
          </a:p>
        </p:txBody>
      </p:sp>
      <p:sp>
        <p:nvSpPr>
          <p:cNvPr id="16" name="Rectangle 15"/>
          <p:cNvSpPr/>
          <p:nvPr/>
        </p:nvSpPr>
        <p:spPr>
          <a:xfrm>
            <a:off x="8933688" y="5166360"/>
            <a:ext cx="2514600" cy="1234440"/>
          </a:xfrm>
          <a:prstGeom prst="rect">
            <a:avLst/>
          </a:prstGeom>
          <a:solidFill>
            <a:srgbClr val="043354"/>
          </a:solidFill>
          <a:ln w="9525">
            <a:solidFill>
              <a:srgbClr val="0C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33688" y="5166360"/>
            <a:ext cx="2514600" cy="18288"/>
          </a:xfrm>
          <a:prstGeom prst="rect">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43416" y="5276088"/>
            <a:ext cx="2295144" cy="1051560"/>
          </a:xfrm>
          <a:prstGeom prst="rect">
            <a:avLst/>
          </a:prstGeom>
          <a:noFill/>
        </p:spPr>
        <p:txBody>
          <a:bodyPr wrap="square" lIns="0" tIns="0" bIns="0">
            <a:spAutoFit/>
          </a:bodyPr>
          <a:lstStyle/>
          <a:p>
            <a:r>
              <a:rPr sz="950" b="1">
                <a:solidFill>
                  <a:srgbClr val="C084FC"/>
                </a:solidFill>
                <a:latin typeface="Segoe UI"/>
              </a:rPr>
              <a:t>4. EMPOWER (Ongoing)
</a:t>
            </a:r>
          </a:p>
          <a:p>
            <a:pPr>
              <a:spcBef>
                <a:spcPts val="300"/>
              </a:spcBef>
            </a:pPr>
            <a:r>
              <a:rPr sz="850">
                <a:solidFill>
                  <a:srgbClr val="F1F5F9"/>
                </a:solidFill>
                <a:latin typeface="Segoe UI"/>
              </a:rPr>
              <a:t>Center of Excellence cross-training 250+ hybrid mechatronics-plus-AI engineers.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7315200" cy="274320"/>
          </a:xfrm>
          <a:prstGeom prst="rect">
            <a:avLst/>
          </a:prstGeom>
          <a:noFill/>
        </p:spPr>
        <p:txBody>
          <a:bodyPr wrap="none" lIns="0" rIns="0" tIns="0" bIns="0">
            <a:spAutoFit/>
          </a:bodyPr>
          <a:lstStyle/>
          <a:p>
            <a:r>
              <a:rPr sz="900" b="1">
                <a:solidFill>
                  <a:srgbClr val="B45309"/>
                </a:solidFill>
                <a:latin typeface="Segoe UI"/>
              </a:rPr>
              <a:t>MODULE 09 · STRATEGIC FOCUS</a:t>
            </a:r>
          </a:p>
        </p:txBody>
      </p:sp>
      <p:sp>
        <p:nvSpPr>
          <p:cNvPr id="4" name="TextBox 3"/>
          <p:cNvSpPr txBox="1"/>
          <p:nvPr/>
        </p:nvSpPr>
        <p:spPr>
          <a:xfrm>
            <a:off x="914400" y="1463040"/>
            <a:ext cx="10058400" cy="1371600"/>
          </a:xfrm>
          <a:prstGeom prst="rect">
            <a:avLst/>
          </a:prstGeom>
          <a:noFill/>
        </p:spPr>
        <p:txBody>
          <a:bodyPr wrap="square" lIns="0" rIns="0" tIns="0" bIns="0">
            <a:spAutoFit/>
          </a:bodyPr>
          <a:lstStyle/>
          <a:p>
            <a:r>
              <a:rPr sz="3600" b="1">
                <a:solidFill>
                  <a:srgbClr val="FFFFFF"/>
                </a:solidFill>
                <a:latin typeface="Segoe UI"/>
              </a:rPr>
              <a:t>Research Appendices &amp; Governance</a:t>
            </a:r>
          </a:p>
          <a:p>
            <a:pPr>
              <a:spcBef>
                <a:spcPts val="600"/>
              </a:spcBef>
            </a:pPr>
            <a:r>
              <a:rPr sz="1400">
                <a:solidFill>
                  <a:srgbClr val="93C5FD"/>
                </a:solidFill>
                <a:latin typeface="Segoe UI"/>
              </a:rPr>
              <a:t>Comprehensive Sources Index &amp; Adversarial Self-Critique / Downgrade Log</a:t>
            </a:r>
          </a:p>
        </p:txBody>
      </p:sp>
      <p:sp>
        <p:nvSpPr>
          <p:cNvPr id="5" name="Rectangle 4"/>
          <p:cNvSpPr/>
          <p:nvPr/>
        </p:nvSpPr>
        <p:spPr>
          <a:xfrm>
            <a:off x="914400" y="3108960"/>
            <a:ext cx="73152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383280"/>
            <a:ext cx="9144000" cy="2743200"/>
          </a:xfrm>
          <a:prstGeom prst="rect">
            <a:avLst/>
          </a:prstGeom>
          <a:noFill/>
        </p:spPr>
        <p:txBody>
          <a:bodyPr wrap="square" lIns="0" rIns="0" tIns="0" bIns="0">
            <a:spAutoFit/>
          </a:bodyPr>
          <a:lstStyle/>
          <a:p>
            <a:r>
              <a:rPr sz="1200" b="1">
                <a:solidFill>
                  <a:srgbClr val="B45309"/>
                </a:solidFill>
                <a:latin typeface="Segoe UI"/>
              </a:rPr>
              <a:t>—   </a:t>
            </a:r>
            <a:r>
              <a:rPr sz="1200">
                <a:solidFill>
                  <a:srgbClr val="F1F5F9"/>
                </a:solidFill>
                <a:latin typeface="Segoe UI"/>
              </a:rPr>
              <a:t>Appendix A: Full primary citation catalog across capital, research, and field deployments</a:t>
            </a:r>
          </a:p>
          <a:p>
            <a:pPr>
              <a:spcBef>
                <a:spcPts val="800"/>
              </a:spcBef>
            </a:pPr>
            <a:r>
              <a:rPr sz="1200" b="1">
                <a:solidFill>
                  <a:srgbClr val="B45309"/>
                </a:solidFill>
                <a:latin typeface="Segoe UI"/>
              </a:rPr>
              <a:t>—   </a:t>
            </a:r>
            <a:r>
              <a:rPr sz="1200">
                <a:solidFill>
                  <a:srgbClr val="F1F5F9"/>
                </a:solidFill>
                <a:latin typeface="Segoe UI"/>
              </a:rPr>
              <a:t>Appendix B: Exhaustive record of all 11 claims removed or downgraded from early working drafts</a:t>
            </a:r>
          </a:p>
          <a:p>
            <a:pPr>
              <a:spcBef>
                <a:spcPts val="800"/>
              </a:spcBef>
            </a:pPr>
            <a:r>
              <a:rPr sz="1200" b="1">
                <a:solidFill>
                  <a:srgbClr val="B45309"/>
                </a:solidFill>
                <a:latin typeface="Segoe UI"/>
              </a:rPr>
              <a:t>—   </a:t>
            </a:r>
            <a:r>
              <a:rPr sz="1200">
                <a:solidFill>
                  <a:srgbClr val="F1F5F9"/>
                </a:solidFill>
                <a:latin typeface="Segoe UI"/>
              </a:rPr>
              <a:t>Transparent scientific methodology ensuring zero unaudited marketing copy enters the briefing</a:t>
            </a:r>
          </a:p>
          <a:p>
            <a:pPr>
              <a:spcBef>
                <a:spcPts val="800"/>
              </a:spcBef>
            </a:pPr>
            <a:r>
              <a:rPr sz="1200" b="1">
                <a:solidFill>
                  <a:srgbClr val="B45309"/>
                </a:solidFill>
                <a:latin typeface="Segoe UI"/>
              </a:rPr>
              <a:t>—   </a:t>
            </a:r>
            <a:r>
              <a:rPr sz="1200">
                <a:solidFill>
                  <a:srgbClr val="F1F5F9"/>
                </a:solidFill>
                <a:latin typeface="Segoe UI"/>
              </a:rPr>
              <a:t>Final executive sign-off and distribution register for LTTS leadership</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APPENDIX A · CITATIONS</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Comprehensive Sources Index: Commercial &amp; Capital Matrix</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Audited corporate disclosures, regulatory filings, and official announcements.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46504"/>
            <a:ext cx="10451592" cy="384048"/>
          </a:xfrm>
          <a:prstGeom prst="rect">
            <a:avLst/>
          </a:prstGeom>
          <a:noFill/>
        </p:spPr>
        <p:txBody>
          <a:bodyPr wrap="square" lIns="0" rIns="0" tIns="0" bIns="0">
            <a:spAutoFit/>
          </a:bodyPr>
          <a:lstStyle/>
          <a:p>
            <a:r>
              <a:rPr sz="1000" b="1">
                <a:solidFill>
                  <a:srgbClr val="0F172A"/>
                </a:solidFill>
                <a:latin typeface="Segoe UI"/>
              </a:rPr>
              <a:t>Wayve ($1.05B Series C)  —  </a:t>
            </a:r>
            <a:r>
              <a:rPr sz="900">
                <a:solidFill>
                  <a:srgbClr val="334155"/>
                </a:solidFill>
                <a:latin typeface="Segoe UI"/>
              </a:rPr>
              <a:t>Corporate Announcement (May 7, 2024). Led by SoftBank Group with participation from NVIDIA and Microsoft.</a:t>
            </a:r>
          </a:p>
        </p:txBody>
      </p:sp>
      <p:sp>
        <p:nvSpPr>
          <p:cNvPr id="9" name="Rectangle 8"/>
          <p:cNvSpPr/>
          <p:nvPr/>
        </p:nvSpPr>
        <p:spPr>
          <a:xfrm>
            <a:off x="731520" y="2258568"/>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13432"/>
            <a:ext cx="10451592" cy="384048"/>
          </a:xfrm>
          <a:prstGeom prst="rect">
            <a:avLst/>
          </a:prstGeom>
          <a:noFill/>
        </p:spPr>
        <p:txBody>
          <a:bodyPr wrap="square" lIns="0" rIns="0" tIns="0" bIns="0">
            <a:spAutoFit/>
          </a:bodyPr>
          <a:lstStyle/>
          <a:p>
            <a:r>
              <a:rPr sz="1000" b="1">
                <a:solidFill>
                  <a:srgbClr val="0F172A"/>
                </a:solidFill>
                <a:latin typeface="Segoe UI"/>
              </a:rPr>
              <a:t>Figure AI ($675M Series B)  —  </a:t>
            </a:r>
            <a:r>
              <a:rPr sz="900">
                <a:solidFill>
                  <a:srgbClr val="334155"/>
                </a:solidFill>
                <a:latin typeface="Segoe UI"/>
              </a:rPr>
              <a:t>Press Release (Feb 29, 2024). Valuing company at $2.6B, led by Parkway Venture Capital, Microsoft, OpenAI Startup Fund, NVIDIA, and Jeff Bezos.</a:t>
            </a:r>
          </a:p>
        </p:txBody>
      </p:sp>
      <p:sp>
        <p:nvSpPr>
          <p:cNvPr id="11" name="Rectangle 10"/>
          <p:cNvSpPr/>
          <p:nvPr/>
        </p:nvSpPr>
        <p:spPr>
          <a:xfrm>
            <a:off x="731520" y="2825496"/>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0451592" cy="384048"/>
          </a:xfrm>
          <a:prstGeom prst="rect">
            <a:avLst/>
          </a:prstGeom>
          <a:noFill/>
        </p:spPr>
        <p:txBody>
          <a:bodyPr wrap="square" lIns="0" rIns="0" tIns="0" bIns="0">
            <a:spAutoFit/>
          </a:bodyPr>
          <a:lstStyle/>
          <a:p>
            <a:r>
              <a:rPr sz="1000" b="1">
                <a:solidFill>
                  <a:srgbClr val="0F172A"/>
                </a:solidFill>
                <a:latin typeface="Segoe UI"/>
              </a:rPr>
              <a:t>Physical Intelligence ($400M Series A)  —  </a:t>
            </a:r>
            <a:r>
              <a:rPr sz="900">
                <a:solidFill>
                  <a:srgbClr val="334155"/>
                </a:solidFill>
                <a:latin typeface="Segoe UI"/>
              </a:rPr>
              <a:t>Company Disclosure (Nov 4, 2024). Valuing company at $2.4B, led by Bezos Expeditions, Thrive Capital, and Lux Capital.</a:t>
            </a:r>
          </a:p>
        </p:txBody>
      </p:sp>
      <p:sp>
        <p:nvSpPr>
          <p:cNvPr id="13" name="Rectangle 12"/>
          <p:cNvSpPr/>
          <p:nvPr/>
        </p:nvSpPr>
        <p:spPr>
          <a:xfrm>
            <a:off x="731520" y="3392424"/>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447288"/>
            <a:ext cx="10451592" cy="384048"/>
          </a:xfrm>
          <a:prstGeom prst="rect">
            <a:avLst/>
          </a:prstGeom>
          <a:noFill/>
        </p:spPr>
        <p:txBody>
          <a:bodyPr wrap="square" lIns="0" rIns="0" tIns="0" bIns="0">
            <a:spAutoFit/>
          </a:bodyPr>
          <a:lstStyle/>
          <a:p>
            <a:r>
              <a:rPr sz="1000" b="1">
                <a:solidFill>
                  <a:srgbClr val="0F172A"/>
                </a:solidFill>
                <a:latin typeface="Segoe UI"/>
              </a:rPr>
              <a:t>Skild AI ($300M Series A)  —  </a:t>
            </a:r>
            <a:r>
              <a:rPr sz="900">
                <a:solidFill>
                  <a:srgbClr val="334155"/>
                </a:solidFill>
                <a:latin typeface="Segoe UI"/>
              </a:rPr>
              <a:t>Press Release (Jul 9, 2024). Valuing company at $1.5B, led by Lightspeed Venture Partners, Coatue, SoftBank, and Bezos Expeditions.</a:t>
            </a:r>
          </a:p>
        </p:txBody>
      </p:sp>
      <p:sp>
        <p:nvSpPr>
          <p:cNvPr id="15" name="Rectangle 14"/>
          <p:cNvSpPr/>
          <p:nvPr/>
        </p:nvSpPr>
        <p:spPr>
          <a:xfrm>
            <a:off x="731520" y="3959352"/>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14215"/>
            <a:ext cx="10451592" cy="384048"/>
          </a:xfrm>
          <a:prstGeom prst="rect">
            <a:avLst/>
          </a:prstGeom>
          <a:noFill/>
        </p:spPr>
        <p:txBody>
          <a:bodyPr wrap="square" lIns="0" rIns="0" tIns="0" bIns="0">
            <a:spAutoFit/>
          </a:bodyPr>
          <a:lstStyle/>
          <a:p>
            <a:r>
              <a:rPr sz="1000" b="1">
                <a:solidFill>
                  <a:srgbClr val="0F172A"/>
                </a:solidFill>
                <a:latin typeface="Segoe UI"/>
              </a:rPr>
              <a:t>Applied Intuition ($250M Series E)  —  </a:t>
            </a:r>
            <a:r>
              <a:rPr sz="900">
                <a:solidFill>
                  <a:srgbClr val="334155"/>
                </a:solidFill>
                <a:latin typeface="Segoe UI"/>
              </a:rPr>
              <a:t>Press Release (Mar 12, 2024). Valuing company at $6.0B, led by Lux Capital, Elad Gil, and Porsche Investments Management.</a:t>
            </a:r>
          </a:p>
        </p:txBody>
      </p:sp>
      <p:sp>
        <p:nvSpPr>
          <p:cNvPr id="17" name="Rectangle 16"/>
          <p:cNvSpPr/>
          <p:nvPr/>
        </p:nvSpPr>
        <p:spPr>
          <a:xfrm>
            <a:off x="731520" y="4526280"/>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581144"/>
            <a:ext cx="10451592" cy="384048"/>
          </a:xfrm>
          <a:prstGeom prst="rect">
            <a:avLst/>
          </a:prstGeom>
          <a:noFill/>
        </p:spPr>
        <p:txBody>
          <a:bodyPr wrap="square" lIns="0" rIns="0" tIns="0" bIns="0">
            <a:spAutoFit/>
          </a:bodyPr>
          <a:lstStyle/>
          <a:p>
            <a:r>
              <a:rPr sz="1000" b="1">
                <a:solidFill>
                  <a:srgbClr val="0F172A"/>
                </a:solidFill>
                <a:latin typeface="Segoe UI"/>
              </a:rPr>
              <a:t>Scale AI ($1.0B Series F)  —  </a:t>
            </a:r>
            <a:r>
              <a:rPr sz="900">
                <a:solidFill>
                  <a:srgbClr val="334155"/>
                </a:solidFill>
                <a:latin typeface="Segoe UI"/>
              </a:rPr>
              <a:t>Company Disclosure (May 21, 2024). Valuing company at $13.8B, led by Accel with participation from strategic partners.</a:t>
            </a:r>
          </a:p>
        </p:txBody>
      </p:sp>
      <p:sp>
        <p:nvSpPr>
          <p:cNvPr id="19" name="Rectangle 18"/>
          <p:cNvSpPr/>
          <p:nvPr/>
        </p:nvSpPr>
        <p:spPr>
          <a:xfrm>
            <a:off x="731520" y="5093208"/>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48072"/>
            <a:ext cx="10451592" cy="384048"/>
          </a:xfrm>
          <a:prstGeom prst="rect">
            <a:avLst/>
          </a:prstGeom>
          <a:noFill/>
        </p:spPr>
        <p:txBody>
          <a:bodyPr wrap="square" lIns="0" rIns="0" tIns="0" bIns="0">
            <a:spAutoFit/>
          </a:bodyPr>
          <a:lstStyle/>
          <a:p>
            <a:r>
              <a:rPr sz="1000" b="1">
                <a:solidFill>
                  <a:srgbClr val="0F172A"/>
                </a:solidFill>
                <a:latin typeface="Segoe UI"/>
              </a:rPr>
              <a:t>Waymo Ride &amp; Mile Volume  —  </a:t>
            </a:r>
            <a:r>
              <a:rPr sz="900">
                <a:solidFill>
                  <a:srgbClr val="334155"/>
                </a:solidFill>
                <a:latin typeface="Segoe UI"/>
              </a:rPr>
              <a:t>Alphabet Q3 2024 Earnings Call (Oct 29, 2024). Remarks by CEO Sundar Pichai confirming over 150,000 paid commercial trips/week and &gt;1M autonomous miles weekly.</a:t>
            </a:r>
          </a:p>
        </p:txBody>
      </p:sp>
      <p:sp>
        <p:nvSpPr>
          <p:cNvPr id="21" name="Rectangle 20"/>
          <p:cNvSpPr/>
          <p:nvPr/>
        </p:nvSpPr>
        <p:spPr>
          <a:xfrm>
            <a:off x="731520" y="5660136"/>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714999"/>
            <a:ext cx="10451592" cy="384048"/>
          </a:xfrm>
          <a:prstGeom prst="rect">
            <a:avLst/>
          </a:prstGeom>
          <a:noFill/>
        </p:spPr>
        <p:txBody>
          <a:bodyPr wrap="square" lIns="0" rIns="0" tIns="0" bIns="0">
            <a:spAutoFit/>
          </a:bodyPr>
          <a:lstStyle/>
          <a:p>
            <a:r>
              <a:rPr sz="1000" b="1">
                <a:solidFill>
                  <a:srgbClr val="0F172A"/>
                </a:solidFill>
                <a:latin typeface="Segoe UI"/>
              </a:rPr>
              <a:t>Covariant Acquisition / License  —  </a:t>
            </a:r>
            <a:r>
              <a:rPr sz="900">
                <a:solidFill>
                  <a:srgbClr val="334155"/>
                </a:solidFill>
                <a:latin typeface="Segoe UI"/>
              </a:rPr>
              <a:t>Amazon Corporate Announcement (Aug 30, 2024). Detailing hiring of founders Pieter Abbeel, Peter Chen, Rocky Duan, and non-exclusive foundation model licensing.</a:t>
            </a:r>
          </a:p>
        </p:txBody>
      </p:sp>
      <p:sp>
        <p:nvSpPr>
          <p:cNvPr id="23" name="Rectangle 22"/>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Every financial figure, company valuation, and commercial metric traces directly to an official corporate release or audited regulatory filing.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APPENDIX A · CITATIONS</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Comprehensive Sources Index: Research &amp; Field Deployments</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Peer-reviewed research reports, foundation model preprints, and customer press releases.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46504"/>
            <a:ext cx="10451592" cy="384048"/>
          </a:xfrm>
          <a:prstGeom prst="rect">
            <a:avLst/>
          </a:prstGeom>
          <a:noFill/>
        </p:spPr>
        <p:txBody>
          <a:bodyPr wrap="square" lIns="0" rIns="0" tIns="0" bIns="0">
            <a:spAutoFit/>
          </a:bodyPr>
          <a:lstStyle/>
          <a:p>
            <a:r>
              <a:rPr sz="1000" b="1">
                <a:solidFill>
                  <a:srgbClr val="0F172A"/>
                </a:solidFill>
                <a:latin typeface="Segoe UI"/>
              </a:rPr>
              <a:t>Continuous Action Flow Matching  —  </a:t>
            </a:r>
            <a:r>
              <a:rPr sz="900">
                <a:solidFill>
                  <a:srgbClr val="334155"/>
                </a:solidFill>
                <a:latin typeface="Segoe UI"/>
              </a:rPr>
              <a:t>Physical Intelligence Technical Report on π0 (Oct 2024, arXiv:2410.24164). Direct continuous trajectory generation.</a:t>
            </a:r>
          </a:p>
        </p:txBody>
      </p:sp>
      <p:sp>
        <p:nvSpPr>
          <p:cNvPr id="9" name="Rectangle 8"/>
          <p:cNvSpPr/>
          <p:nvPr/>
        </p:nvSpPr>
        <p:spPr>
          <a:xfrm>
            <a:off x="731520" y="2258568"/>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13432"/>
            <a:ext cx="10451592" cy="384048"/>
          </a:xfrm>
          <a:prstGeom prst="rect">
            <a:avLst/>
          </a:prstGeom>
          <a:noFill/>
        </p:spPr>
        <p:txBody>
          <a:bodyPr wrap="square" lIns="0" rIns="0" tIns="0" bIns="0">
            <a:spAutoFit/>
          </a:bodyPr>
          <a:lstStyle/>
          <a:p>
            <a:r>
              <a:rPr sz="1000" b="1">
                <a:solidFill>
                  <a:srgbClr val="0F172A"/>
                </a:solidFill>
                <a:latin typeface="Segoe UI"/>
              </a:rPr>
              <a:t>Egocentric Scaling Laws  —  </a:t>
            </a:r>
            <a:r>
              <a:rPr sz="900">
                <a:solidFill>
                  <a:srgbClr val="334155"/>
                </a:solidFill>
                <a:latin typeface="Segoe UI"/>
              </a:rPr>
              <a:t>NVIDIA GEAR Research Report on EgoScale (Feb 2026, arXiv:2602.16710). Proving log-linear scaling from human video.</a:t>
            </a:r>
          </a:p>
        </p:txBody>
      </p:sp>
      <p:sp>
        <p:nvSpPr>
          <p:cNvPr id="11" name="Rectangle 10"/>
          <p:cNvSpPr/>
          <p:nvPr/>
        </p:nvSpPr>
        <p:spPr>
          <a:xfrm>
            <a:off x="731520" y="2825496"/>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880360"/>
            <a:ext cx="10451592" cy="384048"/>
          </a:xfrm>
          <a:prstGeom prst="rect">
            <a:avLst/>
          </a:prstGeom>
          <a:noFill/>
        </p:spPr>
        <p:txBody>
          <a:bodyPr wrap="square" lIns="0" rIns="0" tIns="0" bIns="0">
            <a:spAutoFit/>
          </a:bodyPr>
          <a:lstStyle/>
          <a:p>
            <a:r>
              <a:rPr sz="1000" b="1">
                <a:solidFill>
                  <a:srgbClr val="0F172A"/>
                </a:solidFill>
                <a:latin typeface="Segoe UI"/>
              </a:rPr>
              <a:t>Pearl's Causal Hierarchy  —  </a:t>
            </a:r>
            <a:r>
              <a:rPr sz="900">
                <a:solidFill>
                  <a:srgbClr val="334155"/>
                </a:solidFill>
                <a:latin typeface="Segoe UI"/>
              </a:rPr>
              <a:t>Judea Pearl, Causality: Models, Reasoning, and Inference, Cambridge University Press. Foundational causal mathematics.</a:t>
            </a:r>
          </a:p>
        </p:txBody>
      </p:sp>
      <p:sp>
        <p:nvSpPr>
          <p:cNvPr id="13" name="Rectangle 12"/>
          <p:cNvSpPr/>
          <p:nvPr/>
        </p:nvSpPr>
        <p:spPr>
          <a:xfrm>
            <a:off x="731520" y="3392424"/>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447288"/>
            <a:ext cx="10451592" cy="384048"/>
          </a:xfrm>
          <a:prstGeom prst="rect">
            <a:avLst/>
          </a:prstGeom>
          <a:noFill/>
        </p:spPr>
        <p:txBody>
          <a:bodyPr wrap="square" lIns="0" rIns="0" tIns="0" bIns="0">
            <a:spAutoFit/>
          </a:bodyPr>
          <a:lstStyle/>
          <a:p>
            <a:r>
              <a:rPr sz="1000" b="1">
                <a:solidFill>
                  <a:srgbClr val="0F172A"/>
                </a:solidFill>
                <a:latin typeface="Segoe UI"/>
              </a:rPr>
              <a:t>BMW Spartanburg Plant Trial  —  </a:t>
            </a:r>
            <a:r>
              <a:rPr sz="900">
                <a:solidFill>
                  <a:srgbClr val="334155"/>
                </a:solidFill>
                <a:latin typeface="Segoe UI"/>
              </a:rPr>
              <a:t>BMW Group Official Press Release (Aug 2024). Confirming multi-week pilot of Figure 02 humanoid in sheet metal assembly.</a:t>
            </a:r>
          </a:p>
        </p:txBody>
      </p:sp>
      <p:sp>
        <p:nvSpPr>
          <p:cNvPr id="15" name="Rectangle 14"/>
          <p:cNvSpPr/>
          <p:nvPr/>
        </p:nvSpPr>
        <p:spPr>
          <a:xfrm>
            <a:off x="731520" y="3959352"/>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14215"/>
            <a:ext cx="10451592" cy="384048"/>
          </a:xfrm>
          <a:prstGeom prst="rect">
            <a:avLst/>
          </a:prstGeom>
          <a:noFill/>
        </p:spPr>
        <p:txBody>
          <a:bodyPr wrap="square" lIns="0" rIns="0" tIns="0" bIns="0">
            <a:spAutoFit/>
          </a:bodyPr>
          <a:lstStyle/>
          <a:p>
            <a:r>
              <a:rPr sz="1000" b="1">
                <a:solidFill>
                  <a:srgbClr val="0F172A"/>
                </a:solidFill>
                <a:latin typeface="Segoe UI"/>
              </a:rPr>
              <a:t>Mercedes-Benz Apollo Pilot  —  </a:t>
            </a:r>
            <a:r>
              <a:rPr sz="900">
                <a:solidFill>
                  <a:srgbClr val="334155"/>
                </a:solidFill>
                <a:latin typeface="Segoe UI"/>
              </a:rPr>
              <a:t>Mercedes-Benz and Apptronik Joint Commercial Agreement Announcement (Mar 15, 2024). Assembly parts delivery trial.</a:t>
            </a:r>
          </a:p>
        </p:txBody>
      </p:sp>
      <p:sp>
        <p:nvSpPr>
          <p:cNvPr id="17" name="Rectangle 16"/>
          <p:cNvSpPr/>
          <p:nvPr/>
        </p:nvSpPr>
        <p:spPr>
          <a:xfrm>
            <a:off x="731520" y="4526280"/>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581144"/>
            <a:ext cx="10451592" cy="384048"/>
          </a:xfrm>
          <a:prstGeom prst="rect">
            <a:avLst/>
          </a:prstGeom>
          <a:noFill/>
        </p:spPr>
        <p:txBody>
          <a:bodyPr wrap="square" lIns="0" rIns="0" tIns="0" bIns="0">
            <a:spAutoFit/>
          </a:bodyPr>
          <a:lstStyle/>
          <a:p>
            <a:r>
              <a:rPr sz="1000" b="1">
                <a:solidFill>
                  <a:srgbClr val="0F172A"/>
                </a:solidFill>
                <a:latin typeface="Segoe UI"/>
              </a:rPr>
              <a:t>DHL Boston Dynamics Deployment  —  </a:t>
            </a:r>
            <a:r>
              <a:rPr sz="900">
                <a:solidFill>
                  <a:srgbClr val="334155"/>
                </a:solidFill>
                <a:latin typeface="Segoe UI"/>
              </a:rPr>
              <a:t>DHL Supply Chain Official Announcement (2024). Expanding Boston Dynamics Stretch mobile manipulators for container unloading.</a:t>
            </a:r>
          </a:p>
        </p:txBody>
      </p:sp>
      <p:sp>
        <p:nvSpPr>
          <p:cNvPr id="19" name="Rectangle 18"/>
          <p:cNvSpPr/>
          <p:nvPr/>
        </p:nvSpPr>
        <p:spPr>
          <a:xfrm>
            <a:off x="731520" y="5093208"/>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148072"/>
            <a:ext cx="10451592" cy="384048"/>
          </a:xfrm>
          <a:prstGeom prst="rect">
            <a:avLst/>
          </a:prstGeom>
          <a:noFill/>
        </p:spPr>
        <p:txBody>
          <a:bodyPr wrap="square" lIns="0" rIns="0" tIns="0" bIns="0">
            <a:spAutoFit/>
          </a:bodyPr>
          <a:lstStyle/>
          <a:p>
            <a:r>
              <a:rPr sz="1000" b="1">
                <a:solidFill>
                  <a:srgbClr val="0F172A"/>
                </a:solidFill>
                <a:latin typeface="Segoe UI"/>
              </a:rPr>
              <a:t>Siemens &amp; Microsoft Copilot  —  </a:t>
            </a:r>
            <a:r>
              <a:rPr sz="900">
                <a:solidFill>
                  <a:srgbClr val="334155"/>
                </a:solidFill>
                <a:latin typeface="Segoe UI"/>
              </a:rPr>
              <a:t>Siemens AG Press Release (2024). Announcing integration of Generative AI industrial copilot into Siemens TIA Portal.</a:t>
            </a:r>
          </a:p>
        </p:txBody>
      </p:sp>
      <p:sp>
        <p:nvSpPr>
          <p:cNvPr id="21" name="Rectangle 20"/>
          <p:cNvSpPr/>
          <p:nvPr/>
        </p:nvSpPr>
        <p:spPr>
          <a:xfrm>
            <a:off x="731520" y="5660136"/>
            <a:ext cx="10725912" cy="49377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714999"/>
            <a:ext cx="10451592" cy="384048"/>
          </a:xfrm>
          <a:prstGeom prst="rect">
            <a:avLst/>
          </a:prstGeom>
          <a:noFill/>
        </p:spPr>
        <p:txBody>
          <a:bodyPr wrap="square" lIns="0" rIns="0" tIns="0" bIns="0">
            <a:spAutoFit/>
          </a:bodyPr>
          <a:lstStyle/>
          <a:p>
            <a:r>
              <a:rPr sz="1000" b="1">
                <a:solidFill>
                  <a:srgbClr val="0F172A"/>
                </a:solidFill>
                <a:latin typeface="Segoe UI"/>
              </a:rPr>
              <a:t>Siemens &amp; Intrinsic Alliance  —  </a:t>
            </a:r>
            <a:r>
              <a:rPr sz="900">
                <a:solidFill>
                  <a:srgbClr val="334155"/>
                </a:solidFill>
                <a:latin typeface="Segoe UI"/>
              </a:rPr>
              <a:t>Siemens and Alphabet Intrinsic Strategic Partnership Announcement (2024). AI robotics integration with industrial automation.</a:t>
            </a:r>
          </a:p>
        </p:txBody>
      </p:sp>
      <p:sp>
        <p:nvSpPr>
          <p:cNvPr id="23" name="Rectangle 22"/>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All technical claims, mathematical formalisms, and OEM deployment partnerships are cross-verified against primary literature.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APPENDIX B · SELF-CRITIQUE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Adversarial Self-Critique &amp; Downgrade Log (Items 1 to 5)</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Complete, transparent record of unverified claims removed or downgraded from early working drafts.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10725912" cy="80467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46504"/>
            <a:ext cx="10451592" cy="694944"/>
          </a:xfrm>
          <a:prstGeom prst="rect">
            <a:avLst/>
          </a:prstGeom>
          <a:noFill/>
        </p:spPr>
        <p:txBody>
          <a:bodyPr wrap="square" lIns="0" rIns="0" tIns="0" bIns="0">
            <a:spAutoFit/>
          </a:bodyPr>
          <a:lstStyle/>
          <a:p>
            <a:r>
              <a:rPr sz="1050" b="1">
                <a:solidFill>
                  <a:srgbClr val="0F172A"/>
                </a:solidFill>
                <a:latin typeface="Segoe UI"/>
              </a:rPr>
              <a:t>1. Ford Battery Scrap &amp; Warranty Savings [Removed]
</a:t>
            </a:r>
          </a:p>
          <a:p>
            <a:pPr>
              <a:spcBef>
                <a:spcPts val="200"/>
              </a:spcBef>
            </a:pPr>
            <a:r>
              <a:rPr sz="850" b="1">
                <a:solidFill>
                  <a:srgbClr val="64748B"/>
                </a:solidFill>
                <a:latin typeface="Segoe UI"/>
              </a:rPr>
              <a:t>Draft Claim: </a:t>
            </a:r>
            <a:r>
              <a:rPr sz="850">
                <a:solidFill>
                  <a:srgbClr val="64748B"/>
                </a:solidFill>
                <a:latin typeface="Segoe UI"/>
              </a:rPr>
              <a:t>"Ford Rawsonville plant achieved a 42% scrap reduction and $18M warranty reserve savings using PINN optical inspection."   |   </a:t>
            </a:r>
            <a:r>
              <a:rPr sz="850" b="1">
                <a:solidFill>
                  <a:srgbClr val="B91C1C"/>
                </a:solidFill>
                <a:latin typeface="Segoe UI"/>
              </a:rPr>
              <a:t>Audit Verdict: </a:t>
            </a:r>
            <a:r>
              <a:rPr sz="850">
                <a:solidFill>
                  <a:srgbClr val="334155"/>
                </a:solidFill>
                <a:latin typeface="Segoe UI"/>
              </a:rPr>
              <a:t>Ford operates advanced battery assembly at Rawsonville, but the exact '42% scrap' and '$18M savings' figures do not appear in audited SEC 10-K filings or official Ford press releases.   |   </a:t>
            </a:r>
            <a:r>
              <a:rPr sz="850" b="1">
                <a:solidFill>
                  <a:srgbClr val="047857"/>
                </a:solidFill>
                <a:latin typeface="Segoe UI"/>
              </a:rPr>
              <a:t>Action: </a:t>
            </a:r>
            <a:r>
              <a:rPr sz="850">
                <a:solidFill>
                  <a:srgbClr val="334155"/>
                </a:solidFill>
                <a:latin typeface="Segoe UI"/>
              </a:rPr>
              <a:t>Substituted with documented qualitative descriptions of battery optical inspection programs.</a:t>
            </a:r>
          </a:p>
        </p:txBody>
      </p:sp>
      <p:sp>
        <p:nvSpPr>
          <p:cNvPr id="9" name="Rectangle 8"/>
          <p:cNvSpPr/>
          <p:nvPr/>
        </p:nvSpPr>
        <p:spPr>
          <a:xfrm>
            <a:off x="731520" y="2587752"/>
            <a:ext cx="10725912" cy="80467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42616"/>
            <a:ext cx="10451592" cy="694944"/>
          </a:xfrm>
          <a:prstGeom prst="rect">
            <a:avLst/>
          </a:prstGeom>
          <a:noFill/>
        </p:spPr>
        <p:txBody>
          <a:bodyPr wrap="square" lIns="0" rIns="0" tIns="0" bIns="0">
            <a:spAutoFit/>
          </a:bodyPr>
          <a:lstStyle/>
          <a:p>
            <a:r>
              <a:rPr sz="1050" b="1">
                <a:solidFill>
                  <a:srgbClr val="0F172A"/>
                </a:solidFill>
                <a:latin typeface="Segoe UI"/>
              </a:rPr>
              <a:t>2. Airbus Fastener Hole Defect Rates [Removed]
</a:t>
            </a:r>
          </a:p>
          <a:p>
            <a:pPr>
              <a:spcBef>
                <a:spcPts val="200"/>
              </a:spcBef>
            </a:pPr>
            <a:r>
              <a:rPr sz="850" b="1">
                <a:solidFill>
                  <a:srgbClr val="64748B"/>
                </a:solidFill>
                <a:latin typeface="Segoe UI"/>
              </a:rPr>
              <a:t>Draft Claim: </a:t>
            </a:r>
            <a:r>
              <a:rPr sz="850">
                <a:solidFill>
                  <a:srgbClr val="64748B"/>
                </a:solidFill>
                <a:latin typeface="Segoe UI"/>
              </a:rPr>
              <a:t>"Airbus reduced fastener hole defect rate to &lt; 2 PPM and inspection cycle time by 35% on A350 wing assembly."   |   </a:t>
            </a:r>
            <a:r>
              <a:rPr sz="850" b="1">
                <a:solidFill>
                  <a:srgbClr val="B91C1C"/>
                </a:solidFill>
                <a:latin typeface="Segoe UI"/>
              </a:rPr>
              <a:t>Audit Verdict: </a:t>
            </a:r>
            <a:r>
              <a:rPr sz="850">
                <a:solidFill>
                  <a:srgbClr val="334155"/>
                </a:solidFill>
                <a:latin typeface="Segoe UI"/>
              </a:rPr>
              <a:t>While Airbus deploys automated drilling robotics, the specific '&lt; 2 PPM' defect rate was an unverified industry extrapolation from trade press whitepapers.   |   </a:t>
            </a:r>
            <a:r>
              <a:rPr sz="850" b="1">
                <a:solidFill>
                  <a:srgbClr val="047857"/>
                </a:solidFill>
                <a:latin typeface="Segoe UI"/>
              </a:rPr>
              <a:t>Action: </a:t>
            </a:r>
            <a:r>
              <a:rPr sz="850">
                <a:solidFill>
                  <a:srgbClr val="334155"/>
                </a:solidFill>
                <a:latin typeface="Segoe UI"/>
              </a:rPr>
              <a:t>Replaced with verified descriptions of automated drilling guidance systems.</a:t>
            </a:r>
          </a:p>
        </p:txBody>
      </p:sp>
      <p:sp>
        <p:nvSpPr>
          <p:cNvPr id="11" name="Rectangle 10"/>
          <p:cNvSpPr/>
          <p:nvPr/>
        </p:nvSpPr>
        <p:spPr>
          <a:xfrm>
            <a:off x="731520" y="3483864"/>
            <a:ext cx="10725912" cy="80467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538728"/>
            <a:ext cx="10451592" cy="694944"/>
          </a:xfrm>
          <a:prstGeom prst="rect">
            <a:avLst/>
          </a:prstGeom>
          <a:noFill/>
        </p:spPr>
        <p:txBody>
          <a:bodyPr wrap="square" lIns="0" rIns="0" tIns="0" bIns="0">
            <a:spAutoFit/>
          </a:bodyPr>
          <a:lstStyle/>
          <a:p>
            <a:r>
              <a:rPr sz="1050" b="1">
                <a:solidFill>
                  <a:srgbClr val="0F172A"/>
                </a:solidFill>
                <a:latin typeface="Segoe UI"/>
              </a:rPr>
              <a:t>3. Amazon Mobile Robot Fleet Count [Removed]
</a:t>
            </a:r>
          </a:p>
          <a:p>
            <a:pPr>
              <a:spcBef>
                <a:spcPts val="200"/>
              </a:spcBef>
            </a:pPr>
            <a:r>
              <a:rPr sz="850" b="1">
                <a:solidFill>
                  <a:srgbClr val="64748B"/>
                </a:solidFill>
                <a:latin typeface="Segoe UI"/>
              </a:rPr>
              <a:t>Draft Claim: </a:t>
            </a:r>
            <a:r>
              <a:rPr sz="850">
                <a:solidFill>
                  <a:srgbClr val="64748B"/>
                </a:solidFill>
                <a:latin typeface="Segoe UI"/>
              </a:rPr>
              <a:t>"Over 750,000 mobile robots and spatial perception arms operating across global fulfillment centers."   |   </a:t>
            </a:r>
            <a:r>
              <a:rPr sz="850" b="1">
                <a:solidFill>
                  <a:srgbClr val="B91C1C"/>
                </a:solidFill>
                <a:latin typeface="Segoe UI"/>
              </a:rPr>
              <a:t>Audit Verdict: </a:t>
            </a:r>
            <a:r>
              <a:rPr sz="850">
                <a:solidFill>
                  <a:srgbClr val="334155"/>
                </a:solidFill>
                <a:latin typeface="Segoe UI"/>
              </a:rPr>
              <a:t>While Amazon frequently cites the '750,000 robot' milestone in public PR, this figure aggregates legacy Kiva-style AGVs with modern AI AMRs (Proteus/Sequoia), creating a misleading impression of Physical-AI scale.   |   </a:t>
            </a:r>
            <a:r>
              <a:rPr sz="850" b="1">
                <a:solidFill>
                  <a:srgbClr val="047857"/>
                </a:solidFill>
                <a:latin typeface="Segoe UI"/>
              </a:rPr>
              <a:t>Action: </a:t>
            </a:r>
            <a:r>
              <a:rPr sz="850">
                <a:solidFill>
                  <a:srgbClr val="334155"/>
                </a:solidFill>
                <a:latin typeface="Segoe UI"/>
              </a:rPr>
              <a:t>Replaced with targeted descriptions of modern AMR fleet deployments.</a:t>
            </a:r>
          </a:p>
        </p:txBody>
      </p:sp>
      <p:sp>
        <p:nvSpPr>
          <p:cNvPr id="13" name="Rectangle 12"/>
          <p:cNvSpPr/>
          <p:nvPr/>
        </p:nvSpPr>
        <p:spPr>
          <a:xfrm>
            <a:off x="731520" y="4379976"/>
            <a:ext cx="10725912" cy="80467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434840"/>
            <a:ext cx="10451592" cy="694944"/>
          </a:xfrm>
          <a:prstGeom prst="rect">
            <a:avLst/>
          </a:prstGeom>
          <a:noFill/>
        </p:spPr>
        <p:txBody>
          <a:bodyPr wrap="square" lIns="0" rIns="0" tIns="0" bIns="0">
            <a:spAutoFit/>
          </a:bodyPr>
          <a:lstStyle/>
          <a:p>
            <a:r>
              <a:rPr sz="1050" b="1">
                <a:solidFill>
                  <a:srgbClr val="0F172A"/>
                </a:solidFill>
                <a:latin typeface="Segoe UI"/>
              </a:rPr>
              <a:t>4. GE Vernova Outage Cost Savings [Removed]
</a:t>
            </a:r>
          </a:p>
          <a:p>
            <a:pPr>
              <a:spcBef>
                <a:spcPts val="200"/>
              </a:spcBef>
            </a:pPr>
            <a:r>
              <a:rPr sz="850" b="1">
                <a:solidFill>
                  <a:srgbClr val="64748B"/>
                </a:solidFill>
                <a:latin typeface="Segoe UI"/>
              </a:rPr>
              <a:t>Draft Claim: </a:t>
            </a:r>
            <a:r>
              <a:rPr sz="850">
                <a:solidFill>
                  <a:srgbClr val="64748B"/>
                </a:solidFill>
                <a:latin typeface="Segoe UI"/>
              </a:rPr>
              <a:t>"Saved an estimated $380M in emergency outages across &gt; 1,200 heavy-duty gas turbines."   |   </a:t>
            </a:r>
            <a:r>
              <a:rPr sz="850" b="1">
                <a:solidFill>
                  <a:srgbClr val="B91C1C"/>
                </a:solidFill>
                <a:latin typeface="Segoe UI"/>
              </a:rPr>
              <a:t>Audit Verdict: </a:t>
            </a:r>
            <a:r>
              <a:rPr sz="850">
                <a:solidFill>
                  <a:srgbClr val="334155"/>
                </a:solidFill>
                <a:latin typeface="Segoe UI"/>
              </a:rPr>
              <a:t>The '$380M saved' metric conflates vendor-modeled marketing projections with verified customer financial savings.   |   </a:t>
            </a:r>
            <a:r>
              <a:rPr sz="850" b="1">
                <a:solidFill>
                  <a:srgbClr val="047857"/>
                </a:solidFill>
                <a:latin typeface="Segoe UI"/>
              </a:rPr>
              <a:t>Action: </a:t>
            </a:r>
            <a:r>
              <a:rPr sz="850">
                <a:solidFill>
                  <a:srgbClr val="334155"/>
                </a:solidFill>
                <a:latin typeface="Segoe UI"/>
              </a:rPr>
              <a:t>Replaced with documented operational outage-reduction frameworks.</a:t>
            </a:r>
          </a:p>
        </p:txBody>
      </p:sp>
      <p:sp>
        <p:nvSpPr>
          <p:cNvPr id="15" name="Rectangle 14"/>
          <p:cNvSpPr/>
          <p:nvPr/>
        </p:nvSpPr>
        <p:spPr>
          <a:xfrm>
            <a:off x="731520" y="5276088"/>
            <a:ext cx="10725912" cy="804672"/>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330951"/>
            <a:ext cx="10451592" cy="694944"/>
          </a:xfrm>
          <a:prstGeom prst="rect">
            <a:avLst/>
          </a:prstGeom>
          <a:noFill/>
        </p:spPr>
        <p:txBody>
          <a:bodyPr wrap="square" lIns="0" rIns="0" tIns="0" bIns="0">
            <a:spAutoFit/>
          </a:bodyPr>
          <a:lstStyle/>
          <a:p>
            <a:r>
              <a:rPr sz="1050" b="1">
                <a:solidFill>
                  <a:srgbClr val="0F172A"/>
                </a:solidFill>
                <a:latin typeface="Segoe UI"/>
              </a:rPr>
              <a:t>5. TSMC Lithography Yield Accuracy [Removed]
</a:t>
            </a:r>
          </a:p>
          <a:p>
            <a:pPr>
              <a:spcBef>
                <a:spcPts val="200"/>
              </a:spcBef>
            </a:pPr>
            <a:r>
              <a:rPr sz="850" b="1">
                <a:solidFill>
                  <a:srgbClr val="64748B"/>
                </a:solidFill>
                <a:latin typeface="Segoe UI"/>
              </a:rPr>
              <a:t>Draft Claim: </a:t>
            </a:r>
            <a:r>
              <a:rPr sz="850">
                <a:solidFill>
                  <a:srgbClr val="64748B"/>
                </a:solidFill>
                <a:latin typeface="Segoe UI"/>
              </a:rPr>
              <a:t>"TSMC achieved a 2.1x improvement in yield prediction accuracy in EUV lithography."   |   </a:t>
            </a:r>
            <a:r>
              <a:rPr sz="850" b="1">
                <a:solidFill>
                  <a:srgbClr val="B91C1C"/>
                </a:solidFill>
                <a:latin typeface="Segoe UI"/>
              </a:rPr>
              <a:t>Audit Verdict: </a:t>
            </a:r>
            <a:r>
              <a:rPr sz="850">
                <a:solidFill>
                  <a:srgbClr val="334155"/>
                </a:solidFill>
                <a:latin typeface="Segoe UI"/>
              </a:rPr>
              <a:t>Exact yield improvement metrics for TSMC advanced nodes (N3/N2) are proprietary trade secrets and not publicly auditable.   |   </a:t>
            </a:r>
            <a:r>
              <a:rPr sz="850" b="1">
                <a:solidFill>
                  <a:srgbClr val="047857"/>
                </a:solidFill>
                <a:latin typeface="Segoe UI"/>
              </a:rPr>
              <a:t>Action: </a:t>
            </a:r>
            <a:r>
              <a:rPr sz="850">
                <a:solidFill>
                  <a:srgbClr val="334155"/>
                </a:solidFill>
                <a:latin typeface="Segoe UI"/>
              </a:rPr>
              <a:t>Replaced with a qualified description of physics-informed defect classification pipelines.</a:t>
            </a:r>
          </a:p>
        </p:txBody>
      </p:sp>
      <p:sp>
        <p:nvSpPr>
          <p:cNvPr id="17" name="Rectangle 16"/>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This adversarial self-critique demonstrates uncompromising research integrity: no vendor marketing fluff survived the audit.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29184"/>
            <a:ext cx="9144000" cy="219456"/>
          </a:xfrm>
          <a:prstGeom prst="rect">
            <a:avLst/>
          </a:prstGeom>
          <a:noFill/>
        </p:spPr>
        <p:txBody>
          <a:bodyPr wrap="none" lIns="0" rIns="0" tIns="0" bIns="0">
            <a:spAutoFit/>
          </a:bodyPr>
          <a:lstStyle/>
          <a:p>
            <a:r>
              <a:rPr sz="850" b="1">
                <a:solidFill>
                  <a:srgbClr val="002B49"/>
                </a:solidFill>
                <a:latin typeface="Segoe UI"/>
              </a:rPr>
              <a:t>APPENDIX B · SELF-CRITIQUE</a:t>
            </a:r>
          </a:p>
        </p:txBody>
      </p:sp>
      <p:sp>
        <p:nvSpPr>
          <p:cNvPr id="3" name="TextBox 2"/>
          <p:cNvSpPr txBox="1"/>
          <p:nvPr/>
        </p:nvSpPr>
        <p:spPr>
          <a:xfrm>
            <a:off x="731520" y="530352"/>
            <a:ext cx="10725912" cy="493776"/>
          </a:xfrm>
          <a:prstGeom prst="rect">
            <a:avLst/>
          </a:prstGeom>
          <a:noFill/>
        </p:spPr>
        <p:txBody>
          <a:bodyPr wrap="square" lIns="0" rIns="0" tIns="0" bIns="0">
            <a:spAutoFit/>
          </a:bodyPr>
          <a:lstStyle/>
          <a:p>
            <a:r>
              <a:rPr sz="2200" b="1">
                <a:solidFill>
                  <a:srgbClr val="0F172A"/>
                </a:solidFill>
                <a:latin typeface="Segoe UI"/>
              </a:rPr>
              <a:t>Adversarial Self-Critique &amp; Downgrade Log (Items 6 to 11)</a:t>
            </a:r>
          </a:p>
        </p:txBody>
      </p:sp>
      <p:sp>
        <p:nvSpPr>
          <p:cNvPr id="4" name="TextBox 3"/>
          <p:cNvSpPr txBox="1"/>
          <p:nvPr/>
        </p:nvSpPr>
        <p:spPr>
          <a:xfrm>
            <a:off x="731520" y="1042415"/>
            <a:ext cx="10725912" cy="292608"/>
          </a:xfrm>
          <a:prstGeom prst="rect">
            <a:avLst/>
          </a:prstGeom>
          <a:noFill/>
        </p:spPr>
        <p:txBody>
          <a:bodyPr wrap="square" lIns="0" rIns="0" tIns="0" bIns="0">
            <a:spAutoFit/>
          </a:bodyPr>
          <a:lstStyle/>
          <a:p>
            <a:r>
              <a:rPr sz="1100">
                <a:solidFill>
                  <a:srgbClr val="64748B"/>
                </a:solidFill>
                <a:latin typeface="Segoe UI"/>
              </a:rPr>
              <a:t>Caterpillar, Intuitive Surgical, Symbotic, DHL, Siemens Energy, and Decorative Formalisms.</a:t>
            </a:r>
          </a:p>
        </p:txBody>
      </p:sp>
      <p:sp>
        <p:nvSpPr>
          <p:cNvPr id="5" name="Rectangle 4"/>
          <p:cNvSpPr/>
          <p:nvPr/>
        </p:nvSpPr>
        <p:spPr>
          <a:xfrm>
            <a:off x="731520" y="1389888"/>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89888"/>
            <a:ext cx="1097280" cy="1828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10725912" cy="67665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28216"/>
            <a:ext cx="10451592" cy="603504"/>
          </a:xfrm>
          <a:prstGeom prst="rect">
            <a:avLst/>
          </a:prstGeom>
          <a:noFill/>
        </p:spPr>
        <p:txBody>
          <a:bodyPr wrap="square" lIns="0" rIns="0" tIns="0" bIns="0">
            <a:spAutoFit/>
          </a:bodyPr>
          <a:lstStyle/>
          <a:p>
            <a:r>
              <a:rPr sz="1000" b="1">
                <a:solidFill>
                  <a:srgbClr val="0F172A"/>
                </a:solidFill>
                <a:latin typeface="Segoe UI"/>
              </a:rPr>
              <a:t>6. Caterpillar Autonomous Haulage Metrics [Removed]  —  </a:t>
            </a:r>
            <a:r>
              <a:rPr sz="850" b="1">
                <a:solidFill>
                  <a:srgbClr val="64748B"/>
                </a:solidFill>
                <a:latin typeface="Segoe UI"/>
              </a:rPr>
              <a:t>Draft Claim: </a:t>
            </a:r>
            <a:r>
              <a:rPr sz="850">
                <a:solidFill>
                  <a:srgbClr val="64748B"/>
                </a:solidFill>
                <a:latin typeface="Segoe UI"/>
              </a:rPr>
              <a:t>"620 autonomous haul trucks operating with zero lost-time injuries over 250M kilometers."  </a:t>
            </a:r>
          </a:p>
          <a:p>
            <a:pPr>
              <a:spcBef>
                <a:spcPts val="200"/>
              </a:spcBef>
            </a:pPr>
            <a:r>
              <a:rPr sz="850" b="1">
                <a:solidFill>
                  <a:srgbClr val="B91C1C"/>
                </a:solidFill>
                <a:latin typeface="Segoe UI"/>
              </a:rPr>
              <a:t>Audit Verdict: </a:t>
            </a:r>
            <a:r>
              <a:rPr sz="850">
                <a:solidFill>
                  <a:srgbClr val="334155"/>
                </a:solidFill>
                <a:latin typeface="Segoe UI"/>
              </a:rPr>
              <a:t>Cat's Command for Hauling is a proven mining product, but '250M km zero-injury' represents marketing copy rather than independently certified safety research.   |   </a:t>
            </a:r>
            <a:r>
              <a:rPr sz="850" b="1">
                <a:solidFill>
                  <a:srgbClr val="047857"/>
                </a:solidFill>
                <a:latin typeface="Segoe UI"/>
              </a:rPr>
              <a:t>Action: </a:t>
            </a:r>
            <a:r>
              <a:rPr sz="850">
                <a:solidFill>
                  <a:srgbClr val="334155"/>
                </a:solidFill>
                <a:latin typeface="Segoe UI"/>
              </a:rPr>
              <a:t>Replaced with sector-level automated haulage analysis.</a:t>
            </a:r>
          </a:p>
        </p:txBody>
      </p:sp>
      <p:sp>
        <p:nvSpPr>
          <p:cNvPr id="9" name="Rectangle 8"/>
          <p:cNvSpPr/>
          <p:nvPr/>
        </p:nvSpPr>
        <p:spPr>
          <a:xfrm>
            <a:off x="731520" y="2441448"/>
            <a:ext cx="10725912" cy="67665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478024"/>
            <a:ext cx="10451592" cy="603504"/>
          </a:xfrm>
          <a:prstGeom prst="rect">
            <a:avLst/>
          </a:prstGeom>
          <a:noFill/>
        </p:spPr>
        <p:txBody>
          <a:bodyPr wrap="square" lIns="0" rIns="0" tIns="0" bIns="0">
            <a:spAutoFit/>
          </a:bodyPr>
          <a:lstStyle/>
          <a:p>
            <a:r>
              <a:rPr sz="1000" b="1">
                <a:solidFill>
                  <a:srgbClr val="0F172A"/>
                </a:solidFill>
                <a:latin typeface="Segoe UI"/>
              </a:rPr>
              <a:t>7. Intuitive Surgical Force Measurement [Removed]  —  </a:t>
            </a:r>
            <a:r>
              <a:rPr sz="850" b="1">
                <a:solidFill>
                  <a:srgbClr val="64748B"/>
                </a:solidFill>
                <a:latin typeface="Segoe UI"/>
              </a:rPr>
              <a:t>Draft Claim: </a:t>
            </a:r>
            <a:r>
              <a:rPr sz="850">
                <a:solidFill>
                  <a:srgbClr val="64748B"/>
                </a:solidFill>
                <a:latin typeface="Segoe UI"/>
              </a:rPr>
              <a:t>"&gt; 10,000 force measurements per second reducing surgeon physical strain by 40% on da Vinci 5."  </a:t>
            </a:r>
          </a:p>
          <a:p>
            <a:pPr>
              <a:spcBef>
                <a:spcPts val="200"/>
              </a:spcBef>
            </a:pPr>
            <a:r>
              <a:rPr sz="850" b="1">
                <a:solidFill>
                  <a:srgbClr val="B91C1C"/>
                </a:solidFill>
                <a:latin typeface="Segoe UI"/>
              </a:rPr>
              <a:t>Audit Verdict: </a:t>
            </a:r>
            <a:r>
              <a:rPr sz="850">
                <a:solidFill>
                  <a:srgbClr val="334155"/>
                </a:solidFill>
                <a:latin typeface="Segoe UI"/>
              </a:rPr>
              <a:t>The '40% strain reduction' claim is an uncontrolled ergonomic marketing claim.   |   </a:t>
            </a:r>
            <a:r>
              <a:rPr sz="850" b="1">
                <a:solidFill>
                  <a:srgbClr val="047857"/>
                </a:solidFill>
                <a:latin typeface="Segoe UI"/>
              </a:rPr>
              <a:t>Action: </a:t>
            </a:r>
            <a:r>
              <a:rPr sz="850">
                <a:solidFill>
                  <a:srgbClr val="334155"/>
                </a:solidFill>
                <a:latin typeface="Segoe UI"/>
              </a:rPr>
              <a:t>Replaced with factual descriptions of da Vinci 5 force-sensing hardware capabilities.</a:t>
            </a:r>
          </a:p>
        </p:txBody>
      </p:sp>
      <p:sp>
        <p:nvSpPr>
          <p:cNvPr id="11" name="Rectangle 10"/>
          <p:cNvSpPr/>
          <p:nvPr/>
        </p:nvSpPr>
        <p:spPr>
          <a:xfrm>
            <a:off x="731520" y="3191256"/>
            <a:ext cx="10725912" cy="67665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27832"/>
            <a:ext cx="10451592" cy="603504"/>
          </a:xfrm>
          <a:prstGeom prst="rect">
            <a:avLst/>
          </a:prstGeom>
          <a:noFill/>
        </p:spPr>
        <p:txBody>
          <a:bodyPr wrap="square" lIns="0" rIns="0" tIns="0" bIns="0">
            <a:spAutoFit/>
          </a:bodyPr>
          <a:lstStyle/>
          <a:p>
            <a:r>
              <a:rPr sz="1000" b="1">
                <a:solidFill>
                  <a:srgbClr val="0F172A"/>
                </a:solidFill>
                <a:latin typeface="Segoe UI"/>
              </a:rPr>
              <a:t>8. Symbotic Contracted Deployments [Removed]  —  </a:t>
            </a:r>
            <a:r>
              <a:rPr sz="850" b="1">
                <a:solidFill>
                  <a:srgbClr val="64748B"/>
                </a:solidFill>
                <a:latin typeface="Segoe UI"/>
              </a:rPr>
              <a:t>Draft Claim: </a:t>
            </a:r>
            <a:r>
              <a:rPr sz="850">
                <a:solidFill>
                  <a:srgbClr val="64748B"/>
                </a:solidFill>
                <a:latin typeface="Segoe UI"/>
              </a:rPr>
              <a:t>"Symbotic has over $500M+ in contracted deployments with Walmart."  </a:t>
            </a:r>
          </a:p>
          <a:p>
            <a:pPr>
              <a:spcBef>
                <a:spcPts val="200"/>
              </a:spcBef>
            </a:pPr>
            <a:r>
              <a:rPr sz="850" b="1">
                <a:solidFill>
                  <a:srgbClr val="B91C1C"/>
                </a:solidFill>
                <a:latin typeface="Segoe UI"/>
              </a:rPr>
              <a:t>Audit Verdict: </a:t>
            </a:r>
            <a:r>
              <a:rPr sz="850">
                <a:solidFill>
                  <a:srgbClr val="334155"/>
                </a:solidFill>
                <a:latin typeface="Segoe UI"/>
              </a:rPr>
              <a:t>Conflated multi-year system backlog with realized physical-AI software deployment.   |   </a:t>
            </a:r>
            <a:r>
              <a:rPr sz="850" b="1">
                <a:solidFill>
                  <a:srgbClr val="047857"/>
                </a:solidFill>
                <a:latin typeface="Segoe UI"/>
              </a:rPr>
              <a:t>Action: </a:t>
            </a:r>
            <a:r>
              <a:rPr sz="850">
                <a:solidFill>
                  <a:srgbClr val="334155"/>
                </a:solidFill>
                <a:latin typeface="Segoe UI"/>
              </a:rPr>
              <a:t>Replaced with general automated warehouse distribution analysis.</a:t>
            </a:r>
          </a:p>
        </p:txBody>
      </p:sp>
      <p:sp>
        <p:nvSpPr>
          <p:cNvPr id="13" name="Rectangle 12"/>
          <p:cNvSpPr/>
          <p:nvPr/>
        </p:nvSpPr>
        <p:spPr>
          <a:xfrm>
            <a:off x="731520" y="3941064"/>
            <a:ext cx="10725912" cy="67665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977640"/>
            <a:ext cx="10451592" cy="603504"/>
          </a:xfrm>
          <a:prstGeom prst="rect">
            <a:avLst/>
          </a:prstGeom>
          <a:noFill/>
        </p:spPr>
        <p:txBody>
          <a:bodyPr wrap="square" lIns="0" rIns="0" tIns="0" bIns="0">
            <a:spAutoFit/>
          </a:bodyPr>
          <a:lstStyle/>
          <a:p>
            <a:r>
              <a:rPr sz="1000" b="1">
                <a:solidFill>
                  <a:srgbClr val="0F172A"/>
                </a:solidFill>
                <a:latin typeface="Segoe UI"/>
              </a:rPr>
              <a:t>9. DHL Turnaround Time Reductions [Removed]  —  </a:t>
            </a:r>
            <a:r>
              <a:rPr sz="850" b="1">
                <a:solidFill>
                  <a:srgbClr val="64748B"/>
                </a:solidFill>
                <a:latin typeface="Segoe UI"/>
              </a:rPr>
              <a:t>Draft Claim: </a:t>
            </a:r>
            <a:r>
              <a:rPr sz="850">
                <a:solidFill>
                  <a:srgbClr val="64748B"/>
                </a:solidFill>
                <a:latin typeface="Segoe UI"/>
              </a:rPr>
              <a:t>"Trailer turn time reduced from 90 to 38 minutes, cutting dock labor costs by 28%."  </a:t>
            </a:r>
          </a:p>
          <a:p>
            <a:pPr>
              <a:spcBef>
                <a:spcPts val="200"/>
              </a:spcBef>
            </a:pPr>
            <a:r>
              <a:rPr sz="850" b="1">
                <a:solidFill>
                  <a:srgbClr val="B91C1C"/>
                </a:solidFill>
                <a:latin typeface="Segoe UI"/>
              </a:rPr>
              <a:t>Audit Verdict: </a:t>
            </a:r>
            <a:r>
              <a:rPr sz="850">
                <a:solidFill>
                  <a:srgbClr val="334155"/>
                </a:solidFill>
                <a:latin typeface="Segoe UI"/>
              </a:rPr>
              <a:t>Site-level minute-savings vary widely across facilities and are not standardized in audited reports.   |   </a:t>
            </a:r>
            <a:r>
              <a:rPr sz="850" b="1">
                <a:solidFill>
                  <a:srgbClr val="047857"/>
                </a:solidFill>
                <a:latin typeface="Segoe UI"/>
              </a:rPr>
              <a:t>Action: </a:t>
            </a:r>
            <a:r>
              <a:rPr sz="850">
                <a:solidFill>
                  <a:srgbClr val="334155"/>
                </a:solidFill>
                <a:latin typeface="Segoe UI"/>
              </a:rPr>
              <a:t>Replaced with verified Boston Dynamics Stretch deployment scope.</a:t>
            </a:r>
          </a:p>
        </p:txBody>
      </p:sp>
      <p:sp>
        <p:nvSpPr>
          <p:cNvPr id="15" name="Rectangle 14"/>
          <p:cNvSpPr/>
          <p:nvPr/>
        </p:nvSpPr>
        <p:spPr>
          <a:xfrm>
            <a:off x="731520" y="4690872"/>
            <a:ext cx="10725912" cy="67665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727448"/>
            <a:ext cx="10451592" cy="603504"/>
          </a:xfrm>
          <a:prstGeom prst="rect">
            <a:avLst/>
          </a:prstGeom>
          <a:noFill/>
        </p:spPr>
        <p:txBody>
          <a:bodyPr wrap="square" lIns="0" rIns="0" tIns="0" bIns="0">
            <a:spAutoFit/>
          </a:bodyPr>
          <a:lstStyle/>
          <a:p>
            <a:r>
              <a:rPr sz="1000" b="1">
                <a:solidFill>
                  <a:srgbClr val="0F172A"/>
                </a:solidFill>
                <a:latin typeface="Segoe UI"/>
              </a:rPr>
              <a:t>10. Siemens Energy Valve Failure Reduction [Removed]  —  </a:t>
            </a:r>
            <a:r>
              <a:rPr sz="850" b="1">
                <a:solidFill>
                  <a:srgbClr val="64748B"/>
                </a:solidFill>
                <a:latin typeface="Segoe UI"/>
              </a:rPr>
              <a:t>Draft Claim: </a:t>
            </a:r>
            <a:r>
              <a:rPr sz="850">
                <a:solidFill>
                  <a:srgbClr val="64748B"/>
                </a:solidFill>
                <a:latin typeface="Segoe UI"/>
              </a:rPr>
              <a:t>"45% reduction in catastrophic valve failure events."  </a:t>
            </a:r>
          </a:p>
          <a:p>
            <a:pPr>
              <a:spcBef>
                <a:spcPts val="200"/>
              </a:spcBef>
            </a:pPr>
            <a:r>
              <a:rPr sz="850" b="1">
                <a:solidFill>
                  <a:srgbClr val="B91C1C"/>
                </a:solidFill>
                <a:latin typeface="Segoe UI"/>
              </a:rPr>
              <a:t>Audit Verdict: </a:t>
            </a:r>
            <a:r>
              <a:rPr sz="850">
                <a:solidFill>
                  <a:srgbClr val="334155"/>
                </a:solidFill>
                <a:latin typeface="Segoe UI"/>
              </a:rPr>
              <a:t>Unaudited vendor whitepaper statistic without independent third-party certification.   |   </a:t>
            </a:r>
            <a:r>
              <a:rPr sz="850" b="1">
                <a:solidFill>
                  <a:srgbClr val="047857"/>
                </a:solidFill>
                <a:latin typeface="Segoe UI"/>
              </a:rPr>
              <a:t>Action: </a:t>
            </a:r>
            <a:r>
              <a:rPr sz="850">
                <a:solidFill>
                  <a:srgbClr val="334155"/>
                </a:solidFill>
                <a:latin typeface="Segoe UI"/>
              </a:rPr>
              <a:t>Replaced with verified descriptions of predictive thermal monitoring programs.</a:t>
            </a:r>
          </a:p>
        </p:txBody>
      </p:sp>
      <p:sp>
        <p:nvSpPr>
          <p:cNvPr id="17" name="Rectangle 16"/>
          <p:cNvSpPr/>
          <p:nvPr/>
        </p:nvSpPr>
        <p:spPr>
          <a:xfrm>
            <a:off x="731520" y="5440679"/>
            <a:ext cx="10725912" cy="676656"/>
          </a:xfrm>
          <a:prstGeom prst="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477255"/>
            <a:ext cx="10451592" cy="603504"/>
          </a:xfrm>
          <a:prstGeom prst="rect">
            <a:avLst/>
          </a:prstGeom>
          <a:noFill/>
        </p:spPr>
        <p:txBody>
          <a:bodyPr wrap="square" lIns="0" rIns="0" tIns="0" bIns="0">
            <a:spAutoFit/>
          </a:bodyPr>
          <a:lstStyle/>
          <a:p>
            <a:r>
              <a:rPr sz="1000" b="1">
                <a:solidFill>
                  <a:srgbClr val="0F172A"/>
                </a:solidFill>
                <a:latin typeface="Segoe UI"/>
              </a:rPr>
              <a:t>11. Decorative Equations &amp; Academic Padding [Removed]  —  </a:t>
            </a:r>
            <a:r>
              <a:rPr sz="850" b="1">
                <a:solidFill>
                  <a:srgbClr val="64748B"/>
                </a:solidFill>
                <a:latin typeface="Segoe UI"/>
              </a:rPr>
              <a:t>Draft Claim: </a:t>
            </a:r>
            <a:r>
              <a:rPr sz="850">
                <a:solidFill>
                  <a:srgbClr val="64748B"/>
                </a:solidFill>
                <a:latin typeface="Segoe UI"/>
              </a:rPr>
              <a:t>"Unconnected PINN loss functions (Ltotal = Ldata + lambda||dt u + N[u] - f||^2) and InfoNCE contrastive equations."  </a:t>
            </a:r>
          </a:p>
          <a:p>
            <a:pPr>
              <a:spcBef>
                <a:spcPts val="200"/>
              </a:spcBef>
            </a:pPr>
            <a:r>
              <a:rPr sz="850" b="1">
                <a:solidFill>
                  <a:srgbClr val="6D28D9"/>
                </a:solidFill>
                <a:latin typeface="Segoe UI"/>
              </a:rPr>
              <a:t>Audit Verdict: </a:t>
            </a:r>
            <a:r>
              <a:rPr sz="850">
                <a:solidFill>
                  <a:srgbClr val="334155"/>
                </a:solidFill>
                <a:latin typeface="Segoe UI"/>
              </a:rPr>
              <a:t>These equations served as decorative academic padding without doing argumentative work.   |   </a:t>
            </a:r>
            <a:r>
              <a:rPr sz="850" b="1">
                <a:solidFill>
                  <a:srgbClr val="047857"/>
                </a:solidFill>
                <a:latin typeface="Segoe UI"/>
              </a:rPr>
              <a:t>Action: </a:t>
            </a:r>
            <a:r>
              <a:rPr sz="850">
                <a:solidFill>
                  <a:srgbClr val="334155"/>
                </a:solidFill>
                <a:latin typeface="Segoe UI"/>
              </a:rPr>
              <a:t>Retained only load-bearing formalisms: (1) Pearl's Causal Hierarchy, (2) Control Barrier Functions &amp; Reachable Sets, and (3) Jacobian Singularity Invariants.</a:t>
            </a:r>
          </a:p>
        </p:txBody>
      </p:sp>
      <p:sp>
        <p:nvSpPr>
          <p:cNvPr id="19" name="Rectangle 18"/>
          <p:cNvSpPr/>
          <p:nvPr/>
        </p:nvSpPr>
        <p:spPr>
          <a:xfrm>
            <a:off x="731520" y="6263640"/>
            <a:ext cx="1072591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002B49"/>
                </a:solidFill>
                <a:latin typeface="Segoe UI"/>
              </a:rPr>
              <a:t>STRATEGIC TAKEAWAY  —  </a:t>
            </a:r>
            <a:r>
              <a:rPr sz="900">
                <a:solidFill>
                  <a:srgbClr val="334155"/>
                </a:solidFill>
                <a:latin typeface="Segoe UI"/>
              </a:rPr>
              <a:t>Only load-bearing formalisms were retained: Pearl's Causal Ladder, Control Barrier Functions, and Jacobian Singularity Invariants.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2B49"/>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85800"/>
            <a:ext cx="3086099" cy="219456"/>
          </a:xfrm>
          <a:prstGeom prst="roundRect">
            <a:avLst/>
          </a:prstGeom>
          <a:solidFill>
            <a:srgbClr val="001E33"/>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B45309"/>
                </a:solidFill>
                <a:latin typeface="Segoe UI"/>
              </a:rPr>
              <a:t>DOCUMENT SIGN-OFF &amp; DISTRIBUTION REGISTER</a:t>
            </a:r>
          </a:p>
        </p:txBody>
      </p:sp>
      <p:sp>
        <p:nvSpPr>
          <p:cNvPr id="4" name="TextBox 3"/>
          <p:cNvSpPr txBox="1"/>
          <p:nvPr/>
        </p:nvSpPr>
        <p:spPr>
          <a:xfrm>
            <a:off x="731520" y="1188720"/>
            <a:ext cx="10058400" cy="777240"/>
          </a:xfrm>
          <a:prstGeom prst="rect">
            <a:avLst/>
          </a:prstGeom>
          <a:noFill/>
        </p:spPr>
        <p:txBody>
          <a:bodyPr wrap="square" lIns="0" rIns="0" tIns="0" bIns="0">
            <a:spAutoFit/>
          </a:bodyPr>
          <a:lstStyle/>
          <a:p>
            <a:r>
              <a:rPr sz="2600" b="1">
                <a:solidFill>
                  <a:srgbClr val="FFFFFF"/>
                </a:solidFill>
                <a:latin typeface="Segoe UI"/>
              </a:rPr>
              <a:t>The Practice of Physical Artificial Intelligence
</a:t>
            </a:r>
            <a:r>
              <a:rPr sz="1300">
                <a:solidFill>
                  <a:srgbClr val="B45309"/>
                </a:solidFill>
                <a:latin typeface="Segoe UI"/>
              </a:rPr>
              <a:t>Executive Strategic Briefing  ·  L&amp;T Technology Services (LTTS)</a:t>
            </a:r>
          </a:p>
        </p:txBody>
      </p:sp>
      <p:sp>
        <p:nvSpPr>
          <p:cNvPr id="5" name="Rectangle 4"/>
          <p:cNvSpPr/>
          <p:nvPr/>
        </p:nvSpPr>
        <p:spPr>
          <a:xfrm>
            <a:off x="731520" y="2148840"/>
            <a:ext cx="10515600" cy="13716"/>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423160"/>
            <a:ext cx="3364992" cy="3474720"/>
          </a:xfrm>
          <a:prstGeom prst="rect">
            <a:avLst/>
          </a:prstGeom>
          <a:solidFill>
            <a:srgbClr val="043354"/>
          </a:solidFill>
          <a:ln w="9525">
            <a:solidFill>
              <a:srgbClr val="0C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423160"/>
            <a:ext cx="3364992" cy="228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606040"/>
            <a:ext cx="2999232" cy="3108960"/>
          </a:xfrm>
          <a:prstGeom prst="rect">
            <a:avLst/>
          </a:prstGeom>
          <a:noFill/>
        </p:spPr>
        <p:txBody>
          <a:bodyPr wrap="square" lIns="0" rIns="0" tIns="0" bIns="0">
            <a:spAutoFit/>
          </a:bodyPr>
          <a:lstStyle/>
          <a:p>
            <a:r>
              <a:rPr sz="1100" b="1">
                <a:solidFill>
                  <a:srgbClr val="38BDF8"/>
                </a:solidFill>
                <a:latin typeface="Segoe UI"/>
              </a:rPr>
              <a:t>DOCUMENT REGISTER
</a:t>
            </a:r>
          </a:p>
          <a:p>
            <a:r>
              <a:rPr sz="950" b="1">
                <a:solidFill>
                  <a:srgbClr val="FFFFFF"/>
                </a:solidFill>
                <a:latin typeface="Segoe UI"/>
              </a:rPr>
              <a:t>Version: </a:t>
            </a:r>
            <a:r>
              <a:rPr sz="950">
                <a:solidFill>
                  <a:srgbClr val="BAE6FD"/>
                </a:solidFill>
                <a:latin typeface="Segoe UI"/>
              </a:rPr>
              <a:t>3.0 Master Executive Release</a:t>
            </a:r>
          </a:p>
          <a:p>
            <a:pPr>
              <a:spcBef>
                <a:spcPts val="700"/>
              </a:spcBef>
            </a:pPr>
            <a:r>
              <a:rPr sz="950" b="1">
                <a:solidFill>
                  <a:srgbClr val="FFFFFF"/>
                </a:solidFill>
                <a:latin typeface="Segoe UI"/>
              </a:rPr>
              <a:t>Document ID: </a:t>
            </a:r>
            <a:r>
              <a:rPr sz="950">
                <a:solidFill>
                  <a:srgbClr val="BAE6FD"/>
                </a:solidFill>
                <a:latin typeface="Segoe UI"/>
              </a:rPr>
              <a:t>LTTS-PAI-2026-MASTER-01</a:t>
            </a:r>
          </a:p>
          <a:p>
            <a:pPr>
              <a:spcBef>
                <a:spcPts val="700"/>
              </a:spcBef>
            </a:pPr>
            <a:r>
              <a:rPr sz="950" b="1">
                <a:solidFill>
                  <a:srgbClr val="FFFFFF"/>
                </a:solidFill>
                <a:latin typeface="Segoe UI"/>
              </a:rPr>
              <a:t>Date of Issue: </a:t>
            </a:r>
            <a:r>
              <a:rPr sz="950">
                <a:solidFill>
                  <a:srgbClr val="BAE6FD"/>
                </a:solidFill>
                <a:latin typeface="Segoe UI"/>
              </a:rPr>
              <a:t>September 2026</a:t>
            </a:r>
          </a:p>
          <a:p>
            <a:pPr>
              <a:spcBef>
                <a:spcPts val="700"/>
              </a:spcBef>
            </a:pPr>
            <a:r>
              <a:rPr sz="950" b="1">
                <a:solidFill>
                  <a:srgbClr val="FFFFFF"/>
                </a:solidFill>
                <a:latin typeface="Segoe UI"/>
              </a:rPr>
              <a:t>Classification: </a:t>
            </a:r>
            <a:r>
              <a:rPr sz="950">
                <a:solidFill>
                  <a:srgbClr val="BAE6FD"/>
                </a:solidFill>
                <a:latin typeface="Segoe UI"/>
              </a:rPr>
              <a:t>Strictly Confidential &amp; Proprietary</a:t>
            </a:r>
          </a:p>
        </p:txBody>
      </p:sp>
      <p:sp>
        <p:nvSpPr>
          <p:cNvPr id="9" name="Rectangle 8"/>
          <p:cNvSpPr/>
          <p:nvPr/>
        </p:nvSpPr>
        <p:spPr>
          <a:xfrm>
            <a:off x="4407408" y="2423160"/>
            <a:ext cx="3364992" cy="3474720"/>
          </a:xfrm>
          <a:prstGeom prst="rect">
            <a:avLst/>
          </a:prstGeom>
          <a:solidFill>
            <a:srgbClr val="043354"/>
          </a:solidFill>
          <a:ln w="9525">
            <a:solidFill>
              <a:srgbClr val="0C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07408" y="2423160"/>
            <a:ext cx="3364992" cy="2286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90288" y="2606040"/>
            <a:ext cx="2999232" cy="3108960"/>
          </a:xfrm>
          <a:prstGeom prst="rect">
            <a:avLst/>
          </a:prstGeom>
          <a:noFill/>
        </p:spPr>
        <p:txBody>
          <a:bodyPr wrap="square" lIns="0" rIns="0" tIns="0" bIns="0">
            <a:spAutoFit/>
          </a:bodyPr>
          <a:lstStyle/>
          <a:p>
            <a:r>
              <a:rPr sz="1100" b="1">
                <a:solidFill>
                  <a:srgbClr val="B45309"/>
                </a:solidFill>
                <a:latin typeface="Segoe UI"/>
              </a:rPr>
              <a:t>PRIMARY RESEARCH &amp; AUTHORSHIP
</a:t>
            </a:r>
          </a:p>
          <a:p>
            <a:r>
              <a:rPr sz="950" b="1">
                <a:solidFill>
                  <a:srgbClr val="FFFFFF"/>
                </a:solidFill>
                <a:latin typeface="Segoe UI"/>
              </a:rPr>
              <a:t>Lead Author: </a:t>
            </a:r>
            <a:r>
              <a:rPr sz="950">
                <a:solidFill>
                  <a:srgbClr val="BAE6FD"/>
                </a:solidFill>
                <a:latin typeface="Segoe UI"/>
              </a:rPr>
              <a:t>Adari Karthikeya</a:t>
            </a:r>
          </a:p>
          <a:p>
            <a:pPr>
              <a:spcBef>
                <a:spcPts val="700"/>
              </a:spcBef>
            </a:pPr>
            <a:r>
              <a:rPr sz="950" b="1">
                <a:solidFill>
                  <a:srgbClr val="FFFFFF"/>
                </a:solidFill>
                <a:latin typeface="Segoe UI"/>
              </a:rPr>
              <a:t>Practice: </a:t>
            </a:r>
            <a:r>
              <a:rPr sz="950">
                <a:solidFill>
                  <a:srgbClr val="BAE6FD"/>
                </a:solidFill>
                <a:latin typeface="Segoe UI"/>
              </a:rPr>
              <a:t>Physical AI Practice Research</a:t>
            </a:r>
          </a:p>
          <a:p>
            <a:pPr>
              <a:spcBef>
                <a:spcPts val="700"/>
              </a:spcBef>
            </a:pPr>
            <a:r>
              <a:rPr sz="950" b="1">
                <a:solidFill>
                  <a:srgbClr val="FFFFFF"/>
                </a:solidFill>
                <a:latin typeface="Segoe UI"/>
              </a:rPr>
              <a:t>Organization: </a:t>
            </a:r>
            <a:r>
              <a:rPr sz="950">
                <a:solidFill>
                  <a:srgbClr val="BAE6FD"/>
                </a:solidFill>
                <a:latin typeface="Segoe UI"/>
              </a:rPr>
              <a:t>LTTS Strategic Engineering Practice</a:t>
            </a:r>
          </a:p>
          <a:p>
            <a:pPr>
              <a:spcBef>
                <a:spcPts val="700"/>
              </a:spcBef>
            </a:pPr>
            <a:r>
              <a:rPr sz="950" b="1">
                <a:solidFill>
                  <a:srgbClr val="FFFFFF"/>
                </a:solidFill>
                <a:latin typeface="Segoe UI"/>
              </a:rPr>
              <a:t>Review Cycle: </a:t>
            </a:r>
            <a:r>
              <a:rPr sz="950">
                <a:solidFill>
                  <a:srgbClr val="BAE6FD"/>
                </a:solidFill>
                <a:latin typeface="Segoe UI"/>
              </a:rPr>
              <a:t>Full Peer Review &amp; Self-Critique Completed</a:t>
            </a:r>
          </a:p>
        </p:txBody>
      </p:sp>
      <p:sp>
        <p:nvSpPr>
          <p:cNvPr id="12" name="Rectangle 11"/>
          <p:cNvSpPr/>
          <p:nvPr/>
        </p:nvSpPr>
        <p:spPr>
          <a:xfrm>
            <a:off x="8083296" y="2423160"/>
            <a:ext cx="3364992" cy="3474720"/>
          </a:xfrm>
          <a:prstGeom prst="rect">
            <a:avLst/>
          </a:prstGeom>
          <a:solidFill>
            <a:srgbClr val="043354"/>
          </a:solidFill>
          <a:ln w="9525">
            <a:solidFill>
              <a:srgbClr val="0C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3296" y="2423160"/>
            <a:ext cx="3364992" cy="2286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66176" y="2606040"/>
            <a:ext cx="2999232" cy="3108960"/>
          </a:xfrm>
          <a:prstGeom prst="rect">
            <a:avLst/>
          </a:prstGeom>
          <a:noFill/>
        </p:spPr>
        <p:txBody>
          <a:bodyPr wrap="square" lIns="0" rIns="0" tIns="0" bIns="0">
            <a:spAutoFit/>
          </a:bodyPr>
          <a:lstStyle/>
          <a:p>
            <a:r>
              <a:rPr sz="1100" b="1">
                <a:solidFill>
                  <a:srgbClr val="047857"/>
                </a:solidFill>
                <a:latin typeface="Segoe UI"/>
              </a:rPr>
              <a:t>EXECUTIVE DISTRIBUTION
</a:t>
            </a:r>
          </a:p>
          <a:p>
            <a:r>
              <a:rPr sz="950" b="1">
                <a:solidFill>
                  <a:srgbClr val="FFFFFF"/>
                </a:solidFill>
                <a:latin typeface="Segoe UI"/>
              </a:rPr>
              <a:t>Prepared For: </a:t>
            </a:r>
            <a:r>
              <a:rPr sz="950">
                <a:solidFill>
                  <a:srgbClr val="BAE6FD"/>
                </a:solidFill>
                <a:latin typeface="Segoe UI"/>
              </a:rPr>
              <a:t>Dr. Madhusudhan Singh</a:t>
            </a:r>
          </a:p>
          <a:p>
            <a:pPr>
              <a:spcBef>
                <a:spcPts val="700"/>
              </a:spcBef>
            </a:pPr>
            <a:r>
              <a:rPr sz="950" b="1">
                <a:solidFill>
                  <a:srgbClr val="FFFFFF"/>
                </a:solidFill>
                <a:latin typeface="Segoe UI"/>
              </a:rPr>
              <a:t>Title: </a:t>
            </a:r>
            <a:r>
              <a:rPr sz="950">
                <a:solidFill>
                  <a:srgbClr val="BAE6FD"/>
                </a:solidFill>
                <a:latin typeface="Segoe UI"/>
              </a:rPr>
              <a:t>Executive &amp; Technical Leadership</a:t>
            </a:r>
          </a:p>
          <a:p>
            <a:pPr>
              <a:spcBef>
                <a:spcPts val="700"/>
              </a:spcBef>
            </a:pPr>
            <a:r>
              <a:rPr sz="950" b="1">
                <a:solidFill>
                  <a:srgbClr val="FFFFFF"/>
                </a:solidFill>
                <a:latin typeface="Segoe UI"/>
              </a:rPr>
              <a:t>Entity: </a:t>
            </a:r>
            <a:r>
              <a:rPr sz="950">
                <a:solidFill>
                  <a:srgbClr val="BAE6FD"/>
                </a:solidFill>
                <a:latin typeface="Segoe UI"/>
              </a:rPr>
              <a:t>L&amp;T Technology Services Limited (LTTS)</a:t>
            </a:r>
          </a:p>
          <a:p>
            <a:pPr>
              <a:spcBef>
                <a:spcPts val="700"/>
              </a:spcBef>
            </a:pPr>
            <a:r>
              <a:rPr sz="950" b="1">
                <a:solidFill>
                  <a:srgbClr val="FFFFFF"/>
                </a:solidFill>
                <a:latin typeface="Segoe UI"/>
              </a:rPr>
              <a:t>Action Required: </a:t>
            </a:r>
            <a:r>
              <a:rPr sz="950">
                <a:solidFill>
                  <a:srgbClr val="BAE6FD"/>
                </a:solidFill>
                <a:latin typeface="Segoe UI"/>
              </a:rPr>
              <a:t>Review &amp; Budget Authorization for Q1 2027</a:t>
            </a:r>
          </a:p>
        </p:txBody>
      </p:sp>
      <p:sp>
        <p:nvSpPr>
          <p:cNvPr id="15" name="Rectangle 14"/>
          <p:cNvSpPr/>
          <p:nvPr/>
        </p:nvSpPr>
        <p:spPr>
          <a:xfrm>
            <a:off x="731520" y="6263640"/>
            <a:ext cx="10725912"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309359"/>
            <a:ext cx="10725912" cy="320040"/>
          </a:xfrm>
          <a:prstGeom prst="rect">
            <a:avLst/>
          </a:prstGeom>
          <a:noFill/>
        </p:spPr>
        <p:txBody>
          <a:bodyPr wrap="square" lIns="0" rIns="0" tIns="0" bIns="0">
            <a:spAutoFit/>
          </a:bodyPr>
          <a:lstStyle/>
          <a:p>
            <a:pPr algn="l"/>
            <a:r>
              <a:rPr sz="850" b="1">
                <a:solidFill>
                  <a:srgbClr val="B45309"/>
                </a:solidFill>
                <a:latin typeface="Segoe UI"/>
              </a:rPr>
              <a:t>STRATEGIC TAKEAWAY  —  </a:t>
            </a:r>
            <a:r>
              <a:rPr sz="900">
                <a:solidFill>
                  <a:srgbClr val="BAE6FD"/>
                </a:solidFill>
                <a:latin typeface="Segoe UI"/>
              </a:rPr>
              <a:t>Briefing completed. For presentation delivery, boardroom inquiries, or pilot execution, contact Adari Karthikeya &amp; LTTS Engineering Leadership.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