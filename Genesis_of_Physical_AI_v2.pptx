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8882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1"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31"/>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Good morning. We are at a structural inflection point in the global economy. For the past five years, AI has been confined to the screen. Today, we are bringing it into the physical world. This briefing outlines the exact mathematical and commercial architecture we will use to deploy physical AI at industrial scale.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capital expenditure supercycle behind AI is unprecedented. But we are currently operating under 'fragile trust.' Enterprises are buying in, but these systems still unpredictably fail in physical space. The market will disproportionately reward whoever bridges this gap with verifiable capability.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To understand where we are investing, we must trace how the learning signal has evolved. We have moved from human labels, to internet text, to inference-time reasoning. We are now entering the fourth epoch: Embodied Physical AI. Each epoch absorbed the previous one. Physical AI is the frontier.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assumption that sheer scale yields general intelligence is mathematically breaking down. The irreducible entropy floor E does not move. We are literally running out of internet text. The lever for future capability is no longer raw pretraining capital — it is proprietary, physics-verified data.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industry has unified pretraining and test-time execution under a single compute budget. We are moving away from massive sluggish models to heavily overtrained systems that deliberate at inference time — System 2 reasoning. Raw intelligence is commoditizing. The defensible moat is proprietary, physically verified data.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economic impact is staggering — $15.7 trillion GDP uplift by 2030. The impact is highest where closed-loop verifiability exists: Software Engineering and Manufacturing. If the code compiles or the robot picks up the part correctly, the model gets an unambiguous success signal. This verifiable feedback loop is what we are capitalizing 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 language model can write a fluent paragraph about a wrench slipping off a bolt. But it cannot predict the specific trajectory, torque, and friction required to turn that bolt. Text models are stuck on Rung I. Physical deployment requires Intervention and Counterfactual reasoning based on continuous physical dynamics.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Formally, we model physical environments as POMDPs. To make this computationally tractable, world models operate in a compressed latent space. The model compresses a live video feed, predicts what the state will become if it takes an action, and reconstructs that prediction. This allows the system to roll forward thousands of scenarios per second without rendering every pixel.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equation is the mathematical beating heart of Physical AI. Before a robotic arm moves, it imagines multiple futures. It calculates the expected value of every reward it can obtain across a given time horizon, strictly inside its own internal simulation. This is the definition of simulative reasoning.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There are currently three schools of thought. The Renderer school generates beautiful video but fails at strict physics. The Latent school is highly efficient and built for low-latency robotic control. The Spatial school uses explicitly engineered physics grids. Conflating video generators with engineering-grade world models is a massive strategic error. For $100M industrial deployments, we rely on Schools II and III.</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We must be brutally honest about where these models fail. Autoregressive drift means small per-step errors compound until the simulation breaks. The Executability Gap means a visually flawless video can still shatter a physical part because the model ignored Coulomb friction.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Furthermore, if an encoder sees an unknown tool, it halluccinates it silently. Action Marginalization means the model ignores human control inputs entirely. And the sim-to-real gap guarantees purely synthetic training is never enough. We must have a hybrid data strategy. Every failure mode has a known engineering mitigation.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Because human data is running out, synthetic data is our connective tissue. But it is not a monolith. It exists on a spectrum from cheap self-play up to ASIC-grade formally verified data. A mature governance strategy does not treat all synthetic data equally — it mandates Tier 4 where failure has human consequences.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If you feed a model its own unchecked output, its variance collapses to zero. It forgets reality. To prevent this, we deploy an 'Accumulate-and-Filter' strategy. We maintain a strict mathematical ratio — alpha — between real data and synthetically verified data. This equation is the foundational governance constraint of our entire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How do we scale this without human labels? We use Group Relative Policy Optimization. The system generates multiple candidate trajectories. A strict physics engine acts as the verifier, grading them against the group average. The model teaches itself by recognizing which actions outperformed the mean. This is how we achieve massive scale efficiently.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To close the executability gap, we rely on Physics-Informed Neural Networks. By injecting a differential-operator penalty into the loss function, we force the AI's imagination to strictly obey thermodynamics, mass conservation, and momentum. We are not generating convincing video; we are generating verified physics.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In a production environment, safety is paramount. We monitor real-time uncertainty using two metrics: Reconstruction Residual and Inter-Seed Denoising Variance. If either spikes, the system pauses and flags the anomaly for review. It fails safely — never silently. This is our assurance framework for the board.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is the operational architecture. We take real telemetry, calibrate the world model, generate millions of verified synthetic edge cases, deploy the zero-shot policy, and log the uncertainties to feed back into the loop. This closed-loop flywheel is our ultimate competitive moat. You can buy compute, but you cannot buy this operational data ecosystem.</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To conclude: we are shifting away from physical prototyping to highly scalable, verified computational simulation. We are automating our data pipelines and mandating rigorous physics verification at every step. This architecture accelerates time-to-market and establishes a durable position of technical leadership. This is how we execute the future of physical AI.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7.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7.xml"/><Relationship Id="rId2" Type="http://schemas.openxmlformats.org/officeDocument/2006/relationships/image" Target="../media/image17.png"/><Relationship Id="rId1"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0D1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051560"/>
            <a:ext cx="8046720" cy="1371600"/>
          </a:xfrm>
          <a:prstGeom prst="rect">
            <a:avLst/>
          </a:prstGeom>
          <a:noFill/>
        </p:spPr>
        <p:txBody>
          <a:bodyPr wrap="square">
            <a:spAutoFit/>
          </a:bodyPr>
          <a:lstStyle/>
          <a:p>
            <a:pPr algn="l"/>
            <a:r>
              <a:rPr sz="1400" b="0" i="0">
                <a:solidFill>
                  <a:srgbClr val="B0BCD4"/>
                </a:solidFill>
              </a:rPr>
              <a:t>The Genesis of Physical</a:t>
            </a:r>
            <a:endParaRPr sz="1400" b="0" i="0">
              <a:solidFill>
                <a:srgbClr val="B0BCD4"/>
              </a:solidFill>
            </a:endParaRPr>
          </a:p>
        </p:txBody>
      </p:sp>
      <p:sp>
        <p:nvSpPr>
          <p:cNvPr id="6" name="TextBox 5"/>
          <p:cNvSpPr txBox="1"/>
          <p:nvPr/>
        </p:nvSpPr>
        <p:spPr>
          <a:xfrm>
            <a:off x="320040" y="1417320"/>
            <a:ext cx="8686800" cy="1828800"/>
          </a:xfrm>
          <a:prstGeom prst="rect">
            <a:avLst/>
          </a:prstGeom>
          <a:noFill/>
        </p:spPr>
        <p:txBody>
          <a:bodyPr wrap="square">
            <a:spAutoFit/>
          </a:bodyPr>
          <a:lstStyle/>
          <a:p>
            <a:pPr algn="l"/>
            <a:r>
              <a:rPr sz="5400" b="1" i="0">
                <a:solidFill>
                  <a:srgbClr val="FFFFFF"/>
                </a:solidFill>
              </a:rPr>
              <a:t>Artificial Intelligence</a:t>
            </a:r>
            <a:endParaRPr sz="5400" b="1" i="0">
              <a:solidFill>
                <a:srgbClr val="FFFFFF"/>
              </a:solidFill>
            </a:endParaRPr>
          </a:p>
        </p:txBody>
      </p:sp>
      <p:sp>
        <p:nvSpPr>
          <p:cNvPr id="7" name="Rectangle 6"/>
          <p:cNvSpPr/>
          <p:nvPr/>
        </p:nvSpPr>
        <p:spPr>
          <a:xfrm>
            <a:off x="320040" y="3429000"/>
            <a:ext cx="82296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3611880"/>
            <a:ext cx="8686800" cy="368300"/>
          </a:xfrm>
          <a:prstGeom prst="rect">
            <a:avLst/>
          </a:prstGeom>
          <a:noFill/>
        </p:spPr>
        <p:txBody>
          <a:bodyPr wrap="square">
            <a:spAutoFit/>
          </a:bodyPr>
          <a:lstStyle/>
          <a:p>
            <a:pPr algn="l"/>
            <a:r>
              <a:rPr sz="1800" b="0" i="0">
                <a:solidFill>
                  <a:srgbClr val="C9A84C"/>
                </a:solidFill>
              </a:rPr>
              <a:t>Strategic Briefing  </a:t>
            </a:r>
            <a:endParaRPr sz="1800" b="0" i="0">
              <a:solidFill>
                <a:srgbClr val="C9A84C"/>
              </a:solidFill>
            </a:endParaRPr>
          </a:p>
        </p:txBody>
      </p:sp>
      <p:sp>
        <p:nvSpPr>
          <p:cNvPr id="9" name="TextBox 8"/>
          <p:cNvSpPr txBox="1"/>
          <p:nvPr/>
        </p:nvSpPr>
        <p:spPr>
          <a:xfrm>
            <a:off x="320040" y="6217920"/>
            <a:ext cx="5486400" cy="457200"/>
          </a:xfrm>
          <a:prstGeom prst="rect">
            <a:avLst/>
          </a:prstGeom>
          <a:noFill/>
        </p:spPr>
        <p:txBody>
          <a:bodyPr wrap="square">
            <a:spAutoFit/>
          </a:bodyPr>
          <a:lstStyle/>
          <a:p>
            <a:pPr algn="l"/>
            <a:r>
              <a:rPr sz="1100" b="0" i="0">
                <a:solidFill>
                  <a:srgbClr val="B0BCD4"/>
                </a:solidFill>
              </a:rPr>
              <a:t>August 2026  ·  Confidential &amp; Proprietary</a:t>
            </a:r>
            <a:endParaRPr sz="1100" b="0" i="0">
              <a:solidFill>
                <a:srgbClr val="B0BCD4"/>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0D1A"/>
        </a:solidFill>
        <a:effectLst/>
      </p:bgPr>
    </p:bg>
    <p:spTree>
      <p:nvGrpSpPr>
        <p:cNvPr id="1" name=""/>
        <p:cNvGrpSpPr/>
        <p:nvPr/>
      </p:nvGrpSpPr>
      <p:grpSpPr/>
      <p:sp>
        <p:nvSpPr>
          <p:cNvPr id="2" name="Rectangle 1"/>
          <p:cNvSpPr/>
          <p:nvPr/>
        </p:nvSpPr>
        <p:spPr>
          <a:xfrm>
            <a:off x="182880" y="182880"/>
            <a:ext cx="2377440" cy="2926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070D1A"/>
                </a:solidFill>
              </a:rPr>
              <a:t>MODULE 1 · THE AI PARADIGM</a:t>
            </a:r>
            <a:endParaRPr sz="900" b="1">
              <a:solidFill>
                <a:srgbClr val="070D1A"/>
              </a:solidFill>
            </a:endParaRPr>
          </a:p>
        </p:txBody>
      </p:sp>
      <p:sp>
        <p:nvSpPr>
          <p:cNvPr id="3" name="TextBox 2"/>
          <p:cNvSpPr txBox="1"/>
          <p:nvPr/>
        </p:nvSpPr>
        <p:spPr>
          <a:xfrm>
            <a:off x="274320" y="566928"/>
            <a:ext cx="11430000" cy="914400"/>
          </a:xfrm>
          <a:prstGeom prst="rect">
            <a:avLst/>
          </a:prstGeom>
          <a:noFill/>
        </p:spPr>
        <p:txBody>
          <a:bodyPr wrap="square">
            <a:spAutoFit/>
          </a:bodyPr>
          <a:lstStyle/>
          <a:p>
            <a:pPr algn="l"/>
            <a:r>
              <a:rPr sz="3400" b="1" i="0">
                <a:solidFill>
                  <a:srgbClr val="FFFFFF"/>
                </a:solidFill>
              </a:rPr>
              <a:t>The Macro-Economic Surge</a:t>
            </a:r>
            <a:endParaRPr sz="3400" b="1" i="0">
              <a:solidFill>
                <a:srgbClr val="FFFFFF"/>
              </a:solidFill>
            </a:endParaRPr>
          </a:p>
        </p:txBody>
      </p:sp>
      <p:sp>
        <p:nvSpPr>
          <p:cNvPr id="4" name="TextBox 3"/>
          <p:cNvSpPr txBox="1"/>
          <p:nvPr/>
        </p:nvSpPr>
        <p:spPr>
          <a:xfrm>
            <a:off x="274320" y="1298448"/>
            <a:ext cx="11430000" cy="411480"/>
          </a:xfrm>
          <a:prstGeom prst="rect">
            <a:avLst/>
          </a:prstGeom>
          <a:noFill/>
        </p:spPr>
        <p:txBody>
          <a:bodyPr wrap="square">
            <a:spAutoFit/>
          </a:bodyPr>
          <a:lstStyle/>
          <a:p>
            <a:pPr algn="l"/>
            <a:r>
              <a:rPr sz="1600" b="0" i="0">
                <a:solidFill>
                  <a:srgbClr val="C9A84C"/>
                </a:solidFill>
              </a:rPr>
              <a:t>A Half-Trillion Dollar Supercycle and the Fragile Trust Paradox</a:t>
            </a:r>
            <a:endParaRPr sz="1600" b="0" i="0">
              <a:solidFill>
                <a:srgbClr val="C9A84C"/>
              </a:solidFill>
            </a:endParaRPr>
          </a:p>
        </p:txBody>
      </p:sp>
      <p:sp>
        <p:nvSpPr>
          <p:cNvPr id="5" name="Rectangle 4"/>
          <p:cNvSpPr/>
          <p:nvPr/>
        </p:nvSpPr>
        <p:spPr>
          <a:xfrm>
            <a:off x="150876" y="1792224"/>
            <a:ext cx="1188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965960"/>
            <a:ext cx="3657600" cy="141732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79" y="2057400"/>
            <a:ext cx="3383280" cy="822960"/>
          </a:xfrm>
          <a:prstGeom prst="rect">
            <a:avLst/>
          </a:prstGeom>
          <a:noFill/>
        </p:spPr>
        <p:txBody>
          <a:bodyPr wrap="square">
            <a:spAutoFit/>
          </a:bodyPr>
          <a:lstStyle/>
          <a:p>
            <a:pPr algn="ctr"/>
            <a:r>
              <a:rPr sz="4200" b="1" i="0">
                <a:solidFill>
                  <a:srgbClr val="C9A84C"/>
                </a:solidFill>
              </a:rPr>
              <a:t>&gt;$512B</a:t>
            </a:r>
            <a:endParaRPr sz="4200" b="1" i="0">
              <a:solidFill>
                <a:srgbClr val="C9A84C"/>
              </a:solidFill>
            </a:endParaRPr>
          </a:p>
        </p:txBody>
      </p:sp>
      <p:sp>
        <p:nvSpPr>
          <p:cNvPr id="8" name="TextBox 7"/>
          <p:cNvSpPr txBox="1"/>
          <p:nvPr/>
        </p:nvSpPr>
        <p:spPr>
          <a:xfrm>
            <a:off x="365760" y="2788920"/>
            <a:ext cx="3474720" cy="502920"/>
          </a:xfrm>
          <a:prstGeom prst="rect">
            <a:avLst/>
          </a:prstGeom>
          <a:noFill/>
        </p:spPr>
        <p:txBody>
          <a:bodyPr wrap="square">
            <a:spAutoFit/>
          </a:bodyPr>
          <a:lstStyle/>
          <a:p>
            <a:pPr algn="ctr"/>
            <a:r>
              <a:rPr sz="1300" b="0" i="0">
                <a:solidFill>
                  <a:srgbClr val="B0BCD4"/>
                </a:solidFill>
              </a:rPr>
              <a:t>Worldwide AI Spend 2027</a:t>
            </a:r>
            <a:endParaRPr sz="1300" b="0" i="0">
              <a:solidFill>
                <a:srgbClr val="B0BCD4"/>
              </a:solidFill>
            </a:endParaRPr>
          </a:p>
        </p:txBody>
      </p:sp>
      <p:sp>
        <p:nvSpPr>
          <p:cNvPr id="9" name="Rectangle 8"/>
          <p:cNvSpPr/>
          <p:nvPr/>
        </p:nvSpPr>
        <p:spPr>
          <a:xfrm>
            <a:off x="4206240" y="1965960"/>
            <a:ext cx="3657600" cy="141732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43400" y="2057400"/>
            <a:ext cx="3383280" cy="822960"/>
          </a:xfrm>
          <a:prstGeom prst="rect">
            <a:avLst/>
          </a:prstGeom>
          <a:noFill/>
        </p:spPr>
        <p:txBody>
          <a:bodyPr wrap="square">
            <a:spAutoFit/>
          </a:bodyPr>
          <a:lstStyle/>
          <a:p>
            <a:pPr algn="ctr"/>
            <a:r>
              <a:rPr sz="4200" b="1" i="0">
                <a:solidFill>
                  <a:srgbClr val="C9A84C"/>
                </a:solidFill>
              </a:rPr>
              <a:t>88%</a:t>
            </a:r>
            <a:endParaRPr sz="4200" b="1" i="0">
              <a:solidFill>
                <a:srgbClr val="C9A84C"/>
              </a:solidFill>
            </a:endParaRPr>
          </a:p>
        </p:txBody>
      </p:sp>
      <p:sp>
        <p:nvSpPr>
          <p:cNvPr id="11" name="TextBox 10"/>
          <p:cNvSpPr txBox="1"/>
          <p:nvPr/>
        </p:nvSpPr>
        <p:spPr>
          <a:xfrm>
            <a:off x="4297679" y="2788920"/>
            <a:ext cx="3474720" cy="502920"/>
          </a:xfrm>
          <a:prstGeom prst="rect">
            <a:avLst/>
          </a:prstGeom>
          <a:noFill/>
        </p:spPr>
        <p:txBody>
          <a:bodyPr wrap="square">
            <a:spAutoFit/>
          </a:bodyPr>
          <a:lstStyle/>
          <a:p>
            <a:pPr algn="ctr"/>
            <a:r>
              <a:rPr sz="1300" b="0" i="0">
                <a:solidFill>
                  <a:srgbClr val="B0BCD4"/>
                </a:solidFill>
              </a:rPr>
              <a:t>Adopters with Revenue Gains</a:t>
            </a:r>
            <a:endParaRPr sz="1300" b="0" i="0">
              <a:solidFill>
                <a:srgbClr val="B0BCD4"/>
              </a:solidFill>
            </a:endParaRPr>
          </a:p>
        </p:txBody>
      </p:sp>
      <p:sp>
        <p:nvSpPr>
          <p:cNvPr id="12" name="Rectangle 11"/>
          <p:cNvSpPr/>
          <p:nvPr/>
        </p:nvSpPr>
        <p:spPr>
          <a:xfrm>
            <a:off x="8138160" y="1965960"/>
            <a:ext cx="3657600" cy="141732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2057400"/>
            <a:ext cx="3383280" cy="822960"/>
          </a:xfrm>
          <a:prstGeom prst="rect">
            <a:avLst/>
          </a:prstGeom>
          <a:noFill/>
        </p:spPr>
        <p:txBody>
          <a:bodyPr wrap="square">
            <a:spAutoFit/>
          </a:bodyPr>
          <a:lstStyle/>
          <a:p>
            <a:pPr algn="ctr"/>
            <a:r>
              <a:rPr sz="4200" b="1" i="0">
                <a:solidFill>
                  <a:srgbClr val="C9A84C"/>
                </a:solidFill>
              </a:rPr>
              <a:t>87%</a:t>
            </a:r>
            <a:endParaRPr sz="4200" b="1" i="0">
              <a:solidFill>
                <a:srgbClr val="C9A84C"/>
              </a:solidFill>
            </a:endParaRPr>
          </a:p>
        </p:txBody>
      </p:sp>
      <p:sp>
        <p:nvSpPr>
          <p:cNvPr id="14" name="TextBox 13"/>
          <p:cNvSpPr txBox="1"/>
          <p:nvPr/>
        </p:nvSpPr>
        <p:spPr>
          <a:xfrm>
            <a:off x="8229600" y="2788920"/>
            <a:ext cx="3474720" cy="502920"/>
          </a:xfrm>
          <a:prstGeom prst="rect">
            <a:avLst/>
          </a:prstGeom>
          <a:noFill/>
        </p:spPr>
        <p:txBody>
          <a:bodyPr wrap="square">
            <a:spAutoFit/>
          </a:bodyPr>
          <a:lstStyle/>
          <a:p>
            <a:pPr algn="ctr"/>
            <a:r>
              <a:rPr sz="1300" b="0" i="0">
                <a:solidFill>
                  <a:srgbClr val="B0BCD4"/>
                </a:solidFill>
              </a:rPr>
              <a:t>Adopters with Cost Savings</a:t>
            </a:r>
            <a:endParaRPr sz="1300" b="0" i="0">
              <a:solidFill>
                <a:srgbClr val="B0BCD4"/>
              </a:solidFill>
            </a:endParaRPr>
          </a:p>
        </p:txBody>
      </p:sp>
      <p:sp>
        <p:nvSpPr>
          <p:cNvPr id="15" name="Rectangle 14"/>
          <p:cNvSpPr/>
          <p:nvPr/>
        </p:nvSpPr>
        <p:spPr>
          <a:xfrm>
            <a:off x="274320" y="3566160"/>
            <a:ext cx="11612880" cy="182880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639312"/>
            <a:ext cx="11247120" cy="1719072"/>
          </a:xfrm>
          <a:prstGeom prst="rect">
            <a:avLst/>
          </a:prstGeom>
          <a:noFill/>
        </p:spPr>
        <p:txBody>
          <a:bodyPr wrap="square">
            <a:spAutoFit/>
          </a:bodyPr>
          <a:lstStyle/>
          <a:p>
            <a:pPr>
              <a:spcBef>
                <a:spcPts val="300"/>
              </a:spcBef>
            </a:pPr>
            <a:r>
              <a:rPr sz="1350" b="1">
                <a:solidFill>
                  <a:srgbClr val="C9A84C"/>
                </a:solidFill>
              </a:rPr>
              <a:t>⚠  The Fragile Trust Paradox</a:t>
            </a:r>
            <a:endParaRPr sz="1350" b="1">
              <a:solidFill>
                <a:srgbClr val="C9A84C"/>
              </a:solidFill>
            </a:endParaRPr>
          </a:p>
          <a:p>
            <a:pPr>
              <a:spcBef>
                <a:spcPts val="300"/>
              </a:spcBef>
            </a:pPr>
            <a:r>
              <a:rPr sz="1350" b="0">
                <a:solidFill>
                  <a:srgbClr val="B0BCD4"/>
                </a:solidFill>
              </a:rPr>
              <a:t>Massive capital deployment coexists with systems that still fail basic logical tasks in physical space.</a:t>
            </a:r>
            <a:endParaRPr sz="1350" b="0">
              <a:solidFill>
                <a:srgbClr val="B0BCD4"/>
              </a:solidFill>
            </a:endParaRPr>
          </a:p>
          <a:p>
            <a:pPr>
              <a:spcBef>
                <a:spcPts val="300"/>
              </a:spcBef>
            </a:pPr>
            <a:r>
              <a:rPr sz="1350" b="0">
                <a:solidFill>
                  <a:srgbClr val="B0BCD4"/>
                </a:solidFill>
              </a:rPr>
              <a:t>2/3 of enterprises report productivity gains — yet only 1/3 are reimagining business processes.</a:t>
            </a:r>
            <a:endParaRPr sz="1350" b="0">
              <a:solidFill>
                <a:srgbClr val="B0BCD4"/>
              </a:solidFill>
            </a:endParaRPr>
          </a:p>
          <a:p>
            <a:pPr>
              <a:spcBef>
                <a:spcPts val="300"/>
              </a:spcBef>
            </a:pPr>
            <a:r>
              <a:rPr sz="1350" b="0">
                <a:solidFill>
                  <a:srgbClr val="B0BCD4"/>
                </a:solidFill>
              </a:rPr>
              <a:t>Individual AI adoption is outpacing enterprise governance. Shadow IT is expanding unchecked.</a:t>
            </a:r>
            <a:endParaRPr sz="1350" b="0">
              <a:solidFill>
                <a:srgbClr val="B0BCD4"/>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0D1A"/>
        </a:solidFill>
        <a:effectLst/>
      </p:bgPr>
    </p:bg>
    <p:spTree>
      <p:nvGrpSpPr>
        <p:cNvPr id="1" name=""/>
        <p:cNvGrpSpPr/>
        <p:nvPr/>
      </p:nvGrpSpPr>
      <p:grpSpPr/>
      <p:sp>
        <p:nvSpPr>
          <p:cNvPr id="2" name="Rectangle 1"/>
          <p:cNvSpPr/>
          <p:nvPr/>
        </p:nvSpPr>
        <p:spPr>
          <a:xfrm>
            <a:off x="182880" y="182880"/>
            <a:ext cx="2377440" cy="2926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070D1A"/>
                </a:solidFill>
              </a:rPr>
              <a:t>MODULE 1 · THE AI PARADIGM</a:t>
            </a:r>
            <a:endParaRPr sz="900" b="1">
              <a:solidFill>
                <a:srgbClr val="070D1A"/>
              </a:solidFill>
            </a:endParaRPr>
          </a:p>
        </p:txBody>
      </p:sp>
      <p:sp>
        <p:nvSpPr>
          <p:cNvPr id="3" name="TextBox 2"/>
          <p:cNvSpPr txBox="1"/>
          <p:nvPr/>
        </p:nvSpPr>
        <p:spPr>
          <a:xfrm>
            <a:off x="274320" y="566928"/>
            <a:ext cx="11430000" cy="914400"/>
          </a:xfrm>
          <a:prstGeom prst="rect">
            <a:avLst/>
          </a:prstGeom>
          <a:noFill/>
        </p:spPr>
        <p:txBody>
          <a:bodyPr wrap="square">
            <a:spAutoFit/>
          </a:bodyPr>
          <a:lstStyle/>
          <a:p>
            <a:pPr algn="l"/>
            <a:r>
              <a:rPr sz="3200" b="1" i="0">
                <a:solidFill>
                  <a:srgbClr val="FFFFFF"/>
                </a:solidFill>
              </a:rPr>
              <a:t>The Four Epochs of Machine Intelligence</a:t>
            </a:r>
            <a:endParaRPr sz="3200" b="1" i="0">
              <a:solidFill>
                <a:srgbClr val="FFFFFF"/>
              </a:solidFill>
            </a:endParaRPr>
          </a:p>
        </p:txBody>
      </p:sp>
      <p:sp>
        <p:nvSpPr>
          <p:cNvPr id="4" name="TextBox 3"/>
          <p:cNvSpPr txBox="1"/>
          <p:nvPr/>
        </p:nvSpPr>
        <p:spPr>
          <a:xfrm>
            <a:off x="274320" y="1298448"/>
            <a:ext cx="11430000" cy="365760"/>
          </a:xfrm>
          <a:prstGeom prst="rect">
            <a:avLst/>
          </a:prstGeom>
          <a:noFill/>
        </p:spPr>
        <p:txBody>
          <a:bodyPr wrap="square">
            <a:spAutoFit/>
          </a:bodyPr>
          <a:lstStyle/>
          <a:p>
            <a:pPr algn="l"/>
            <a:r>
              <a:rPr sz="1600" b="0" i="0">
                <a:solidFill>
                  <a:srgbClr val="C9A84C"/>
                </a:solidFill>
              </a:rPr>
              <a:t>From Static Pattern Recognition to Embodied Physical AI</a:t>
            </a:r>
            <a:endParaRPr sz="1600" b="0" i="0">
              <a:solidFill>
                <a:srgbClr val="C9A84C"/>
              </a:solidFill>
            </a:endParaRPr>
          </a:p>
        </p:txBody>
      </p:sp>
      <p:sp>
        <p:nvSpPr>
          <p:cNvPr id="5" name="Rectangle 4"/>
          <p:cNvSpPr/>
          <p:nvPr/>
        </p:nvSpPr>
        <p:spPr>
          <a:xfrm>
            <a:off x="150876" y="1755648"/>
            <a:ext cx="1188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920240"/>
            <a:ext cx="2743200" cy="347472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2029968"/>
            <a:ext cx="2560320" cy="457200"/>
          </a:xfrm>
          <a:prstGeom prst="rect">
            <a:avLst/>
          </a:prstGeom>
          <a:noFill/>
        </p:spPr>
        <p:txBody>
          <a:bodyPr wrap="square">
            <a:spAutoFit/>
          </a:bodyPr>
          <a:lstStyle/>
          <a:p>
            <a:pPr algn="l"/>
            <a:r>
              <a:rPr sz="2800" b="1" i="0">
                <a:solidFill>
                  <a:srgbClr val="B0BCD4"/>
                </a:solidFill>
              </a:rPr>
              <a:t>01</a:t>
            </a:r>
            <a:endParaRPr sz="2800" b="1" i="0">
              <a:solidFill>
                <a:srgbClr val="B0BCD4"/>
              </a:solidFill>
            </a:endParaRPr>
          </a:p>
        </p:txBody>
      </p:sp>
      <p:sp>
        <p:nvSpPr>
          <p:cNvPr id="8" name="TextBox 7"/>
          <p:cNvSpPr txBox="1"/>
          <p:nvPr/>
        </p:nvSpPr>
        <p:spPr>
          <a:xfrm>
            <a:off x="384048" y="2487168"/>
            <a:ext cx="2560320" cy="292608"/>
          </a:xfrm>
          <a:prstGeom prst="rect">
            <a:avLst/>
          </a:prstGeom>
          <a:noFill/>
        </p:spPr>
        <p:txBody>
          <a:bodyPr wrap="square">
            <a:spAutoFit/>
          </a:bodyPr>
          <a:lstStyle/>
          <a:p>
            <a:pPr algn="l"/>
            <a:r>
              <a:rPr sz="1050" b="0" i="0">
                <a:solidFill>
                  <a:srgbClr val="B0BCD4"/>
                </a:solidFill>
              </a:rPr>
              <a:t>pre-2018</a:t>
            </a:r>
            <a:endParaRPr sz="1050" b="0" i="0">
              <a:solidFill>
                <a:srgbClr val="B0BCD4"/>
              </a:solidFill>
            </a:endParaRPr>
          </a:p>
        </p:txBody>
      </p:sp>
      <p:sp>
        <p:nvSpPr>
          <p:cNvPr id="9" name="TextBox 8"/>
          <p:cNvSpPr txBox="1"/>
          <p:nvPr/>
        </p:nvSpPr>
        <p:spPr>
          <a:xfrm>
            <a:off x="384048" y="2834640"/>
            <a:ext cx="2542032" cy="658368"/>
          </a:xfrm>
          <a:prstGeom prst="rect">
            <a:avLst/>
          </a:prstGeom>
          <a:noFill/>
        </p:spPr>
        <p:txBody>
          <a:bodyPr wrap="square">
            <a:spAutoFit/>
          </a:bodyPr>
          <a:lstStyle/>
          <a:p>
            <a:pPr algn="l"/>
            <a:r>
              <a:rPr sz="1400" b="1" i="0">
                <a:solidFill>
                  <a:srgbClr val="FFFFFF"/>
                </a:solidFill>
              </a:rPr>
              <a:t>Supervised
Discriminative</a:t>
            </a:r>
            <a:endParaRPr sz="1400" b="1" i="0">
              <a:solidFill>
                <a:srgbClr val="FFFFFF"/>
              </a:solidFill>
            </a:endParaRPr>
          </a:p>
        </p:txBody>
      </p:sp>
      <p:sp>
        <p:nvSpPr>
          <p:cNvPr id="10" name="TextBox 9"/>
          <p:cNvSpPr txBox="1"/>
          <p:nvPr/>
        </p:nvSpPr>
        <p:spPr>
          <a:xfrm>
            <a:off x="384048" y="3520440"/>
            <a:ext cx="2542032" cy="1645920"/>
          </a:xfrm>
          <a:prstGeom prst="rect">
            <a:avLst/>
          </a:prstGeom>
          <a:noFill/>
        </p:spPr>
        <p:txBody>
          <a:bodyPr wrap="square">
            <a:spAutoFit/>
          </a:bodyPr>
          <a:lstStyle/>
          <a:p>
            <a:pPr algn="l"/>
            <a:r>
              <a:rPr sz="1200" b="0" i="0">
                <a:solidFill>
                  <a:srgbClr val="B0BCD4"/>
                </a:solidFill>
              </a:rPr>
              <a:t>Human-annotated labels.
Bottleneck: labeling cost.</a:t>
            </a:r>
            <a:endParaRPr sz="1200" b="0" i="0">
              <a:solidFill>
                <a:srgbClr val="B0BCD4"/>
              </a:solidFill>
            </a:endParaRPr>
          </a:p>
        </p:txBody>
      </p:sp>
      <p:sp>
        <p:nvSpPr>
          <p:cNvPr id="11" name="Rectangle 10"/>
          <p:cNvSpPr/>
          <p:nvPr/>
        </p:nvSpPr>
        <p:spPr>
          <a:xfrm>
            <a:off x="3017520" y="3429000"/>
            <a:ext cx="237744"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46120" y="1920240"/>
            <a:ext cx="2743200" cy="347472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55848" y="2029968"/>
            <a:ext cx="2560320" cy="457200"/>
          </a:xfrm>
          <a:prstGeom prst="rect">
            <a:avLst/>
          </a:prstGeom>
          <a:noFill/>
        </p:spPr>
        <p:txBody>
          <a:bodyPr wrap="square">
            <a:spAutoFit/>
          </a:bodyPr>
          <a:lstStyle/>
          <a:p>
            <a:pPr algn="l"/>
            <a:r>
              <a:rPr sz="2800" b="1" i="0">
                <a:solidFill>
                  <a:srgbClr val="B0BCD4"/>
                </a:solidFill>
              </a:rPr>
              <a:t>02</a:t>
            </a:r>
            <a:endParaRPr sz="2800" b="1" i="0">
              <a:solidFill>
                <a:srgbClr val="B0BCD4"/>
              </a:solidFill>
            </a:endParaRPr>
          </a:p>
        </p:txBody>
      </p:sp>
      <p:sp>
        <p:nvSpPr>
          <p:cNvPr id="14" name="TextBox 13"/>
          <p:cNvSpPr txBox="1"/>
          <p:nvPr/>
        </p:nvSpPr>
        <p:spPr>
          <a:xfrm>
            <a:off x="3355848" y="2487168"/>
            <a:ext cx="2560320" cy="292608"/>
          </a:xfrm>
          <a:prstGeom prst="rect">
            <a:avLst/>
          </a:prstGeom>
          <a:noFill/>
        </p:spPr>
        <p:txBody>
          <a:bodyPr wrap="square">
            <a:spAutoFit/>
          </a:bodyPr>
          <a:lstStyle/>
          <a:p>
            <a:pPr algn="l"/>
            <a:r>
              <a:rPr sz="1050" b="0" i="0">
                <a:solidFill>
                  <a:srgbClr val="B0BCD4"/>
                </a:solidFill>
              </a:rPr>
              <a:t>2018–2023</a:t>
            </a:r>
            <a:endParaRPr sz="1050" b="0" i="0">
              <a:solidFill>
                <a:srgbClr val="B0BCD4"/>
              </a:solidFill>
            </a:endParaRPr>
          </a:p>
        </p:txBody>
      </p:sp>
      <p:sp>
        <p:nvSpPr>
          <p:cNvPr id="15" name="TextBox 14"/>
          <p:cNvSpPr txBox="1"/>
          <p:nvPr/>
        </p:nvSpPr>
        <p:spPr>
          <a:xfrm>
            <a:off x="3355848" y="2834640"/>
            <a:ext cx="2542032" cy="658368"/>
          </a:xfrm>
          <a:prstGeom prst="rect">
            <a:avLst/>
          </a:prstGeom>
          <a:noFill/>
        </p:spPr>
        <p:txBody>
          <a:bodyPr wrap="square">
            <a:spAutoFit/>
          </a:bodyPr>
          <a:lstStyle/>
          <a:p>
            <a:pPr algn="l"/>
            <a:r>
              <a:rPr sz="1400" b="1" i="0">
                <a:solidFill>
                  <a:srgbClr val="FFFFFF"/>
                </a:solidFill>
              </a:rPr>
              <a:t>Autoregressive
Pretraining</a:t>
            </a:r>
            <a:endParaRPr sz="1400" b="1" i="0">
              <a:solidFill>
                <a:srgbClr val="FFFFFF"/>
              </a:solidFill>
            </a:endParaRPr>
          </a:p>
        </p:txBody>
      </p:sp>
      <p:sp>
        <p:nvSpPr>
          <p:cNvPr id="16" name="TextBox 15"/>
          <p:cNvSpPr txBox="1"/>
          <p:nvPr/>
        </p:nvSpPr>
        <p:spPr>
          <a:xfrm>
            <a:off x="3355848" y="3520440"/>
            <a:ext cx="2542032" cy="1645920"/>
          </a:xfrm>
          <a:prstGeom prst="rect">
            <a:avLst/>
          </a:prstGeom>
          <a:noFill/>
        </p:spPr>
        <p:txBody>
          <a:bodyPr wrap="square">
            <a:spAutoFit/>
          </a:bodyPr>
          <a:lstStyle/>
          <a:p>
            <a:pPr algn="l"/>
            <a:r>
              <a:rPr sz="1200" b="0" i="0">
                <a:solidFill>
                  <a:srgbClr val="B0BCD4"/>
                </a:solidFill>
              </a:rPr>
              <a:t>Raw internet text.
Bottleneck: data &amp; compute.</a:t>
            </a:r>
            <a:endParaRPr sz="1200" b="0" i="0">
              <a:solidFill>
                <a:srgbClr val="B0BCD4"/>
              </a:solidFill>
            </a:endParaRPr>
          </a:p>
        </p:txBody>
      </p:sp>
      <p:sp>
        <p:nvSpPr>
          <p:cNvPr id="17" name="Rectangle 16"/>
          <p:cNvSpPr/>
          <p:nvPr/>
        </p:nvSpPr>
        <p:spPr>
          <a:xfrm>
            <a:off x="5989320" y="3429000"/>
            <a:ext cx="237744"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1920240"/>
            <a:ext cx="2743200" cy="347472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7648" y="2029968"/>
            <a:ext cx="2560320" cy="457200"/>
          </a:xfrm>
          <a:prstGeom prst="rect">
            <a:avLst/>
          </a:prstGeom>
          <a:noFill/>
        </p:spPr>
        <p:txBody>
          <a:bodyPr wrap="square">
            <a:spAutoFit/>
          </a:bodyPr>
          <a:lstStyle/>
          <a:p>
            <a:pPr algn="l"/>
            <a:r>
              <a:rPr sz="2800" b="1" i="0">
                <a:solidFill>
                  <a:srgbClr val="B0BCD4"/>
                </a:solidFill>
              </a:rPr>
              <a:t>03</a:t>
            </a:r>
            <a:endParaRPr sz="2800" b="1" i="0">
              <a:solidFill>
                <a:srgbClr val="B0BCD4"/>
              </a:solidFill>
            </a:endParaRPr>
          </a:p>
        </p:txBody>
      </p:sp>
      <p:sp>
        <p:nvSpPr>
          <p:cNvPr id="20" name="TextBox 19"/>
          <p:cNvSpPr txBox="1"/>
          <p:nvPr/>
        </p:nvSpPr>
        <p:spPr>
          <a:xfrm>
            <a:off x="6327648" y="2487168"/>
            <a:ext cx="2560320" cy="292608"/>
          </a:xfrm>
          <a:prstGeom prst="rect">
            <a:avLst/>
          </a:prstGeom>
          <a:noFill/>
        </p:spPr>
        <p:txBody>
          <a:bodyPr wrap="square">
            <a:spAutoFit/>
          </a:bodyPr>
          <a:lstStyle/>
          <a:p>
            <a:pPr algn="l"/>
            <a:r>
              <a:rPr sz="1050" b="0" i="0">
                <a:solidFill>
                  <a:srgbClr val="B0BCD4"/>
                </a:solidFill>
              </a:rPr>
              <a:t>2023–2025</a:t>
            </a:r>
            <a:endParaRPr sz="1050" b="0" i="0">
              <a:solidFill>
                <a:srgbClr val="B0BCD4"/>
              </a:solidFill>
            </a:endParaRPr>
          </a:p>
        </p:txBody>
      </p:sp>
      <p:sp>
        <p:nvSpPr>
          <p:cNvPr id="21" name="TextBox 20"/>
          <p:cNvSpPr txBox="1"/>
          <p:nvPr/>
        </p:nvSpPr>
        <p:spPr>
          <a:xfrm>
            <a:off x="6327648" y="2834640"/>
            <a:ext cx="2542032" cy="658368"/>
          </a:xfrm>
          <a:prstGeom prst="rect">
            <a:avLst/>
          </a:prstGeom>
          <a:noFill/>
        </p:spPr>
        <p:txBody>
          <a:bodyPr wrap="square">
            <a:spAutoFit/>
          </a:bodyPr>
          <a:lstStyle/>
          <a:p>
            <a:pPr algn="l"/>
            <a:r>
              <a:rPr sz="1400" b="1" i="0">
                <a:solidFill>
                  <a:srgbClr val="FFFFFF"/>
                </a:solidFill>
              </a:rPr>
              <a:t>Test-Time
Reasoning</a:t>
            </a:r>
            <a:endParaRPr sz="1400" b="1" i="0">
              <a:solidFill>
                <a:srgbClr val="FFFFFF"/>
              </a:solidFill>
            </a:endParaRPr>
          </a:p>
        </p:txBody>
      </p:sp>
      <p:sp>
        <p:nvSpPr>
          <p:cNvPr id="22" name="TextBox 21"/>
          <p:cNvSpPr txBox="1"/>
          <p:nvPr/>
        </p:nvSpPr>
        <p:spPr>
          <a:xfrm>
            <a:off x="6327648" y="3520440"/>
            <a:ext cx="2542032" cy="1645920"/>
          </a:xfrm>
          <a:prstGeom prst="rect">
            <a:avLst/>
          </a:prstGeom>
          <a:noFill/>
        </p:spPr>
        <p:txBody>
          <a:bodyPr wrap="square">
            <a:spAutoFit/>
          </a:bodyPr>
          <a:lstStyle/>
          <a:p>
            <a:pPr algn="l"/>
            <a:r>
              <a:rPr sz="1200" b="0" i="0">
                <a:solidFill>
                  <a:srgbClr val="B0BCD4"/>
                </a:solidFill>
              </a:rPr>
              <a:t>Monte Carlo Tree Search.
Bottleneck: inference cost.</a:t>
            </a:r>
            <a:endParaRPr sz="1200" b="0" i="0">
              <a:solidFill>
                <a:srgbClr val="B0BCD4"/>
              </a:solidFill>
            </a:endParaRPr>
          </a:p>
        </p:txBody>
      </p:sp>
      <p:sp>
        <p:nvSpPr>
          <p:cNvPr id="23" name="Rectangle 22"/>
          <p:cNvSpPr/>
          <p:nvPr/>
        </p:nvSpPr>
        <p:spPr>
          <a:xfrm>
            <a:off x="8961120" y="3429000"/>
            <a:ext cx="237744"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189720" y="1920240"/>
            <a:ext cx="2743200" cy="3474720"/>
          </a:xfrm>
          <a:prstGeom prst="rect">
            <a:avLst/>
          </a:prstGeom>
          <a:solidFill>
            <a:srgbClr val="1A2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89720" y="1920240"/>
            <a:ext cx="54864" cy="3474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99448" y="2029968"/>
            <a:ext cx="2560320" cy="457200"/>
          </a:xfrm>
          <a:prstGeom prst="rect">
            <a:avLst/>
          </a:prstGeom>
          <a:noFill/>
        </p:spPr>
        <p:txBody>
          <a:bodyPr wrap="square">
            <a:spAutoFit/>
          </a:bodyPr>
          <a:lstStyle/>
          <a:p>
            <a:pPr algn="l"/>
            <a:r>
              <a:rPr sz="2800" b="1" i="0">
                <a:solidFill>
                  <a:srgbClr val="C9A84C"/>
                </a:solidFill>
              </a:rPr>
              <a:t>04</a:t>
            </a:r>
            <a:endParaRPr sz="2800" b="1" i="0">
              <a:solidFill>
                <a:srgbClr val="C9A84C"/>
              </a:solidFill>
            </a:endParaRPr>
          </a:p>
        </p:txBody>
      </p:sp>
      <p:sp>
        <p:nvSpPr>
          <p:cNvPr id="27" name="TextBox 26"/>
          <p:cNvSpPr txBox="1"/>
          <p:nvPr/>
        </p:nvSpPr>
        <p:spPr>
          <a:xfrm>
            <a:off x="9299448" y="2487168"/>
            <a:ext cx="2560320" cy="292608"/>
          </a:xfrm>
          <a:prstGeom prst="rect">
            <a:avLst/>
          </a:prstGeom>
          <a:noFill/>
        </p:spPr>
        <p:txBody>
          <a:bodyPr wrap="square">
            <a:spAutoFit/>
          </a:bodyPr>
          <a:lstStyle/>
          <a:p>
            <a:pPr algn="l"/>
            <a:r>
              <a:rPr sz="1050" b="0" i="0">
                <a:solidFill>
                  <a:srgbClr val="B0BCD4"/>
                </a:solidFill>
              </a:rPr>
              <a:t>2025–Now</a:t>
            </a:r>
            <a:endParaRPr sz="1050" b="0" i="0">
              <a:solidFill>
                <a:srgbClr val="B0BCD4"/>
              </a:solidFill>
            </a:endParaRPr>
          </a:p>
        </p:txBody>
      </p:sp>
      <p:sp>
        <p:nvSpPr>
          <p:cNvPr id="28" name="TextBox 27"/>
          <p:cNvSpPr txBox="1"/>
          <p:nvPr/>
        </p:nvSpPr>
        <p:spPr>
          <a:xfrm>
            <a:off x="9299448" y="2834640"/>
            <a:ext cx="2542032" cy="658368"/>
          </a:xfrm>
          <a:prstGeom prst="rect">
            <a:avLst/>
          </a:prstGeom>
          <a:noFill/>
        </p:spPr>
        <p:txBody>
          <a:bodyPr wrap="square">
            <a:spAutoFit/>
          </a:bodyPr>
          <a:lstStyle/>
          <a:p>
            <a:pPr algn="l"/>
            <a:r>
              <a:rPr sz="1400" b="1" i="0">
                <a:solidFill>
                  <a:srgbClr val="FFFFFF"/>
                </a:solidFill>
              </a:rPr>
              <a:t>Embodied
Physical AI</a:t>
            </a:r>
            <a:endParaRPr sz="1400" b="1" i="0">
              <a:solidFill>
                <a:srgbClr val="FFFFFF"/>
              </a:solidFill>
            </a:endParaRPr>
          </a:p>
        </p:txBody>
      </p:sp>
      <p:sp>
        <p:nvSpPr>
          <p:cNvPr id="29" name="TextBox 28"/>
          <p:cNvSpPr txBox="1"/>
          <p:nvPr/>
        </p:nvSpPr>
        <p:spPr>
          <a:xfrm>
            <a:off x="9299448" y="3520440"/>
            <a:ext cx="2542032" cy="1645920"/>
          </a:xfrm>
          <a:prstGeom prst="rect">
            <a:avLst/>
          </a:prstGeom>
          <a:noFill/>
        </p:spPr>
        <p:txBody>
          <a:bodyPr wrap="square">
            <a:spAutoFit/>
          </a:bodyPr>
          <a:lstStyle/>
          <a:p>
            <a:pPr algn="l"/>
            <a:r>
              <a:rPr sz="1200" b="0" i="0">
                <a:solidFill>
                  <a:srgbClr val="B0BCD4"/>
                </a:solidFill>
              </a:rPr>
              <a:t>3D simulation &amp; interaction.
Bottleneck: verified data.</a:t>
            </a:r>
            <a:endParaRPr sz="1200" b="0" i="0">
              <a:solidFill>
                <a:srgbClr val="B0BCD4"/>
              </a:solidFill>
            </a:endParaRPr>
          </a:p>
        </p:txBody>
      </p:sp>
      <p:sp>
        <p:nvSpPr>
          <p:cNvPr id="30" name="TextBox 29"/>
          <p:cNvSpPr txBox="1"/>
          <p:nvPr/>
        </p:nvSpPr>
        <p:spPr>
          <a:xfrm>
            <a:off x="274320" y="5577840"/>
            <a:ext cx="11612880" cy="457200"/>
          </a:xfrm>
          <a:prstGeom prst="rect">
            <a:avLst/>
          </a:prstGeom>
          <a:noFill/>
        </p:spPr>
        <p:txBody>
          <a:bodyPr wrap="square">
            <a:spAutoFit/>
          </a:bodyPr>
          <a:lstStyle/>
          <a:p>
            <a:pPr algn="l"/>
            <a:r>
              <a:rPr sz="1250" b="1" i="0">
                <a:solidFill>
                  <a:srgbClr val="C9A84C"/>
                </a:solidFill>
              </a:rPr>
              <a:t>★  Epoch 4 is the absolute frontier — where the remaining marginal intelligence capability lives.</a:t>
            </a:r>
            <a:endParaRPr sz="1250" b="1" i="0">
              <a:solidFill>
                <a:srgbClr val="C9A84C"/>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0D1A"/>
        </a:solidFill>
        <a:effectLst/>
      </p:bgPr>
    </p:bg>
    <p:spTree>
      <p:nvGrpSpPr>
        <p:cNvPr id="1" name=""/>
        <p:cNvGrpSpPr/>
        <p:nvPr/>
      </p:nvGrpSpPr>
      <p:grpSpPr/>
      <p:sp>
        <p:nvSpPr>
          <p:cNvPr id="2" name="Rectangle 1"/>
          <p:cNvSpPr/>
          <p:nvPr/>
        </p:nvSpPr>
        <p:spPr>
          <a:xfrm>
            <a:off x="182880" y="182880"/>
            <a:ext cx="2377440" cy="2926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070D1A"/>
                </a:solidFill>
              </a:rPr>
              <a:t>MODULE 1 · THE AI PARADIGM</a:t>
            </a:r>
            <a:endParaRPr sz="900" b="1">
              <a:solidFill>
                <a:srgbClr val="070D1A"/>
              </a:solidFill>
            </a:endParaRPr>
          </a:p>
        </p:txBody>
      </p:sp>
      <p:sp>
        <p:nvSpPr>
          <p:cNvPr id="3" name="TextBox 2"/>
          <p:cNvSpPr txBox="1"/>
          <p:nvPr/>
        </p:nvSpPr>
        <p:spPr>
          <a:xfrm>
            <a:off x="274320" y="566928"/>
            <a:ext cx="11430000" cy="822960"/>
          </a:xfrm>
          <a:prstGeom prst="rect">
            <a:avLst/>
          </a:prstGeom>
          <a:noFill/>
        </p:spPr>
        <p:txBody>
          <a:bodyPr wrap="square">
            <a:spAutoFit/>
          </a:bodyPr>
          <a:lstStyle/>
          <a:p>
            <a:pPr algn="l"/>
            <a:r>
              <a:rPr sz="3200" b="1" i="0">
                <a:solidFill>
                  <a:srgbClr val="FFFFFF"/>
                </a:solidFill>
              </a:rPr>
              <a:t>The Data Exhaustion Crisis &amp; Compute Wall</a:t>
            </a:r>
            <a:endParaRPr sz="3200" b="1" i="0">
              <a:solidFill>
                <a:srgbClr val="FFFFFF"/>
              </a:solidFill>
            </a:endParaRPr>
          </a:p>
        </p:txBody>
      </p:sp>
      <p:sp>
        <p:nvSpPr>
          <p:cNvPr id="4" name="TextBox 3"/>
          <p:cNvSpPr txBox="1"/>
          <p:nvPr/>
        </p:nvSpPr>
        <p:spPr>
          <a:xfrm>
            <a:off x="274320" y="1298448"/>
            <a:ext cx="11430000" cy="365760"/>
          </a:xfrm>
          <a:prstGeom prst="rect">
            <a:avLst/>
          </a:prstGeom>
          <a:noFill/>
        </p:spPr>
        <p:txBody>
          <a:bodyPr wrap="square">
            <a:spAutoFit/>
          </a:bodyPr>
          <a:lstStyle/>
          <a:p>
            <a:pPr algn="l"/>
            <a:r>
              <a:rPr sz="1600" b="0" i="0">
                <a:solidFill>
                  <a:srgbClr val="C9A84C"/>
                </a:solidFill>
              </a:rPr>
              <a:t>The Structural Constraints of Autoregressive Pretraining</a:t>
            </a:r>
            <a:endParaRPr sz="1600" b="0" i="0">
              <a:solidFill>
                <a:srgbClr val="C9A84C"/>
              </a:solidFill>
            </a:endParaRPr>
          </a:p>
        </p:txBody>
      </p:sp>
      <p:sp>
        <p:nvSpPr>
          <p:cNvPr id="5" name="Rectangle 4"/>
          <p:cNvSpPr/>
          <p:nvPr/>
        </p:nvSpPr>
        <p:spPr>
          <a:xfrm>
            <a:off x="150876" y="1755648"/>
            <a:ext cx="1188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920240"/>
            <a:ext cx="5303520" cy="169164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993392"/>
            <a:ext cx="5029200" cy="347472"/>
          </a:xfrm>
          <a:prstGeom prst="rect">
            <a:avLst/>
          </a:prstGeom>
          <a:noFill/>
        </p:spPr>
        <p:txBody>
          <a:bodyPr wrap="square">
            <a:spAutoFit/>
          </a:bodyPr>
          <a:lstStyle/>
          <a:p>
            <a:pPr algn="l"/>
            <a:r>
              <a:rPr sz="950" b="1" i="0">
                <a:solidFill>
                  <a:srgbClr val="C9A84C"/>
                </a:solidFill>
              </a:rPr>
              <a:t>KAPLAN / CHINCHILLA SCALING LAW</a:t>
            </a:r>
            <a:endParaRPr sz="950" b="1" i="0">
              <a:solidFill>
                <a:srgbClr val="C9A84C"/>
              </a:solidFill>
            </a:endParaRPr>
          </a:p>
        </p:txBody>
      </p:sp>
      <p:pic>
        <p:nvPicPr>
          <p:cNvPr id="8" name="Picture 7" descr="image.png"/>
          <p:cNvPicPr>
            <a:picLocks noChangeAspect="1"/>
          </p:cNvPicPr>
          <p:nvPr/>
        </p:nvPicPr>
        <p:blipFill>
          <a:blip r:embed="rId1"/>
          <a:stretch>
            <a:fillRect/>
          </a:stretch>
        </p:blipFill>
        <p:spPr>
          <a:xfrm>
            <a:off x="502920" y="2423160"/>
            <a:ext cx="4754880" cy="960120"/>
          </a:xfrm>
          <a:prstGeom prst="rect">
            <a:avLst/>
          </a:prstGeom>
        </p:spPr>
      </p:pic>
      <p:sp>
        <p:nvSpPr>
          <p:cNvPr id="9" name="TextBox 8"/>
          <p:cNvSpPr txBox="1"/>
          <p:nvPr/>
        </p:nvSpPr>
        <p:spPr>
          <a:xfrm>
            <a:off x="411480" y="3310128"/>
            <a:ext cx="5029200" cy="347472"/>
          </a:xfrm>
          <a:prstGeom prst="rect">
            <a:avLst/>
          </a:prstGeom>
          <a:noFill/>
        </p:spPr>
        <p:txBody>
          <a:bodyPr wrap="square">
            <a:spAutoFit/>
          </a:bodyPr>
          <a:lstStyle/>
          <a:p>
            <a:pPr algn="l"/>
            <a:r>
              <a:rPr sz="1000" b="0" i="0">
                <a:solidFill>
                  <a:srgbClr val="B0BCD4"/>
                </a:solidFill>
              </a:rPr>
              <a:t>E = irreducible entropy floor  ·  N = parameters  ·  D = tokens</a:t>
            </a:r>
            <a:endParaRPr sz="1000" b="0" i="0">
              <a:solidFill>
                <a:srgbClr val="B0BCD4"/>
              </a:solidFill>
            </a:endParaRPr>
          </a:p>
        </p:txBody>
      </p:sp>
      <p:sp>
        <p:nvSpPr>
          <p:cNvPr id="10" name="TextBox 9"/>
          <p:cNvSpPr txBox="1"/>
          <p:nvPr/>
        </p:nvSpPr>
        <p:spPr>
          <a:xfrm>
            <a:off x="5852160" y="1920240"/>
            <a:ext cx="6126480" cy="4754880"/>
          </a:xfrm>
          <a:prstGeom prst="rect">
            <a:avLst/>
          </a:prstGeom>
          <a:noFill/>
        </p:spPr>
        <p:txBody>
          <a:bodyPr wrap="square">
            <a:spAutoFit/>
          </a:bodyPr>
          <a:lstStyle/>
          <a:p>
            <a:pPr>
              <a:spcBef>
                <a:spcPts val="300"/>
              </a:spcBef>
            </a:pPr>
            <a:r>
              <a:rPr sz="1350" b="1">
                <a:solidFill>
                  <a:srgbClr val="C9A84C"/>
                </a:solidFill>
              </a:rPr>
              <a:t>Data Exhaustion</a:t>
            </a:r>
            <a:endParaRPr sz="1350" b="1">
              <a:solidFill>
                <a:srgbClr val="C9A84C"/>
              </a:solidFill>
            </a:endParaRPr>
          </a:p>
          <a:p>
            <a:pPr>
              <a:spcBef>
                <a:spcPts val="300"/>
              </a:spcBef>
            </a:pPr>
            <a:r>
              <a:rPr sz="1350" b="0">
                <a:solidFill>
                  <a:srgbClr val="B0BCD4"/>
                </a:solidFill>
              </a:rPr>
              <a:t>Public internet text (~10¹⁴ tokens) will be fully consumed between 2027–2028.</a:t>
            </a:r>
            <a:endParaRPr sz="1350" b="0">
              <a:solidFill>
                <a:srgbClr val="B0BCD4"/>
              </a:solidFill>
            </a:endParaRPr>
          </a:p>
          <a:p>
            <a:pPr>
              <a:spcBef>
                <a:spcPts val="300"/>
              </a:spcBef>
            </a:pPr>
          </a:p>
          <a:p>
            <a:pPr>
              <a:spcBef>
                <a:spcPts val="300"/>
              </a:spcBef>
            </a:pPr>
            <a:r>
              <a:rPr sz="1350" b="1">
                <a:solidFill>
                  <a:srgbClr val="C9A84C"/>
                </a:solidFill>
              </a:rPr>
              <a:t>The Compute Wall</a:t>
            </a:r>
            <a:endParaRPr sz="1350" b="1">
              <a:solidFill>
                <a:srgbClr val="C9A84C"/>
              </a:solidFill>
            </a:endParaRPr>
          </a:p>
          <a:p>
            <a:pPr>
              <a:spcBef>
                <a:spcPts val="300"/>
              </a:spcBef>
            </a:pPr>
            <a:r>
              <a:rPr sz="1350" b="0">
                <a:solidFill>
                  <a:srgbClr val="B0BCD4"/>
                </a:solidFill>
              </a:rPr>
              <a:t>Gigawatt-scale grid constraints cap hardware acceleration.</a:t>
            </a:r>
            <a:endParaRPr sz="1350" b="0">
              <a:solidFill>
                <a:srgbClr val="B0BCD4"/>
              </a:solidFill>
            </a:endParaRPr>
          </a:p>
          <a:p>
            <a:pPr>
              <a:spcBef>
                <a:spcPts val="300"/>
              </a:spcBef>
            </a:pPr>
            <a:r>
              <a:rPr sz="1350" b="0">
                <a:solidFill>
                  <a:srgbClr val="B0BCD4"/>
                </a:solidFill>
              </a:rPr>
              <a:t>Growth decelerates: 10×/yr  →  3–4×/yr by 2028.</a:t>
            </a:r>
            <a:endParaRPr sz="1350" b="0">
              <a:solidFill>
                <a:srgbClr val="B0BCD4"/>
              </a:solidFill>
            </a:endParaRPr>
          </a:p>
          <a:p>
            <a:pPr>
              <a:spcBef>
                <a:spcPts val="300"/>
              </a:spcBef>
            </a:pPr>
          </a:p>
          <a:p>
            <a:pPr>
              <a:spcBef>
                <a:spcPts val="300"/>
              </a:spcBef>
            </a:pPr>
            <a:r>
              <a:rPr sz="1350" b="1">
                <a:solidFill>
                  <a:srgbClr val="4DD0E1"/>
                </a:solidFill>
              </a:rPr>
              <a:t>Strategic Implication</a:t>
            </a:r>
            <a:endParaRPr sz="1350" b="1">
              <a:solidFill>
                <a:srgbClr val="4DD0E1"/>
              </a:solidFill>
            </a:endParaRPr>
          </a:p>
          <a:p>
            <a:pPr>
              <a:spcBef>
                <a:spcPts val="300"/>
              </a:spcBef>
            </a:pPr>
            <a:r>
              <a:rPr sz="1350" b="0">
                <a:solidFill>
                  <a:srgbClr val="B0BCD4"/>
                </a:solidFill>
              </a:rPr>
              <a:t>Progress migrates from compute-bound to data-bound &amp; verification-bound.</a:t>
            </a:r>
            <a:endParaRPr sz="1350" b="0">
              <a:solidFill>
                <a:srgbClr val="B0BCD4"/>
              </a:solidFill>
            </a:endParaRPr>
          </a:p>
          <a:p>
            <a:pPr>
              <a:spcBef>
                <a:spcPts val="300"/>
              </a:spcBef>
            </a:pPr>
            <a:r>
              <a:rPr sz="1350" b="0">
                <a:solidFill>
                  <a:srgbClr val="B0BCD4"/>
                </a:solidFill>
              </a:rPr>
              <a:t>Proprietary, physics-verified data becomes the primary capability lever.</a:t>
            </a:r>
            <a:endParaRPr sz="1350" b="0">
              <a:solidFill>
                <a:srgbClr val="B0BCD4"/>
              </a:solidFill>
            </a:endParaRPr>
          </a:p>
        </p:txBody>
      </p:sp>
      <p:sp>
        <p:nvSpPr>
          <p:cNvPr id="11" name="Rectangle 10"/>
          <p:cNvSpPr/>
          <p:nvPr/>
        </p:nvSpPr>
        <p:spPr>
          <a:xfrm>
            <a:off x="274320" y="5532120"/>
            <a:ext cx="11612880" cy="77724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5596128"/>
            <a:ext cx="11247120" cy="640080"/>
          </a:xfrm>
          <a:prstGeom prst="rect">
            <a:avLst/>
          </a:prstGeom>
          <a:noFill/>
        </p:spPr>
        <p:txBody>
          <a:bodyPr wrap="square">
            <a:spAutoFit/>
          </a:bodyPr>
          <a:lstStyle/>
          <a:p>
            <a:pPr algn="l"/>
            <a:r>
              <a:rPr sz="1300" b="1" i="0">
                <a:solidFill>
                  <a:srgbClr val="FFFFFF"/>
                </a:solidFill>
              </a:rPr>
              <a:t>The irreducible floor E does not move with scale. The only lever remaining is proprietary, physics-verified data.</a:t>
            </a:r>
            <a:endParaRPr sz="1300" b="1" i="0">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0D1A"/>
        </a:solidFill>
        <a:effectLst/>
      </p:bgPr>
    </p:bg>
    <p:spTree>
      <p:nvGrpSpPr>
        <p:cNvPr id="1" name=""/>
        <p:cNvGrpSpPr/>
        <p:nvPr/>
      </p:nvGrpSpPr>
      <p:grpSpPr/>
      <p:sp>
        <p:nvSpPr>
          <p:cNvPr id="2" name="Rectangle 1"/>
          <p:cNvSpPr/>
          <p:nvPr/>
        </p:nvSpPr>
        <p:spPr>
          <a:xfrm>
            <a:off x="182880" y="182880"/>
            <a:ext cx="2377440" cy="2926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070D1A"/>
                </a:solidFill>
              </a:rPr>
              <a:t>MODULE 1 · THE AI PARADIGM</a:t>
            </a:r>
            <a:endParaRPr sz="900" b="1">
              <a:solidFill>
                <a:srgbClr val="070D1A"/>
              </a:solidFill>
            </a:endParaRPr>
          </a:p>
        </p:txBody>
      </p:sp>
      <p:sp>
        <p:nvSpPr>
          <p:cNvPr id="3" name="TextBox 2"/>
          <p:cNvSpPr txBox="1"/>
          <p:nvPr/>
        </p:nvSpPr>
        <p:spPr>
          <a:xfrm>
            <a:off x="274320" y="566928"/>
            <a:ext cx="11430000" cy="822960"/>
          </a:xfrm>
          <a:prstGeom prst="rect">
            <a:avLst/>
          </a:prstGeom>
          <a:noFill/>
        </p:spPr>
        <p:txBody>
          <a:bodyPr wrap="square">
            <a:spAutoFit/>
          </a:bodyPr>
          <a:lstStyle/>
          <a:p>
            <a:pPr algn="l"/>
            <a:r>
              <a:rPr sz="3200" b="1" i="0">
                <a:solidFill>
                  <a:srgbClr val="FFFFFF"/>
                </a:solidFill>
              </a:rPr>
              <a:t>The Shift to Train-to-Test Scaling</a:t>
            </a:r>
            <a:endParaRPr sz="3200" b="1" i="0">
              <a:solidFill>
                <a:srgbClr val="FFFFFF"/>
              </a:solidFill>
            </a:endParaRPr>
          </a:p>
        </p:txBody>
      </p:sp>
      <p:sp>
        <p:nvSpPr>
          <p:cNvPr id="4" name="TextBox 3"/>
          <p:cNvSpPr txBox="1"/>
          <p:nvPr/>
        </p:nvSpPr>
        <p:spPr>
          <a:xfrm>
            <a:off x="274320" y="1298448"/>
            <a:ext cx="11430000" cy="365760"/>
          </a:xfrm>
          <a:prstGeom prst="rect">
            <a:avLst/>
          </a:prstGeom>
          <a:noFill/>
        </p:spPr>
        <p:txBody>
          <a:bodyPr wrap="square">
            <a:spAutoFit/>
          </a:bodyPr>
          <a:lstStyle/>
          <a:p>
            <a:pPr algn="l"/>
            <a:r>
              <a:rPr sz="1600" b="0" i="0">
                <a:solidFill>
                  <a:srgbClr val="C9A84C"/>
                </a:solidFill>
              </a:rPr>
              <a:t>Unifying the Compute Budget — System 1 vs. System 2 Reasoning</a:t>
            </a:r>
            <a:endParaRPr sz="1600" b="0" i="0">
              <a:solidFill>
                <a:srgbClr val="C9A84C"/>
              </a:solidFill>
            </a:endParaRPr>
          </a:p>
        </p:txBody>
      </p:sp>
      <p:sp>
        <p:nvSpPr>
          <p:cNvPr id="5" name="Rectangle 4"/>
          <p:cNvSpPr/>
          <p:nvPr/>
        </p:nvSpPr>
        <p:spPr>
          <a:xfrm>
            <a:off x="150876" y="1755648"/>
            <a:ext cx="1188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920240"/>
            <a:ext cx="11612880" cy="155448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993392"/>
            <a:ext cx="10972800" cy="320040"/>
          </a:xfrm>
          <a:prstGeom prst="rect">
            <a:avLst/>
          </a:prstGeom>
          <a:noFill/>
        </p:spPr>
        <p:txBody>
          <a:bodyPr wrap="square">
            <a:spAutoFit/>
          </a:bodyPr>
          <a:lstStyle/>
          <a:p>
            <a:pPr algn="l"/>
            <a:r>
              <a:rPr sz="950" b="1" i="0">
                <a:solidFill>
                  <a:srgbClr val="C9A84C"/>
                </a:solidFill>
              </a:rPr>
              <a:t>UNIFIED COMPUTE BUDGET</a:t>
            </a:r>
            <a:endParaRPr sz="950" b="1" i="0">
              <a:solidFill>
                <a:srgbClr val="C9A84C"/>
              </a:solidFill>
            </a:endParaRPr>
          </a:p>
        </p:txBody>
      </p:sp>
      <p:pic>
        <p:nvPicPr>
          <p:cNvPr id="8" name="Picture 7" descr="image.png"/>
          <p:cNvPicPr>
            <a:picLocks noChangeAspect="1"/>
          </p:cNvPicPr>
          <p:nvPr/>
        </p:nvPicPr>
        <p:blipFill>
          <a:blip r:embed="rId1"/>
          <a:stretch>
            <a:fillRect/>
          </a:stretch>
        </p:blipFill>
        <p:spPr>
          <a:xfrm>
            <a:off x="1371600" y="2359152"/>
            <a:ext cx="9144000" cy="868680"/>
          </a:xfrm>
          <a:prstGeom prst="rect">
            <a:avLst/>
          </a:prstGeom>
        </p:spPr>
      </p:pic>
      <p:sp>
        <p:nvSpPr>
          <p:cNvPr id="9" name="Rectangle 8"/>
          <p:cNvSpPr/>
          <p:nvPr/>
        </p:nvSpPr>
        <p:spPr>
          <a:xfrm>
            <a:off x="274320" y="3657600"/>
            <a:ext cx="5669280" cy="256032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79" y="3730752"/>
            <a:ext cx="5394960" cy="411480"/>
          </a:xfrm>
          <a:prstGeom prst="rect">
            <a:avLst/>
          </a:prstGeom>
          <a:noFill/>
        </p:spPr>
        <p:txBody>
          <a:bodyPr wrap="square">
            <a:spAutoFit/>
          </a:bodyPr>
          <a:lstStyle/>
          <a:p>
            <a:pPr algn="l"/>
            <a:r>
              <a:rPr sz="1500" b="1" i="0">
                <a:solidFill>
                  <a:srgbClr val="B0BCD4"/>
                </a:solidFill>
              </a:rPr>
              <a:t>System 1 — Reflexive</a:t>
            </a:r>
            <a:endParaRPr sz="1500" b="1" i="0">
              <a:solidFill>
                <a:srgbClr val="B0BCD4"/>
              </a:solidFill>
            </a:endParaRPr>
          </a:p>
        </p:txBody>
      </p:sp>
      <p:sp>
        <p:nvSpPr>
          <p:cNvPr id="11" name="TextBox 10"/>
          <p:cNvSpPr txBox="1"/>
          <p:nvPr/>
        </p:nvSpPr>
        <p:spPr>
          <a:xfrm>
            <a:off x="502920" y="4224528"/>
            <a:ext cx="5303520" cy="402336"/>
          </a:xfrm>
          <a:prstGeom prst="rect">
            <a:avLst/>
          </a:prstGeom>
          <a:noFill/>
        </p:spPr>
        <p:txBody>
          <a:bodyPr wrap="square">
            <a:spAutoFit/>
          </a:bodyPr>
          <a:lstStyle/>
          <a:p>
            <a:pPr algn="l"/>
            <a:r>
              <a:rPr sz="1300" b="0" i="0">
                <a:solidFill>
                  <a:srgbClr val="B0BCD4"/>
                </a:solidFill>
              </a:rPr>
              <a:t>·  Single forward pass</a:t>
            </a:r>
            <a:endParaRPr sz="1300" b="0" i="0">
              <a:solidFill>
                <a:srgbClr val="B0BCD4"/>
              </a:solidFill>
            </a:endParaRPr>
          </a:p>
        </p:txBody>
      </p:sp>
      <p:sp>
        <p:nvSpPr>
          <p:cNvPr id="12" name="TextBox 11"/>
          <p:cNvSpPr txBox="1"/>
          <p:nvPr/>
        </p:nvSpPr>
        <p:spPr>
          <a:xfrm>
            <a:off x="502920" y="4663440"/>
            <a:ext cx="5303520" cy="402336"/>
          </a:xfrm>
          <a:prstGeom prst="rect">
            <a:avLst/>
          </a:prstGeom>
          <a:noFill/>
        </p:spPr>
        <p:txBody>
          <a:bodyPr wrap="square">
            <a:spAutoFit/>
          </a:bodyPr>
          <a:lstStyle/>
          <a:p>
            <a:pPr algn="l"/>
            <a:r>
              <a:rPr sz="1300" b="0" i="0">
                <a:solidFill>
                  <a:srgbClr val="B0BCD4"/>
                </a:solidFill>
              </a:rPr>
              <a:t>·  Fast &amp; cheap at inference time</a:t>
            </a:r>
            <a:endParaRPr sz="1300" b="0" i="0">
              <a:solidFill>
                <a:srgbClr val="B0BCD4"/>
              </a:solidFill>
            </a:endParaRPr>
          </a:p>
        </p:txBody>
      </p:sp>
      <p:sp>
        <p:nvSpPr>
          <p:cNvPr id="13" name="TextBox 12"/>
          <p:cNvSpPr txBox="1"/>
          <p:nvPr/>
        </p:nvSpPr>
        <p:spPr>
          <a:xfrm>
            <a:off x="502920" y="5102352"/>
            <a:ext cx="5303520" cy="402336"/>
          </a:xfrm>
          <a:prstGeom prst="rect">
            <a:avLst/>
          </a:prstGeom>
          <a:noFill/>
        </p:spPr>
        <p:txBody>
          <a:bodyPr wrap="square">
            <a:spAutoFit/>
          </a:bodyPr>
          <a:lstStyle/>
          <a:p>
            <a:pPr algn="l"/>
            <a:r>
              <a:rPr sz="1300" b="0" i="0">
                <a:solidFill>
                  <a:srgbClr val="B0BCD4"/>
                </a:solidFill>
              </a:rPr>
              <a:t>·  Brittle: fails outside training distribution</a:t>
            </a:r>
            <a:endParaRPr sz="1300" b="0" i="0">
              <a:solidFill>
                <a:srgbClr val="B0BCD4"/>
              </a:solidFill>
            </a:endParaRPr>
          </a:p>
        </p:txBody>
      </p:sp>
      <p:sp>
        <p:nvSpPr>
          <p:cNvPr id="14" name="TextBox 13"/>
          <p:cNvSpPr txBox="1"/>
          <p:nvPr/>
        </p:nvSpPr>
        <p:spPr>
          <a:xfrm>
            <a:off x="502920" y="5541264"/>
            <a:ext cx="5303520" cy="402336"/>
          </a:xfrm>
          <a:prstGeom prst="rect">
            <a:avLst/>
          </a:prstGeom>
          <a:noFill/>
        </p:spPr>
        <p:txBody>
          <a:bodyPr wrap="square">
            <a:spAutoFit/>
          </a:bodyPr>
          <a:lstStyle/>
          <a:p>
            <a:pPr algn="l"/>
            <a:r>
              <a:rPr sz="1300" b="0" i="0">
                <a:solidFill>
                  <a:srgbClr val="B0BCD4"/>
                </a:solidFill>
              </a:rPr>
              <a:t>·  Status: Commoditizing rapidly</a:t>
            </a:r>
            <a:endParaRPr sz="1300" b="0" i="0">
              <a:solidFill>
                <a:srgbClr val="B0BCD4"/>
              </a:solidFill>
            </a:endParaRPr>
          </a:p>
        </p:txBody>
      </p:sp>
      <p:sp>
        <p:nvSpPr>
          <p:cNvPr id="15" name="Rectangle 14"/>
          <p:cNvSpPr/>
          <p:nvPr/>
        </p:nvSpPr>
        <p:spPr>
          <a:xfrm>
            <a:off x="6263640" y="3657600"/>
            <a:ext cx="5669280" cy="256032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730752"/>
            <a:ext cx="5394960" cy="411480"/>
          </a:xfrm>
          <a:prstGeom prst="rect">
            <a:avLst/>
          </a:prstGeom>
          <a:noFill/>
        </p:spPr>
        <p:txBody>
          <a:bodyPr wrap="square">
            <a:spAutoFit/>
          </a:bodyPr>
          <a:lstStyle/>
          <a:p>
            <a:pPr algn="l"/>
            <a:r>
              <a:rPr sz="1500" b="1" i="0">
                <a:solidFill>
                  <a:srgbClr val="C9A84C"/>
                </a:solidFill>
              </a:rPr>
              <a:t>System 2 — Deliberative</a:t>
            </a:r>
            <a:endParaRPr sz="1500" b="1" i="0">
              <a:solidFill>
                <a:srgbClr val="C9A84C"/>
              </a:solidFill>
            </a:endParaRPr>
          </a:p>
        </p:txBody>
      </p:sp>
      <p:sp>
        <p:nvSpPr>
          <p:cNvPr id="17" name="TextBox 16"/>
          <p:cNvSpPr txBox="1"/>
          <p:nvPr/>
        </p:nvSpPr>
        <p:spPr>
          <a:xfrm>
            <a:off x="6492240" y="4224528"/>
            <a:ext cx="5303520" cy="402336"/>
          </a:xfrm>
          <a:prstGeom prst="rect">
            <a:avLst/>
          </a:prstGeom>
          <a:noFill/>
        </p:spPr>
        <p:txBody>
          <a:bodyPr wrap="square">
            <a:spAutoFit/>
          </a:bodyPr>
          <a:lstStyle/>
          <a:p>
            <a:pPr algn="l"/>
            <a:r>
              <a:rPr sz="1300" b="0" i="0">
                <a:solidFill>
                  <a:srgbClr val="B0BCD4"/>
                </a:solidFill>
              </a:rPr>
              <a:t>·  Monte Carlo Tree Search</a:t>
            </a:r>
            <a:endParaRPr sz="1300" b="0" i="0">
              <a:solidFill>
                <a:srgbClr val="B0BCD4"/>
              </a:solidFill>
            </a:endParaRPr>
          </a:p>
        </p:txBody>
      </p:sp>
      <p:sp>
        <p:nvSpPr>
          <p:cNvPr id="18" name="TextBox 17"/>
          <p:cNvSpPr txBox="1"/>
          <p:nvPr/>
        </p:nvSpPr>
        <p:spPr>
          <a:xfrm>
            <a:off x="6492240" y="4663440"/>
            <a:ext cx="5303520" cy="402336"/>
          </a:xfrm>
          <a:prstGeom prst="rect">
            <a:avLst/>
          </a:prstGeom>
          <a:noFill/>
        </p:spPr>
        <p:txBody>
          <a:bodyPr wrap="square">
            <a:spAutoFit/>
          </a:bodyPr>
          <a:lstStyle/>
          <a:p>
            <a:pPr algn="l"/>
            <a:r>
              <a:rPr sz="1300" b="0" i="0">
                <a:solidFill>
                  <a:srgbClr val="B0BCD4"/>
                </a:solidFill>
              </a:rPr>
              <a:t>·  Process Reward Models</a:t>
            </a:r>
            <a:endParaRPr sz="1300" b="0" i="0">
              <a:solidFill>
                <a:srgbClr val="B0BCD4"/>
              </a:solidFill>
            </a:endParaRPr>
          </a:p>
        </p:txBody>
      </p:sp>
      <p:sp>
        <p:nvSpPr>
          <p:cNvPr id="19" name="TextBox 18"/>
          <p:cNvSpPr txBox="1"/>
          <p:nvPr/>
        </p:nvSpPr>
        <p:spPr>
          <a:xfrm>
            <a:off x="6492240" y="5102352"/>
            <a:ext cx="5303520" cy="402336"/>
          </a:xfrm>
          <a:prstGeom prst="rect">
            <a:avLst/>
          </a:prstGeom>
          <a:noFill/>
        </p:spPr>
        <p:txBody>
          <a:bodyPr wrap="square">
            <a:spAutoFit/>
          </a:bodyPr>
          <a:lstStyle/>
          <a:p>
            <a:pPr algn="l"/>
            <a:r>
              <a:rPr sz="1300" b="0" i="0">
                <a:solidFill>
                  <a:srgbClr val="B0BCD4"/>
                </a:solidFill>
              </a:rPr>
              <a:t>·  Backtracking &amp; self-correction</a:t>
            </a:r>
            <a:endParaRPr sz="1300" b="0" i="0">
              <a:solidFill>
                <a:srgbClr val="B0BCD4"/>
              </a:solidFill>
            </a:endParaRPr>
          </a:p>
        </p:txBody>
      </p:sp>
      <p:sp>
        <p:nvSpPr>
          <p:cNvPr id="20" name="TextBox 19"/>
          <p:cNvSpPr txBox="1"/>
          <p:nvPr/>
        </p:nvSpPr>
        <p:spPr>
          <a:xfrm>
            <a:off x="6492240" y="5541264"/>
            <a:ext cx="5303520" cy="402336"/>
          </a:xfrm>
          <a:prstGeom prst="rect">
            <a:avLst/>
          </a:prstGeom>
          <a:noFill/>
        </p:spPr>
        <p:txBody>
          <a:bodyPr wrap="square">
            <a:spAutoFit/>
          </a:bodyPr>
          <a:lstStyle/>
          <a:p>
            <a:pPr algn="l"/>
            <a:r>
              <a:rPr sz="1300" b="0" i="0">
                <a:solidFill>
                  <a:srgbClr val="B0BCD4"/>
                </a:solidFill>
              </a:rPr>
              <a:t>·  Status: The defensible frontier</a:t>
            </a:r>
            <a:endParaRPr sz="1300" b="0" i="0">
              <a:solidFill>
                <a:srgbClr val="B0BCD4"/>
              </a:solidFill>
            </a:endParaRPr>
          </a:p>
        </p:txBody>
      </p:sp>
      <p:sp>
        <p:nvSpPr>
          <p:cNvPr id="21" name="TextBox 20"/>
          <p:cNvSpPr txBox="1"/>
          <p:nvPr/>
        </p:nvSpPr>
        <p:spPr>
          <a:xfrm>
            <a:off x="274320" y="6355080"/>
            <a:ext cx="11612880" cy="411480"/>
          </a:xfrm>
          <a:prstGeom prst="rect">
            <a:avLst/>
          </a:prstGeom>
          <a:noFill/>
        </p:spPr>
        <p:txBody>
          <a:bodyPr wrap="square">
            <a:spAutoFit/>
          </a:bodyPr>
          <a:lstStyle/>
          <a:p>
            <a:pPr algn="l"/>
            <a:r>
              <a:rPr sz="1250" b="1" i="0">
                <a:solidFill>
                  <a:srgbClr val="4DD0E1"/>
                </a:solidFill>
              </a:rPr>
              <a:t>Raw intelligence cost is deflating &gt;90% annually. The moat is not the largest model — it is proprietary verified data.</a:t>
            </a:r>
            <a:endParaRPr sz="1250" b="1" i="0">
              <a:solidFill>
                <a:srgbClr val="4DD0E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0D1A"/>
        </a:solidFill>
        <a:effectLst/>
      </p:bgPr>
    </p:bg>
    <p:spTree>
      <p:nvGrpSpPr>
        <p:cNvPr id="1" name=""/>
        <p:cNvGrpSpPr/>
        <p:nvPr/>
      </p:nvGrpSpPr>
      <p:grpSpPr/>
      <p:sp>
        <p:nvSpPr>
          <p:cNvPr id="2" name="Rectangle 1"/>
          <p:cNvSpPr/>
          <p:nvPr/>
        </p:nvSpPr>
        <p:spPr>
          <a:xfrm>
            <a:off x="182880" y="182880"/>
            <a:ext cx="2377440" cy="2926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070D1A"/>
                </a:solidFill>
              </a:rPr>
              <a:t>MODULE 1 · THE AI PARADIGM</a:t>
            </a:r>
            <a:endParaRPr sz="900" b="1">
              <a:solidFill>
                <a:srgbClr val="070D1A"/>
              </a:solidFill>
            </a:endParaRPr>
          </a:p>
        </p:txBody>
      </p:sp>
      <p:sp>
        <p:nvSpPr>
          <p:cNvPr id="3" name="TextBox 2"/>
          <p:cNvSpPr txBox="1"/>
          <p:nvPr/>
        </p:nvSpPr>
        <p:spPr>
          <a:xfrm>
            <a:off x="274320" y="566928"/>
            <a:ext cx="11430000" cy="822960"/>
          </a:xfrm>
          <a:prstGeom prst="rect">
            <a:avLst/>
          </a:prstGeom>
          <a:noFill/>
        </p:spPr>
        <p:txBody>
          <a:bodyPr wrap="square">
            <a:spAutoFit/>
          </a:bodyPr>
          <a:lstStyle/>
          <a:p>
            <a:pPr algn="l"/>
            <a:r>
              <a:rPr sz="3200" b="1" i="0">
                <a:solidFill>
                  <a:srgbClr val="FFFFFF"/>
                </a:solidFill>
              </a:rPr>
              <a:t>Cross-Industry Sector Impact</a:t>
            </a:r>
            <a:endParaRPr sz="3200" b="1" i="0">
              <a:solidFill>
                <a:srgbClr val="FFFFFF"/>
              </a:solidFill>
            </a:endParaRPr>
          </a:p>
        </p:txBody>
      </p:sp>
      <p:sp>
        <p:nvSpPr>
          <p:cNvPr id="4" name="TextBox 3"/>
          <p:cNvSpPr txBox="1"/>
          <p:nvPr/>
        </p:nvSpPr>
        <p:spPr>
          <a:xfrm>
            <a:off x="274320" y="1298448"/>
            <a:ext cx="11430000" cy="365760"/>
          </a:xfrm>
          <a:prstGeom prst="rect">
            <a:avLst/>
          </a:prstGeom>
          <a:noFill/>
        </p:spPr>
        <p:txBody>
          <a:bodyPr wrap="square">
            <a:spAutoFit/>
          </a:bodyPr>
          <a:lstStyle/>
          <a:p>
            <a:pPr algn="l"/>
            <a:r>
              <a:rPr sz="1600" b="0" i="0">
                <a:solidFill>
                  <a:srgbClr val="C9A84C"/>
                </a:solidFill>
              </a:rPr>
              <a:t>Quantifying the ROI of Task-Level Automation</a:t>
            </a:r>
            <a:endParaRPr sz="1600" b="0" i="0">
              <a:solidFill>
                <a:srgbClr val="C9A84C"/>
              </a:solidFill>
            </a:endParaRPr>
          </a:p>
        </p:txBody>
      </p:sp>
      <p:sp>
        <p:nvSpPr>
          <p:cNvPr id="5" name="Rectangle 4"/>
          <p:cNvSpPr/>
          <p:nvPr/>
        </p:nvSpPr>
        <p:spPr>
          <a:xfrm>
            <a:off x="150876" y="1755648"/>
            <a:ext cx="1188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938528"/>
            <a:ext cx="5669280" cy="2121408"/>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938528"/>
            <a:ext cx="73152" cy="2121408"/>
          </a:xfrm>
          <a:prstGeom prst="rect">
            <a:avLst/>
          </a:prstGeom>
          <a:solidFill>
            <a:srgbClr val="4DD0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48256"/>
            <a:ext cx="5394960" cy="658368"/>
          </a:xfrm>
          <a:prstGeom prst="rect">
            <a:avLst/>
          </a:prstGeom>
          <a:noFill/>
        </p:spPr>
        <p:txBody>
          <a:bodyPr wrap="square">
            <a:spAutoFit/>
          </a:bodyPr>
          <a:lstStyle/>
          <a:p>
            <a:pPr algn="l"/>
            <a:r>
              <a:rPr sz="4200" b="1" i="0">
                <a:solidFill>
                  <a:srgbClr val="4DD0E1"/>
                </a:solidFill>
              </a:rPr>
              <a:t>55.8%</a:t>
            </a:r>
            <a:endParaRPr sz="4200" b="1" i="0">
              <a:solidFill>
                <a:srgbClr val="4DD0E1"/>
              </a:solidFill>
            </a:endParaRPr>
          </a:p>
        </p:txBody>
      </p:sp>
      <p:sp>
        <p:nvSpPr>
          <p:cNvPr id="9" name="TextBox 8"/>
          <p:cNvSpPr txBox="1"/>
          <p:nvPr/>
        </p:nvSpPr>
        <p:spPr>
          <a:xfrm>
            <a:off x="438912" y="2688336"/>
            <a:ext cx="5394960" cy="320040"/>
          </a:xfrm>
          <a:prstGeom prst="rect">
            <a:avLst/>
          </a:prstGeom>
          <a:noFill/>
        </p:spPr>
        <p:txBody>
          <a:bodyPr wrap="square">
            <a:spAutoFit/>
          </a:bodyPr>
          <a:lstStyle/>
          <a:p>
            <a:pPr algn="l"/>
            <a:r>
              <a:rPr sz="900" b="1" i="0">
                <a:solidFill>
                  <a:srgbClr val="B0BCD4"/>
                </a:solidFill>
              </a:rPr>
              <a:t>TASK ACCELERATION</a:t>
            </a:r>
            <a:endParaRPr sz="900" b="1" i="0">
              <a:solidFill>
                <a:srgbClr val="B0BCD4"/>
              </a:solidFill>
            </a:endParaRPr>
          </a:p>
        </p:txBody>
      </p:sp>
      <p:sp>
        <p:nvSpPr>
          <p:cNvPr id="10" name="TextBox 9"/>
          <p:cNvSpPr txBox="1"/>
          <p:nvPr/>
        </p:nvSpPr>
        <p:spPr>
          <a:xfrm>
            <a:off x="438912" y="3017520"/>
            <a:ext cx="5394960" cy="347472"/>
          </a:xfrm>
          <a:prstGeom prst="rect">
            <a:avLst/>
          </a:prstGeom>
          <a:noFill/>
        </p:spPr>
        <p:txBody>
          <a:bodyPr wrap="square">
            <a:spAutoFit/>
          </a:bodyPr>
          <a:lstStyle/>
          <a:p>
            <a:pPr algn="l"/>
            <a:r>
              <a:rPr sz="1400" b="1" i="0">
                <a:solidFill>
                  <a:srgbClr val="FFFFFF"/>
                </a:solidFill>
              </a:rPr>
              <a:t>Software Engineering</a:t>
            </a:r>
            <a:endParaRPr sz="1400" b="1" i="0">
              <a:solidFill>
                <a:srgbClr val="FFFFFF"/>
              </a:solidFill>
            </a:endParaRPr>
          </a:p>
        </p:txBody>
      </p:sp>
      <p:sp>
        <p:nvSpPr>
          <p:cNvPr id="11" name="TextBox 10"/>
          <p:cNvSpPr txBox="1"/>
          <p:nvPr/>
        </p:nvSpPr>
        <p:spPr>
          <a:xfrm>
            <a:off x="438912" y="3383280"/>
            <a:ext cx="5394960" cy="594360"/>
          </a:xfrm>
          <a:prstGeom prst="rect">
            <a:avLst/>
          </a:prstGeom>
          <a:noFill/>
        </p:spPr>
        <p:txBody>
          <a:bodyPr wrap="square">
            <a:spAutoFit/>
          </a:bodyPr>
          <a:lstStyle/>
          <a:p>
            <a:pPr algn="l"/>
            <a:r>
              <a:rPr sz="1200" b="0" i="0">
                <a:solidFill>
                  <a:srgbClr val="B0BCD4"/>
                </a:solidFill>
              </a:rPr>
              <a:t>Closed-loop verifiability via compilers delivers instant reward signals.</a:t>
            </a:r>
            <a:endParaRPr sz="1200" b="0" i="0">
              <a:solidFill>
                <a:srgbClr val="B0BCD4"/>
              </a:solidFill>
            </a:endParaRPr>
          </a:p>
        </p:txBody>
      </p:sp>
      <p:sp>
        <p:nvSpPr>
          <p:cNvPr id="12" name="Rectangle 11"/>
          <p:cNvSpPr/>
          <p:nvPr/>
        </p:nvSpPr>
        <p:spPr>
          <a:xfrm>
            <a:off x="6236207" y="1938528"/>
            <a:ext cx="5669280" cy="2121408"/>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7" y="1938528"/>
            <a:ext cx="73152" cy="21214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799" y="2048256"/>
            <a:ext cx="5394960" cy="658368"/>
          </a:xfrm>
          <a:prstGeom prst="rect">
            <a:avLst/>
          </a:prstGeom>
          <a:noFill/>
        </p:spPr>
        <p:txBody>
          <a:bodyPr wrap="square">
            <a:spAutoFit/>
          </a:bodyPr>
          <a:lstStyle/>
          <a:p>
            <a:pPr algn="l"/>
            <a:r>
              <a:rPr sz="4200" b="1" i="0">
                <a:solidFill>
                  <a:srgbClr val="C9A84C"/>
                </a:solidFill>
              </a:rPr>
              <a:t>2.6×</a:t>
            </a:r>
            <a:endParaRPr sz="4200" b="1" i="0">
              <a:solidFill>
                <a:srgbClr val="C9A84C"/>
              </a:solidFill>
            </a:endParaRPr>
          </a:p>
        </p:txBody>
      </p:sp>
      <p:sp>
        <p:nvSpPr>
          <p:cNvPr id="15" name="TextBox 14"/>
          <p:cNvSpPr txBox="1"/>
          <p:nvPr/>
        </p:nvSpPr>
        <p:spPr>
          <a:xfrm>
            <a:off x="6400799" y="2688336"/>
            <a:ext cx="5394960" cy="320040"/>
          </a:xfrm>
          <a:prstGeom prst="rect">
            <a:avLst/>
          </a:prstGeom>
          <a:noFill/>
        </p:spPr>
        <p:txBody>
          <a:bodyPr wrap="square">
            <a:spAutoFit/>
          </a:bodyPr>
          <a:lstStyle/>
          <a:p>
            <a:pPr algn="l"/>
            <a:r>
              <a:rPr sz="900" b="1" i="0">
                <a:solidFill>
                  <a:srgbClr val="B0BCD4"/>
                </a:solidFill>
              </a:rPr>
              <a:t>INDUSTRY AVG SPEND</a:t>
            </a:r>
            <a:endParaRPr sz="900" b="1" i="0">
              <a:solidFill>
                <a:srgbClr val="B0BCD4"/>
              </a:solidFill>
            </a:endParaRPr>
          </a:p>
        </p:txBody>
      </p:sp>
      <p:sp>
        <p:nvSpPr>
          <p:cNvPr id="16" name="TextBox 15"/>
          <p:cNvSpPr txBox="1"/>
          <p:nvPr/>
        </p:nvSpPr>
        <p:spPr>
          <a:xfrm>
            <a:off x="6400799" y="3017520"/>
            <a:ext cx="5394960" cy="347472"/>
          </a:xfrm>
          <a:prstGeom prst="rect">
            <a:avLst/>
          </a:prstGeom>
          <a:noFill/>
        </p:spPr>
        <p:txBody>
          <a:bodyPr wrap="square">
            <a:spAutoFit/>
          </a:bodyPr>
          <a:lstStyle/>
          <a:p>
            <a:pPr algn="l"/>
            <a:r>
              <a:rPr sz="1400" b="1" i="0">
                <a:solidFill>
                  <a:srgbClr val="FFFFFF"/>
                </a:solidFill>
              </a:rPr>
              <a:t>Financial Services</a:t>
            </a:r>
            <a:endParaRPr sz="1400" b="1" i="0">
              <a:solidFill>
                <a:srgbClr val="FFFFFF"/>
              </a:solidFill>
            </a:endParaRPr>
          </a:p>
        </p:txBody>
      </p:sp>
      <p:sp>
        <p:nvSpPr>
          <p:cNvPr id="17" name="TextBox 16"/>
          <p:cNvSpPr txBox="1"/>
          <p:nvPr/>
        </p:nvSpPr>
        <p:spPr>
          <a:xfrm>
            <a:off x="6400799" y="3383280"/>
            <a:ext cx="5394960" cy="594360"/>
          </a:xfrm>
          <a:prstGeom prst="rect">
            <a:avLst/>
          </a:prstGeom>
          <a:noFill/>
        </p:spPr>
        <p:txBody>
          <a:bodyPr wrap="square">
            <a:spAutoFit/>
          </a:bodyPr>
          <a:lstStyle/>
          <a:p>
            <a:pPr algn="l"/>
            <a:r>
              <a:rPr sz="1200" b="0" i="0">
                <a:solidFill>
                  <a:srgbClr val="B0BCD4"/>
                </a:solidFill>
              </a:rPr>
              <a:t>High-volume, structured transaction automation leads adoption.</a:t>
            </a:r>
            <a:endParaRPr sz="1200" b="0" i="0">
              <a:solidFill>
                <a:srgbClr val="B0BCD4"/>
              </a:solidFill>
            </a:endParaRPr>
          </a:p>
        </p:txBody>
      </p:sp>
      <p:sp>
        <p:nvSpPr>
          <p:cNvPr id="18" name="Rectangle 17"/>
          <p:cNvSpPr/>
          <p:nvPr/>
        </p:nvSpPr>
        <p:spPr>
          <a:xfrm>
            <a:off x="274320" y="4224528"/>
            <a:ext cx="5669280" cy="2121408"/>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4224528"/>
            <a:ext cx="73152" cy="2121408"/>
          </a:xfrm>
          <a:prstGeom prst="rect">
            <a:avLst/>
          </a:prstGeom>
          <a:solidFill>
            <a:srgbClr val="4DD0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 y="4334256"/>
            <a:ext cx="5394960" cy="658368"/>
          </a:xfrm>
          <a:prstGeom prst="rect">
            <a:avLst/>
          </a:prstGeom>
          <a:noFill/>
        </p:spPr>
        <p:txBody>
          <a:bodyPr wrap="square">
            <a:spAutoFit/>
          </a:bodyPr>
          <a:lstStyle/>
          <a:p>
            <a:pPr algn="l"/>
            <a:r>
              <a:rPr sz="4200" b="1" i="0">
                <a:solidFill>
                  <a:srgbClr val="4DD0E1"/>
                </a:solidFill>
              </a:rPr>
              <a:t>70%</a:t>
            </a:r>
            <a:endParaRPr sz="4200" b="1" i="0">
              <a:solidFill>
                <a:srgbClr val="4DD0E1"/>
              </a:solidFill>
            </a:endParaRPr>
          </a:p>
        </p:txBody>
      </p:sp>
      <p:sp>
        <p:nvSpPr>
          <p:cNvPr id="21" name="TextBox 20"/>
          <p:cNvSpPr txBox="1"/>
          <p:nvPr/>
        </p:nvSpPr>
        <p:spPr>
          <a:xfrm>
            <a:off x="438912" y="4974336"/>
            <a:ext cx="5394960" cy="320040"/>
          </a:xfrm>
          <a:prstGeom prst="rect">
            <a:avLst/>
          </a:prstGeom>
          <a:noFill/>
        </p:spPr>
        <p:txBody>
          <a:bodyPr wrap="square">
            <a:spAutoFit/>
          </a:bodyPr>
          <a:lstStyle/>
          <a:p>
            <a:pPr algn="l"/>
            <a:r>
              <a:rPr sz="900" b="1" i="0">
                <a:solidFill>
                  <a:srgbClr val="B0BCD4"/>
                </a:solidFill>
              </a:rPr>
              <a:t>CYCLE TIME REDUCTION</a:t>
            </a:r>
            <a:endParaRPr sz="900" b="1" i="0">
              <a:solidFill>
                <a:srgbClr val="B0BCD4"/>
              </a:solidFill>
            </a:endParaRPr>
          </a:p>
        </p:txBody>
      </p:sp>
      <p:sp>
        <p:nvSpPr>
          <p:cNvPr id="22" name="TextBox 21"/>
          <p:cNvSpPr txBox="1"/>
          <p:nvPr/>
        </p:nvSpPr>
        <p:spPr>
          <a:xfrm>
            <a:off x="438912" y="5303520"/>
            <a:ext cx="5394960" cy="347472"/>
          </a:xfrm>
          <a:prstGeom prst="rect">
            <a:avLst/>
          </a:prstGeom>
          <a:noFill/>
        </p:spPr>
        <p:txBody>
          <a:bodyPr wrap="square">
            <a:spAutoFit/>
          </a:bodyPr>
          <a:lstStyle/>
          <a:p>
            <a:pPr algn="l"/>
            <a:r>
              <a:rPr sz="1400" b="1" i="0">
                <a:solidFill>
                  <a:srgbClr val="FFFFFF"/>
                </a:solidFill>
              </a:rPr>
              <a:t>Healthcare &amp; Drug Discovery</a:t>
            </a:r>
            <a:endParaRPr sz="1400" b="1" i="0">
              <a:solidFill>
                <a:srgbClr val="FFFFFF"/>
              </a:solidFill>
            </a:endParaRPr>
          </a:p>
        </p:txBody>
      </p:sp>
      <p:sp>
        <p:nvSpPr>
          <p:cNvPr id="23" name="TextBox 22"/>
          <p:cNvSpPr txBox="1"/>
          <p:nvPr/>
        </p:nvSpPr>
        <p:spPr>
          <a:xfrm>
            <a:off x="438912" y="5669280"/>
            <a:ext cx="5394960" cy="594360"/>
          </a:xfrm>
          <a:prstGeom prst="rect">
            <a:avLst/>
          </a:prstGeom>
          <a:noFill/>
        </p:spPr>
        <p:txBody>
          <a:bodyPr wrap="square">
            <a:spAutoFit/>
          </a:bodyPr>
          <a:lstStyle/>
          <a:p>
            <a:pPr algn="l"/>
            <a:r>
              <a:rPr sz="1200" b="0" i="0">
                <a:solidFill>
                  <a:srgbClr val="B0BCD4"/>
                </a:solidFill>
              </a:rPr>
              <a:t>AI cuts lead-optimization cycle time for early-stage drug candidates.</a:t>
            </a:r>
            <a:endParaRPr sz="1200" b="0" i="0">
              <a:solidFill>
                <a:srgbClr val="B0BCD4"/>
              </a:solidFill>
            </a:endParaRPr>
          </a:p>
        </p:txBody>
      </p:sp>
      <p:sp>
        <p:nvSpPr>
          <p:cNvPr id="24" name="Rectangle 23"/>
          <p:cNvSpPr/>
          <p:nvPr/>
        </p:nvSpPr>
        <p:spPr>
          <a:xfrm>
            <a:off x="6236207" y="4224528"/>
            <a:ext cx="5669280" cy="2121408"/>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36207" y="4224528"/>
            <a:ext cx="73152" cy="21214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799" y="4334256"/>
            <a:ext cx="5394960" cy="658368"/>
          </a:xfrm>
          <a:prstGeom prst="rect">
            <a:avLst/>
          </a:prstGeom>
          <a:noFill/>
        </p:spPr>
        <p:txBody>
          <a:bodyPr wrap="square">
            <a:spAutoFit/>
          </a:bodyPr>
          <a:lstStyle/>
          <a:p>
            <a:pPr algn="l"/>
            <a:r>
              <a:rPr sz="4200" b="1" i="0">
                <a:solidFill>
                  <a:srgbClr val="C9A84C"/>
                </a:solidFill>
              </a:rPr>
              <a:t>80%</a:t>
            </a:r>
            <a:endParaRPr sz="4200" b="1" i="0">
              <a:solidFill>
                <a:srgbClr val="C9A84C"/>
              </a:solidFill>
            </a:endParaRPr>
          </a:p>
        </p:txBody>
      </p:sp>
      <p:sp>
        <p:nvSpPr>
          <p:cNvPr id="27" name="TextBox 26"/>
          <p:cNvSpPr txBox="1"/>
          <p:nvPr/>
        </p:nvSpPr>
        <p:spPr>
          <a:xfrm>
            <a:off x="6400799" y="4974336"/>
            <a:ext cx="5394960" cy="320040"/>
          </a:xfrm>
          <a:prstGeom prst="rect">
            <a:avLst/>
          </a:prstGeom>
          <a:noFill/>
        </p:spPr>
        <p:txBody>
          <a:bodyPr wrap="square">
            <a:spAutoFit/>
          </a:bodyPr>
          <a:lstStyle/>
          <a:p>
            <a:pPr algn="l"/>
            <a:r>
              <a:rPr sz="900" b="1" i="0">
                <a:solidFill>
                  <a:srgbClr val="B0BCD4"/>
                </a:solidFill>
              </a:rPr>
              <a:t>SETUP TIME SAVED</a:t>
            </a:r>
            <a:endParaRPr sz="900" b="1" i="0">
              <a:solidFill>
                <a:srgbClr val="B0BCD4"/>
              </a:solidFill>
            </a:endParaRPr>
          </a:p>
        </p:txBody>
      </p:sp>
      <p:sp>
        <p:nvSpPr>
          <p:cNvPr id="28" name="TextBox 27"/>
          <p:cNvSpPr txBox="1"/>
          <p:nvPr/>
        </p:nvSpPr>
        <p:spPr>
          <a:xfrm>
            <a:off x="6400799" y="5303520"/>
            <a:ext cx="5394960" cy="347472"/>
          </a:xfrm>
          <a:prstGeom prst="rect">
            <a:avLst/>
          </a:prstGeom>
          <a:noFill/>
        </p:spPr>
        <p:txBody>
          <a:bodyPr wrap="square">
            <a:spAutoFit/>
          </a:bodyPr>
          <a:lstStyle/>
          <a:p>
            <a:pPr algn="l"/>
            <a:r>
              <a:rPr sz="1400" b="1" i="0">
                <a:solidFill>
                  <a:srgbClr val="FFFFFF"/>
                </a:solidFill>
              </a:rPr>
              <a:t>Manufacturing &amp; Physical AI</a:t>
            </a:r>
            <a:endParaRPr sz="1400" b="1" i="0">
              <a:solidFill>
                <a:srgbClr val="FFFFFF"/>
              </a:solidFill>
            </a:endParaRPr>
          </a:p>
        </p:txBody>
      </p:sp>
      <p:sp>
        <p:nvSpPr>
          <p:cNvPr id="29" name="TextBox 28"/>
          <p:cNvSpPr txBox="1"/>
          <p:nvPr/>
        </p:nvSpPr>
        <p:spPr>
          <a:xfrm>
            <a:off x="6400799" y="5669280"/>
            <a:ext cx="5394960" cy="594360"/>
          </a:xfrm>
          <a:prstGeom prst="rect">
            <a:avLst/>
          </a:prstGeom>
          <a:noFill/>
        </p:spPr>
        <p:txBody>
          <a:bodyPr wrap="square">
            <a:spAutoFit/>
          </a:bodyPr>
          <a:lstStyle/>
          <a:p>
            <a:pPr algn="l"/>
            <a:r>
              <a:rPr sz="1200" b="0" i="0">
                <a:solidFill>
                  <a:srgbClr val="B0BCD4"/>
                </a:solidFill>
              </a:rPr>
              <a:t>Simulation collapses industrial pilot setup time. 80% penetration by 2027.</a:t>
            </a:r>
            <a:endParaRPr sz="1200" b="0" i="0">
              <a:solidFill>
                <a:srgbClr val="B0BCD4"/>
              </a:solidFill>
            </a:endParaRPr>
          </a:p>
        </p:txBody>
      </p:sp>
      <p:sp>
        <p:nvSpPr>
          <p:cNvPr id="30" name="TextBox 29"/>
          <p:cNvSpPr txBox="1"/>
          <p:nvPr/>
        </p:nvSpPr>
        <p:spPr>
          <a:xfrm>
            <a:off x="274320" y="6492240"/>
            <a:ext cx="11612880" cy="292608"/>
          </a:xfrm>
          <a:prstGeom prst="rect">
            <a:avLst/>
          </a:prstGeom>
          <a:noFill/>
        </p:spPr>
        <p:txBody>
          <a:bodyPr wrap="square">
            <a:spAutoFit/>
          </a:bodyPr>
          <a:lstStyle/>
          <a:p>
            <a:pPr algn="ctr"/>
            <a:r>
              <a:rPr sz="1200" b="0" i="0">
                <a:solidFill>
                  <a:srgbClr val="B0BCD4"/>
                </a:solidFill>
              </a:rPr>
              <a:t>Projected GDP uplift: $15.7 Trillion by 2030  (McKinsey Global Institute)</a:t>
            </a:r>
            <a:endParaRPr sz="1200" b="0" i="0">
              <a:solidFill>
                <a:srgbClr val="B0BCD4"/>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0D1A"/>
        </a:solidFill>
        <a:effectLst/>
      </p:bgPr>
    </p:bg>
    <p:spTree>
      <p:nvGrpSpPr>
        <p:cNvPr id="1" name=""/>
        <p:cNvGrpSpPr/>
        <p:nvPr/>
      </p:nvGrpSpPr>
      <p:grpSpPr/>
      <p:sp>
        <p:nvSpPr>
          <p:cNvPr id="2" name="Rectangle 1"/>
          <p:cNvSpPr/>
          <p:nvPr/>
        </p:nvSpPr>
        <p:spPr>
          <a:xfrm>
            <a:off x="182880" y="182880"/>
            <a:ext cx="2377440" cy="2926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070D1A"/>
                </a:solidFill>
              </a:rPr>
              <a:t>MODULE 2 · WORLD MODELS</a:t>
            </a:r>
            <a:endParaRPr sz="900" b="1">
              <a:solidFill>
                <a:srgbClr val="070D1A"/>
              </a:solidFill>
            </a:endParaRPr>
          </a:p>
        </p:txBody>
      </p:sp>
      <p:sp>
        <p:nvSpPr>
          <p:cNvPr id="3" name="TextBox 2"/>
          <p:cNvSpPr txBox="1"/>
          <p:nvPr/>
        </p:nvSpPr>
        <p:spPr>
          <a:xfrm>
            <a:off x="274320" y="566928"/>
            <a:ext cx="11430000" cy="822960"/>
          </a:xfrm>
          <a:prstGeom prst="rect">
            <a:avLst/>
          </a:prstGeom>
          <a:noFill/>
        </p:spPr>
        <p:txBody>
          <a:bodyPr wrap="square">
            <a:spAutoFit/>
          </a:bodyPr>
          <a:lstStyle/>
          <a:p>
            <a:pPr algn="l"/>
            <a:r>
              <a:rPr sz="3200" b="1" i="0">
                <a:solidFill>
                  <a:srgbClr val="FFFFFF"/>
                </a:solidFill>
              </a:rPr>
              <a:t>Beyond the Autoregressive Bottleneck</a:t>
            </a:r>
            <a:endParaRPr sz="3200" b="1" i="0">
              <a:solidFill>
                <a:srgbClr val="FFFFFF"/>
              </a:solidFill>
            </a:endParaRPr>
          </a:p>
        </p:txBody>
      </p:sp>
      <p:sp>
        <p:nvSpPr>
          <p:cNvPr id="4" name="TextBox 3"/>
          <p:cNvSpPr txBox="1"/>
          <p:nvPr/>
        </p:nvSpPr>
        <p:spPr>
          <a:xfrm>
            <a:off x="274320" y="1298448"/>
            <a:ext cx="11430000" cy="365760"/>
          </a:xfrm>
          <a:prstGeom prst="rect">
            <a:avLst/>
          </a:prstGeom>
          <a:noFill/>
        </p:spPr>
        <p:txBody>
          <a:bodyPr wrap="square">
            <a:spAutoFit/>
          </a:bodyPr>
          <a:lstStyle/>
          <a:p>
            <a:pPr algn="l"/>
            <a:r>
              <a:rPr sz="1600" b="0" i="0">
                <a:solidFill>
                  <a:srgbClr val="C9A84C"/>
                </a:solidFill>
              </a:rPr>
              <a:t>Grounding AI in Physical Space via Causal Reasoning</a:t>
            </a:r>
            <a:endParaRPr sz="1600" b="0" i="0">
              <a:solidFill>
                <a:srgbClr val="C9A84C"/>
              </a:solidFill>
            </a:endParaRPr>
          </a:p>
        </p:txBody>
      </p:sp>
      <p:sp>
        <p:nvSpPr>
          <p:cNvPr id="5" name="Rectangle 4"/>
          <p:cNvSpPr/>
          <p:nvPr/>
        </p:nvSpPr>
        <p:spPr>
          <a:xfrm>
            <a:off x="150876" y="1755648"/>
            <a:ext cx="1188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938528"/>
            <a:ext cx="6949440" cy="132588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011680"/>
            <a:ext cx="1097280" cy="347472"/>
          </a:xfrm>
          <a:prstGeom prst="rect">
            <a:avLst/>
          </a:prstGeom>
          <a:noFill/>
        </p:spPr>
        <p:txBody>
          <a:bodyPr wrap="square">
            <a:spAutoFit/>
          </a:bodyPr>
          <a:lstStyle/>
          <a:p>
            <a:pPr algn="l"/>
            <a:r>
              <a:rPr sz="1000" b="1" i="0">
                <a:solidFill>
                  <a:srgbClr val="B0BCD4"/>
                </a:solidFill>
              </a:rPr>
              <a:t>Rung I</a:t>
            </a:r>
            <a:endParaRPr sz="1000" b="1" i="0">
              <a:solidFill>
                <a:srgbClr val="B0BCD4"/>
              </a:solidFill>
            </a:endParaRPr>
          </a:p>
        </p:txBody>
      </p:sp>
      <p:sp>
        <p:nvSpPr>
          <p:cNvPr id="8" name="TextBox 7"/>
          <p:cNvSpPr txBox="1"/>
          <p:nvPr/>
        </p:nvSpPr>
        <p:spPr>
          <a:xfrm>
            <a:off x="457200" y="2350008"/>
            <a:ext cx="2743200" cy="384048"/>
          </a:xfrm>
          <a:prstGeom prst="rect">
            <a:avLst/>
          </a:prstGeom>
          <a:noFill/>
        </p:spPr>
        <p:txBody>
          <a:bodyPr wrap="square">
            <a:spAutoFit/>
          </a:bodyPr>
          <a:lstStyle/>
          <a:p>
            <a:pPr algn="l"/>
            <a:r>
              <a:rPr sz="1800" b="1" i="0">
                <a:solidFill>
                  <a:srgbClr val="FFFFFF"/>
                </a:solidFill>
              </a:rPr>
              <a:t>Association</a:t>
            </a:r>
            <a:endParaRPr sz="1800" b="1" i="0">
              <a:solidFill>
                <a:srgbClr val="FFFFFF"/>
              </a:solidFill>
            </a:endParaRPr>
          </a:p>
        </p:txBody>
      </p:sp>
      <p:sp>
        <p:nvSpPr>
          <p:cNvPr id="9" name="TextBox 8"/>
          <p:cNvSpPr txBox="1"/>
          <p:nvPr/>
        </p:nvSpPr>
        <p:spPr>
          <a:xfrm>
            <a:off x="457200" y="2761488"/>
            <a:ext cx="3200400" cy="384048"/>
          </a:xfrm>
          <a:prstGeom prst="rect">
            <a:avLst/>
          </a:prstGeom>
          <a:noFill/>
        </p:spPr>
        <p:txBody>
          <a:bodyPr wrap="square">
            <a:spAutoFit/>
          </a:bodyPr>
          <a:lstStyle/>
          <a:p>
            <a:pPr algn="l"/>
            <a:r>
              <a:rPr sz="1200" b="0" i="0">
                <a:solidFill>
                  <a:srgbClr val="B0BCD4"/>
                </a:solidFill>
              </a:rPr>
              <a:t>Seeing &amp; Correlating</a:t>
            </a:r>
            <a:endParaRPr sz="1200" b="0" i="0">
              <a:solidFill>
                <a:srgbClr val="B0BCD4"/>
              </a:solidFill>
            </a:endParaRPr>
          </a:p>
        </p:txBody>
      </p:sp>
      <p:sp>
        <p:nvSpPr>
          <p:cNvPr id="10" name="TextBox 9"/>
          <p:cNvSpPr txBox="1"/>
          <p:nvPr/>
        </p:nvSpPr>
        <p:spPr>
          <a:xfrm>
            <a:off x="3474720" y="2350008"/>
            <a:ext cx="3657600" cy="347472"/>
          </a:xfrm>
          <a:prstGeom prst="rect">
            <a:avLst/>
          </a:prstGeom>
          <a:noFill/>
        </p:spPr>
        <p:txBody>
          <a:bodyPr wrap="square">
            <a:spAutoFit/>
          </a:bodyPr>
          <a:lstStyle/>
          <a:p>
            <a:pPr algn="l"/>
            <a:r>
              <a:rPr sz="1200" b="0" i="0">
                <a:solidFill>
                  <a:srgbClr val="B0BCD4"/>
                </a:solidFill>
              </a:rPr>
              <a:t>Language models: P(Y | X)</a:t>
            </a:r>
            <a:endParaRPr sz="1200" b="0" i="0">
              <a:solidFill>
                <a:srgbClr val="B0BCD4"/>
              </a:solidFill>
            </a:endParaRPr>
          </a:p>
        </p:txBody>
      </p:sp>
      <p:sp>
        <p:nvSpPr>
          <p:cNvPr id="11" name="TextBox 10"/>
          <p:cNvSpPr txBox="1"/>
          <p:nvPr/>
        </p:nvSpPr>
        <p:spPr>
          <a:xfrm>
            <a:off x="3474720" y="2743200"/>
            <a:ext cx="3657600" cy="384048"/>
          </a:xfrm>
          <a:prstGeom prst="rect">
            <a:avLst/>
          </a:prstGeom>
          <a:noFill/>
        </p:spPr>
        <p:txBody>
          <a:bodyPr wrap="square">
            <a:spAutoFit/>
          </a:bodyPr>
          <a:lstStyle/>
          <a:p>
            <a:pPr algn="l"/>
            <a:r>
              <a:rPr sz="1100" b="0" i="0">
                <a:solidFill>
                  <a:srgbClr val="B0BCD4"/>
                </a:solidFill>
              </a:rPr>
              <a:t>e.g. Predict tomorrow's weather from history.</a:t>
            </a:r>
            <a:endParaRPr sz="1100" b="0" i="0">
              <a:solidFill>
                <a:srgbClr val="B0BCD4"/>
              </a:solidFill>
            </a:endParaRPr>
          </a:p>
        </p:txBody>
      </p:sp>
      <p:sp>
        <p:nvSpPr>
          <p:cNvPr id="12" name="Rectangle 11"/>
          <p:cNvSpPr/>
          <p:nvPr/>
        </p:nvSpPr>
        <p:spPr>
          <a:xfrm>
            <a:off x="274320" y="3401568"/>
            <a:ext cx="6949440" cy="132588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401568"/>
            <a:ext cx="73152" cy="1325880"/>
          </a:xfrm>
          <a:prstGeom prst="rect">
            <a:avLst/>
          </a:prstGeom>
          <a:solidFill>
            <a:srgbClr val="4DD0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474720"/>
            <a:ext cx="1097280" cy="347472"/>
          </a:xfrm>
          <a:prstGeom prst="rect">
            <a:avLst/>
          </a:prstGeom>
          <a:noFill/>
        </p:spPr>
        <p:txBody>
          <a:bodyPr wrap="square">
            <a:spAutoFit/>
          </a:bodyPr>
          <a:lstStyle/>
          <a:p>
            <a:pPr algn="l"/>
            <a:r>
              <a:rPr sz="1000" b="1" i="0">
                <a:solidFill>
                  <a:srgbClr val="4DD0E1"/>
                </a:solidFill>
              </a:rPr>
              <a:t>Rung II</a:t>
            </a:r>
            <a:endParaRPr sz="1000" b="1" i="0">
              <a:solidFill>
                <a:srgbClr val="4DD0E1"/>
              </a:solidFill>
            </a:endParaRPr>
          </a:p>
        </p:txBody>
      </p:sp>
      <p:sp>
        <p:nvSpPr>
          <p:cNvPr id="15" name="TextBox 14"/>
          <p:cNvSpPr txBox="1"/>
          <p:nvPr/>
        </p:nvSpPr>
        <p:spPr>
          <a:xfrm>
            <a:off x="457200" y="3813048"/>
            <a:ext cx="2743200" cy="384048"/>
          </a:xfrm>
          <a:prstGeom prst="rect">
            <a:avLst/>
          </a:prstGeom>
          <a:noFill/>
        </p:spPr>
        <p:txBody>
          <a:bodyPr wrap="square">
            <a:spAutoFit/>
          </a:bodyPr>
          <a:lstStyle/>
          <a:p>
            <a:pPr algn="l"/>
            <a:r>
              <a:rPr sz="1800" b="1" i="0">
                <a:solidFill>
                  <a:srgbClr val="FFFFFF"/>
                </a:solidFill>
              </a:rPr>
              <a:t>Intervention</a:t>
            </a:r>
            <a:endParaRPr sz="1800" b="1" i="0">
              <a:solidFill>
                <a:srgbClr val="FFFFFF"/>
              </a:solidFill>
            </a:endParaRPr>
          </a:p>
        </p:txBody>
      </p:sp>
      <p:sp>
        <p:nvSpPr>
          <p:cNvPr id="16" name="TextBox 15"/>
          <p:cNvSpPr txBox="1"/>
          <p:nvPr/>
        </p:nvSpPr>
        <p:spPr>
          <a:xfrm>
            <a:off x="457200" y="4224528"/>
            <a:ext cx="3200400" cy="384048"/>
          </a:xfrm>
          <a:prstGeom prst="rect">
            <a:avLst/>
          </a:prstGeom>
          <a:noFill/>
        </p:spPr>
        <p:txBody>
          <a:bodyPr wrap="square">
            <a:spAutoFit/>
          </a:bodyPr>
          <a:lstStyle/>
          <a:p>
            <a:pPr algn="l"/>
            <a:r>
              <a:rPr sz="1200" b="0" i="0">
                <a:solidFill>
                  <a:srgbClr val="B0BCD4"/>
                </a:solidFill>
              </a:rPr>
              <a:t>Doing &amp; Observing</a:t>
            </a:r>
            <a:endParaRPr sz="1200" b="0" i="0">
              <a:solidFill>
                <a:srgbClr val="B0BCD4"/>
              </a:solidFill>
            </a:endParaRPr>
          </a:p>
        </p:txBody>
      </p:sp>
      <p:sp>
        <p:nvSpPr>
          <p:cNvPr id="17" name="TextBox 16"/>
          <p:cNvSpPr txBox="1"/>
          <p:nvPr/>
        </p:nvSpPr>
        <p:spPr>
          <a:xfrm>
            <a:off x="3474720" y="3813048"/>
            <a:ext cx="3657600" cy="347472"/>
          </a:xfrm>
          <a:prstGeom prst="rect">
            <a:avLst/>
          </a:prstGeom>
          <a:noFill/>
        </p:spPr>
        <p:txBody>
          <a:bodyPr wrap="square">
            <a:spAutoFit/>
          </a:bodyPr>
          <a:lstStyle/>
          <a:p>
            <a:pPr algn="l"/>
            <a:r>
              <a:rPr sz="1200" b="0" i="0">
                <a:solidFill>
                  <a:srgbClr val="4DD0E1"/>
                </a:solidFill>
              </a:rPr>
              <a:t>Robotics &amp; Control: P(Y | do(X))</a:t>
            </a:r>
            <a:endParaRPr sz="1200" b="0" i="0">
              <a:solidFill>
                <a:srgbClr val="4DD0E1"/>
              </a:solidFill>
            </a:endParaRPr>
          </a:p>
        </p:txBody>
      </p:sp>
      <p:sp>
        <p:nvSpPr>
          <p:cNvPr id="18" name="TextBox 17"/>
          <p:cNvSpPr txBox="1"/>
          <p:nvPr/>
        </p:nvSpPr>
        <p:spPr>
          <a:xfrm>
            <a:off x="3474720" y="4206240"/>
            <a:ext cx="3657600" cy="384048"/>
          </a:xfrm>
          <a:prstGeom prst="rect">
            <a:avLst/>
          </a:prstGeom>
          <a:noFill/>
        </p:spPr>
        <p:txBody>
          <a:bodyPr wrap="square">
            <a:spAutoFit/>
          </a:bodyPr>
          <a:lstStyle/>
          <a:p>
            <a:pPr algn="l"/>
            <a:r>
              <a:rPr sz="1100" b="0" i="0">
                <a:solidFill>
                  <a:srgbClr val="B0BCD4"/>
                </a:solidFill>
              </a:rPr>
              <a:t>e.g. What happens if I apply 15N of torque?</a:t>
            </a:r>
            <a:endParaRPr sz="1100" b="0" i="0">
              <a:solidFill>
                <a:srgbClr val="B0BCD4"/>
              </a:solidFill>
            </a:endParaRPr>
          </a:p>
        </p:txBody>
      </p:sp>
      <p:sp>
        <p:nvSpPr>
          <p:cNvPr id="19" name="Rectangle 18"/>
          <p:cNvSpPr/>
          <p:nvPr/>
        </p:nvSpPr>
        <p:spPr>
          <a:xfrm>
            <a:off x="274320" y="4864608"/>
            <a:ext cx="6949440" cy="132588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4864608"/>
            <a:ext cx="73152" cy="132588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937760"/>
            <a:ext cx="1097280" cy="347472"/>
          </a:xfrm>
          <a:prstGeom prst="rect">
            <a:avLst/>
          </a:prstGeom>
          <a:noFill/>
        </p:spPr>
        <p:txBody>
          <a:bodyPr wrap="square">
            <a:spAutoFit/>
          </a:bodyPr>
          <a:lstStyle/>
          <a:p>
            <a:pPr algn="l"/>
            <a:r>
              <a:rPr sz="1000" b="1" i="0">
                <a:solidFill>
                  <a:srgbClr val="C9A84C"/>
                </a:solidFill>
              </a:rPr>
              <a:t>Rung III</a:t>
            </a:r>
            <a:endParaRPr sz="1000" b="1" i="0">
              <a:solidFill>
                <a:srgbClr val="C9A84C"/>
              </a:solidFill>
            </a:endParaRPr>
          </a:p>
        </p:txBody>
      </p:sp>
      <p:sp>
        <p:nvSpPr>
          <p:cNvPr id="22" name="TextBox 21"/>
          <p:cNvSpPr txBox="1"/>
          <p:nvPr/>
        </p:nvSpPr>
        <p:spPr>
          <a:xfrm>
            <a:off x="457200" y="5276088"/>
            <a:ext cx="2743200" cy="384048"/>
          </a:xfrm>
          <a:prstGeom prst="rect">
            <a:avLst/>
          </a:prstGeom>
          <a:noFill/>
        </p:spPr>
        <p:txBody>
          <a:bodyPr wrap="square">
            <a:spAutoFit/>
          </a:bodyPr>
          <a:lstStyle/>
          <a:p>
            <a:pPr algn="l"/>
            <a:r>
              <a:rPr sz="1800" b="1" i="0">
                <a:solidFill>
                  <a:srgbClr val="FFFFFF"/>
                </a:solidFill>
              </a:rPr>
              <a:t>Counterfactual</a:t>
            </a:r>
            <a:endParaRPr sz="1800" b="1" i="0">
              <a:solidFill>
                <a:srgbClr val="FFFFFF"/>
              </a:solidFill>
            </a:endParaRPr>
          </a:p>
        </p:txBody>
      </p:sp>
      <p:sp>
        <p:nvSpPr>
          <p:cNvPr id="23" name="TextBox 22"/>
          <p:cNvSpPr txBox="1"/>
          <p:nvPr/>
        </p:nvSpPr>
        <p:spPr>
          <a:xfrm>
            <a:off x="457200" y="5687568"/>
            <a:ext cx="3200400" cy="384048"/>
          </a:xfrm>
          <a:prstGeom prst="rect">
            <a:avLst/>
          </a:prstGeom>
          <a:noFill/>
        </p:spPr>
        <p:txBody>
          <a:bodyPr wrap="square">
            <a:spAutoFit/>
          </a:bodyPr>
          <a:lstStyle/>
          <a:p>
            <a:pPr algn="l"/>
            <a:r>
              <a:rPr sz="1200" b="0" i="0">
                <a:solidFill>
                  <a:srgbClr val="B0BCD4"/>
                </a:solidFill>
              </a:rPr>
              <a:t>Imagining Alternatives</a:t>
            </a:r>
            <a:endParaRPr sz="1200" b="0" i="0">
              <a:solidFill>
                <a:srgbClr val="B0BCD4"/>
              </a:solidFill>
            </a:endParaRPr>
          </a:p>
        </p:txBody>
      </p:sp>
      <p:sp>
        <p:nvSpPr>
          <p:cNvPr id="24" name="TextBox 23"/>
          <p:cNvSpPr txBox="1"/>
          <p:nvPr/>
        </p:nvSpPr>
        <p:spPr>
          <a:xfrm>
            <a:off x="3474720" y="5276088"/>
            <a:ext cx="3657600" cy="347472"/>
          </a:xfrm>
          <a:prstGeom prst="rect">
            <a:avLst/>
          </a:prstGeom>
          <a:noFill/>
        </p:spPr>
        <p:txBody>
          <a:bodyPr wrap="square">
            <a:spAutoFit/>
          </a:bodyPr>
          <a:lstStyle/>
          <a:p>
            <a:pPr algn="l"/>
            <a:r>
              <a:rPr sz="1200" b="0" i="0">
                <a:solidFill>
                  <a:srgbClr val="C9A84C"/>
                </a:solidFill>
              </a:rPr>
              <a:t>Planning: P(Y_x | X', Y')</a:t>
            </a:r>
            <a:endParaRPr sz="1200" b="0" i="0">
              <a:solidFill>
                <a:srgbClr val="C9A84C"/>
              </a:solidFill>
            </a:endParaRPr>
          </a:p>
        </p:txBody>
      </p:sp>
      <p:sp>
        <p:nvSpPr>
          <p:cNvPr id="25" name="TextBox 24"/>
          <p:cNvSpPr txBox="1"/>
          <p:nvPr/>
        </p:nvSpPr>
        <p:spPr>
          <a:xfrm>
            <a:off x="3474720" y="5669280"/>
            <a:ext cx="3657600" cy="384048"/>
          </a:xfrm>
          <a:prstGeom prst="rect">
            <a:avLst/>
          </a:prstGeom>
          <a:noFill/>
        </p:spPr>
        <p:txBody>
          <a:bodyPr wrap="square">
            <a:spAutoFit/>
          </a:bodyPr>
          <a:lstStyle/>
          <a:p>
            <a:pPr algn="l"/>
            <a:r>
              <a:rPr sz="1100" b="0" i="0">
                <a:solidFill>
                  <a:srgbClr val="B0BCD4"/>
                </a:solidFill>
              </a:rPr>
              <a:t>e.g. What would have happened had I acted differently?</a:t>
            </a:r>
            <a:endParaRPr sz="1100" b="0" i="0">
              <a:solidFill>
                <a:srgbClr val="B0BCD4"/>
              </a:solidFill>
            </a:endParaRPr>
          </a:p>
        </p:txBody>
      </p:sp>
      <p:sp>
        <p:nvSpPr>
          <p:cNvPr id="26" name="Rectangle 25"/>
          <p:cNvSpPr/>
          <p:nvPr/>
        </p:nvSpPr>
        <p:spPr>
          <a:xfrm>
            <a:off x="7498079" y="1938528"/>
            <a:ext cx="4480560" cy="443484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35240" y="2029968"/>
            <a:ext cx="4206240" cy="347472"/>
          </a:xfrm>
          <a:prstGeom prst="rect">
            <a:avLst/>
          </a:prstGeom>
          <a:noFill/>
        </p:spPr>
        <p:txBody>
          <a:bodyPr wrap="square">
            <a:spAutoFit/>
          </a:bodyPr>
          <a:lstStyle/>
          <a:p>
            <a:pPr algn="l"/>
            <a:r>
              <a:rPr sz="900" b="1" i="0">
                <a:solidFill>
                  <a:srgbClr val="C9A84C"/>
                </a:solidFill>
              </a:rPr>
              <a:t>CONTINUOUS DYNAMICS FOUNDATION</a:t>
            </a:r>
            <a:endParaRPr sz="900" b="1" i="0">
              <a:solidFill>
                <a:srgbClr val="C9A84C"/>
              </a:solidFill>
            </a:endParaRPr>
          </a:p>
        </p:txBody>
      </p:sp>
      <p:pic>
        <p:nvPicPr>
          <p:cNvPr id="28" name="Picture 27" descr="image.png"/>
          <p:cNvPicPr>
            <a:picLocks noChangeAspect="1"/>
          </p:cNvPicPr>
          <p:nvPr/>
        </p:nvPicPr>
        <p:blipFill>
          <a:blip r:embed="rId1"/>
          <a:stretch>
            <a:fillRect/>
          </a:stretch>
        </p:blipFill>
        <p:spPr>
          <a:xfrm>
            <a:off x="7772400" y="2450592"/>
            <a:ext cx="4023360" cy="1005840"/>
          </a:xfrm>
          <a:prstGeom prst="rect">
            <a:avLst/>
          </a:prstGeom>
        </p:spPr>
      </p:pic>
      <p:sp>
        <p:nvSpPr>
          <p:cNvPr id="29" name="TextBox 28"/>
          <p:cNvSpPr txBox="1"/>
          <p:nvPr/>
        </p:nvSpPr>
        <p:spPr>
          <a:xfrm>
            <a:off x="7635240" y="3566160"/>
            <a:ext cx="4206240" cy="347472"/>
          </a:xfrm>
          <a:prstGeom prst="rect">
            <a:avLst/>
          </a:prstGeom>
          <a:noFill/>
        </p:spPr>
        <p:txBody>
          <a:bodyPr wrap="square">
            <a:spAutoFit/>
          </a:bodyPr>
          <a:lstStyle/>
          <a:p>
            <a:pPr algn="l"/>
            <a:r>
              <a:rPr sz="1000" b="1" i="0">
                <a:solidFill>
                  <a:srgbClr val="4DD0E1"/>
                </a:solidFill>
              </a:rPr>
              <a:t>THE CATEGORY ERROR</a:t>
            </a:r>
            <a:endParaRPr sz="1000" b="1" i="0">
              <a:solidFill>
                <a:srgbClr val="4DD0E1"/>
              </a:solidFill>
            </a:endParaRPr>
          </a:p>
        </p:txBody>
      </p:sp>
      <p:sp>
        <p:nvSpPr>
          <p:cNvPr id="30" name="TextBox 29"/>
          <p:cNvSpPr txBox="1"/>
          <p:nvPr/>
        </p:nvSpPr>
        <p:spPr>
          <a:xfrm>
            <a:off x="7635240" y="3977639"/>
            <a:ext cx="4160520" cy="2286000"/>
          </a:xfrm>
          <a:prstGeom prst="rect">
            <a:avLst/>
          </a:prstGeom>
          <a:noFill/>
        </p:spPr>
        <p:txBody>
          <a:bodyPr wrap="square">
            <a:spAutoFit/>
          </a:bodyPr>
          <a:lstStyle/>
          <a:p>
            <a:pPr algn="l"/>
            <a:r>
              <a:rPr sz="1250" b="0" i="0">
                <a:solidFill>
                  <a:srgbClr val="B0BCD4"/>
                </a:solidFill>
              </a:rPr>
              <a:t>Deploying text-trained models into factory cells is a fundamental representational failure — not an engineering gap. Language models operate on Rung I. Physical deployment demands Rungs II and III.</a:t>
            </a:r>
            <a:endParaRPr sz="1250" b="0" i="0">
              <a:solidFill>
                <a:srgbClr val="B0BCD4"/>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0D1A"/>
        </a:solidFill>
        <a:effectLst/>
      </p:bgPr>
    </p:bg>
    <p:spTree>
      <p:nvGrpSpPr>
        <p:cNvPr id="1" name=""/>
        <p:cNvGrpSpPr/>
        <p:nvPr/>
      </p:nvGrpSpPr>
      <p:grpSpPr/>
      <p:sp>
        <p:nvSpPr>
          <p:cNvPr id="2" name="Rectangle 1"/>
          <p:cNvSpPr/>
          <p:nvPr/>
        </p:nvSpPr>
        <p:spPr>
          <a:xfrm>
            <a:off x="182880" y="182880"/>
            <a:ext cx="2377440" cy="2926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070D1A"/>
                </a:solidFill>
              </a:rPr>
              <a:t>MODULE 2 · WORLD MODELS</a:t>
            </a:r>
            <a:endParaRPr sz="900" b="1">
              <a:solidFill>
                <a:srgbClr val="070D1A"/>
              </a:solidFill>
            </a:endParaRPr>
          </a:p>
        </p:txBody>
      </p:sp>
      <p:sp>
        <p:nvSpPr>
          <p:cNvPr id="3" name="TextBox 2"/>
          <p:cNvSpPr txBox="1"/>
          <p:nvPr/>
        </p:nvSpPr>
        <p:spPr>
          <a:xfrm>
            <a:off x="274320" y="566928"/>
            <a:ext cx="11430000" cy="822960"/>
          </a:xfrm>
          <a:prstGeom prst="rect">
            <a:avLst/>
          </a:prstGeom>
          <a:noFill/>
        </p:spPr>
        <p:txBody>
          <a:bodyPr wrap="square">
            <a:spAutoFit/>
          </a:bodyPr>
          <a:lstStyle/>
          <a:p>
            <a:pPr algn="l"/>
            <a:r>
              <a:rPr sz="3200" b="1" i="0">
                <a:solidFill>
                  <a:srgbClr val="FFFFFF"/>
                </a:solidFill>
              </a:rPr>
              <a:t>POMDPs and Latent World Models</a:t>
            </a:r>
            <a:endParaRPr sz="3200" b="1" i="0">
              <a:solidFill>
                <a:srgbClr val="FFFFFF"/>
              </a:solidFill>
            </a:endParaRPr>
          </a:p>
        </p:txBody>
      </p:sp>
      <p:sp>
        <p:nvSpPr>
          <p:cNvPr id="4" name="TextBox 3"/>
          <p:cNvSpPr txBox="1"/>
          <p:nvPr/>
        </p:nvSpPr>
        <p:spPr>
          <a:xfrm>
            <a:off x="274320" y="1298448"/>
            <a:ext cx="11430000" cy="365760"/>
          </a:xfrm>
          <a:prstGeom prst="rect">
            <a:avLst/>
          </a:prstGeom>
          <a:noFill/>
        </p:spPr>
        <p:txBody>
          <a:bodyPr wrap="square">
            <a:spAutoFit/>
          </a:bodyPr>
          <a:lstStyle/>
          <a:p>
            <a:pPr algn="l"/>
            <a:r>
              <a:rPr sz="1600" b="0" i="0">
                <a:solidFill>
                  <a:srgbClr val="C9A84C"/>
                </a:solidFill>
              </a:rPr>
              <a:t>The Mathematical Formulation of a Differentiable Physical Surrogate</a:t>
            </a:r>
            <a:endParaRPr sz="1600" b="0" i="0">
              <a:solidFill>
                <a:srgbClr val="C9A84C"/>
              </a:solidFill>
            </a:endParaRPr>
          </a:p>
        </p:txBody>
      </p:sp>
      <p:sp>
        <p:nvSpPr>
          <p:cNvPr id="5" name="Rectangle 4"/>
          <p:cNvSpPr/>
          <p:nvPr/>
        </p:nvSpPr>
        <p:spPr>
          <a:xfrm>
            <a:off x="150876" y="1755648"/>
            <a:ext cx="1188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920240"/>
            <a:ext cx="11612880" cy="132588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993392"/>
            <a:ext cx="11155680" cy="320040"/>
          </a:xfrm>
          <a:prstGeom prst="rect">
            <a:avLst/>
          </a:prstGeom>
          <a:noFill/>
        </p:spPr>
        <p:txBody>
          <a:bodyPr wrap="square">
            <a:spAutoFit/>
          </a:bodyPr>
          <a:lstStyle/>
          <a:p>
            <a:pPr algn="l"/>
            <a:r>
              <a:rPr sz="950" b="1" i="0">
                <a:solidFill>
                  <a:srgbClr val="C9A84C"/>
                </a:solidFill>
              </a:rPr>
              <a:t>PARTIALLY OBSERVABLE MARKOV DECISION PROCESS</a:t>
            </a:r>
            <a:endParaRPr sz="950" b="1" i="0">
              <a:solidFill>
                <a:srgbClr val="C9A84C"/>
              </a:solidFill>
            </a:endParaRPr>
          </a:p>
        </p:txBody>
      </p:sp>
      <p:pic>
        <p:nvPicPr>
          <p:cNvPr id="8" name="Picture 7" descr="image.png"/>
          <p:cNvPicPr>
            <a:picLocks noChangeAspect="1"/>
          </p:cNvPicPr>
          <p:nvPr/>
        </p:nvPicPr>
        <p:blipFill>
          <a:blip r:embed="rId1"/>
          <a:stretch>
            <a:fillRect/>
          </a:stretch>
        </p:blipFill>
        <p:spPr>
          <a:xfrm>
            <a:off x="1371600" y="2359152"/>
            <a:ext cx="8961120" cy="749808"/>
          </a:xfrm>
          <a:prstGeom prst="rect">
            <a:avLst/>
          </a:prstGeom>
        </p:spPr>
      </p:pic>
      <p:sp>
        <p:nvSpPr>
          <p:cNvPr id="9" name="Rectangle 8"/>
          <p:cNvSpPr/>
          <p:nvPr/>
        </p:nvSpPr>
        <p:spPr>
          <a:xfrm>
            <a:off x="274320" y="3401568"/>
            <a:ext cx="11612880" cy="1874519"/>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3474720"/>
            <a:ext cx="11155680" cy="320040"/>
          </a:xfrm>
          <a:prstGeom prst="rect">
            <a:avLst/>
          </a:prstGeom>
          <a:noFill/>
        </p:spPr>
        <p:txBody>
          <a:bodyPr wrap="square">
            <a:spAutoFit/>
          </a:bodyPr>
          <a:lstStyle/>
          <a:p>
            <a:pPr algn="l"/>
            <a:r>
              <a:rPr sz="950" b="1" i="0">
                <a:solidFill>
                  <a:srgbClr val="4DD0E1"/>
                </a:solidFill>
              </a:rPr>
              <a:t>ENCODER → TRANSITION → DECODER  (LATENT WORLD MODEL PIPELINE)</a:t>
            </a:r>
            <a:endParaRPr sz="950" b="1" i="0">
              <a:solidFill>
                <a:srgbClr val="4DD0E1"/>
              </a:solidFill>
            </a:endParaRPr>
          </a:p>
        </p:txBody>
      </p:sp>
      <p:pic>
        <p:nvPicPr>
          <p:cNvPr id="11" name="Picture 10" descr="image.png"/>
          <p:cNvPicPr>
            <a:picLocks noChangeAspect="1"/>
          </p:cNvPicPr>
          <p:nvPr/>
        </p:nvPicPr>
        <p:blipFill>
          <a:blip r:embed="rId2"/>
          <a:stretch>
            <a:fillRect/>
          </a:stretch>
        </p:blipFill>
        <p:spPr>
          <a:xfrm>
            <a:off x="457200" y="3858768"/>
            <a:ext cx="11338560" cy="1097280"/>
          </a:xfrm>
          <a:prstGeom prst="rect">
            <a:avLst/>
          </a:prstGeom>
        </p:spPr>
      </p:pic>
      <p:sp>
        <p:nvSpPr>
          <p:cNvPr id="12" name="TextBox 11"/>
          <p:cNvSpPr txBox="1"/>
          <p:nvPr/>
        </p:nvSpPr>
        <p:spPr>
          <a:xfrm>
            <a:off x="457200" y="5394960"/>
            <a:ext cx="11430000" cy="320040"/>
          </a:xfrm>
          <a:prstGeom prst="rect">
            <a:avLst/>
          </a:prstGeom>
          <a:noFill/>
        </p:spPr>
        <p:txBody>
          <a:bodyPr wrap="square">
            <a:spAutoFit/>
          </a:bodyPr>
          <a:lstStyle/>
          <a:p>
            <a:pPr algn="l"/>
            <a:r>
              <a:rPr sz="1250" b="0" i="0">
                <a:solidFill>
                  <a:srgbClr val="B0BCD4"/>
                </a:solidFill>
              </a:rPr>
              <a:t>·  z_t  — compressed latent state (reality compressed)</a:t>
            </a:r>
            <a:endParaRPr sz="1250" b="0" i="0">
              <a:solidFill>
                <a:srgbClr val="B0BCD4"/>
              </a:solidFill>
            </a:endParaRPr>
          </a:p>
        </p:txBody>
      </p:sp>
      <p:sp>
        <p:nvSpPr>
          <p:cNvPr id="13" name="TextBox 12"/>
          <p:cNvSpPr txBox="1"/>
          <p:nvPr/>
        </p:nvSpPr>
        <p:spPr>
          <a:xfrm>
            <a:off x="457200" y="5724144"/>
            <a:ext cx="11430000" cy="320040"/>
          </a:xfrm>
          <a:prstGeom prst="rect">
            <a:avLst/>
          </a:prstGeom>
          <a:noFill/>
        </p:spPr>
        <p:txBody>
          <a:bodyPr wrap="square">
            <a:spAutoFit/>
          </a:bodyPr>
          <a:lstStyle/>
          <a:p>
            <a:pPr algn="l"/>
            <a:r>
              <a:rPr sz="1250" b="0" i="0">
                <a:solidFill>
                  <a:srgbClr val="B0BCD4"/>
                </a:solidFill>
              </a:rPr>
              <a:t>·  T̂_θ  — learned transition model (predicts next latent state given action)</a:t>
            </a:r>
            <a:endParaRPr sz="1250" b="0" i="0">
              <a:solidFill>
                <a:srgbClr val="B0BCD4"/>
              </a:solidFill>
            </a:endParaRPr>
          </a:p>
        </p:txBody>
      </p:sp>
      <p:sp>
        <p:nvSpPr>
          <p:cNvPr id="14" name="TextBox 13"/>
          <p:cNvSpPr txBox="1"/>
          <p:nvPr/>
        </p:nvSpPr>
        <p:spPr>
          <a:xfrm>
            <a:off x="457200" y="6053328"/>
            <a:ext cx="11430000" cy="320040"/>
          </a:xfrm>
          <a:prstGeom prst="rect">
            <a:avLst/>
          </a:prstGeom>
          <a:noFill/>
        </p:spPr>
        <p:txBody>
          <a:bodyPr wrap="square">
            <a:spAutoFit/>
          </a:bodyPr>
          <a:lstStyle/>
          <a:p>
            <a:pPr algn="l"/>
            <a:r>
              <a:rPr sz="1250" b="0" i="0">
                <a:solidFill>
                  <a:srgbClr val="B0BCD4"/>
                </a:solidFill>
              </a:rPr>
              <a:t>·  D_ϕ  — decoder (reconstructs observable from latent)</a:t>
            </a:r>
            <a:endParaRPr sz="1250" b="0" i="0">
              <a:solidFill>
                <a:srgbClr val="B0BCD4"/>
              </a:solidFill>
            </a:endParaRPr>
          </a:p>
        </p:txBody>
      </p:sp>
      <p:sp>
        <p:nvSpPr>
          <p:cNvPr id="15" name="TextBox 14"/>
          <p:cNvSpPr txBox="1"/>
          <p:nvPr/>
        </p:nvSpPr>
        <p:spPr>
          <a:xfrm>
            <a:off x="457200" y="6382512"/>
            <a:ext cx="11430000" cy="320040"/>
          </a:xfrm>
          <a:prstGeom prst="rect">
            <a:avLst/>
          </a:prstGeom>
          <a:noFill/>
        </p:spPr>
        <p:txBody>
          <a:bodyPr wrap="square">
            <a:spAutoFit/>
          </a:bodyPr>
          <a:lstStyle/>
          <a:p>
            <a:pPr algn="l"/>
            <a:r>
              <a:rPr sz="1250" b="1" i="0">
                <a:solidFill>
                  <a:srgbClr val="4DD0E1"/>
                </a:solidFill>
              </a:rPr>
              <a:t>·  Thousands of futures simulated per second — no pixel rendering required.</a:t>
            </a:r>
            <a:endParaRPr sz="1250" b="1" i="0">
              <a:solidFill>
                <a:srgbClr val="4DD0E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0D1A"/>
        </a:solidFill>
        <a:effectLst/>
      </p:bgPr>
    </p:bg>
    <p:spTree>
      <p:nvGrpSpPr>
        <p:cNvPr id="1" name=""/>
        <p:cNvGrpSpPr/>
        <p:nvPr/>
      </p:nvGrpSpPr>
      <p:grpSpPr/>
      <p:sp>
        <p:nvSpPr>
          <p:cNvPr id="2" name="Rectangle 1"/>
          <p:cNvSpPr/>
          <p:nvPr/>
        </p:nvSpPr>
        <p:spPr>
          <a:xfrm>
            <a:off x="182880" y="182880"/>
            <a:ext cx="2377440" cy="2926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070D1A"/>
                </a:solidFill>
              </a:rPr>
              <a:t>MODULE 2 · WORLD MODELS</a:t>
            </a:r>
            <a:endParaRPr sz="900" b="1">
              <a:solidFill>
                <a:srgbClr val="070D1A"/>
              </a:solidFill>
            </a:endParaRPr>
          </a:p>
        </p:txBody>
      </p:sp>
      <p:sp>
        <p:nvSpPr>
          <p:cNvPr id="3" name="TextBox 2"/>
          <p:cNvSpPr txBox="1"/>
          <p:nvPr/>
        </p:nvSpPr>
        <p:spPr>
          <a:xfrm>
            <a:off x="274320" y="566928"/>
            <a:ext cx="11430000" cy="822960"/>
          </a:xfrm>
          <a:prstGeom prst="rect">
            <a:avLst/>
          </a:prstGeom>
          <a:noFill/>
        </p:spPr>
        <p:txBody>
          <a:bodyPr wrap="square">
            <a:spAutoFit/>
          </a:bodyPr>
          <a:lstStyle/>
          <a:p>
            <a:pPr algn="l"/>
            <a:r>
              <a:rPr sz="3600" b="1" i="0">
                <a:solidFill>
                  <a:srgbClr val="FFFFFF"/>
                </a:solidFill>
              </a:rPr>
              <a:t>Simulative Reasoning</a:t>
            </a:r>
            <a:endParaRPr sz="3600" b="1" i="0">
              <a:solidFill>
                <a:srgbClr val="FFFFFF"/>
              </a:solidFill>
            </a:endParaRPr>
          </a:p>
        </p:txBody>
      </p:sp>
      <p:sp>
        <p:nvSpPr>
          <p:cNvPr id="4" name="TextBox 3"/>
          <p:cNvSpPr txBox="1"/>
          <p:nvPr/>
        </p:nvSpPr>
        <p:spPr>
          <a:xfrm>
            <a:off x="274320" y="1298448"/>
            <a:ext cx="11430000" cy="365760"/>
          </a:xfrm>
          <a:prstGeom prst="rect">
            <a:avLst/>
          </a:prstGeom>
          <a:noFill/>
        </p:spPr>
        <p:txBody>
          <a:bodyPr wrap="square">
            <a:spAutoFit/>
          </a:bodyPr>
          <a:lstStyle/>
          <a:p>
            <a:pPr algn="l"/>
            <a:r>
              <a:rPr sz="1600" b="0" i="0">
                <a:solidFill>
                  <a:srgbClr val="C9A84C"/>
                </a:solidFill>
              </a:rPr>
              <a:t>The Value Function Over Imagined Latent Rollouts</a:t>
            </a:r>
            <a:endParaRPr sz="1600" b="0" i="0">
              <a:solidFill>
                <a:srgbClr val="C9A84C"/>
              </a:solidFill>
            </a:endParaRPr>
          </a:p>
        </p:txBody>
      </p:sp>
      <p:sp>
        <p:nvSpPr>
          <p:cNvPr id="5" name="Rectangle 4"/>
          <p:cNvSpPr/>
          <p:nvPr/>
        </p:nvSpPr>
        <p:spPr>
          <a:xfrm>
            <a:off x="150876" y="1755648"/>
            <a:ext cx="1188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920240"/>
            <a:ext cx="11612880" cy="192024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993392"/>
            <a:ext cx="11155680" cy="320040"/>
          </a:xfrm>
          <a:prstGeom prst="rect">
            <a:avLst/>
          </a:prstGeom>
          <a:noFill/>
        </p:spPr>
        <p:txBody>
          <a:bodyPr wrap="square">
            <a:spAutoFit/>
          </a:bodyPr>
          <a:lstStyle/>
          <a:p>
            <a:pPr algn="l"/>
            <a:r>
              <a:rPr sz="950" b="1" i="0">
                <a:solidFill>
                  <a:srgbClr val="C9A84C"/>
                </a:solidFill>
              </a:rPr>
              <a:t>VALUE FUNCTION OVER IMAGINED LATENT ROLLOUTS</a:t>
            </a:r>
            <a:endParaRPr sz="950" b="1" i="0">
              <a:solidFill>
                <a:srgbClr val="C9A84C"/>
              </a:solidFill>
            </a:endParaRPr>
          </a:p>
        </p:txBody>
      </p:sp>
      <p:pic>
        <p:nvPicPr>
          <p:cNvPr id="8" name="Picture 7" descr="image.png"/>
          <p:cNvPicPr>
            <a:picLocks noChangeAspect="1"/>
          </p:cNvPicPr>
          <p:nvPr/>
        </p:nvPicPr>
        <p:blipFill>
          <a:blip r:embed="rId1"/>
          <a:stretch>
            <a:fillRect/>
          </a:stretch>
        </p:blipFill>
        <p:spPr>
          <a:xfrm>
            <a:off x="914400" y="2331720"/>
            <a:ext cx="10241280" cy="1234440"/>
          </a:xfrm>
          <a:prstGeom prst="rect">
            <a:avLst/>
          </a:prstGeom>
        </p:spPr>
      </p:pic>
      <p:sp>
        <p:nvSpPr>
          <p:cNvPr id="9" name="Rectangle 8"/>
          <p:cNvSpPr/>
          <p:nvPr/>
        </p:nvSpPr>
        <p:spPr>
          <a:xfrm>
            <a:off x="274320" y="3977639"/>
            <a:ext cx="5669280" cy="59436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4032503"/>
            <a:ext cx="1280160" cy="475488"/>
          </a:xfrm>
          <a:prstGeom prst="rect">
            <a:avLst/>
          </a:prstGeom>
          <a:noFill/>
        </p:spPr>
        <p:txBody>
          <a:bodyPr wrap="square">
            <a:spAutoFit/>
          </a:bodyPr>
          <a:lstStyle/>
          <a:p>
            <a:pPr algn="l"/>
            <a:r>
              <a:rPr sz="1300" b="1" i="0">
                <a:solidFill>
                  <a:srgbClr val="C9A84C"/>
                </a:solidFill>
              </a:rPr>
              <a:t>V^π(z_t)</a:t>
            </a:r>
            <a:endParaRPr sz="1300" b="1" i="0">
              <a:solidFill>
                <a:srgbClr val="C9A84C"/>
              </a:solidFill>
            </a:endParaRPr>
          </a:p>
        </p:txBody>
      </p:sp>
      <p:sp>
        <p:nvSpPr>
          <p:cNvPr id="11" name="TextBox 10"/>
          <p:cNvSpPr txBox="1"/>
          <p:nvPr/>
        </p:nvSpPr>
        <p:spPr>
          <a:xfrm>
            <a:off x="1691640" y="4032503"/>
            <a:ext cx="4114800" cy="475488"/>
          </a:xfrm>
          <a:prstGeom prst="rect">
            <a:avLst/>
          </a:prstGeom>
          <a:noFill/>
        </p:spPr>
        <p:txBody>
          <a:bodyPr wrap="square">
            <a:spAutoFit/>
          </a:bodyPr>
          <a:lstStyle/>
          <a:p>
            <a:pPr algn="l"/>
            <a:r>
              <a:rPr sz="1250" b="0" i="0">
                <a:solidFill>
                  <a:srgbClr val="B0BCD4"/>
                </a:solidFill>
              </a:rPr>
              <a:t>Total expected future reward from latent state z_t</a:t>
            </a:r>
            <a:endParaRPr sz="1250" b="0" i="0">
              <a:solidFill>
                <a:srgbClr val="B0BCD4"/>
              </a:solidFill>
            </a:endParaRPr>
          </a:p>
        </p:txBody>
      </p:sp>
      <p:sp>
        <p:nvSpPr>
          <p:cNvPr id="12" name="Rectangle 11"/>
          <p:cNvSpPr/>
          <p:nvPr/>
        </p:nvSpPr>
        <p:spPr>
          <a:xfrm>
            <a:off x="6236207" y="3977639"/>
            <a:ext cx="5669280" cy="59436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5936" y="4032503"/>
            <a:ext cx="1280160" cy="475488"/>
          </a:xfrm>
          <a:prstGeom prst="rect">
            <a:avLst/>
          </a:prstGeom>
          <a:noFill/>
        </p:spPr>
        <p:txBody>
          <a:bodyPr wrap="square">
            <a:spAutoFit/>
          </a:bodyPr>
          <a:lstStyle/>
          <a:p>
            <a:pPr algn="l"/>
            <a:r>
              <a:rPr sz="1300" b="1" i="0">
                <a:solidFill>
                  <a:srgbClr val="C9A84C"/>
                </a:solidFill>
              </a:rPr>
              <a:t>γ</a:t>
            </a:r>
            <a:endParaRPr sz="1300" b="1" i="0">
              <a:solidFill>
                <a:srgbClr val="C9A84C"/>
              </a:solidFill>
            </a:endParaRPr>
          </a:p>
        </p:txBody>
      </p:sp>
      <p:sp>
        <p:nvSpPr>
          <p:cNvPr id="14" name="TextBox 13"/>
          <p:cNvSpPr txBox="1"/>
          <p:nvPr/>
        </p:nvSpPr>
        <p:spPr>
          <a:xfrm>
            <a:off x="7653527" y="4032503"/>
            <a:ext cx="4114800" cy="475488"/>
          </a:xfrm>
          <a:prstGeom prst="rect">
            <a:avLst/>
          </a:prstGeom>
          <a:noFill/>
        </p:spPr>
        <p:txBody>
          <a:bodyPr wrap="square">
            <a:spAutoFit/>
          </a:bodyPr>
          <a:lstStyle/>
          <a:p>
            <a:pPr algn="l"/>
            <a:r>
              <a:rPr sz="1250" b="0" i="0">
                <a:solidFill>
                  <a:srgbClr val="B0BCD4"/>
                </a:solidFill>
              </a:rPr>
              <a:t>Discount factor — weights near-term rewards above distant ones</a:t>
            </a:r>
            <a:endParaRPr sz="1250" b="0" i="0">
              <a:solidFill>
                <a:srgbClr val="B0BCD4"/>
              </a:solidFill>
            </a:endParaRPr>
          </a:p>
        </p:txBody>
      </p:sp>
      <p:sp>
        <p:nvSpPr>
          <p:cNvPr id="15" name="Rectangle 14"/>
          <p:cNvSpPr/>
          <p:nvPr/>
        </p:nvSpPr>
        <p:spPr>
          <a:xfrm>
            <a:off x="274320" y="4709159"/>
            <a:ext cx="5669280" cy="59436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4048" y="4764023"/>
            <a:ext cx="1280160" cy="475488"/>
          </a:xfrm>
          <a:prstGeom prst="rect">
            <a:avLst/>
          </a:prstGeom>
          <a:noFill/>
        </p:spPr>
        <p:txBody>
          <a:bodyPr wrap="square">
            <a:spAutoFit/>
          </a:bodyPr>
          <a:lstStyle/>
          <a:p>
            <a:pPr algn="l"/>
            <a:r>
              <a:rPr sz="1300" b="1" i="0">
                <a:solidFill>
                  <a:srgbClr val="C9A84C"/>
                </a:solidFill>
              </a:rPr>
              <a:t>ĥ_t+k</a:t>
            </a:r>
            <a:endParaRPr sz="1300" b="1" i="0">
              <a:solidFill>
                <a:srgbClr val="C9A84C"/>
              </a:solidFill>
            </a:endParaRPr>
          </a:p>
        </p:txBody>
      </p:sp>
      <p:sp>
        <p:nvSpPr>
          <p:cNvPr id="17" name="TextBox 16"/>
          <p:cNvSpPr txBox="1"/>
          <p:nvPr/>
        </p:nvSpPr>
        <p:spPr>
          <a:xfrm>
            <a:off x="1691640" y="4764023"/>
            <a:ext cx="4114800" cy="475488"/>
          </a:xfrm>
          <a:prstGeom prst="rect">
            <a:avLst/>
          </a:prstGeom>
          <a:noFill/>
        </p:spPr>
        <p:txBody>
          <a:bodyPr wrap="square">
            <a:spAutoFit/>
          </a:bodyPr>
          <a:lstStyle/>
          <a:p>
            <a:pPr algn="l"/>
            <a:r>
              <a:rPr sz="1250" b="0" i="0">
                <a:solidFill>
                  <a:srgbClr val="B0BCD4"/>
                </a:solidFill>
              </a:rPr>
              <a:t>Predicted reward at step t+k, computed inside the latent simulator</a:t>
            </a:r>
            <a:endParaRPr sz="1250" b="0" i="0">
              <a:solidFill>
                <a:srgbClr val="B0BCD4"/>
              </a:solidFill>
            </a:endParaRPr>
          </a:p>
        </p:txBody>
      </p:sp>
      <p:sp>
        <p:nvSpPr>
          <p:cNvPr id="18" name="Rectangle 17"/>
          <p:cNvSpPr/>
          <p:nvPr/>
        </p:nvSpPr>
        <p:spPr>
          <a:xfrm>
            <a:off x="6236207" y="4709159"/>
            <a:ext cx="5669280" cy="59436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45936" y="4764023"/>
            <a:ext cx="1280160" cy="475488"/>
          </a:xfrm>
          <a:prstGeom prst="rect">
            <a:avLst/>
          </a:prstGeom>
          <a:noFill/>
        </p:spPr>
        <p:txBody>
          <a:bodyPr wrap="square">
            <a:spAutoFit/>
          </a:bodyPr>
          <a:lstStyle/>
          <a:p>
            <a:pPr algn="l"/>
            <a:r>
              <a:rPr sz="1300" b="1" i="0">
                <a:solidFill>
                  <a:srgbClr val="C9A84C"/>
                </a:solidFill>
              </a:rPr>
              <a:t>H</a:t>
            </a:r>
            <a:endParaRPr sz="1300" b="1" i="0">
              <a:solidFill>
                <a:srgbClr val="C9A84C"/>
              </a:solidFill>
            </a:endParaRPr>
          </a:p>
        </p:txBody>
      </p:sp>
      <p:sp>
        <p:nvSpPr>
          <p:cNvPr id="20" name="TextBox 19"/>
          <p:cNvSpPr txBox="1"/>
          <p:nvPr/>
        </p:nvSpPr>
        <p:spPr>
          <a:xfrm>
            <a:off x="7653527" y="4764023"/>
            <a:ext cx="4114800" cy="475488"/>
          </a:xfrm>
          <a:prstGeom prst="rect">
            <a:avLst/>
          </a:prstGeom>
          <a:noFill/>
        </p:spPr>
        <p:txBody>
          <a:bodyPr wrap="square">
            <a:spAutoFit/>
          </a:bodyPr>
          <a:lstStyle/>
          <a:p>
            <a:pPr algn="l"/>
            <a:r>
              <a:rPr sz="1250" b="0" i="0">
                <a:solidFill>
                  <a:srgbClr val="B0BCD4"/>
                </a:solidFill>
              </a:rPr>
              <a:t>Planning horizon — number of simulated steps before real-world action</a:t>
            </a:r>
            <a:endParaRPr sz="1250" b="0" i="0">
              <a:solidFill>
                <a:srgbClr val="B0BCD4"/>
              </a:solidFill>
            </a:endParaRPr>
          </a:p>
        </p:txBody>
      </p:sp>
      <p:sp>
        <p:nvSpPr>
          <p:cNvPr id="21" name="Rectangle 20"/>
          <p:cNvSpPr/>
          <p:nvPr/>
        </p:nvSpPr>
        <p:spPr>
          <a:xfrm>
            <a:off x="274320" y="5440679"/>
            <a:ext cx="5669280" cy="59436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5495543"/>
            <a:ext cx="1280160" cy="475488"/>
          </a:xfrm>
          <a:prstGeom prst="rect">
            <a:avLst/>
          </a:prstGeom>
          <a:noFill/>
        </p:spPr>
        <p:txBody>
          <a:bodyPr wrap="square">
            <a:spAutoFit/>
          </a:bodyPr>
          <a:lstStyle/>
          <a:p>
            <a:pPr algn="l"/>
            <a:r>
              <a:rPr sz="1300" b="1" i="0">
                <a:solidFill>
                  <a:srgbClr val="C9A84C"/>
                </a:solidFill>
              </a:rPr>
              <a:t>V^ω</a:t>
            </a:r>
            <a:endParaRPr sz="1300" b="1" i="0">
              <a:solidFill>
                <a:srgbClr val="C9A84C"/>
              </a:solidFill>
            </a:endParaRPr>
          </a:p>
        </p:txBody>
      </p:sp>
      <p:sp>
        <p:nvSpPr>
          <p:cNvPr id="23" name="TextBox 22"/>
          <p:cNvSpPr txBox="1"/>
          <p:nvPr/>
        </p:nvSpPr>
        <p:spPr>
          <a:xfrm>
            <a:off x="1691640" y="5495543"/>
            <a:ext cx="4114800" cy="475488"/>
          </a:xfrm>
          <a:prstGeom prst="rect">
            <a:avLst/>
          </a:prstGeom>
          <a:noFill/>
        </p:spPr>
        <p:txBody>
          <a:bodyPr wrap="square">
            <a:spAutoFit/>
          </a:bodyPr>
          <a:lstStyle/>
          <a:p>
            <a:pPr algn="l"/>
            <a:r>
              <a:rPr sz="1250" b="0" i="0">
                <a:solidFill>
                  <a:srgbClr val="B0BCD4"/>
                </a:solidFill>
              </a:rPr>
              <a:t>Bootstrap value estimator at the end of the imagined rollout</a:t>
            </a:r>
            <a:endParaRPr sz="1250" b="0" i="0">
              <a:solidFill>
                <a:srgbClr val="B0BCD4"/>
              </a:solidFill>
            </a:endParaRPr>
          </a:p>
        </p:txBody>
      </p:sp>
      <p:sp>
        <p:nvSpPr>
          <p:cNvPr id="24" name="TextBox 23"/>
          <p:cNvSpPr txBox="1"/>
          <p:nvPr/>
        </p:nvSpPr>
        <p:spPr>
          <a:xfrm>
            <a:off x="274320" y="6446520"/>
            <a:ext cx="11612880" cy="365760"/>
          </a:xfrm>
          <a:prstGeom prst="rect">
            <a:avLst/>
          </a:prstGeom>
          <a:noFill/>
        </p:spPr>
        <p:txBody>
          <a:bodyPr wrap="square">
            <a:spAutoFit/>
          </a:bodyPr>
          <a:lstStyle/>
          <a:p>
            <a:pPr algn="ctr"/>
            <a:r>
              <a:rPr sz="1300" b="1" i="0">
                <a:solidFill>
                  <a:srgbClr val="4DD0E1"/>
                </a:solidFill>
              </a:rPr>
              <a:t>Before a robotic arm moves a single millimeter, it has already imagined thousands of futures inside its own simulator.</a:t>
            </a:r>
            <a:endParaRPr sz="1300" b="1" i="0">
              <a:solidFill>
                <a:srgbClr val="4DD0E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0D1A"/>
        </a:solidFill>
        <a:effectLst/>
      </p:bgPr>
    </p:bg>
    <p:spTree>
      <p:nvGrpSpPr>
        <p:cNvPr id="1" name=""/>
        <p:cNvGrpSpPr/>
        <p:nvPr/>
      </p:nvGrpSpPr>
      <p:grpSpPr/>
      <p:sp>
        <p:nvSpPr>
          <p:cNvPr id="2" name="Rectangle 1"/>
          <p:cNvSpPr/>
          <p:nvPr/>
        </p:nvSpPr>
        <p:spPr>
          <a:xfrm>
            <a:off x="182880" y="182880"/>
            <a:ext cx="2377440" cy="2926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070D1A"/>
                </a:solidFill>
              </a:rPr>
              <a:t>MODULE 2 · WORLD MODELS</a:t>
            </a:r>
            <a:endParaRPr sz="900" b="1">
              <a:solidFill>
                <a:srgbClr val="070D1A"/>
              </a:solidFill>
            </a:endParaRPr>
          </a:p>
        </p:txBody>
      </p:sp>
      <p:sp>
        <p:nvSpPr>
          <p:cNvPr id="3" name="TextBox 2"/>
          <p:cNvSpPr txBox="1"/>
          <p:nvPr/>
        </p:nvSpPr>
        <p:spPr>
          <a:xfrm>
            <a:off x="274320" y="566928"/>
            <a:ext cx="11430000" cy="822960"/>
          </a:xfrm>
          <a:prstGeom prst="rect">
            <a:avLst/>
          </a:prstGeom>
          <a:noFill/>
        </p:spPr>
        <p:txBody>
          <a:bodyPr wrap="square">
            <a:spAutoFit/>
          </a:bodyPr>
          <a:lstStyle/>
          <a:p>
            <a:pPr algn="l"/>
            <a:r>
              <a:rPr sz="3200" b="1" i="0">
                <a:solidFill>
                  <a:srgbClr val="FFFFFF"/>
                </a:solidFill>
              </a:rPr>
              <a:t>The Three Schools of World Modeling</a:t>
            </a:r>
            <a:endParaRPr sz="3200" b="1" i="0">
              <a:solidFill>
                <a:srgbClr val="FFFFFF"/>
              </a:solidFill>
            </a:endParaRPr>
          </a:p>
        </p:txBody>
      </p:sp>
      <p:sp>
        <p:nvSpPr>
          <p:cNvPr id="4" name="TextBox 3"/>
          <p:cNvSpPr txBox="1"/>
          <p:nvPr/>
        </p:nvSpPr>
        <p:spPr>
          <a:xfrm>
            <a:off x="274320" y="1298448"/>
            <a:ext cx="11430000" cy="365760"/>
          </a:xfrm>
          <a:prstGeom prst="rect">
            <a:avLst/>
          </a:prstGeom>
          <a:noFill/>
        </p:spPr>
        <p:txBody>
          <a:bodyPr wrap="square">
            <a:spAutoFit/>
          </a:bodyPr>
          <a:lstStyle/>
          <a:p>
            <a:pPr algn="l"/>
            <a:r>
              <a:rPr sz="1600" b="0" i="0">
                <a:solidFill>
                  <a:srgbClr val="C9A84C"/>
                </a:solidFill>
              </a:rPr>
              <a:t>A Comparative Matrix of Dominant Technical Architectures</a:t>
            </a:r>
            <a:endParaRPr sz="1600" b="0" i="0">
              <a:solidFill>
                <a:srgbClr val="C9A84C"/>
              </a:solidFill>
            </a:endParaRPr>
          </a:p>
        </p:txBody>
      </p:sp>
      <p:sp>
        <p:nvSpPr>
          <p:cNvPr id="5" name="Rectangle 4"/>
          <p:cNvSpPr/>
          <p:nvPr/>
        </p:nvSpPr>
        <p:spPr>
          <a:xfrm>
            <a:off x="150876" y="1755648"/>
            <a:ext cx="1188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920240"/>
            <a:ext cx="3840480" cy="466344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993392"/>
            <a:ext cx="3566160" cy="292608"/>
          </a:xfrm>
          <a:prstGeom prst="rect">
            <a:avLst/>
          </a:prstGeom>
          <a:noFill/>
        </p:spPr>
        <p:txBody>
          <a:bodyPr wrap="square">
            <a:spAutoFit/>
          </a:bodyPr>
          <a:lstStyle/>
          <a:p>
            <a:pPr algn="l"/>
            <a:r>
              <a:rPr sz="1000" b="1" i="0">
                <a:solidFill>
                  <a:srgbClr val="B0BCD4"/>
                </a:solidFill>
              </a:rPr>
              <a:t>School I</a:t>
            </a:r>
            <a:endParaRPr sz="1000" b="1" i="0">
              <a:solidFill>
                <a:srgbClr val="B0BCD4"/>
              </a:solidFill>
            </a:endParaRPr>
          </a:p>
        </p:txBody>
      </p:sp>
      <p:sp>
        <p:nvSpPr>
          <p:cNvPr id="8" name="TextBox 7"/>
          <p:cNvSpPr txBox="1"/>
          <p:nvPr/>
        </p:nvSpPr>
        <p:spPr>
          <a:xfrm>
            <a:off x="365760" y="2286000"/>
            <a:ext cx="3566160" cy="685800"/>
          </a:xfrm>
          <a:prstGeom prst="rect">
            <a:avLst/>
          </a:prstGeom>
          <a:noFill/>
        </p:spPr>
        <p:txBody>
          <a:bodyPr wrap="square">
            <a:spAutoFit/>
          </a:bodyPr>
          <a:lstStyle/>
          <a:p>
            <a:pPr algn="l"/>
            <a:r>
              <a:rPr sz="1800" b="1" i="0">
                <a:solidFill>
                  <a:srgbClr val="FFFFFF"/>
                </a:solidFill>
              </a:rPr>
              <a:t>Generative
Simulators</a:t>
            </a:r>
            <a:endParaRPr sz="1800" b="1" i="0">
              <a:solidFill>
                <a:srgbClr val="FFFFFF"/>
              </a:solidFill>
            </a:endParaRPr>
          </a:p>
        </p:txBody>
      </p:sp>
      <p:sp>
        <p:nvSpPr>
          <p:cNvPr id="9" name="TextBox 8"/>
          <p:cNvSpPr txBox="1"/>
          <p:nvPr/>
        </p:nvSpPr>
        <p:spPr>
          <a:xfrm>
            <a:off x="365760" y="2944368"/>
            <a:ext cx="3566160" cy="292608"/>
          </a:xfrm>
          <a:prstGeom prst="rect">
            <a:avLst/>
          </a:prstGeom>
          <a:noFill/>
        </p:spPr>
        <p:txBody>
          <a:bodyPr wrap="square">
            <a:spAutoFit/>
          </a:bodyPr>
          <a:lstStyle/>
          <a:p>
            <a:pPr algn="l"/>
            <a:r>
              <a:rPr sz="1100" b="0" i="0">
                <a:solidFill>
                  <a:srgbClr val="B0BCD4"/>
                </a:solidFill>
              </a:rPr>
              <a:t>The Renderer School</a:t>
            </a:r>
            <a:endParaRPr sz="1100" b="0" i="0">
              <a:solidFill>
                <a:srgbClr val="B0BCD4"/>
              </a:solidFill>
            </a:endParaRPr>
          </a:p>
        </p:txBody>
      </p:sp>
      <p:sp>
        <p:nvSpPr>
          <p:cNvPr id="10" name="TextBox 9"/>
          <p:cNvSpPr txBox="1"/>
          <p:nvPr/>
        </p:nvSpPr>
        <p:spPr>
          <a:xfrm>
            <a:off x="365760" y="3273552"/>
            <a:ext cx="3566160" cy="274320"/>
          </a:xfrm>
          <a:prstGeom prst="rect">
            <a:avLst/>
          </a:prstGeom>
          <a:noFill/>
        </p:spPr>
        <p:txBody>
          <a:bodyPr wrap="square">
            <a:spAutoFit/>
          </a:bodyPr>
          <a:lstStyle/>
          <a:p>
            <a:pPr algn="l"/>
            <a:r>
              <a:rPr sz="1100" b="0" i="0">
                <a:solidFill>
                  <a:srgbClr val="B0BCD4"/>
                </a:solidFill>
              </a:rPr>
              <a:t>Sora · Genie · Oasis</a:t>
            </a:r>
            <a:endParaRPr sz="1100" b="0" i="0">
              <a:solidFill>
                <a:srgbClr val="B0BCD4"/>
              </a:solidFill>
            </a:endParaRPr>
          </a:p>
        </p:txBody>
      </p:sp>
      <p:sp>
        <p:nvSpPr>
          <p:cNvPr id="11" name="TextBox 10"/>
          <p:cNvSpPr txBox="1"/>
          <p:nvPr/>
        </p:nvSpPr>
        <p:spPr>
          <a:xfrm>
            <a:off x="365760" y="3657600"/>
            <a:ext cx="749808" cy="347472"/>
          </a:xfrm>
          <a:prstGeom prst="rect">
            <a:avLst/>
          </a:prstGeom>
          <a:noFill/>
        </p:spPr>
        <p:txBody>
          <a:bodyPr wrap="square">
            <a:spAutoFit/>
          </a:bodyPr>
          <a:lstStyle/>
          <a:p>
            <a:pPr algn="l"/>
            <a:r>
              <a:rPr sz="1000" b="1" i="0">
                <a:solidFill>
                  <a:srgbClr val="B0BCD4"/>
                </a:solidFill>
              </a:rPr>
              <a:t>Core:</a:t>
            </a:r>
            <a:endParaRPr sz="1000" b="1" i="0">
              <a:solidFill>
                <a:srgbClr val="B0BCD4"/>
              </a:solidFill>
            </a:endParaRPr>
          </a:p>
        </p:txBody>
      </p:sp>
      <p:sp>
        <p:nvSpPr>
          <p:cNvPr id="12" name="TextBox 11"/>
          <p:cNvSpPr txBox="1"/>
          <p:nvPr/>
        </p:nvSpPr>
        <p:spPr>
          <a:xfrm>
            <a:off x="1133856" y="3657600"/>
            <a:ext cx="3017520" cy="594360"/>
          </a:xfrm>
          <a:prstGeom prst="rect">
            <a:avLst/>
          </a:prstGeom>
          <a:noFill/>
        </p:spPr>
        <p:txBody>
          <a:bodyPr wrap="square">
            <a:spAutoFit/>
          </a:bodyPr>
          <a:lstStyle/>
          <a:p>
            <a:pPr algn="l"/>
            <a:r>
              <a:rPr sz="1100" b="0" i="0">
                <a:solidFill>
                  <a:srgbClr val="B0BCD4"/>
                </a:solidFill>
              </a:rPr>
              <a:t>Pixel diffusion / autoregressive video generation</a:t>
            </a:r>
            <a:endParaRPr sz="1100" b="0" i="0">
              <a:solidFill>
                <a:srgbClr val="B0BCD4"/>
              </a:solidFill>
            </a:endParaRPr>
          </a:p>
        </p:txBody>
      </p:sp>
      <p:sp>
        <p:nvSpPr>
          <p:cNvPr id="13" name="TextBox 12"/>
          <p:cNvSpPr txBox="1"/>
          <p:nvPr/>
        </p:nvSpPr>
        <p:spPr>
          <a:xfrm>
            <a:off x="365760" y="4315968"/>
            <a:ext cx="749808" cy="347472"/>
          </a:xfrm>
          <a:prstGeom prst="rect">
            <a:avLst/>
          </a:prstGeom>
          <a:noFill/>
        </p:spPr>
        <p:txBody>
          <a:bodyPr wrap="square">
            <a:spAutoFit/>
          </a:bodyPr>
          <a:lstStyle/>
          <a:p>
            <a:pPr algn="l"/>
            <a:r>
              <a:rPr sz="1000" b="1" i="0">
                <a:solidFill>
                  <a:srgbClr val="B0BCD4"/>
                </a:solidFill>
              </a:rPr>
              <a:t>Strength:</a:t>
            </a:r>
            <a:endParaRPr sz="1000" b="1" i="0">
              <a:solidFill>
                <a:srgbClr val="B0BCD4"/>
              </a:solidFill>
            </a:endParaRPr>
          </a:p>
        </p:txBody>
      </p:sp>
      <p:sp>
        <p:nvSpPr>
          <p:cNvPr id="14" name="TextBox 13"/>
          <p:cNvSpPr txBox="1"/>
          <p:nvPr/>
        </p:nvSpPr>
        <p:spPr>
          <a:xfrm>
            <a:off x="1133856" y="4315968"/>
            <a:ext cx="3017520" cy="594360"/>
          </a:xfrm>
          <a:prstGeom prst="rect">
            <a:avLst/>
          </a:prstGeom>
          <a:noFill/>
        </p:spPr>
        <p:txBody>
          <a:bodyPr wrap="square">
            <a:spAutoFit/>
          </a:bodyPr>
          <a:lstStyle/>
          <a:p>
            <a:pPr algn="l"/>
            <a:r>
              <a:rPr sz="1100" b="0" i="0">
                <a:solidFill>
                  <a:srgbClr val="B0BCD4"/>
                </a:solidFill>
              </a:rPr>
              <a:t>Photorealistic output; captures surface appearance</a:t>
            </a:r>
            <a:endParaRPr sz="1100" b="0" i="0">
              <a:solidFill>
                <a:srgbClr val="B0BCD4"/>
              </a:solidFill>
            </a:endParaRPr>
          </a:p>
        </p:txBody>
      </p:sp>
      <p:sp>
        <p:nvSpPr>
          <p:cNvPr id="15" name="TextBox 14"/>
          <p:cNvSpPr txBox="1"/>
          <p:nvPr/>
        </p:nvSpPr>
        <p:spPr>
          <a:xfrm>
            <a:off x="365760" y="4974336"/>
            <a:ext cx="749808" cy="347472"/>
          </a:xfrm>
          <a:prstGeom prst="rect">
            <a:avLst/>
          </a:prstGeom>
          <a:noFill/>
        </p:spPr>
        <p:txBody>
          <a:bodyPr wrap="square">
            <a:spAutoFit/>
          </a:bodyPr>
          <a:lstStyle/>
          <a:p>
            <a:pPr algn="l"/>
            <a:r>
              <a:rPr sz="1000" b="1" i="0">
                <a:solidFill>
                  <a:srgbClr val="B0BCD4"/>
                </a:solidFill>
              </a:rPr>
              <a:t>Flaw:</a:t>
            </a:r>
            <a:endParaRPr sz="1000" b="1" i="0">
              <a:solidFill>
                <a:srgbClr val="B0BCD4"/>
              </a:solidFill>
            </a:endParaRPr>
          </a:p>
        </p:txBody>
      </p:sp>
      <p:sp>
        <p:nvSpPr>
          <p:cNvPr id="16" name="TextBox 15"/>
          <p:cNvSpPr txBox="1"/>
          <p:nvPr/>
        </p:nvSpPr>
        <p:spPr>
          <a:xfrm>
            <a:off x="1133856" y="4974336"/>
            <a:ext cx="3017520" cy="594360"/>
          </a:xfrm>
          <a:prstGeom prst="rect">
            <a:avLst/>
          </a:prstGeom>
          <a:noFill/>
        </p:spPr>
        <p:txBody>
          <a:bodyPr wrap="square">
            <a:spAutoFit/>
          </a:bodyPr>
          <a:lstStyle/>
          <a:p>
            <a:pPr algn="l"/>
            <a:r>
              <a:rPr sz="1100" b="0" i="0">
                <a:solidFill>
                  <a:srgbClr val="B0BCD4"/>
                </a:solidFill>
              </a:rPr>
              <a:t>Physics learned only incidentally. High hallucination rate. Executability gap.</a:t>
            </a:r>
            <a:endParaRPr sz="1100" b="0" i="0">
              <a:solidFill>
                <a:srgbClr val="B0BCD4"/>
              </a:solidFill>
            </a:endParaRPr>
          </a:p>
        </p:txBody>
      </p:sp>
      <p:sp>
        <p:nvSpPr>
          <p:cNvPr id="17" name="Rectangle 16"/>
          <p:cNvSpPr/>
          <p:nvPr/>
        </p:nvSpPr>
        <p:spPr>
          <a:xfrm>
            <a:off x="292608" y="6053328"/>
            <a:ext cx="3657600" cy="384048"/>
          </a:xfrm>
          <a:prstGeom prst="rect">
            <a:avLst/>
          </a:prstGeom>
          <a:solidFill>
            <a:srgbClr val="07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8328" y="6080760"/>
            <a:ext cx="3566160" cy="347472"/>
          </a:xfrm>
          <a:prstGeom prst="rect">
            <a:avLst/>
          </a:prstGeom>
          <a:noFill/>
        </p:spPr>
        <p:txBody>
          <a:bodyPr wrap="square">
            <a:spAutoFit/>
          </a:bodyPr>
          <a:lstStyle/>
          <a:p>
            <a:pPr algn="l"/>
            <a:r>
              <a:rPr sz="1100" b="1" i="0">
                <a:solidFill>
                  <a:srgbClr val="B0BCD4"/>
                </a:solidFill>
              </a:rPr>
              <a:t>❌  NOT suitable for industrial deployment</a:t>
            </a:r>
            <a:endParaRPr sz="1100" b="1" i="0">
              <a:solidFill>
                <a:srgbClr val="B0BCD4"/>
              </a:solidFill>
            </a:endParaRPr>
          </a:p>
        </p:txBody>
      </p:sp>
      <p:sp>
        <p:nvSpPr>
          <p:cNvPr id="19" name="Rectangle 18"/>
          <p:cNvSpPr/>
          <p:nvPr/>
        </p:nvSpPr>
        <p:spPr>
          <a:xfrm>
            <a:off x="4206240" y="1920240"/>
            <a:ext cx="3840480" cy="466344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70831" y="1993392"/>
            <a:ext cx="3566160" cy="292608"/>
          </a:xfrm>
          <a:prstGeom prst="rect">
            <a:avLst/>
          </a:prstGeom>
          <a:noFill/>
        </p:spPr>
        <p:txBody>
          <a:bodyPr wrap="square">
            <a:spAutoFit/>
          </a:bodyPr>
          <a:lstStyle/>
          <a:p>
            <a:pPr algn="l"/>
            <a:r>
              <a:rPr sz="1000" b="1" i="0">
                <a:solidFill>
                  <a:srgbClr val="4DD0E1"/>
                </a:solidFill>
              </a:rPr>
              <a:t>School II</a:t>
            </a:r>
            <a:endParaRPr sz="1000" b="1" i="0">
              <a:solidFill>
                <a:srgbClr val="4DD0E1"/>
              </a:solidFill>
            </a:endParaRPr>
          </a:p>
        </p:txBody>
      </p:sp>
      <p:sp>
        <p:nvSpPr>
          <p:cNvPr id="21" name="TextBox 20"/>
          <p:cNvSpPr txBox="1"/>
          <p:nvPr/>
        </p:nvSpPr>
        <p:spPr>
          <a:xfrm>
            <a:off x="4370831" y="2286000"/>
            <a:ext cx="3566160" cy="685800"/>
          </a:xfrm>
          <a:prstGeom prst="rect">
            <a:avLst/>
          </a:prstGeom>
          <a:noFill/>
        </p:spPr>
        <p:txBody>
          <a:bodyPr wrap="square">
            <a:spAutoFit/>
          </a:bodyPr>
          <a:lstStyle/>
          <a:p>
            <a:pPr algn="l"/>
            <a:r>
              <a:rPr sz="1800" b="1" i="0">
                <a:solidFill>
                  <a:srgbClr val="FFFFFF"/>
                </a:solidFill>
              </a:rPr>
              <a:t>Latent / JEPA
Models</a:t>
            </a:r>
            <a:endParaRPr sz="1800" b="1" i="0">
              <a:solidFill>
                <a:srgbClr val="FFFFFF"/>
              </a:solidFill>
            </a:endParaRPr>
          </a:p>
        </p:txBody>
      </p:sp>
      <p:sp>
        <p:nvSpPr>
          <p:cNvPr id="22" name="TextBox 21"/>
          <p:cNvSpPr txBox="1"/>
          <p:nvPr/>
        </p:nvSpPr>
        <p:spPr>
          <a:xfrm>
            <a:off x="4370831" y="2944368"/>
            <a:ext cx="3566160" cy="292608"/>
          </a:xfrm>
          <a:prstGeom prst="rect">
            <a:avLst/>
          </a:prstGeom>
          <a:noFill/>
        </p:spPr>
        <p:txBody>
          <a:bodyPr wrap="square">
            <a:spAutoFit/>
          </a:bodyPr>
          <a:lstStyle/>
          <a:p>
            <a:pPr algn="l"/>
            <a:r>
              <a:rPr sz="1100" b="0" i="0">
                <a:solidFill>
                  <a:srgbClr val="4DD0E1"/>
                </a:solidFill>
              </a:rPr>
              <a:t>The Efficiency School</a:t>
            </a:r>
            <a:endParaRPr sz="1100" b="0" i="0">
              <a:solidFill>
                <a:srgbClr val="4DD0E1"/>
              </a:solidFill>
            </a:endParaRPr>
          </a:p>
        </p:txBody>
      </p:sp>
      <p:sp>
        <p:nvSpPr>
          <p:cNvPr id="23" name="TextBox 22"/>
          <p:cNvSpPr txBox="1"/>
          <p:nvPr/>
        </p:nvSpPr>
        <p:spPr>
          <a:xfrm>
            <a:off x="4370831" y="3273552"/>
            <a:ext cx="3566160" cy="274320"/>
          </a:xfrm>
          <a:prstGeom prst="rect">
            <a:avLst/>
          </a:prstGeom>
          <a:noFill/>
        </p:spPr>
        <p:txBody>
          <a:bodyPr wrap="square">
            <a:spAutoFit/>
          </a:bodyPr>
          <a:lstStyle/>
          <a:p>
            <a:pPr algn="l"/>
            <a:r>
              <a:rPr sz="1100" b="0" i="0">
                <a:solidFill>
                  <a:srgbClr val="B0BCD4"/>
                </a:solidFill>
              </a:rPr>
              <a:t>V-JEPA · DreamerV3</a:t>
            </a:r>
            <a:endParaRPr sz="1100" b="0" i="0">
              <a:solidFill>
                <a:srgbClr val="B0BCD4"/>
              </a:solidFill>
            </a:endParaRPr>
          </a:p>
        </p:txBody>
      </p:sp>
      <p:sp>
        <p:nvSpPr>
          <p:cNvPr id="24" name="TextBox 23"/>
          <p:cNvSpPr txBox="1"/>
          <p:nvPr/>
        </p:nvSpPr>
        <p:spPr>
          <a:xfrm>
            <a:off x="4370831" y="3657600"/>
            <a:ext cx="749808" cy="347472"/>
          </a:xfrm>
          <a:prstGeom prst="rect">
            <a:avLst/>
          </a:prstGeom>
          <a:noFill/>
        </p:spPr>
        <p:txBody>
          <a:bodyPr wrap="square">
            <a:spAutoFit/>
          </a:bodyPr>
          <a:lstStyle/>
          <a:p>
            <a:pPr algn="l"/>
            <a:r>
              <a:rPr sz="1000" b="1" i="0">
                <a:solidFill>
                  <a:srgbClr val="4DD0E1"/>
                </a:solidFill>
              </a:rPr>
              <a:t>Core:</a:t>
            </a:r>
            <a:endParaRPr sz="1000" b="1" i="0">
              <a:solidFill>
                <a:srgbClr val="4DD0E1"/>
              </a:solidFill>
            </a:endParaRPr>
          </a:p>
        </p:txBody>
      </p:sp>
      <p:sp>
        <p:nvSpPr>
          <p:cNvPr id="25" name="TextBox 24"/>
          <p:cNvSpPr txBox="1"/>
          <p:nvPr/>
        </p:nvSpPr>
        <p:spPr>
          <a:xfrm>
            <a:off x="5138927" y="3657600"/>
            <a:ext cx="3017520" cy="594360"/>
          </a:xfrm>
          <a:prstGeom prst="rect">
            <a:avLst/>
          </a:prstGeom>
          <a:noFill/>
        </p:spPr>
        <p:txBody>
          <a:bodyPr wrap="square">
            <a:spAutoFit/>
          </a:bodyPr>
          <a:lstStyle/>
          <a:p>
            <a:pPr algn="l"/>
            <a:r>
              <a:rPr sz="1100" b="0" i="0">
                <a:solidFill>
                  <a:srgbClr val="B0BCD4"/>
                </a:solidFill>
              </a:rPr>
              <a:t>Energy-based latent prediction (no pixel reconstruction)</a:t>
            </a:r>
            <a:endParaRPr sz="1100" b="0" i="0">
              <a:solidFill>
                <a:srgbClr val="B0BCD4"/>
              </a:solidFill>
            </a:endParaRPr>
          </a:p>
        </p:txBody>
      </p:sp>
      <p:sp>
        <p:nvSpPr>
          <p:cNvPr id="26" name="TextBox 25"/>
          <p:cNvSpPr txBox="1"/>
          <p:nvPr/>
        </p:nvSpPr>
        <p:spPr>
          <a:xfrm>
            <a:off x="4370831" y="4315968"/>
            <a:ext cx="749808" cy="347472"/>
          </a:xfrm>
          <a:prstGeom prst="rect">
            <a:avLst/>
          </a:prstGeom>
          <a:noFill/>
        </p:spPr>
        <p:txBody>
          <a:bodyPr wrap="square">
            <a:spAutoFit/>
          </a:bodyPr>
          <a:lstStyle/>
          <a:p>
            <a:pPr algn="l"/>
            <a:r>
              <a:rPr sz="1000" b="1" i="0">
                <a:solidFill>
                  <a:srgbClr val="4DD0E1"/>
                </a:solidFill>
              </a:rPr>
              <a:t>Strength:</a:t>
            </a:r>
            <a:endParaRPr sz="1000" b="1" i="0">
              <a:solidFill>
                <a:srgbClr val="4DD0E1"/>
              </a:solidFill>
            </a:endParaRPr>
          </a:p>
        </p:txBody>
      </p:sp>
      <p:sp>
        <p:nvSpPr>
          <p:cNvPr id="27" name="TextBox 26"/>
          <p:cNvSpPr txBox="1"/>
          <p:nvPr/>
        </p:nvSpPr>
        <p:spPr>
          <a:xfrm>
            <a:off x="5138927" y="4315968"/>
            <a:ext cx="3017520" cy="594360"/>
          </a:xfrm>
          <a:prstGeom prst="rect">
            <a:avLst/>
          </a:prstGeom>
          <a:noFill/>
        </p:spPr>
        <p:txBody>
          <a:bodyPr wrap="square">
            <a:spAutoFit/>
          </a:bodyPr>
          <a:lstStyle/>
          <a:p>
            <a:pPr algn="l"/>
            <a:r>
              <a:rPr sz="1100" b="0" i="0">
                <a:solidFill>
                  <a:srgbClr val="B0BCD4"/>
                </a:solidFill>
              </a:rPr>
              <a:t>High data efficiency. Sub-5ms control latency.</a:t>
            </a:r>
            <a:endParaRPr sz="1100" b="0" i="0">
              <a:solidFill>
                <a:srgbClr val="B0BCD4"/>
              </a:solidFill>
            </a:endParaRPr>
          </a:p>
        </p:txBody>
      </p:sp>
      <p:sp>
        <p:nvSpPr>
          <p:cNvPr id="28" name="TextBox 27"/>
          <p:cNvSpPr txBox="1"/>
          <p:nvPr/>
        </p:nvSpPr>
        <p:spPr>
          <a:xfrm>
            <a:off x="4370831" y="4974336"/>
            <a:ext cx="749808" cy="347472"/>
          </a:xfrm>
          <a:prstGeom prst="rect">
            <a:avLst/>
          </a:prstGeom>
          <a:noFill/>
        </p:spPr>
        <p:txBody>
          <a:bodyPr wrap="square">
            <a:spAutoFit/>
          </a:bodyPr>
          <a:lstStyle/>
          <a:p>
            <a:pPr algn="l"/>
            <a:r>
              <a:rPr sz="1000" b="1" i="0">
                <a:solidFill>
                  <a:srgbClr val="4DD0E1"/>
                </a:solidFill>
              </a:rPr>
              <a:t>Flaw:</a:t>
            </a:r>
            <a:endParaRPr sz="1000" b="1" i="0">
              <a:solidFill>
                <a:srgbClr val="4DD0E1"/>
              </a:solidFill>
            </a:endParaRPr>
          </a:p>
        </p:txBody>
      </p:sp>
      <p:sp>
        <p:nvSpPr>
          <p:cNvPr id="29" name="TextBox 28"/>
          <p:cNvSpPr txBox="1"/>
          <p:nvPr/>
        </p:nvSpPr>
        <p:spPr>
          <a:xfrm>
            <a:off x="5138927" y="4974336"/>
            <a:ext cx="3017520" cy="594360"/>
          </a:xfrm>
          <a:prstGeom prst="rect">
            <a:avLst/>
          </a:prstGeom>
          <a:noFill/>
        </p:spPr>
        <p:txBody>
          <a:bodyPr wrap="square">
            <a:spAutoFit/>
          </a:bodyPr>
          <a:lstStyle/>
          <a:p>
            <a:pPr algn="l"/>
            <a:r>
              <a:rPr sz="1100" b="0" i="0">
                <a:solidFill>
                  <a:srgbClr val="B0BCD4"/>
                </a:solidFill>
              </a:rPr>
              <a:t>Semantic drift over long horizons. Limited 3D geometric awareness.</a:t>
            </a:r>
            <a:endParaRPr sz="1100" b="0" i="0">
              <a:solidFill>
                <a:srgbClr val="B0BCD4"/>
              </a:solidFill>
            </a:endParaRPr>
          </a:p>
        </p:txBody>
      </p:sp>
      <p:sp>
        <p:nvSpPr>
          <p:cNvPr id="30" name="Rectangle 29"/>
          <p:cNvSpPr/>
          <p:nvPr/>
        </p:nvSpPr>
        <p:spPr>
          <a:xfrm>
            <a:off x="4297679" y="6053328"/>
            <a:ext cx="3657600" cy="384048"/>
          </a:xfrm>
          <a:prstGeom prst="rect">
            <a:avLst/>
          </a:prstGeom>
          <a:solidFill>
            <a:srgbClr val="07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43400" y="6080760"/>
            <a:ext cx="3566160" cy="347472"/>
          </a:xfrm>
          <a:prstGeom prst="rect">
            <a:avLst/>
          </a:prstGeom>
          <a:noFill/>
        </p:spPr>
        <p:txBody>
          <a:bodyPr wrap="square">
            <a:spAutoFit/>
          </a:bodyPr>
          <a:lstStyle/>
          <a:p>
            <a:pPr algn="l"/>
            <a:r>
              <a:rPr sz="1100" b="1" i="0">
                <a:solidFill>
                  <a:srgbClr val="4DD0E1"/>
                </a:solidFill>
              </a:rPr>
              <a:t>✓  Suitable for low-latency robotic control</a:t>
            </a:r>
            <a:endParaRPr sz="1100" b="1" i="0">
              <a:solidFill>
                <a:srgbClr val="4DD0E1"/>
              </a:solidFill>
            </a:endParaRPr>
          </a:p>
        </p:txBody>
      </p:sp>
      <p:sp>
        <p:nvSpPr>
          <p:cNvPr id="32" name="Rectangle 31"/>
          <p:cNvSpPr/>
          <p:nvPr/>
        </p:nvSpPr>
        <p:spPr>
          <a:xfrm>
            <a:off x="8211312" y="1920240"/>
            <a:ext cx="3840480" cy="466344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11312" y="1920240"/>
            <a:ext cx="73152" cy="46634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75904" y="1993392"/>
            <a:ext cx="3566160" cy="292608"/>
          </a:xfrm>
          <a:prstGeom prst="rect">
            <a:avLst/>
          </a:prstGeom>
          <a:noFill/>
        </p:spPr>
        <p:txBody>
          <a:bodyPr wrap="square">
            <a:spAutoFit/>
          </a:bodyPr>
          <a:lstStyle/>
          <a:p>
            <a:pPr algn="l"/>
            <a:r>
              <a:rPr sz="1000" b="1" i="0">
                <a:solidFill>
                  <a:srgbClr val="C9A84C"/>
                </a:solidFill>
              </a:rPr>
              <a:t>School III</a:t>
            </a:r>
            <a:endParaRPr sz="1000" b="1" i="0">
              <a:solidFill>
                <a:srgbClr val="C9A84C"/>
              </a:solidFill>
            </a:endParaRPr>
          </a:p>
        </p:txBody>
      </p:sp>
      <p:sp>
        <p:nvSpPr>
          <p:cNvPr id="35" name="TextBox 34"/>
          <p:cNvSpPr txBox="1"/>
          <p:nvPr/>
        </p:nvSpPr>
        <p:spPr>
          <a:xfrm>
            <a:off x="8375904" y="2286000"/>
            <a:ext cx="3566160" cy="685800"/>
          </a:xfrm>
          <a:prstGeom prst="rect">
            <a:avLst/>
          </a:prstGeom>
          <a:noFill/>
        </p:spPr>
        <p:txBody>
          <a:bodyPr wrap="square">
            <a:spAutoFit/>
          </a:bodyPr>
          <a:lstStyle/>
          <a:p>
            <a:pPr algn="l"/>
            <a:r>
              <a:rPr sz="1800" b="1" i="0">
                <a:solidFill>
                  <a:srgbClr val="FFFFFF"/>
                </a:solidFill>
              </a:rPr>
              <a:t>Spatial /
Engineered</a:t>
            </a:r>
            <a:endParaRPr sz="1800" b="1" i="0">
              <a:solidFill>
                <a:srgbClr val="FFFFFF"/>
              </a:solidFill>
            </a:endParaRPr>
          </a:p>
        </p:txBody>
      </p:sp>
      <p:sp>
        <p:nvSpPr>
          <p:cNvPr id="36" name="TextBox 35"/>
          <p:cNvSpPr txBox="1"/>
          <p:nvPr/>
        </p:nvSpPr>
        <p:spPr>
          <a:xfrm>
            <a:off x="8375904" y="2944368"/>
            <a:ext cx="3566160" cy="292608"/>
          </a:xfrm>
          <a:prstGeom prst="rect">
            <a:avLst/>
          </a:prstGeom>
          <a:noFill/>
        </p:spPr>
        <p:txBody>
          <a:bodyPr wrap="square">
            <a:spAutoFit/>
          </a:bodyPr>
          <a:lstStyle/>
          <a:p>
            <a:pPr algn="l"/>
            <a:r>
              <a:rPr sz="1100" b="0" i="0">
                <a:solidFill>
                  <a:srgbClr val="C9A84C"/>
                </a:solidFill>
              </a:rPr>
              <a:t>The Industrial School</a:t>
            </a:r>
            <a:endParaRPr sz="1100" b="0" i="0">
              <a:solidFill>
                <a:srgbClr val="C9A84C"/>
              </a:solidFill>
            </a:endParaRPr>
          </a:p>
        </p:txBody>
      </p:sp>
      <p:sp>
        <p:nvSpPr>
          <p:cNvPr id="37" name="TextBox 36"/>
          <p:cNvSpPr txBox="1"/>
          <p:nvPr/>
        </p:nvSpPr>
        <p:spPr>
          <a:xfrm>
            <a:off x="8375904" y="3273552"/>
            <a:ext cx="3566160" cy="274320"/>
          </a:xfrm>
          <a:prstGeom prst="rect">
            <a:avLst/>
          </a:prstGeom>
          <a:noFill/>
        </p:spPr>
        <p:txBody>
          <a:bodyPr wrap="square">
            <a:spAutoFit/>
          </a:bodyPr>
          <a:lstStyle/>
          <a:p>
            <a:pPr algn="l"/>
            <a:r>
              <a:rPr sz="1100" b="0" i="0">
                <a:solidFill>
                  <a:srgbClr val="B0BCD4"/>
                </a:solidFill>
              </a:rPr>
              <a:t>Tesla Occ. Nets · NVIDIA Cosmos/Isaac</a:t>
            </a:r>
            <a:endParaRPr sz="1100" b="0" i="0">
              <a:solidFill>
                <a:srgbClr val="B0BCD4"/>
              </a:solidFill>
            </a:endParaRPr>
          </a:p>
        </p:txBody>
      </p:sp>
      <p:sp>
        <p:nvSpPr>
          <p:cNvPr id="38" name="TextBox 37"/>
          <p:cNvSpPr txBox="1"/>
          <p:nvPr/>
        </p:nvSpPr>
        <p:spPr>
          <a:xfrm>
            <a:off x="8375904" y="3657600"/>
            <a:ext cx="749808" cy="347472"/>
          </a:xfrm>
          <a:prstGeom prst="rect">
            <a:avLst/>
          </a:prstGeom>
          <a:noFill/>
        </p:spPr>
        <p:txBody>
          <a:bodyPr wrap="square">
            <a:spAutoFit/>
          </a:bodyPr>
          <a:lstStyle/>
          <a:p>
            <a:pPr algn="l"/>
            <a:r>
              <a:rPr sz="1000" b="1" i="0">
                <a:solidFill>
                  <a:srgbClr val="C9A84C"/>
                </a:solidFill>
              </a:rPr>
              <a:t>Core:</a:t>
            </a:r>
            <a:endParaRPr sz="1000" b="1" i="0">
              <a:solidFill>
                <a:srgbClr val="C9A84C"/>
              </a:solidFill>
            </a:endParaRPr>
          </a:p>
        </p:txBody>
      </p:sp>
      <p:sp>
        <p:nvSpPr>
          <p:cNvPr id="39" name="TextBox 38"/>
          <p:cNvSpPr txBox="1"/>
          <p:nvPr/>
        </p:nvSpPr>
        <p:spPr>
          <a:xfrm>
            <a:off x="9144000" y="3657600"/>
            <a:ext cx="3017520" cy="594360"/>
          </a:xfrm>
          <a:prstGeom prst="rect">
            <a:avLst/>
          </a:prstGeom>
          <a:noFill/>
        </p:spPr>
        <p:txBody>
          <a:bodyPr wrap="square">
            <a:spAutoFit/>
          </a:bodyPr>
          <a:lstStyle/>
          <a:p>
            <a:pPr algn="l"/>
            <a:r>
              <a:rPr sz="1100" b="0" i="0">
                <a:solidFill>
                  <a:srgbClr val="B0BCD4"/>
                </a:solidFill>
              </a:rPr>
              <a:t>4D voxel occupancy grids + Physics-Informed Neural Networks</a:t>
            </a:r>
            <a:endParaRPr sz="1100" b="0" i="0">
              <a:solidFill>
                <a:srgbClr val="B0BCD4"/>
              </a:solidFill>
            </a:endParaRPr>
          </a:p>
        </p:txBody>
      </p:sp>
      <p:sp>
        <p:nvSpPr>
          <p:cNvPr id="40" name="TextBox 39"/>
          <p:cNvSpPr txBox="1"/>
          <p:nvPr/>
        </p:nvSpPr>
        <p:spPr>
          <a:xfrm>
            <a:off x="8375904" y="4315968"/>
            <a:ext cx="749808" cy="347472"/>
          </a:xfrm>
          <a:prstGeom prst="rect">
            <a:avLst/>
          </a:prstGeom>
          <a:noFill/>
        </p:spPr>
        <p:txBody>
          <a:bodyPr wrap="square">
            <a:spAutoFit/>
          </a:bodyPr>
          <a:lstStyle/>
          <a:p>
            <a:pPr algn="l"/>
            <a:r>
              <a:rPr sz="1000" b="1" i="0">
                <a:solidFill>
                  <a:srgbClr val="C9A84C"/>
                </a:solidFill>
              </a:rPr>
              <a:t>Strength:</a:t>
            </a:r>
            <a:endParaRPr sz="1000" b="1" i="0">
              <a:solidFill>
                <a:srgbClr val="C9A84C"/>
              </a:solidFill>
            </a:endParaRPr>
          </a:p>
        </p:txBody>
      </p:sp>
      <p:sp>
        <p:nvSpPr>
          <p:cNvPr id="41" name="TextBox 40"/>
          <p:cNvSpPr txBox="1"/>
          <p:nvPr/>
        </p:nvSpPr>
        <p:spPr>
          <a:xfrm>
            <a:off x="9144000" y="4315968"/>
            <a:ext cx="3017520" cy="594360"/>
          </a:xfrm>
          <a:prstGeom prst="rect">
            <a:avLst/>
          </a:prstGeom>
          <a:noFill/>
        </p:spPr>
        <p:txBody>
          <a:bodyPr wrap="square">
            <a:spAutoFit/>
          </a:bodyPr>
          <a:lstStyle/>
          <a:p>
            <a:pPr algn="l"/>
            <a:r>
              <a:rPr sz="1100" b="0" i="0">
                <a:solidFill>
                  <a:srgbClr val="B0BCD4"/>
                </a:solidFill>
              </a:rPr>
              <a:t>Explicit physics constraints. Formally verifiable. Zero-shot transfer.</a:t>
            </a:r>
            <a:endParaRPr sz="1100" b="0" i="0">
              <a:solidFill>
                <a:srgbClr val="B0BCD4"/>
              </a:solidFill>
            </a:endParaRPr>
          </a:p>
        </p:txBody>
      </p:sp>
      <p:sp>
        <p:nvSpPr>
          <p:cNvPr id="42" name="TextBox 41"/>
          <p:cNvSpPr txBox="1"/>
          <p:nvPr/>
        </p:nvSpPr>
        <p:spPr>
          <a:xfrm>
            <a:off x="8375904" y="4974336"/>
            <a:ext cx="749808" cy="347472"/>
          </a:xfrm>
          <a:prstGeom prst="rect">
            <a:avLst/>
          </a:prstGeom>
          <a:noFill/>
        </p:spPr>
        <p:txBody>
          <a:bodyPr wrap="square">
            <a:spAutoFit/>
          </a:bodyPr>
          <a:lstStyle/>
          <a:p>
            <a:pPr algn="l"/>
            <a:r>
              <a:rPr sz="1000" b="1" i="0">
                <a:solidFill>
                  <a:srgbClr val="C9A84C"/>
                </a:solidFill>
              </a:rPr>
              <a:t>Flaw:</a:t>
            </a:r>
            <a:endParaRPr sz="1000" b="1" i="0">
              <a:solidFill>
                <a:srgbClr val="C9A84C"/>
              </a:solidFill>
            </a:endParaRPr>
          </a:p>
        </p:txBody>
      </p:sp>
      <p:sp>
        <p:nvSpPr>
          <p:cNvPr id="43" name="TextBox 42"/>
          <p:cNvSpPr txBox="1"/>
          <p:nvPr/>
        </p:nvSpPr>
        <p:spPr>
          <a:xfrm>
            <a:off x="9144000" y="4974336"/>
            <a:ext cx="3017520" cy="594360"/>
          </a:xfrm>
          <a:prstGeom prst="rect">
            <a:avLst/>
          </a:prstGeom>
          <a:noFill/>
        </p:spPr>
        <p:txBody>
          <a:bodyPr wrap="square">
            <a:spAutoFit/>
          </a:bodyPr>
          <a:lstStyle/>
          <a:p>
            <a:pPr algn="l"/>
            <a:r>
              <a:rPr sz="1100" b="0" i="0">
                <a:solidFill>
                  <a:srgbClr val="B0BCD4"/>
                </a:solidFill>
              </a:rPr>
              <a:t>High compute overhead. Requires calibrated sensor rigs.</a:t>
            </a:r>
            <a:endParaRPr sz="1100" b="0" i="0">
              <a:solidFill>
                <a:srgbClr val="B0BCD4"/>
              </a:solidFill>
            </a:endParaRPr>
          </a:p>
        </p:txBody>
      </p:sp>
      <p:sp>
        <p:nvSpPr>
          <p:cNvPr id="44" name="Rectangle 43"/>
          <p:cNvSpPr/>
          <p:nvPr/>
        </p:nvSpPr>
        <p:spPr>
          <a:xfrm>
            <a:off x="8302752" y="6053328"/>
            <a:ext cx="3657600" cy="384048"/>
          </a:xfrm>
          <a:prstGeom prst="rect">
            <a:avLst/>
          </a:prstGeom>
          <a:solidFill>
            <a:srgbClr val="07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48472" y="6080760"/>
            <a:ext cx="3566160" cy="347472"/>
          </a:xfrm>
          <a:prstGeom prst="rect">
            <a:avLst/>
          </a:prstGeom>
          <a:noFill/>
        </p:spPr>
        <p:txBody>
          <a:bodyPr wrap="square">
            <a:spAutoFit/>
          </a:bodyPr>
          <a:lstStyle/>
          <a:p>
            <a:pPr algn="l"/>
            <a:r>
              <a:rPr sz="1100" b="1" i="0">
                <a:solidFill>
                  <a:srgbClr val="C9A84C"/>
                </a:solidFill>
              </a:rPr>
              <a:t>★  PRIMARY CHOICE for $100M deployment</a:t>
            </a:r>
            <a:endParaRPr sz="1100" b="1" i="0">
              <a:solidFill>
                <a:srgbClr val="C9A84C"/>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0D1A"/>
        </a:solidFill>
        <a:effectLst/>
      </p:bgPr>
    </p:bg>
    <p:spTree>
      <p:nvGrpSpPr>
        <p:cNvPr id="1" name=""/>
        <p:cNvGrpSpPr/>
        <p:nvPr/>
      </p:nvGrpSpPr>
      <p:grpSpPr/>
      <p:sp>
        <p:nvSpPr>
          <p:cNvPr id="2" name="Rectangle 1"/>
          <p:cNvSpPr/>
          <p:nvPr/>
        </p:nvSpPr>
        <p:spPr>
          <a:xfrm>
            <a:off x="182880" y="182880"/>
            <a:ext cx="2377440" cy="2926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070D1A"/>
                </a:solidFill>
              </a:rPr>
              <a:t>MODULE 2 · WORLD MODELS</a:t>
            </a:r>
            <a:endParaRPr sz="900" b="1">
              <a:solidFill>
                <a:srgbClr val="070D1A"/>
              </a:solidFill>
            </a:endParaRPr>
          </a:p>
        </p:txBody>
      </p:sp>
      <p:sp>
        <p:nvSpPr>
          <p:cNvPr id="3" name="TextBox 2"/>
          <p:cNvSpPr txBox="1"/>
          <p:nvPr/>
        </p:nvSpPr>
        <p:spPr>
          <a:xfrm>
            <a:off x="274320" y="566928"/>
            <a:ext cx="11430000" cy="822960"/>
          </a:xfrm>
          <a:prstGeom prst="rect">
            <a:avLst/>
          </a:prstGeom>
          <a:noFill/>
        </p:spPr>
        <p:txBody>
          <a:bodyPr wrap="square">
            <a:spAutoFit/>
          </a:bodyPr>
          <a:lstStyle/>
          <a:p>
            <a:pPr algn="l"/>
            <a:r>
              <a:rPr sz="3000" b="1" i="0">
                <a:solidFill>
                  <a:srgbClr val="FFFFFF"/>
                </a:solidFill>
              </a:rPr>
              <a:t>Canonical Failure Modes (Part 1 / 2)</a:t>
            </a:r>
            <a:endParaRPr sz="3000" b="1" i="0">
              <a:solidFill>
                <a:srgbClr val="FFFFFF"/>
              </a:solidFill>
            </a:endParaRPr>
          </a:p>
        </p:txBody>
      </p:sp>
      <p:sp>
        <p:nvSpPr>
          <p:cNvPr id="4" name="TextBox 3"/>
          <p:cNvSpPr txBox="1"/>
          <p:nvPr/>
        </p:nvSpPr>
        <p:spPr>
          <a:xfrm>
            <a:off x="274320" y="1298448"/>
            <a:ext cx="11430000" cy="365760"/>
          </a:xfrm>
          <a:prstGeom prst="rect">
            <a:avLst/>
          </a:prstGeom>
          <a:noFill/>
        </p:spPr>
        <p:txBody>
          <a:bodyPr wrap="square">
            <a:spAutoFit/>
          </a:bodyPr>
          <a:lstStyle/>
          <a:p>
            <a:pPr algn="l"/>
            <a:r>
              <a:rPr sz="1600" b="0" i="0">
                <a:solidFill>
                  <a:srgbClr val="C9A84C"/>
                </a:solidFill>
              </a:rPr>
              <a:t>Compounding Drift · The Executability Gap</a:t>
            </a:r>
            <a:endParaRPr sz="1600" b="0" i="0">
              <a:solidFill>
                <a:srgbClr val="C9A84C"/>
              </a:solidFill>
            </a:endParaRPr>
          </a:p>
        </p:txBody>
      </p:sp>
      <p:sp>
        <p:nvSpPr>
          <p:cNvPr id="5" name="Rectangle 4"/>
          <p:cNvSpPr/>
          <p:nvPr/>
        </p:nvSpPr>
        <p:spPr>
          <a:xfrm>
            <a:off x="150876" y="1755648"/>
            <a:ext cx="1188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920240"/>
            <a:ext cx="11612880" cy="219456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920240"/>
            <a:ext cx="73152" cy="219456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993392"/>
            <a:ext cx="2926080" cy="347472"/>
          </a:xfrm>
          <a:prstGeom prst="rect">
            <a:avLst/>
          </a:prstGeom>
          <a:noFill/>
        </p:spPr>
        <p:txBody>
          <a:bodyPr wrap="square">
            <a:spAutoFit/>
          </a:bodyPr>
          <a:lstStyle/>
          <a:p>
            <a:pPr algn="l"/>
            <a:r>
              <a:rPr sz="950" b="1" i="0">
                <a:solidFill>
                  <a:srgbClr val="FF4D4D"/>
                </a:solidFill>
              </a:rPr>
              <a:t>FAILURE MODE 1</a:t>
            </a:r>
            <a:endParaRPr sz="950" b="1" i="0">
              <a:solidFill>
                <a:srgbClr val="FF4D4D"/>
              </a:solidFill>
            </a:endParaRPr>
          </a:p>
        </p:txBody>
      </p:sp>
      <p:sp>
        <p:nvSpPr>
          <p:cNvPr id="9" name="TextBox 8"/>
          <p:cNvSpPr txBox="1"/>
          <p:nvPr/>
        </p:nvSpPr>
        <p:spPr>
          <a:xfrm>
            <a:off x="457200" y="2331720"/>
            <a:ext cx="4572000" cy="411480"/>
          </a:xfrm>
          <a:prstGeom prst="rect">
            <a:avLst/>
          </a:prstGeom>
          <a:noFill/>
        </p:spPr>
        <p:txBody>
          <a:bodyPr wrap="square">
            <a:spAutoFit/>
          </a:bodyPr>
          <a:lstStyle/>
          <a:p>
            <a:pPr algn="l"/>
            <a:r>
              <a:rPr sz="1700" b="1" i="0">
                <a:solidFill>
                  <a:srgbClr val="FFFFFF"/>
                </a:solidFill>
              </a:rPr>
              <a:t>Compounding Autoregressive Drift</a:t>
            </a:r>
            <a:endParaRPr sz="1700" b="1" i="0">
              <a:solidFill>
                <a:srgbClr val="FFFFFF"/>
              </a:solidFill>
            </a:endParaRPr>
          </a:p>
        </p:txBody>
      </p:sp>
      <p:pic>
        <p:nvPicPr>
          <p:cNvPr id="10" name="Picture 9" descr="image.png"/>
          <p:cNvPicPr>
            <a:picLocks noChangeAspect="1"/>
          </p:cNvPicPr>
          <p:nvPr/>
        </p:nvPicPr>
        <p:blipFill>
          <a:blip r:embed="rId1"/>
          <a:stretch>
            <a:fillRect/>
          </a:stretch>
        </p:blipFill>
        <p:spPr>
          <a:xfrm>
            <a:off x="457200" y="2788920"/>
            <a:ext cx="5029200" cy="896112"/>
          </a:xfrm>
          <a:prstGeom prst="rect">
            <a:avLst/>
          </a:prstGeom>
        </p:spPr>
      </p:pic>
      <p:sp>
        <p:nvSpPr>
          <p:cNvPr id="11" name="TextBox 10"/>
          <p:cNvSpPr txBox="1"/>
          <p:nvPr/>
        </p:nvSpPr>
        <p:spPr>
          <a:xfrm>
            <a:off x="5669280" y="2331720"/>
            <a:ext cx="6035040" cy="1645920"/>
          </a:xfrm>
          <a:prstGeom prst="rect">
            <a:avLst/>
          </a:prstGeom>
          <a:noFill/>
        </p:spPr>
        <p:txBody>
          <a:bodyPr wrap="square">
            <a:spAutoFit/>
          </a:bodyPr>
          <a:lstStyle/>
          <a:p>
            <a:pPr algn="l"/>
            <a:r>
              <a:rPr sz="1300" b="0" i="0">
                <a:solidFill>
                  <a:srgbClr val="B0BCD4"/>
                </a:solidFill>
              </a:rPr>
              <a:t>Small single-step errors ε compound multiplicatively over time horizon T. Objects drift, vanish, or are hallucinated into existence. Long-horizon tasks become unreliable without explicit drift correction mechanisms.</a:t>
            </a:r>
            <a:endParaRPr sz="1300" b="0" i="0">
              <a:solidFill>
                <a:srgbClr val="B0BCD4"/>
              </a:solidFill>
            </a:endParaRPr>
          </a:p>
        </p:txBody>
      </p:sp>
      <p:sp>
        <p:nvSpPr>
          <p:cNvPr id="12" name="Rectangle 11"/>
          <p:cNvSpPr/>
          <p:nvPr/>
        </p:nvSpPr>
        <p:spPr>
          <a:xfrm>
            <a:off x="274320" y="4297680"/>
            <a:ext cx="11612880" cy="219456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4297680"/>
            <a:ext cx="73152" cy="219456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370832"/>
            <a:ext cx="2926080" cy="347472"/>
          </a:xfrm>
          <a:prstGeom prst="rect">
            <a:avLst/>
          </a:prstGeom>
          <a:noFill/>
        </p:spPr>
        <p:txBody>
          <a:bodyPr wrap="square">
            <a:spAutoFit/>
          </a:bodyPr>
          <a:lstStyle/>
          <a:p>
            <a:pPr algn="l"/>
            <a:r>
              <a:rPr sz="950" b="1" i="0">
                <a:solidFill>
                  <a:srgbClr val="FF8C00"/>
                </a:solidFill>
              </a:rPr>
              <a:t>FAILURE MODE 2</a:t>
            </a:r>
            <a:endParaRPr sz="950" b="1" i="0">
              <a:solidFill>
                <a:srgbClr val="FF8C00"/>
              </a:solidFill>
            </a:endParaRPr>
          </a:p>
        </p:txBody>
      </p:sp>
      <p:sp>
        <p:nvSpPr>
          <p:cNvPr id="15" name="TextBox 14"/>
          <p:cNvSpPr txBox="1"/>
          <p:nvPr/>
        </p:nvSpPr>
        <p:spPr>
          <a:xfrm>
            <a:off x="457200" y="4709160"/>
            <a:ext cx="4572000" cy="411480"/>
          </a:xfrm>
          <a:prstGeom prst="rect">
            <a:avLst/>
          </a:prstGeom>
          <a:noFill/>
        </p:spPr>
        <p:txBody>
          <a:bodyPr wrap="square">
            <a:spAutoFit/>
          </a:bodyPr>
          <a:lstStyle/>
          <a:p>
            <a:pPr algn="l"/>
            <a:r>
              <a:rPr sz="1700" b="1" i="0">
                <a:solidFill>
                  <a:srgbClr val="FFFFFF"/>
                </a:solidFill>
              </a:rPr>
              <a:t>The Executability Gap</a:t>
            </a:r>
            <a:endParaRPr sz="1700" b="1" i="0">
              <a:solidFill>
                <a:srgbClr val="FFFFFF"/>
              </a:solidFill>
            </a:endParaRPr>
          </a:p>
        </p:txBody>
      </p:sp>
      <p:pic>
        <p:nvPicPr>
          <p:cNvPr id="16" name="Picture 15" descr="image.png"/>
          <p:cNvPicPr>
            <a:picLocks noChangeAspect="1"/>
          </p:cNvPicPr>
          <p:nvPr/>
        </p:nvPicPr>
        <p:blipFill>
          <a:blip r:embed="rId2"/>
          <a:stretch>
            <a:fillRect/>
          </a:stretch>
        </p:blipFill>
        <p:spPr>
          <a:xfrm>
            <a:off x="457200" y="5166360"/>
            <a:ext cx="3657600" cy="896112"/>
          </a:xfrm>
          <a:prstGeom prst="rect">
            <a:avLst/>
          </a:prstGeom>
        </p:spPr>
      </p:pic>
      <p:sp>
        <p:nvSpPr>
          <p:cNvPr id="17" name="TextBox 16"/>
          <p:cNvSpPr txBox="1"/>
          <p:nvPr/>
        </p:nvSpPr>
        <p:spPr>
          <a:xfrm>
            <a:off x="4389120" y="4709160"/>
            <a:ext cx="7315200" cy="1645920"/>
          </a:xfrm>
          <a:prstGeom prst="rect">
            <a:avLst/>
          </a:prstGeom>
          <a:noFill/>
        </p:spPr>
        <p:txBody>
          <a:bodyPr wrap="square">
            <a:spAutoFit/>
          </a:bodyPr>
          <a:lstStyle/>
          <a:p>
            <a:pPr algn="l"/>
            <a:r>
              <a:rPr sz="1300" b="0" i="0">
                <a:solidFill>
                  <a:srgbClr val="B0BCD4"/>
                </a:solidFill>
              </a:rPr>
              <a:t>Perceptual losses (LPIPS, SSIM) reward visual plausibility — not physical validity. Models violate Coulomb contact dynamics. A visually perfect rendered trajectory will shatter a physical component on execution.</a:t>
            </a:r>
            <a:endParaRPr sz="1300" b="0" i="0">
              <a:solidFill>
                <a:srgbClr val="B0BCD4"/>
              </a:solidFill>
            </a:endParaRPr>
          </a:p>
        </p:txBody>
      </p:sp>
      <p:sp>
        <p:nvSpPr>
          <p:cNvPr id="18" name="TextBox 17"/>
          <p:cNvSpPr txBox="1"/>
          <p:nvPr/>
        </p:nvSpPr>
        <p:spPr>
          <a:xfrm>
            <a:off x="274320" y="6565392"/>
            <a:ext cx="11612880" cy="274320"/>
          </a:xfrm>
          <a:prstGeom prst="rect">
            <a:avLst/>
          </a:prstGeom>
          <a:noFill/>
        </p:spPr>
        <p:txBody>
          <a:bodyPr wrap="square">
            <a:spAutoFit/>
          </a:bodyPr>
          <a:lstStyle/>
          <a:p>
            <a:pPr algn="l"/>
            <a:r>
              <a:rPr sz="1200" b="1" i="0">
                <a:solidFill>
                  <a:srgbClr val="4DD0E1"/>
                </a:solidFill>
              </a:rPr>
              <a:t>Mitigation: Accumulate-and-Filter pipelines + PINN-augmented loss functions  (→ Module 3)</a:t>
            </a:r>
            <a:endParaRPr sz="1200" b="1" i="0">
              <a:solidFill>
                <a:srgbClr val="4DD0E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70D1A"/>
        </a:solidFill>
        <a:effectLst/>
      </p:bgPr>
    </p:bg>
    <p:spTree>
      <p:nvGrpSpPr>
        <p:cNvPr id="1" name=""/>
        <p:cNvGrpSpPr/>
        <p:nvPr/>
      </p:nvGrpSpPr>
      <p:grpSpPr/>
      <p:sp>
        <p:nvSpPr>
          <p:cNvPr id="2" name="Rectangle 1"/>
          <p:cNvSpPr/>
          <p:nvPr/>
        </p:nvSpPr>
        <p:spPr>
          <a:xfrm>
            <a:off x="182880" y="182880"/>
            <a:ext cx="2377440" cy="2926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070D1A"/>
                </a:solidFill>
              </a:rPr>
              <a:t>MODULE 2 · WORLD MODELS</a:t>
            </a:r>
            <a:endParaRPr sz="900" b="1">
              <a:solidFill>
                <a:srgbClr val="070D1A"/>
              </a:solidFill>
            </a:endParaRPr>
          </a:p>
        </p:txBody>
      </p:sp>
      <p:sp>
        <p:nvSpPr>
          <p:cNvPr id="3" name="TextBox 2"/>
          <p:cNvSpPr txBox="1"/>
          <p:nvPr/>
        </p:nvSpPr>
        <p:spPr>
          <a:xfrm>
            <a:off x="274320" y="566928"/>
            <a:ext cx="11430000" cy="822960"/>
          </a:xfrm>
          <a:prstGeom prst="rect">
            <a:avLst/>
          </a:prstGeom>
          <a:noFill/>
        </p:spPr>
        <p:txBody>
          <a:bodyPr wrap="square">
            <a:spAutoFit/>
          </a:bodyPr>
          <a:lstStyle/>
          <a:p>
            <a:pPr algn="l"/>
            <a:r>
              <a:rPr sz="3000" b="1" i="0">
                <a:solidFill>
                  <a:srgbClr val="FFFFFF"/>
                </a:solidFill>
              </a:rPr>
              <a:t>Canonical Failure Modes (Part 2 / 2)</a:t>
            </a:r>
            <a:endParaRPr sz="3000" b="1" i="0">
              <a:solidFill>
                <a:srgbClr val="FFFFFF"/>
              </a:solidFill>
            </a:endParaRPr>
          </a:p>
        </p:txBody>
      </p:sp>
      <p:sp>
        <p:nvSpPr>
          <p:cNvPr id="4" name="TextBox 3"/>
          <p:cNvSpPr txBox="1"/>
          <p:nvPr/>
        </p:nvSpPr>
        <p:spPr>
          <a:xfrm>
            <a:off x="274320" y="1298448"/>
            <a:ext cx="11430000" cy="365760"/>
          </a:xfrm>
          <a:prstGeom prst="rect">
            <a:avLst/>
          </a:prstGeom>
          <a:noFill/>
        </p:spPr>
        <p:txBody>
          <a:bodyPr wrap="square">
            <a:spAutoFit/>
          </a:bodyPr>
          <a:lstStyle/>
          <a:p>
            <a:pPr algn="l"/>
            <a:r>
              <a:rPr sz="1600" b="0" i="0">
                <a:solidFill>
                  <a:srgbClr val="C9A84C"/>
                </a:solidFill>
              </a:rPr>
              <a:t>Perceptual Hallucination · Action Marginalization · Sim-to-Real Gap</a:t>
            </a:r>
            <a:endParaRPr sz="1600" b="0" i="0">
              <a:solidFill>
                <a:srgbClr val="C9A84C"/>
              </a:solidFill>
            </a:endParaRPr>
          </a:p>
        </p:txBody>
      </p:sp>
      <p:sp>
        <p:nvSpPr>
          <p:cNvPr id="5" name="Rectangle 4"/>
          <p:cNvSpPr/>
          <p:nvPr/>
        </p:nvSpPr>
        <p:spPr>
          <a:xfrm>
            <a:off x="150876" y="1755648"/>
            <a:ext cx="1188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920240"/>
            <a:ext cx="11612880" cy="1444752"/>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920240"/>
            <a:ext cx="73152" cy="1444752"/>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993392"/>
            <a:ext cx="1371600" cy="292608"/>
          </a:xfrm>
          <a:prstGeom prst="rect">
            <a:avLst/>
          </a:prstGeom>
          <a:noFill/>
        </p:spPr>
        <p:txBody>
          <a:bodyPr wrap="square">
            <a:spAutoFit/>
          </a:bodyPr>
          <a:lstStyle/>
          <a:p>
            <a:pPr algn="l"/>
            <a:r>
              <a:rPr sz="950" b="1" i="0">
                <a:solidFill>
                  <a:srgbClr val="FF4D4D"/>
                </a:solidFill>
              </a:rPr>
              <a:t>FM 3</a:t>
            </a:r>
            <a:endParaRPr sz="950" b="1" i="0">
              <a:solidFill>
                <a:srgbClr val="FF4D4D"/>
              </a:solidFill>
            </a:endParaRPr>
          </a:p>
        </p:txBody>
      </p:sp>
      <p:sp>
        <p:nvSpPr>
          <p:cNvPr id="9" name="TextBox 8"/>
          <p:cNvSpPr txBox="1"/>
          <p:nvPr/>
        </p:nvSpPr>
        <p:spPr>
          <a:xfrm>
            <a:off x="457200" y="2304288"/>
            <a:ext cx="3200400" cy="384048"/>
          </a:xfrm>
          <a:prstGeom prst="rect">
            <a:avLst/>
          </a:prstGeom>
          <a:noFill/>
        </p:spPr>
        <p:txBody>
          <a:bodyPr wrap="square">
            <a:spAutoFit/>
          </a:bodyPr>
          <a:lstStyle/>
          <a:p>
            <a:pPr algn="l"/>
            <a:r>
              <a:rPr sz="1600" b="1" i="0">
                <a:solidFill>
                  <a:srgbClr val="FFFFFF"/>
                </a:solidFill>
              </a:rPr>
              <a:t>Perceptual Hallucination</a:t>
            </a:r>
            <a:endParaRPr sz="1600" b="1" i="0">
              <a:solidFill>
                <a:srgbClr val="FFFFFF"/>
              </a:solidFill>
            </a:endParaRPr>
          </a:p>
        </p:txBody>
      </p:sp>
      <p:pic>
        <p:nvPicPr>
          <p:cNvPr id="10" name="Picture 9" descr="image.png"/>
          <p:cNvPicPr>
            <a:picLocks noChangeAspect="1"/>
          </p:cNvPicPr>
          <p:nvPr/>
        </p:nvPicPr>
        <p:blipFill>
          <a:blip r:embed="rId1"/>
          <a:stretch>
            <a:fillRect/>
          </a:stretch>
        </p:blipFill>
        <p:spPr>
          <a:xfrm>
            <a:off x="457200" y="2743200"/>
            <a:ext cx="5120640" cy="502920"/>
          </a:xfrm>
          <a:prstGeom prst="rect">
            <a:avLst/>
          </a:prstGeom>
        </p:spPr>
      </p:pic>
      <p:sp>
        <p:nvSpPr>
          <p:cNvPr id="11" name="TextBox 10"/>
          <p:cNvSpPr txBox="1"/>
          <p:nvPr/>
        </p:nvSpPr>
        <p:spPr>
          <a:xfrm>
            <a:off x="5669280" y="2121408"/>
            <a:ext cx="6035040" cy="1143000"/>
          </a:xfrm>
          <a:prstGeom prst="rect">
            <a:avLst/>
          </a:prstGeom>
          <a:noFill/>
        </p:spPr>
        <p:txBody>
          <a:bodyPr wrap="square">
            <a:spAutoFit/>
          </a:bodyPr>
          <a:lstStyle/>
          <a:p>
            <a:pPr algn="l"/>
            <a:r>
              <a:rPr sz="1300" b="0" i="0">
                <a:solidFill>
                  <a:srgbClr val="B0BCD4"/>
                </a:solidFill>
              </a:rPr>
              <a:t>Unfamiliar objects are force-mapped onto the nearest codebook token. The model silently replaces what it cannot recognize, poisoning downstream decisions.</a:t>
            </a:r>
            <a:endParaRPr sz="1300" b="0" i="0">
              <a:solidFill>
                <a:srgbClr val="B0BCD4"/>
              </a:solidFill>
            </a:endParaRPr>
          </a:p>
        </p:txBody>
      </p:sp>
      <p:sp>
        <p:nvSpPr>
          <p:cNvPr id="12" name="Rectangle 11"/>
          <p:cNvSpPr/>
          <p:nvPr/>
        </p:nvSpPr>
        <p:spPr>
          <a:xfrm>
            <a:off x="274320" y="3493008"/>
            <a:ext cx="11612880" cy="1444752"/>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493008"/>
            <a:ext cx="73152" cy="14447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566160"/>
            <a:ext cx="1371600" cy="292608"/>
          </a:xfrm>
          <a:prstGeom prst="rect">
            <a:avLst/>
          </a:prstGeom>
          <a:noFill/>
        </p:spPr>
        <p:txBody>
          <a:bodyPr wrap="square">
            <a:spAutoFit/>
          </a:bodyPr>
          <a:lstStyle/>
          <a:p>
            <a:pPr algn="l"/>
            <a:r>
              <a:rPr sz="950" b="1" i="0">
                <a:solidFill>
                  <a:srgbClr val="FF8C00"/>
                </a:solidFill>
              </a:rPr>
              <a:t>FM 4</a:t>
            </a:r>
            <a:endParaRPr sz="950" b="1" i="0">
              <a:solidFill>
                <a:srgbClr val="FF8C00"/>
              </a:solidFill>
            </a:endParaRPr>
          </a:p>
        </p:txBody>
      </p:sp>
      <p:sp>
        <p:nvSpPr>
          <p:cNvPr id="15" name="TextBox 14"/>
          <p:cNvSpPr txBox="1"/>
          <p:nvPr/>
        </p:nvSpPr>
        <p:spPr>
          <a:xfrm>
            <a:off x="457200" y="3877056"/>
            <a:ext cx="3200400" cy="384048"/>
          </a:xfrm>
          <a:prstGeom prst="rect">
            <a:avLst/>
          </a:prstGeom>
          <a:noFill/>
        </p:spPr>
        <p:txBody>
          <a:bodyPr wrap="square">
            <a:spAutoFit/>
          </a:bodyPr>
          <a:lstStyle/>
          <a:p>
            <a:pPr algn="l"/>
            <a:r>
              <a:rPr sz="1600" b="1" i="0">
                <a:solidFill>
                  <a:srgbClr val="FFFFFF"/>
                </a:solidFill>
              </a:rPr>
              <a:t>Action Marginalization</a:t>
            </a:r>
            <a:endParaRPr sz="1600" b="1" i="0">
              <a:solidFill>
                <a:srgbClr val="FFFFFF"/>
              </a:solidFill>
            </a:endParaRPr>
          </a:p>
        </p:txBody>
      </p:sp>
      <p:pic>
        <p:nvPicPr>
          <p:cNvPr id="16" name="Picture 15" descr="image.png"/>
          <p:cNvPicPr>
            <a:picLocks noChangeAspect="1"/>
          </p:cNvPicPr>
          <p:nvPr/>
        </p:nvPicPr>
        <p:blipFill>
          <a:blip r:embed="rId2"/>
          <a:stretch>
            <a:fillRect/>
          </a:stretch>
        </p:blipFill>
        <p:spPr>
          <a:xfrm>
            <a:off x="457200" y="4315968"/>
            <a:ext cx="5120640" cy="502920"/>
          </a:xfrm>
          <a:prstGeom prst="rect">
            <a:avLst/>
          </a:prstGeom>
        </p:spPr>
      </p:pic>
      <p:sp>
        <p:nvSpPr>
          <p:cNvPr id="17" name="TextBox 16"/>
          <p:cNvSpPr txBox="1"/>
          <p:nvPr/>
        </p:nvSpPr>
        <p:spPr>
          <a:xfrm>
            <a:off x="5669280" y="3694176"/>
            <a:ext cx="6035040" cy="1143000"/>
          </a:xfrm>
          <a:prstGeom prst="rect">
            <a:avLst/>
          </a:prstGeom>
          <a:noFill/>
        </p:spPr>
        <p:txBody>
          <a:bodyPr wrap="square">
            <a:spAutoFit/>
          </a:bodyPr>
          <a:lstStyle/>
          <a:p>
            <a:pPr algn="l"/>
            <a:r>
              <a:rPr sz="1300" b="0" i="0">
                <a:solidFill>
                  <a:srgbClr val="B0BCD4"/>
                </a:solidFill>
              </a:rPr>
              <a:t>The model's predictions become invariant to control input — it hallucinates an 'autopilot' sequence and effectively ignores operator commands entirely.</a:t>
            </a:r>
            <a:endParaRPr sz="1300" b="0" i="0">
              <a:solidFill>
                <a:srgbClr val="B0BCD4"/>
              </a:solidFill>
            </a:endParaRPr>
          </a:p>
        </p:txBody>
      </p:sp>
      <p:sp>
        <p:nvSpPr>
          <p:cNvPr id="18" name="Rectangle 17"/>
          <p:cNvSpPr/>
          <p:nvPr/>
        </p:nvSpPr>
        <p:spPr>
          <a:xfrm>
            <a:off x="274320" y="5065776"/>
            <a:ext cx="11612880" cy="1444752"/>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5065776"/>
            <a:ext cx="73152" cy="1444752"/>
          </a:xfrm>
          <a:prstGeom prst="rect">
            <a:avLst/>
          </a:prstGeom>
          <a:solidFill>
            <a:srgbClr val="AA4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5138928"/>
            <a:ext cx="1371600" cy="292608"/>
          </a:xfrm>
          <a:prstGeom prst="rect">
            <a:avLst/>
          </a:prstGeom>
          <a:noFill/>
        </p:spPr>
        <p:txBody>
          <a:bodyPr wrap="square">
            <a:spAutoFit/>
          </a:bodyPr>
          <a:lstStyle/>
          <a:p>
            <a:pPr algn="l"/>
            <a:r>
              <a:rPr sz="950" b="1" i="0">
                <a:solidFill>
                  <a:srgbClr val="AA44FF"/>
                </a:solidFill>
              </a:rPr>
              <a:t>FM 5</a:t>
            </a:r>
            <a:endParaRPr sz="950" b="1" i="0">
              <a:solidFill>
                <a:srgbClr val="AA44FF"/>
              </a:solidFill>
            </a:endParaRPr>
          </a:p>
        </p:txBody>
      </p:sp>
      <p:sp>
        <p:nvSpPr>
          <p:cNvPr id="21" name="TextBox 20"/>
          <p:cNvSpPr txBox="1"/>
          <p:nvPr/>
        </p:nvSpPr>
        <p:spPr>
          <a:xfrm>
            <a:off x="457200" y="5449824"/>
            <a:ext cx="3200400" cy="384048"/>
          </a:xfrm>
          <a:prstGeom prst="rect">
            <a:avLst/>
          </a:prstGeom>
          <a:noFill/>
        </p:spPr>
        <p:txBody>
          <a:bodyPr wrap="square">
            <a:spAutoFit/>
          </a:bodyPr>
          <a:lstStyle/>
          <a:p>
            <a:pPr algn="l"/>
            <a:r>
              <a:rPr sz="1600" b="1" i="0">
                <a:solidFill>
                  <a:srgbClr val="FFFFFF"/>
                </a:solidFill>
              </a:rPr>
              <a:t>The Sim-to-Real Gap</a:t>
            </a:r>
            <a:endParaRPr sz="1600" b="1" i="0">
              <a:solidFill>
                <a:srgbClr val="FFFFFF"/>
              </a:solidFill>
            </a:endParaRPr>
          </a:p>
        </p:txBody>
      </p:sp>
      <p:pic>
        <p:nvPicPr>
          <p:cNvPr id="22" name="Picture 21" descr="image.png"/>
          <p:cNvPicPr>
            <a:picLocks noChangeAspect="1"/>
          </p:cNvPicPr>
          <p:nvPr/>
        </p:nvPicPr>
        <p:blipFill>
          <a:blip r:embed="rId3"/>
          <a:stretch>
            <a:fillRect/>
          </a:stretch>
        </p:blipFill>
        <p:spPr>
          <a:xfrm>
            <a:off x="457200" y="5888736"/>
            <a:ext cx="5120640" cy="502920"/>
          </a:xfrm>
          <a:prstGeom prst="rect">
            <a:avLst/>
          </a:prstGeom>
        </p:spPr>
      </p:pic>
      <p:sp>
        <p:nvSpPr>
          <p:cNvPr id="23" name="TextBox 22"/>
          <p:cNvSpPr txBox="1"/>
          <p:nvPr/>
        </p:nvSpPr>
        <p:spPr>
          <a:xfrm>
            <a:off x="5669280" y="5266944"/>
            <a:ext cx="6035040" cy="1143000"/>
          </a:xfrm>
          <a:prstGeom prst="rect">
            <a:avLst/>
          </a:prstGeom>
          <a:noFill/>
        </p:spPr>
        <p:txBody>
          <a:bodyPr wrap="square">
            <a:spAutoFit/>
          </a:bodyPr>
          <a:lstStyle/>
          <a:p>
            <a:pPr algn="l"/>
            <a:r>
              <a:rPr sz="1300" b="0" i="0">
                <a:solidFill>
                  <a:srgbClr val="B0BCD4"/>
                </a:solidFill>
              </a:rPr>
              <a:t>Synthetic data cannot fully replace real data. Sensor noise, contact variability, and long-tail physical phenomena guarantee a distributional gap.</a:t>
            </a:r>
            <a:endParaRPr sz="1300" b="0" i="0">
              <a:solidFill>
                <a:srgbClr val="B0BCD4"/>
              </a:solidFill>
            </a:endParaRPr>
          </a:p>
        </p:txBody>
      </p:sp>
      <p:sp>
        <p:nvSpPr>
          <p:cNvPr id="24" name="TextBox 23"/>
          <p:cNvSpPr txBox="1"/>
          <p:nvPr/>
        </p:nvSpPr>
        <p:spPr>
          <a:xfrm>
            <a:off x="274320" y="6601968"/>
            <a:ext cx="11612880" cy="256032"/>
          </a:xfrm>
          <a:prstGeom prst="rect">
            <a:avLst/>
          </a:prstGeom>
          <a:noFill/>
        </p:spPr>
        <p:txBody>
          <a:bodyPr wrap="square">
            <a:spAutoFit/>
          </a:bodyPr>
          <a:lstStyle/>
          <a:p>
            <a:pPr algn="l"/>
            <a:r>
              <a:rPr sz="1200" b="1" i="0">
                <a:solidFill>
                  <a:srgbClr val="4DD0E1"/>
                </a:solidFill>
              </a:rPr>
              <a:t>Every failure mode has a quantitative mitigation — no known deployment is beyond engineering control.</a:t>
            </a:r>
            <a:endParaRPr sz="1200" b="1" i="0">
              <a:solidFill>
                <a:srgbClr val="4DD0E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70D1A"/>
        </a:solidFill>
        <a:effectLst/>
      </p:bgPr>
    </p:bg>
    <p:spTree>
      <p:nvGrpSpPr>
        <p:cNvPr id="1" name=""/>
        <p:cNvGrpSpPr/>
        <p:nvPr/>
      </p:nvGrpSpPr>
      <p:grpSpPr/>
      <p:sp>
        <p:nvSpPr>
          <p:cNvPr id="2" name="Rectangle 1"/>
          <p:cNvSpPr/>
          <p:nvPr/>
        </p:nvSpPr>
        <p:spPr>
          <a:xfrm>
            <a:off x="182880" y="182880"/>
            <a:ext cx="2377440" cy="2926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070D1A"/>
                </a:solidFill>
              </a:rPr>
              <a:t>MODULE 3 · SYNTHETIC DATA BRIDGE</a:t>
            </a:r>
            <a:endParaRPr sz="900" b="1">
              <a:solidFill>
                <a:srgbClr val="070D1A"/>
              </a:solidFill>
            </a:endParaRPr>
          </a:p>
        </p:txBody>
      </p:sp>
      <p:sp>
        <p:nvSpPr>
          <p:cNvPr id="3" name="TextBox 2"/>
          <p:cNvSpPr txBox="1"/>
          <p:nvPr/>
        </p:nvSpPr>
        <p:spPr>
          <a:xfrm>
            <a:off x="274320" y="566928"/>
            <a:ext cx="11430000" cy="822960"/>
          </a:xfrm>
          <a:prstGeom prst="rect">
            <a:avLst/>
          </a:prstGeom>
          <a:noFill/>
        </p:spPr>
        <p:txBody>
          <a:bodyPr wrap="square">
            <a:spAutoFit/>
          </a:bodyPr>
          <a:lstStyle/>
          <a:p>
            <a:pPr algn="l"/>
            <a:r>
              <a:rPr sz="3200" b="1" i="0">
                <a:solidFill>
                  <a:srgbClr val="FFFFFF"/>
                </a:solidFill>
              </a:rPr>
              <a:t>Synthetic Data as the Connective Tissue</a:t>
            </a:r>
            <a:endParaRPr sz="3200" b="1" i="0">
              <a:solidFill>
                <a:srgbClr val="FFFFFF"/>
              </a:solidFill>
            </a:endParaRPr>
          </a:p>
        </p:txBody>
      </p:sp>
      <p:sp>
        <p:nvSpPr>
          <p:cNvPr id="4" name="TextBox 3"/>
          <p:cNvSpPr txBox="1"/>
          <p:nvPr/>
        </p:nvSpPr>
        <p:spPr>
          <a:xfrm>
            <a:off x="274320" y="1298448"/>
            <a:ext cx="11430000" cy="365760"/>
          </a:xfrm>
          <a:prstGeom prst="rect">
            <a:avLst/>
          </a:prstGeom>
          <a:noFill/>
        </p:spPr>
        <p:txBody>
          <a:bodyPr wrap="square">
            <a:spAutoFit/>
          </a:bodyPr>
          <a:lstStyle/>
          <a:p>
            <a:pPr algn="l"/>
            <a:r>
              <a:rPr sz="1600" b="0" i="0">
                <a:solidFill>
                  <a:srgbClr val="C9A84C"/>
                </a:solidFill>
              </a:rPr>
              <a:t>A Four-Tier Taxonomy: Matching Data Quality to Risk Profile</a:t>
            </a:r>
            <a:endParaRPr sz="1600" b="0" i="0">
              <a:solidFill>
                <a:srgbClr val="C9A84C"/>
              </a:solidFill>
            </a:endParaRPr>
          </a:p>
        </p:txBody>
      </p:sp>
      <p:sp>
        <p:nvSpPr>
          <p:cNvPr id="5" name="Rectangle 4"/>
          <p:cNvSpPr/>
          <p:nvPr/>
        </p:nvSpPr>
        <p:spPr>
          <a:xfrm>
            <a:off x="150876" y="1755648"/>
            <a:ext cx="1188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938528"/>
            <a:ext cx="11612880" cy="1024128"/>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938528"/>
            <a:ext cx="73152" cy="1024128"/>
          </a:xfrm>
          <a:prstGeom prst="rect">
            <a:avLst/>
          </a:prstGeom>
          <a:solidFill>
            <a:srgbClr val="4DD0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984248"/>
            <a:ext cx="1005840" cy="347472"/>
          </a:xfrm>
          <a:prstGeom prst="rect">
            <a:avLst/>
          </a:prstGeom>
          <a:noFill/>
        </p:spPr>
        <p:txBody>
          <a:bodyPr wrap="square">
            <a:spAutoFit/>
          </a:bodyPr>
          <a:lstStyle/>
          <a:p>
            <a:pPr algn="l"/>
            <a:r>
              <a:rPr sz="1200" b="1" i="0">
                <a:solidFill>
                  <a:srgbClr val="4DD0E1"/>
                </a:solidFill>
              </a:rPr>
              <a:t>Tier 1</a:t>
            </a:r>
            <a:endParaRPr sz="1200" b="1" i="0">
              <a:solidFill>
                <a:srgbClr val="4DD0E1"/>
              </a:solidFill>
            </a:endParaRPr>
          </a:p>
        </p:txBody>
      </p:sp>
      <p:sp>
        <p:nvSpPr>
          <p:cNvPr id="9" name="TextBox 8"/>
          <p:cNvSpPr txBox="1"/>
          <p:nvPr/>
        </p:nvSpPr>
        <p:spPr>
          <a:xfrm>
            <a:off x="1508760" y="1984248"/>
            <a:ext cx="5486400" cy="384048"/>
          </a:xfrm>
          <a:prstGeom prst="rect">
            <a:avLst/>
          </a:prstGeom>
          <a:noFill/>
        </p:spPr>
        <p:txBody>
          <a:bodyPr wrap="square">
            <a:spAutoFit/>
          </a:bodyPr>
          <a:lstStyle/>
          <a:p>
            <a:pPr algn="l"/>
            <a:r>
              <a:rPr sz="1500" b="1" i="0">
                <a:solidFill>
                  <a:srgbClr val="FFFFFF"/>
                </a:solidFill>
              </a:rPr>
              <a:t>Model-Generated Reasoning Traces</a:t>
            </a:r>
            <a:endParaRPr sz="1500" b="1" i="0">
              <a:solidFill>
                <a:srgbClr val="FFFFFF"/>
              </a:solidFill>
            </a:endParaRPr>
          </a:p>
        </p:txBody>
      </p:sp>
      <p:sp>
        <p:nvSpPr>
          <p:cNvPr id="10" name="TextBox 9"/>
          <p:cNvSpPr txBox="1"/>
          <p:nvPr/>
        </p:nvSpPr>
        <p:spPr>
          <a:xfrm>
            <a:off x="1508760" y="2414016"/>
            <a:ext cx="5029200" cy="320040"/>
          </a:xfrm>
          <a:prstGeom prst="rect">
            <a:avLst/>
          </a:prstGeom>
          <a:noFill/>
        </p:spPr>
        <p:txBody>
          <a:bodyPr wrap="square">
            <a:spAutoFit/>
          </a:bodyPr>
          <a:lstStyle/>
          <a:p>
            <a:pPr algn="l"/>
            <a:r>
              <a:rPr sz="1150" b="0" i="0">
                <a:solidFill>
                  <a:srgbClr val="B0BCD4"/>
                </a:solidFill>
              </a:rPr>
              <a:t>Self-play · Tree search · MCTS rollouts</a:t>
            </a:r>
            <a:endParaRPr sz="1150" b="0" i="0">
              <a:solidFill>
                <a:srgbClr val="B0BCD4"/>
              </a:solidFill>
            </a:endParaRPr>
          </a:p>
        </p:txBody>
      </p:sp>
      <p:sp>
        <p:nvSpPr>
          <p:cNvPr id="11" name="TextBox 10"/>
          <p:cNvSpPr txBox="1"/>
          <p:nvPr/>
        </p:nvSpPr>
        <p:spPr>
          <a:xfrm>
            <a:off x="7315200" y="2194560"/>
            <a:ext cx="4572000" cy="502920"/>
          </a:xfrm>
          <a:prstGeom prst="rect">
            <a:avLst/>
          </a:prstGeom>
          <a:noFill/>
        </p:spPr>
        <p:txBody>
          <a:bodyPr wrap="square">
            <a:spAutoFit/>
          </a:bodyPr>
          <a:lstStyle/>
          <a:p>
            <a:pPr algn="r"/>
            <a:r>
              <a:rPr sz="1100" b="0" i="0">
                <a:solidFill>
                  <a:srgbClr val="4DD0E1"/>
                </a:solidFill>
              </a:rPr>
              <a:t>Cost: Low  ·  Physics: None  ·  Use: Reasoning, Q&amp;A, code</a:t>
            </a:r>
            <a:endParaRPr sz="1100" b="0" i="0">
              <a:solidFill>
                <a:srgbClr val="4DD0E1"/>
              </a:solidFill>
            </a:endParaRPr>
          </a:p>
        </p:txBody>
      </p:sp>
      <p:sp>
        <p:nvSpPr>
          <p:cNvPr id="12" name="Rectangle 11"/>
          <p:cNvSpPr/>
          <p:nvPr/>
        </p:nvSpPr>
        <p:spPr>
          <a:xfrm>
            <a:off x="274320" y="3090672"/>
            <a:ext cx="11612880" cy="1024128"/>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90672"/>
            <a:ext cx="73152" cy="1024128"/>
          </a:xfrm>
          <a:prstGeom prst="rect">
            <a:avLst/>
          </a:prstGeom>
          <a:solidFill>
            <a:srgbClr val="4DD0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136391"/>
            <a:ext cx="1005840" cy="347472"/>
          </a:xfrm>
          <a:prstGeom prst="rect">
            <a:avLst/>
          </a:prstGeom>
          <a:noFill/>
        </p:spPr>
        <p:txBody>
          <a:bodyPr wrap="square">
            <a:spAutoFit/>
          </a:bodyPr>
          <a:lstStyle/>
          <a:p>
            <a:pPr algn="l"/>
            <a:r>
              <a:rPr sz="1200" b="1" i="0">
                <a:solidFill>
                  <a:srgbClr val="4DD0E1"/>
                </a:solidFill>
              </a:rPr>
              <a:t>Tier 2</a:t>
            </a:r>
            <a:endParaRPr sz="1200" b="1" i="0">
              <a:solidFill>
                <a:srgbClr val="4DD0E1"/>
              </a:solidFill>
            </a:endParaRPr>
          </a:p>
        </p:txBody>
      </p:sp>
      <p:sp>
        <p:nvSpPr>
          <p:cNvPr id="15" name="TextBox 14"/>
          <p:cNvSpPr txBox="1"/>
          <p:nvPr/>
        </p:nvSpPr>
        <p:spPr>
          <a:xfrm>
            <a:off x="1508760" y="3136391"/>
            <a:ext cx="5486400" cy="384048"/>
          </a:xfrm>
          <a:prstGeom prst="rect">
            <a:avLst/>
          </a:prstGeom>
          <a:noFill/>
        </p:spPr>
        <p:txBody>
          <a:bodyPr wrap="square">
            <a:spAutoFit/>
          </a:bodyPr>
          <a:lstStyle/>
          <a:p>
            <a:pPr algn="l"/>
            <a:r>
              <a:rPr sz="1500" b="1" i="0">
                <a:solidFill>
                  <a:srgbClr val="FFFFFF"/>
                </a:solidFill>
              </a:rPr>
              <a:t>Statistically Grounded Tabular Data</a:t>
            </a:r>
            <a:endParaRPr sz="1500" b="1" i="0">
              <a:solidFill>
                <a:srgbClr val="FFFFFF"/>
              </a:solidFill>
            </a:endParaRPr>
          </a:p>
        </p:txBody>
      </p:sp>
      <p:sp>
        <p:nvSpPr>
          <p:cNvPr id="16" name="TextBox 15"/>
          <p:cNvSpPr txBox="1"/>
          <p:nvPr/>
        </p:nvSpPr>
        <p:spPr>
          <a:xfrm>
            <a:off x="1508760" y="3566160"/>
            <a:ext cx="5029200" cy="320040"/>
          </a:xfrm>
          <a:prstGeom prst="rect">
            <a:avLst/>
          </a:prstGeom>
          <a:noFill/>
        </p:spPr>
        <p:txBody>
          <a:bodyPr wrap="square">
            <a:spAutoFit/>
          </a:bodyPr>
          <a:lstStyle/>
          <a:p>
            <a:pPr algn="l"/>
            <a:r>
              <a:rPr sz="1150" b="0" i="0">
                <a:solidFill>
                  <a:srgbClr val="B0BCD4"/>
                </a:solidFill>
              </a:rPr>
              <a:t>Gaussian copulas · DP-GANs · VAE synthesis</a:t>
            </a:r>
            <a:endParaRPr sz="1150" b="0" i="0">
              <a:solidFill>
                <a:srgbClr val="B0BCD4"/>
              </a:solidFill>
            </a:endParaRPr>
          </a:p>
        </p:txBody>
      </p:sp>
      <p:sp>
        <p:nvSpPr>
          <p:cNvPr id="17" name="TextBox 16"/>
          <p:cNvSpPr txBox="1"/>
          <p:nvPr/>
        </p:nvSpPr>
        <p:spPr>
          <a:xfrm>
            <a:off x="7315200" y="3346704"/>
            <a:ext cx="4572000" cy="502920"/>
          </a:xfrm>
          <a:prstGeom prst="rect">
            <a:avLst/>
          </a:prstGeom>
          <a:noFill/>
        </p:spPr>
        <p:txBody>
          <a:bodyPr wrap="square">
            <a:spAutoFit/>
          </a:bodyPr>
          <a:lstStyle/>
          <a:p>
            <a:pPr algn="r"/>
            <a:r>
              <a:rPr sz="1100" b="0" i="0">
                <a:solidFill>
                  <a:srgbClr val="4DD0E1"/>
                </a:solidFill>
              </a:rPr>
              <a:t>Cost: Medium  ·  Physics: Statistical  ·  Use: Finance, EHR, sensor logs</a:t>
            </a:r>
            <a:endParaRPr sz="1100" b="0" i="0">
              <a:solidFill>
                <a:srgbClr val="4DD0E1"/>
              </a:solidFill>
            </a:endParaRPr>
          </a:p>
        </p:txBody>
      </p:sp>
      <p:sp>
        <p:nvSpPr>
          <p:cNvPr id="18" name="Rectangle 17"/>
          <p:cNvSpPr/>
          <p:nvPr/>
        </p:nvSpPr>
        <p:spPr>
          <a:xfrm>
            <a:off x="274320" y="4242816"/>
            <a:ext cx="11612880" cy="1024128"/>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4242816"/>
            <a:ext cx="73152" cy="102412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288536"/>
            <a:ext cx="1005840" cy="347472"/>
          </a:xfrm>
          <a:prstGeom prst="rect">
            <a:avLst/>
          </a:prstGeom>
          <a:noFill/>
        </p:spPr>
        <p:txBody>
          <a:bodyPr wrap="square">
            <a:spAutoFit/>
          </a:bodyPr>
          <a:lstStyle/>
          <a:p>
            <a:pPr algn="l"/>
            <a:r>
              <a:rPr sz="1200" b="1" i="0">
                <a:solidFill>
                  <a:srgbClr val="C9A84C"/>
                </a:solidFill>
              </a:rPr>
              <a:t>Tier 3</a:t>
            </a:r>
            <a:endParaRPr sz="1200" b="1" i="0">
              <a:solidFill>
                <a:srgbClr val="C9A84C"/>
              </a:solidFill>
            </a:endParaRPr>
          </a:p>
        </p:txBody>
      </p:sp>
      <p:sp>
        <p:nvSpPr>
          <p:cNvPr id="21" name="TextBox 20"/>
          <p:cNvSpPr txBox="1"/>
          <p:nvPr/>
        </p:nvSpPr>
        <p:spPr>
          <a:xfrm>
            <a:off x="1508760" y="4288536"/>
            <a:ext cx="5486400" cy="384048"/>
          </a:xfrm>
          <a:prstGeom prst="rect">
            <a:avLst/>
          </a:prstGeom>
          <a:noFill/>
        </p:spPr>
        <p:txBody>
          <a:bodyPr wrap="square">
            <a:spAutoFit/>
          </a:bodyPr>
          <a:lstStyle/>
          <a:p>
            <a:pPr algn="l"/>
            <a:r>
              <a:rPr sz="1500" b="1" i="0">
                <a:solidFill>
                  <a:srgbClr val="FFFFFF"/>
                </a:solidFill>
              </a:rPr>
              <a:t>Simulated Spatial Telemetry</a:t>
            </a:r>
            <a:endParaRPr sz="1500" b="1" i="0">
              <a:solidFill>
                <a:srgbClr val="FFFFFF"/>
              </a:solidFill>
            </a:endParaRPr>
          </a:p>
        </p:txBody>
      </p:sp>
      <p:sp>
        <p:nvSpPr>
          <p:cNvPr id="22" name="TextBox 21"/>
          <p:cNvSpPr txBox="1"/>
          <p:nvPr/>
        </p:nvSpPr>
        <p:spPr>
          <a:xfrm>
            <a:off x="1508760" y="4718304"/>
            <a:ext cx="5029200" cy="320040"/>
          </a:xfrm>
          <a:prstGeom prst="rect">
            <a:avLst/>
          </a:prstGeom>
          <a:noFill/>
        </p:spPr>
        <p:txBody>
          <a:bodyPr wrap="square">
            <a:spAutoFit/>
          </a:bodyPr>
          <a:lstStyle/>
          <a:p>
            <a:pPr algn="l"/>
            <a:r>
              <a:rPr sz="1150" b="0" i="0">
                <a:solidFill>
                  <a:srgbClr val="B0BCD4"/>
                </a:solidFill>
              </a:rPr>
              <a:t>3D Gaussian Splats · NeRFs · USD Scene Graphs</a:t>
            </a:r>
            <a:endParaRPr sz="1150" b="0" i="0">
              <a:solidFill>
                <a:srgbClr val="B0BCD4"/>
              </a:solidFill>
            </a:endParaRPr>
          </a:p>
        </p:txBody>
      </p:sp>
      <p:sp>
        <p:nvSpPr>
          <p:cNvPr id="23" name="TextBox 22"/>
          <p:cNvSpPr txBox="1"/>
          <p:nvPr/>
        </p:nvSpPr>
        <p:spPr>
          <a:xfrm>
            <a:off x="7315200" y="4498848"/>
            <a:ext cx="4572000" cy="502920"/>
          </a:xfrm>
          <a:prstGeom prst="rect">
            <a:avLst/>
          </a:prstGeom>
          <a:noFill/>
        </p:spPr>
        <p:txBody>
          <a:bodyPr wrap="square">
            <a:spAutoFit/>
          </a:bodyPr>
          <a:lstStyle/>
          <a:p>
            <a:pPr algn="r"/>
            <a:r>
              <a:rPr sz="1100" b="0" i="0">
                <a:solidFill>
                  <a:srgbClr val="C9A84C"/>
                </a:solidFill>
              </a:rPr>
              <a:t>Cost: High  ·  Physics: Geometric  ·  Use: Autonomous driving, drone nav</a:t>
            </a:r>
            <a:endParaRPr sz="1100" b="0" i="0">
              <a:solidFill>
                <a:srgbClr val="C9A84C"/>
              </a:solidFill>
            </a:endParaRPr>
          </a:p>
        </p:txBody>
      </p:sp>
      <p:sp>
        <p:nvSpPr>
          <p:cNvPr id="24" name="Rectangle 23"/>
          <p:cNvSpPr/>
          <p:nvPr/>
        </p:nvSpPr>
        <p:spPr>
          <a:xfrm>
            <a:off x="274320" y="5394960"/>
            <a:ext cx="11612880" cy="1024128"/>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74320" y="5394960"/>
            <a:ext cx="73152" cy="102412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5440680"/>
            <a:ext cx="1005840" cy="347472"/>
          </a:xfrm>
          <a:prstGeom prst="rect">
            <a:avLst/>
          </a:prstGeom>
          <a:noFill/>
        </p:spPr>
        <p:txBody>
          <a:bodyPr wrap="square">
            <a:spAutoFit/>
          </a:bodyPr>
          <a:lstStyle/>
          <a:p>
            <a:pPr algn="l"/>
            <a:r>
              <a:rPr sz="1200" b="1" i="0">
                <a:solidFill>
                  <a:srgbClr val="FFD700"/>
                </a:solidFill>
              </a:rPr>
              <a:t>Tier 4</a:t>
            </a:r>
            <a:endParaRPr sz="1200" b="1" i="0">
              <a:solidFill>
                <a:srgbClr val="FFD700"/>
              </a:solidFill>
            </a:endParaRPr>
          </a:p>
        </p:txBody>
      </p:sp>
      <p:sp>
        <p:nvSpPr>
          <p:cNvPr id="27" name="TextBox 26"/>
          <p:cNvSpPr txBox="1"/>
          <p:nvPr/>
        </p:nvSpPr>
        <p:spPr>
          <a:xfrm>
            <a:off x="1508760" y="5440680"/>
            <a:ext cx="5486400" cy="384048"/>
          </a:xfrm>
          <a:prstGeom prst="rect">
            <a:avLst/>
          </a:prstGeom>
          <a:noFill/>
        </p:spPr>
        <p:txBody>
          <a:bodyPr wrap="square">
            <a:spAutoFit/>
          </a:bodyPr>
          <a:lstStyle/>
          <a:p>
            <a:pPr algn="l"/>
            <a:r>
              <a:rPr sz="1500" b="1" i="0">
                <a:solidFill>
                  <a:srgbClr val="FFFFFF"/>
                </a:solidFill>
              </a:rPr>
              <a:t>Formally Verified Data</a:t>
            </a:r>
            <a:endParaRPr sz="1500" b="1" i="0">
              <a:solidFill>
                <a:srgbClr val="FFFFFF"/>
              </a:solidFill>
            </a:endParaRPr>
          </a:p>
        </p:txBody>
      </p:sp>
      <p:sp>
        <p:nvSpPr>
          <p:cNvPr id="28" name="TextBox 27"/>
          <p:cNvSpPr txBox="1"/>
          <p:nvPr/>
        </p:nvSpPr>
        <p:spPr>
          <a:xfrm>
            <a:off x="1508760" y="5870448"/>
            <a:ext cx="5029200" cy="320040"/>
          </a:xfrm>
          <a:prstGeom prst="rect">
            <a:avLst/>
          </a:prstGeom>
          <a:noFill/>
        </p:spPr>
        <p:txBody>
          <a:bodyPr wrap="square">
            <a:spAutoFit/>
          </a:bodyPr>
          <a:lstStyle/>
          <a:p>
            <a:pPr algn="l"/>
            <a:r>
              <a:rPr sz="1150" b="0" i="0">
                <a:solidFill>
                  <a:srgbClr val="B0BCD4"/>
                </a:solidFill>
              </a:rPr>
              <a:t>Lean 4 · SMT solvers · ASIC-grade verification</a:t>
            </a:r>
            <a:endParaRPr sz="1150" b="0" i="0">
              <a:solidFill>
                <a:srgbClr val="B0BCD4"/>
              </a:solidFill>
            </a:endParaRPr>
          </a:p>
        </p:txBody>
      </p:sp>
      <p:sp>
        <p:nvSpPr>
          <p:cNvPr id="29" name="TextBox 28"/>
          <p:cNvSpPr txBox="1"/>
          <p:nvPr/>
        </p:nvSpPr>
        <p:spPr>
          <a:xfrm>
            <a:off x="7315200" y="5650992"/>
            <a:ext cx="4572000" cy="502920"/>
          </a:xfrm>
          <a:prstGeom prst="rect">
            <a:avLst/>
          </a:prstGeom>
          <a:noFill/>
        </p:spPr>
        <p:txBody>
          <a:bodyPr wrap="square">
            <a:spAutoFit/>
          </a:bodyPr>
          <a:lstStyle/>
          <a:p>
            <a:pPr algn="r"/>
            <a:r>
              <a:rPr sz="1100" b="0" i="0">
                <a:solidFill>
                  <a:srgbClr val="FFD700"/>
                </a:solidFill>
              </a:rPr>
              <a:t>Cost: Very High  ·  Physics: Certified  ·  Use: Safety-critical industrial AI</a:t>
            </a:r>
            <a:endParaRPr sz="1100" b="0" i="0">
              <a:solidFill>
                <a:srgbClr val="FFD700"/>
              </a:solidFill>
            </a:endParaRPr>
          </a:p>
        </p:txBody>
      </p:sp>
      <p:sp>
        <p:nvSpPr>
          <p:cNvPr id="30" name="TextBox 29"/>
          <p:cNvSpPr txBox="1"/>
          <p:nvPr/>
        </p:nvSpPr>
        <p:spPr>
          <a:xfrm>
            <a:off x="274320" y="6537960"/>
            <a:ext cx="11612880" cy="320040"/>
          </a:xfrm>
          <a:prstGeom prst="rect">
            <a:avLst/>
          </a:prstGeom>
          <a:noFill/>
        </p:spPr>
        <p:txBody>
          <a:bodyPr wrap="square">
            <a:spAutoFit/>
          </a:bodyPr>
          <a:lstStyle/>
          <a:p>
            <a:pPr algn="l"/>
            <a:r>
              <a:rPr sz="1300" b="1" i="0">
                <a:solidFill>
                  <a:srgbClr val="4DD0E1"/>
                </a:solidFill>
              </a:rPr>
              <a:t>Core Governance: Match the tier to the cost of failure.  Safety-critical = Tier 4 only.</a:t>
            </a:r>
            <a:endParaRPr sz="1300" b="1" i="0">
              <a:solidFill>
                <a:srgbClr val="4DD0E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0D1A"/>
        </a:solidFill>
        <a:effectLst/>
      </p:bgPr>
    </p:bg>
    <p:spTree>
      <p:nvGrpSpPr>
        <p:cNvPr id="1" name=""/>
        <p:cNvGrpSpPr/>
        <p:nvPr/>
      </p:nvGrpSpPr>
      <p:grpSpPr/>
      <p:sp>
        <p:nvSpPr>
          <p:cNvPr id="2" name="Rectangle 1"/>
          <p:cNvSpPr/>
          <p:nvPr/>
        </p:nvSpPr>
        <p:spPr>
          <a:xfrm>
            <a:off x="182880" y="182880"/>
            <a:ext cx="2377440" cy="2926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070D1A"/>
                </a:solidFill>
              </a:rPr>
              <a:t>MODULE 3 · SYNTHETIC DATA BRIDGE</a:t>
            </a:r>
            <a:endParaRPr sz="900" b="1">
              <a:solidFill>
                <a:srgbClr val="070D1A"/>
              </a:solidFill>
            </a:endParaRPr>
          </a:p>
        </p:txBody>
      </p:sp>
      <p:sp>
        <p:nvSpPr>
          <p:cNvPr id="3" name="TextBox 2"/>
          <p:cNvSpPr txBox="1"/>
          <p:nvPr/>
        </p:nvSpPr>
        <p:spPr>
          <a:xfrm>
            <a:off x="274320" y="566928"/>
            <a:ext cx="11430000" cy="822960"/>
          </a:xfrm>
          <a:prstGeom prst="rect">
            <a:avLst/>
          </a:prstGeom>
          <a:noFill/>
        </p:spPr>
        <p:txBody>
          <a:bodyPr wrap="square">
            <a:spAutoFit/>
          </a:bodyPr>
          <a:lstStyle/>
          <a:p>
            <a:pPr algn="l"/>
            <a:r>
              <a:rPr sz="3000" b="1" i="0">
                <a:solidFill>
                  <a:srgbClr val="FFFFFF"/>
                </a:solidFill>
              </a:rPr>
              <a:t>The Model Collapse Risk &amp; The Accumulate Strategy</a:t>
            </a:r>
            <a:endParaRPr sz="3000" b="1" i="0">
              <a:solidFill>
                <a:srgbClr val="FFFFFF"/>
              </a:solidFill>
            </a:endParaRPr>
          </a:p>
        </p:txBody>
      </p:sp>
      <p:sp>
        <p:nvSpPr>
          <p:cNvPr id="4" name="TextBox 3"/>
          <p:cNvSpPr txBox="1"/>
          <p:nvPr/>
        </p:nvSpPr>
        <p:spPr>
          <a:xfrm>
            <a:off x="274320" y="1298448"/>
            <a:ext cx="11430000" cy="365760"/>
          </a:xfrm>
          <a:prstGeom prst="rect">
            <a:avLst/>
          </a:prstGeom>
          <a:noFill/>
        </p:spPr>
        <p:txBody>
          <a:bodyPr wrap="square">
            <a:spAutoFit/>
          </a:bodyPr>
          <a:lstStyle/>
          <a:p>
            <a:pPr algn="l"/>
            <a:r>
              <a:rPr sz="1600" b="0" i="0">
                <a:solidFill>
                  <a:srgbClr val="C9A84C"/>
                </a:solidFill>
              </a:rPr>
              <a:t>The Single Most Important Governance Constraint</a:t>
            </a:r>
            <a:endParaRPr sz="1600" b="0" i="0">
              <a:solidFill>
                <a:srgbClr val="C9A84C"/>
              </a:solidFill>
            </a:endParaRPr>
          </a:p>
        </p:txBody>
      </p:sp>
      <p:sp>
        <p:nvSpPr>
          <p:cNvPr id="5" name="Rectangle 4"/>
          <p:cNvSpPr/>
          <p:nvPr/>
        </p:nvSpPr>
        <p:spPr>
          <a:xfrm>
            <a:off x="150876" y="1755648"/>
            <a:ext cx="1188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920240"/>
            <a:ext cx="5577840" cy="411480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920240"/>
            <a:ext cx="73152" cy="41148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993392"/>
            <a:ext cx="5212080" cy="347472"/>
          </a:xfrm>
          <a:prstGeom prst="rect">
            <a:avLst/>
          </a:prstGeom>
          <a:noFill/>
        </p:spPr>
        <p:txBody>
          <a:bodyPr wrap="square">
            <a:spAutoFit/>
          </a:bodyPr>
          <a:lstStyle/>
          <a:p>
            <a:pPr algn="l"/>
            <a:r>
              <a:rPr sz="1100" b="1" i="0">
                <a:solidFill>
                  <a:srgbClr val="FF4D4D"/>
                </a:solidFill>
              </a:rPr>
              <a:t>⚠  THE COLLAPSE RISK (Replace Strategy)</a:t>
            </a:r>
            <a:endParaRPr sz="1100" b="1" i="0">
              <a:solidFill>
                <a:srgbClr val="FF4D4D"/>
              </a:solidFill>
            </a:endParaRPr>
          </a:p>
        </p:txBody>
      </p:sp>
      <p:sp>
        <p:nvSpPr>
          <p:cNvPr id="9" name="TextBox 8"/>
          <p:cNvSpPr txBox="1"/>
          <p:nvPr/>
        </p:nvSpPr>
        <p:spPr>
          <a:xfrm>
            <a:off x="457200" y="2423160"/>
            <a:ext cx="5212080" cy="384048"/>
          </a:xfrm>
          <a:prstGeom prst="rect">
            <a:avLst/>
          </a:prstGeom>
          <a:noFill/>
        </p:spPr>
        <p:txBody>
          <a:bodyPr wrap="square">
            <a:spAutoFit/>
          </a:bodyPr>
          <a:lstStyle/>
          <a:p>
            <a:pPr algn="l"/>
            <a:r>
              <a:rPr sz="1500" b="1" i="0">
                <a:solidFill>
                  <a:srgbClr val="FFFFFF"/>
                </a:solidFill>
              </a:rPr>
              <a:t>Variance Collapse Theorem</a:t>
            </a:r>
            <a:endParaRPr sz="1500" b="1" i="0">
              <a:solidFill>
                <a:srgbClr val="FFFFFF"/>
              </a:solidFill>
            </a:endParaRPr>
          </a:p>
        </p:txBody>
      </p:sp>
      <p:pic>
        <p:nvPicPr>
          <p:cNvPr id="10" name="Picture 9" descr="image.png"/>
          <p:cNvPicPr>
            <a:picLocks noChangeAspect="1"/>
          </p:cNvPicPr>
          <p:nvPr/>
        </p:nvPicPr>
        <p:blipFill>
          <a:blip r:embed="rId1"/>
          <a:stretch>
            <a:fillRect/>
          </a:stretch>
        </p:blipFill>
        <p:spPr>
          <a:xfrm>
            <a:off x="640080" y="2907792"/>
            <a:ext cx="4754880" cy="960120"/>
          </a:xfrm>
          <a:prstGeom prst="rect">
            <a:avLst/>
          </a:prstGeom>
        </p:spPr>
      </p:pic>
      <p:sp>
        <p:nvSpPr>
          <p:cNvPr id="11" name="TextBox 10"/>
          <p:cNvSpPr txBox="1"/>
          <p:nvPr/>
        </p:nvSpPr>
        <p:spPr>
          <a:xfrm>
            <a:off x="457200" y="3977639"/>
            <a:ext cx="5212080" cy="1920240"/>
          </a:xfrm>
          <a:prstGeom prst="rect">
            <a:avLst/>
          </a:prstGeom>
          <a:noFill/>
        </p:spPr>
        <p:txBody>
          <a:bodyPr wrap="square">
            <a:spAutoFit/>
          </a:bodyPr>
          <a:lstStyle/>
          <a:p>
            <a:pPr algn="l"/>
            <a:r>
              <a:rPr sz="1300" b="0" i="0">
                <a:solidFill>
                  <a:srgbClr val="B0BCD4"/>
                </a:solidFill>
              </a:rPr>
              <a:t>Feeding a model its own unverified output causes its probability distribution to collapse onto its most likely modes.
Edge cases, failure states, and rare but critical scenarios are permanently forgotten.
Result: a confident, high-precision model that is catastrophically brittle.</a:t>
            </a:r>
            <a:endParaRPr sz="1300" b="0" i="0">
              <a:solidFill>
                <a:srgbClr val="B0BCD4"/>
              </a:solidFill>
            </a:endParaRPr>
          </a:p>
        </p:txBody>
      </p:sp>
      <p:sp>
        <p:nvSpPr>
          <p:cNvPr id="12" name="Rectangle 11"/>
          <p:cNvSpPr/>
          <p:nvPr/>
        </p:nvSpPr>
        <p:spPr>
          <a:xfrm>
            <a:off x="6080760" y="1920240"/>
            <a:ext cx="5989320" cy="411480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80760" y="1920240"/>
            <a:ext cx="73152" cy="41148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1993392"/>
            <a:ext cx="5577840" cy="347472"/>
          </a:xfrm>
          <a:prstGeom prst="rect">
            <a:avLst/>
          </a:prstGeom>
          <a:noFill/>
        </p:spPr>
        <p:txBody>
          <a:bodyPr wrap="square">
            <a:spAutoFit/>
          </a:bodyPr>
          <a:lstStyle/>
          <a:p>
            <a:pPr algn="l"/>
            <a:r>
              <a:rPr sz="1100" b="1" i="0">
                <a:solidFill>
                  <a:srgbClr val="C9A84C"/>
                </a:solidFill>
              </a:rPr>
              <a:t>✓  THE ACCUMULATE-AND-FILTER RESOLUTION</a:t>
            </a:r>
            <a:endParaRPr sz="1100" b="1" i="0">
              <a:solidFill>
                <a:srgbClr val="C9A84C"/>
              </a:solidFill>
            </a:endParaRPr>
          </a:p>
        </p:txBody>
      </p:sp>
      <p:sp>
        <p:nvSpPr>
          <p:cNvPr id="15" name="TextBox 14"/>
          <p:cNvSpPr txBox="1"/>
          <p:nvPr/>
        </p:nvSpPr>
        <p:spPr>
          <a:xfrm>
            <a:off x="6263640" y="2423160"/>
            <a:ext cx="5577840" cy="384048"/>
          </a:xfrm>
          <a:prstGeom prst="rect">
            <a:avLst/>
          </a:prstGeom>
          <a:noFill/>
        </p:spPr>
        <p:txBody>
          <a:bodyPr wrap="square">
            <a:spAutoFit/>
          </a:bodyPr>
          <a:lstStyle/>
          <a:p>
            <a:pPr algn="l"/>
            <a:r>
              <a:rPr sz="1500" b="1" i="0">
                <a:solidFill>
                  <a:srgbClr val="FFFFFF"/>
                </a:solidFill>
              </a:rPr>
              <a:t>Governed Data Mixture Equation</a:t>
            </a:r>
            <a:endParaRPr sz="1500" b="1" i="0">
              <a:solidFill>
                <a:srgbClr val="FFFFFF"/>
              </a:solidFill>
            </a:endParaRPr>
          </a:p>
        </p:txBody>
      </p:sp>
      <p:pic>
        <p:nvPicPr>
          <p:cNvPr id="16" name="Picture 15" descr="image.png"/>
          <p:cNvPicPr>
            <a:picLocks noChangeAspect="1"/>
          </p:cNvPicPr>
          <p:nvPr/>
        </p:nvPicPr>
        <p:blipFill>
          <a:blip r:embed="rId2"/>
          <a:stretch>
            <a:fillRect/>
          </a:stretch>
        </p:blipFill>
        <p:spPr>
          <a:xfrm>
            <a:off x="6172200" y="2907792"/>
            <a:ext cx="5760720" cy="960120"/>
          </a:xfrm>
          <a:prstGeom prst="rect">
            <a:avLst/>
          </a:prstGeom>
        </p:spPr>
      </p:pic>
      <p:sp>
        <p:nvSpPr>
          <p:cNvPr id="17" name="TextBox 16"/>
          <p:cNvSpPr txBox="1"/>
          <p:nvPr/>
        </p:nvSpPr>
        <p:spPr>
          <a:xfrm>
            <a:off x="6263640" y="3977639"/>
            <a:ext cx="5577840" cy="1920240"/>
          </a:xfrm>
          <a:prstGeom prst="rect">
            <a:avLst/>
          </a:prstGeom>
          <a:noFill/>
        </p:spPr>
        <p:txBody>
          <a:bodyPr wrap="square">
            <a:spAutoFit/>
          </a:bodyPr>
          <a:lstStyle/>
          <a:p>
            <a:pPr algn="l"/>
            <a:r>
              <a:rPr sz="1300" b="0" i="0">
                <a:solidFill>
                  <a:srgbClr val="B0BCD4"/>
                </a:solidFill>
              </a:rPr>
              <a:t>Maintain a strict ratio α between real data and verified synthetic data.
Only synthetic samples that pass the programmatic Verifier gate are admitted.
α is a board-level governance parameter — not a hyperparameter.</a:t>
            </a:r>
            <a:endParaRPr sz="1300" b="0" i="0">
              <a:solidFill>
                <a:srgbClr val="B0BCD4"/>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70D1A"/>
        </a:solidFill>
        <a:effectLst/>
      </p:bgPr>
    </p:bg>
    <p:spTree>
      <p:nvGrpSpPr>
        <p:cNvPr id="1" name=""/>
        <p:cNvGrpSpPr/>
        <p:nvPr/>
      </p:nvGrpSpPr>
      <p:grpSpPr/>
      <p:sp>
        <p:nvSpPr>
          <p:cNvPr id="2" name="Rectangle 1"/>
          <p:cNvSpPr/>
          <p:nvPr/>
        </p:nvSpPr>
        <p:spPr>
          <a:xfrm>
            <a:off x="182880" y="182880"/>
            <a:ext cx="2377440" cy="2926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070D1A"/>
                </a:solidFill>
              </a:rPr>
              <a:t>MODULE 3 · SYNTHETIC DATA BRIDGE</a:t>
            </a:r>
            <a:endParaRPr sz="900" b="1">
              <a:solidFill>
                <a:srgbClr val="070D1A"/>
              </a:solidFill>
            </a:endParaRPr>
          </a:p>
        </p:txBody>
      </p:sp>
      <p:sp>
        <p:nvSpPr>
          <p:cNvPr id="3" name="TextBox 2"/>
          <p:cNvSpPr txBox="1"/>
          <p:nvPr/>
        </p:nvSpPr>
        <p:spPr>
          <a:xfrm>
            <a:off x="274320" y="566928"/>
            <a:ext cx="11430000" cy="822960"/>
          </a:xfrm>
          <a:prstGeom prst="rect">
            <a:avLst/>
          </a:prstGeom>
          <a:noFill/>
        </p:spPr>
        <p:txBody>
          <a:bodyPr wrap="square">
            <a:spAutoFit/>
          </a:bodyPr>
          <a:lstStyle/>
          <a:p>
            <a:pPr algn="l"/>
            <a:r>
              <a:rPr sz="3400" b="1" i="0">
                <a:solidFill>
                  <a:srgbClr val="FFFFFF"/>
                </a:solidFill>
              </a:rPr>
              <a:t>Synthetic Reasoning via GRPO</a:t>
            </a:r>
            <a:endParaRPr sz="3400" b="1" i="0">
              <a:solidFill>
                <a:srgbClr val="FFFFFF"/>
              </a:solidFill>
            </a:endParaRPr>
          </a:p>
        </p:txBody>
      </p:sp>
      <p:sp>
        <p:nvSpPr>
          <p:cNvPr id="4" name="TextBox 3"/>
          <p:cNvSpPr txBox="1"/>
          <p:nvPr/>
        </p:nvSpPr>
        <p:spPr>
          <a:xfrm>
            <a:off x="274320" y="1298448"/>
            <a:ext cx="11430000" cy="365760"/>
          </a:xfrm>
          <a:prstGeom prst="rect">
            <a:avLst/>
          </a:prstGeom>
          <a:noFill/>
        </p:spPr>
        <p:txBody>
          <a:bodyPr wrap="square">
            <a:spAutoFit/>
          </a:bodyPr>
          <a:lstStyle/>
          <a:p>
            <a:pPr algn="l"/>
            <a:r>
              <a:rPr sz="1600" b="0" i="0">
                <a:solidFill>
                  <a:srgbClr val="C9A84C"/>
                </a:solidFill>
              </a:rPr>
              <a:t>Group Relative Policy Optimization — Scalable Reward Without Human Labels</a:t>
            </a:r>
            <a:endParaRPr sz="1600" b="0" i="0">
              <a:solidFill>
                <a:srgbClr val="C9A84C"/>
              </a:solidFill>
            </a:endParaRPr>
          </a:p>
        </p:txBody>
      </p:sp>
      <p:sp>
        <p:nvSpPr>
          <p:cNvPr id="5" name="Rectangle 4"/>
          <p:cNvSpPr/>
          <p:nvPr/>
        </p:nvSpPr>
        <p:spPr>
          <a:xfrm>
            <a:off x="150876" y="1755648"/>
            <a:ext cx="1188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920240"/>
            <a:ext cx="11612880" cy="173736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993392"/>
            <a:ext cx="11155680" cy="320040"/>
          </a:xfrm>
          <a:prstGeom prst="rect">
            <a:avLst/>
          </a:prstGeom>
          <a:noFill/>
        </p:spPr>
        <p:txBody>
          <a:bodyPr wrap="square">
            <a:spAutoFit/>
          </a:bodyPr>
          <a:lstStyle/>
          <a:p>
            <a:pPr algn="l"/>
            <a:r>
              <a:rPr sz="950" b="1" i="0">
                <a:solidFill>
                  <a:srgbClr val="C9A84C"/>
                </a:solidFill>
              </a:rPr>
              <a:t>GROUP RELATIVE ADVANTAGE ESTIMATOR</a:t>
            </a:r>
            <a:endParaRPr sz="950" b="1" i="0">
              <a:solidFill>
                <a:srgbClr val="C9A84C"/>
              </a:solidFill>
            </a:endParaRPr>
          </a:p>
        </p:txBody>
      </p:sp>
      <p:pic>
        <p:nvPicPr>
          <p:cNvPr id="8" name="Picture 7" descr="image.png"/>
          <p:cNvPicPr>
            <a:picLocks noChangeAspect="1"/>
          </p:cNvPicPr>
          <p:nvPr/>
        </p:nvPicPr>
        <p:blipFill>
          <a:blip r:embed="rId1"/>
          <a:stretch>
            <a:fillRect/>
          </a:stretch>
        </p:blipFill>
        <p:spPr>
          <a:xfrm>
            <a:off x="1828800" y="2359152"/>
            <a:ext cx="8412480" cy="1078992"/>
          </a:xfrm>
          <a:prstGeom prst="rect">
            <a:avLst/>
          </a:prstGeom>
        </p:spPr>
      </p:pic>
      <p:sp>
        <p:nvSpPr>
          <p:cNvPr id="9" name="Rectangle 8"/>
          <p:cNvSpPr/>
          <p:nvPr/>
        </p:nvSpPr>
        <p:spPr>
          <a:xfrm>
            <a:off x="274320" y="3822191"/>
            <a:ext cx="3749039" cy="237744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79" y="3913632"/>
            <a:ext cx="640080" cy="502920"/>
          </a:xfrm>
          <a:prstGeom prst="rect">
            <a:avLst/>
          </a:prstGeom>
          <a:noFill/>
        </p:spPr>
        <p:txBody>
          <a:bodyPr wrap="square">
            <a:spAutoFit/>
          </a:bodyPr>
          <a:lstStyle/>
          <a:p>
            <a:pPr algn="l"/>
            <a:r>
              <a:rPr sz="2600" b="1" i="0">
                <a:solidFill>
                  <a:srgbClr val="4DD0E1"/>
                </a:solidFill>
              </a:rPr>
              <a:t>01</a:t>
            </a:r>
            <a:endParaRPr sz="2600" b="1" i="0">
              <a:solidFill>
                <a:srgbClr val="4DD0E1"/>
              </a:solidFill>
            </a:endParaRPr>
          </a:p>
        </p:txBody>
      </p:sp>
      <p:sp>
        <p:nvSpPr>
          <p:cNvPr id="11" name="TextBox 10"/>
          <p:cNvSpPr txBox="1"/>
          <p:nvPr/>
        </p:nvSpPr>
        <p:spPr>
          <a:xfrm>
            <a:off x="411479" y="4434840"/>
            <a:ext cx="3474720" cy="384048"/>
          </a:xfrm>
          <a:prstGeom prst="rect">
            <a:avLst/>
          </a:prstGeom>
          <a:noFill/>
        </p:spPr>
        <p:txBody>
          <a:bodyPr wrap="square">
            <a:spAutoFit/>
          </a:bodyPr>
          <a:lstStyle/>
          <a:p>
            <a:pPr algn="l"/>
            <a:r>
              <a:rPr sz="1500" b="1" i="0">
                <a:solidFill>
                  <a:srgbClr val="FFFFFF"/>
                </a:solidFill>
              </a:rPr>
              <a:t>Sample Group</a:t>
            </a:r>
            <a:endParaRPr sz="1500" b="1" i="0">
              <a:solidFill>
                <a:srgbClr val="FFFFFF"/>
              </a:solidFill>
            </a:endParaRPr>
          </a:p>
        </p:txBody>
      </p:sp>
      <p:sp>
        <p:nvSpPr>
          <p:cNvPr id="12" name="TextBox 11"/>
          <p:cNvSpPr txBox="1"/>
          <p:nvPr/>
        </p:nvSpPr>
        <p:spPr>
          <a:xfrm>
            <a:off x="411479" y="4864608"/>
            <a:ext cx="3474720" cy="1234440"/>
          </a:xfrm>
          <a:prstGeom prst="rect">
            <a:avLst/>
          </a:prstGeom>
          <a:noFill/>
        </p:spPr>
        <p:txBody>
          <a:bodyPr wrap="square">
            <a:spAutoFit/>
          </a:bodyPr>
          <a:lstStyle/>
          <a:p>
            <a:pPr algn="l"/>
            <a:r>
              <a:rPr sz="1250" b="0" i="0">
                <a:solidFill>
                  <a:srgbClr val="B0BCD4"/>
                </a:solidFill>
              </a:rPr>
              <a:t>Generate G candidate trajectories from the current policy π.</a:t>
            </a:r>
            <a:endParaRPr sz="1250" b="0" i="0">
              <a:solidFill>
                <a:srgbClr val="B0BCD4"/>
              </a:solidFill>
            </a:endParaRPr>
          </a:p>
        </p:txBody>
      </p:sp>
      <p:sp>
        <p:nvSpPr>
          <p:cNvPr id="13" name="Rectangle 12"/>
          <p:cNvSpPr/>
          <p:nvPr/>
        </p:nvSpPr>
        <p:spPr>
          <a:xfrm>
            <a:off x="4206240" y="3822191"/>
            <a:ext cx="3749039" cy="237744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3400" y="3913632"/>
            <a:ext cx="640080" cy="502920"/>
          </a:xfrm>
          <a:prstGeom prst="rect">
            <a:avLst/>
          </a:prstGeom>
          <a:noFill/>
        </p:spPr>
        <p:txBody>
          <a:bodyPr wrap="square">
            <a:spAutoFit/>
          </a:bodyPr>
          <a:lstStyle/>
          <a:p>
            <a:pPr algn="l"/>
            <a:r>
              <a:rPr sz="2600" b="1" i="0">
                <a:solidFill>
                  <a:srgbClr val="C9A84C"/>
                </a:solidFill>
              </a:rPr>
              <a:t>02</a:t>
            </a:r>
            <a:endParaRPr sz="2600" b="1" i="0">
              <a:solidFill>
                <a:srgbClr val="C9A84C"/>
              </a:solidFill>
            </a:endParaRPr>
          </a:p>
        </p:txBody>
      </p:sp>
      <p:sp>
        <p:nvSpPr>
          <p:cNvPr id="15" name="TextBox 14"/>
          <p:cNvSpPr txBox="1"/>
          <p:nvPr/>
        </p:nvSpPr>
        <p:spPr>
          <a:xfrm>
            <a:off x="4343400" y="4434840"/>
            <a:ext cx="3474720" cy="384048"/>
          </a:xfrm>
          <a:prstGeom prst="rect">
            <a:avLst/>
          </a:prstGeom>
          <a:noFill/>
        </p:spPr>
        <p:txBody>
          <a:bodyPr wrap="square">
            <a:spAutoFit/>
          </a:bodyPr>
          <a:lstStyle/>
          <a:p>
            <a:pPr algn="l"/>
            <a:r>
              <a:rPr sz="1500" b="1" i="0">
                <a:solidFill>
                  <a:srgbClr val="FFFFFF"/>
                </a:solidFill>
              </a:rPr>
              <a:t>Score via Verifier</a:t>
            </a:r>
            <a:endParaRPr sz="1500" b="1" i="0">
              <a:solidFill>
                <a:srgbClr val="FFFFFF"/>
              </a:solidFill>
            </a:endParaRPr>
          </a:p>
        </p:txBody>
      </p:sp>
      <p:sp>
        <p:nvSpPr>
          <p:cNvPr id="16" name="TextBox 15"/>
          <p:cNvSpPr txBox="1"/>
          <p:nvPr/>
        </p:nvSpPr>
        <p:spPr>
          <a:xfrm>
            <a:off x="4343400" y="4864608"/>
            <a:ext cx="3474720" cy="1234440"/>
          </a:xfrm>
          <a:prstGeom prst="rect">
            <a:avLst/>
          </a:prstGeom>
          <a:noFill/>
        </p:spPr>
        <p:txBody>
          <a:bodyPr wrap="square">
            <a:spAutoFit/>
          </a:bodyPr>
          <a:lstStyle/>
          <a:p>
            <a:pPr algn="l"/>
            <a:r>
              <a:rPr sz="1250" b="0" i="0">
                <a:solidFill>
                  <a:srgbClr val="B0BCD4"/>
                </a:solidFill>
              </a:rPr>
              <a:t>A deterministic physics engine / compiler assigns reward r_i to each trajectory — no human graders.</a:t>
            </a:r>
            <a:endParaRPr sz="1250" b="0" i="0">
              <a:solidFill>
                <a:srgbClr val="B0BCD4"/>
              </a:solidFill>
            </a:endParaRPr>
          </a:p>
        </p:txBody>
      </p:sp>
      <p:sp>
        <p:nvSpPr>
          <p:cNvPr id="17" name="Rectangle 16"/>
          <p:cNvSpPr/>
          <p:nvPr/>
        </p:nvSpPr>
        <p:spPr>
          <a:xfrm>
            <a:off x="8138160" y="3822191"/>
            <a:ext cx="3749039" cy="237744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3913632"/>
            <a:ext cx="640080" cy="502920"/>
          </a:xfrm>
          <a:prstGeom prst="rect">
            <a:avLst/>
          </a:prstGeom>
          <a:noFill/>
        </p:spPr>
        <p:txBody>
          <a:bodyPr wrap="square">
            <a:spAutoFit/>
          </a:bodyPr>
          <a:lstStyle/>
          <a:p>
            <a:pPr algn="l"/>
            <a:r>
              <a:rPr sz="2600" b="1" i="0">
                <a:solidFill>
                  <a:srgbClr val="4DD0E1"/>
                </a:solidFill>
              </a:rPr>
              <a:t>03</a:t>
            </a:r>
            <a:endParaRPr sz="2600" b="1" i="0">
              <a:solidFill>
                <a:srgbClr val="4DD0E1"/>
              </a:solidFill>
            </a:endParaRPr>
          </a:p>
        </p:txBody>
      </p:sp>
      <p:sp>
        <p:nvSpPr>
          <p:cNvPr id="19" name="TextBox 18"/>
          <p:cNvSpPr txBox="1"/>
          <p:nvPr/>
        </p:nvSpPr>
        <p:spPr>
          <a:xfrm>
            <a:off x="8275320" y="4434840"/>
            <a:ext cx="3474720" cy="384048"/>
          </a:xfrm>
          <a:prstGeom prst="rect">
            <a:avLst/>
          </a:prstGeom>
          <a:noFill/>
        </p:spPr>
        <p:txBody>
          <a:bodyPr wrap="square">
            <a:spAutoFit/>
          </a:bodyPr>
          <a:lstStyle/>
          <a:p>
            <a:pPr algn="l"/>
            <a:r>
              <a:rPr sz="1500" b="1" i="0">
                <a:solidFill>
                  <a:srgbClr val="FFFFFF"/>
                </a:solidFill>
              </a:rPr>
              <a:t>Compute Advantage</a:t>
            </a:r>
            <a:endParaRPr sz="1500" b="1" i="0">
              <a:solidFill>
                <a:srgbClr val="FFFFFF"/>
              </a:solidFill>
            </a:endParaRPr>
          </a:p>
        </p:txBody>
      </p:sp>
      <p:sp>
        <p:nvSpPr>
          <p:cNvPr id="20" name="TextBox 19"/>
          <p:cNvSpPr txBox="1"/>
          <p:nvPr/>
        </p:nvSpPr>
        <p:spPr>
          <a:xfrm>
            <a:off x="8275320" y="4864608"/>
            <a:ext cx="3474720" cy="1234440"/>
          </a:xfrm>
          <a:prstGeom prst="rect">
            <a:avLst/>
          </a:prstGeom>
          <a:noFill/>
        </p:spPr>
        <p:txBody>
          <a:bodyPr wrap="square">
            <a:spAutoFit/>
          </a:bodyPr>
          <a:lstStyle/>
          <a:p>
            <a:pPr algn="l"/>
            <a:r>
              <a:rPr sz="1250" b="0" i="0">
                <a:solidFill>
                  <a:srgbClr val="B0BCD4"/>
                </a:solidFill>
              </a:rPr>
              <a:t>Normalize r_i against group mean and std. Train only on relative quality signal. No critic network needed.</a:t>
            </a:r>
            <a:endParaRPr sz="1250" b="0" i="0">
              <a:solidFill>
                <a:srgbClr val="B0BCD4"/>
              </a:solidFill>
            </a:endParaRPr>
          </a:p>
        </p:txBody>
      </p:sp>
      <p:sp>
        <p:nvSpPr>
          <p:cNvPr id="21" name="TextBox 20"/>
          <p:cNvSpPr txBox="1"/>
          <p:nvPr/>
        </p:nvSpPr>
        <p:spPr>
          <a:xfrm>
            <a:off x="274320" y="6355080"/>
            <a:ext cx="11612880" cy="411480"/>
          </a:xfrm>
          <a:prstGeom prst="rect">
            <a:avLst/>
          </a:prstGeom>
          <a:noFill/>
        </p:spPr>
        <p:txBody>
          <a:bodyPr wrap="square">
            <a:spAutoFit/>
          </a:bodyPr>
          <a:lstStyle/>
          <a:p>
            <a:pPr algn="ctr"/>
            <a:r>
              <a:rPr sz="1300" b="1" i="0">
                <a:solidFill>
                  <a:srgbClr val="FFFFFF"/>
                </a:solidFill>
              </a:rPr>
              <a:t>The model teaches itself — verifiable tasks (robotics, code, physics) provide free, infinite, high-quality training signal.</a:t>
            </a:r>
            <a:endParaRPr sz="1300" b="1" i="0">
              <a:solidFill>
                <a:srgbClr val="FFFFF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70D1A"/>
        </a:solidFill>
        <a:effectLst/>
      </p:bgPr>
    </p:bg>
    <p:spTree>
      <p:nvGrpSpPr>
        <p:cNvPr id="1" name=""/>
        <p:cNvGrpSpPr/>
        <p:nvPr/>
      </p:nvGrpSpPr>
      <p:grpSpPr/>
      <p:sp>
        <p:nvSpPr>
          <p:cNvPr id="2" name="Rectangle 1"/>
          <p:cNvSpPr/>
          <p:nvPr/>
        </p:nvSpPr>
        <p:spPr>
          <a:xfrm>
            <a:off x="182880" y="182880"/>
            <a:ext cx="2377440" cy="2926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070D1A"/>
                </a:solidFill>
              </a:rPr>
              <a:t>MODULE 3 · SYNTHETIC DATA BRIDGE</a:t>
            </a:r>
            <a:endParaRPr sz="900" b="1">
              <a:solidFill>
                <a:srgbClr val="070D1A"/>
              </a:solidFill>
            </a:endParaRPr>
          </a:p>
        </p:txBody>
      </p:sp>
      <p:sp>
        <p:nvSpPr>
          <p:cNvPr id="3" name="TextBox 2"/>
          <p:cNvSpPr txBox="1"/>
          <p:nvPr/>
        </p:nvSpPr>
        <p:spPr>
          <a:xfrm>
            <a:off x="274320" y="566928"/>
            <a:ext cx="11430000" cy="822960"/>
          </a:xfrm>
          <a:prstGeom prst="rect">
            <a:avLst/>
          </a:prstGeom>
          <a:noFill/>
        </p:spPr>
        <p:txBody>
          <a:bodyPr wrap="square">
            <a:spAutoFit/>
          </a:bodyPr>
          <a:lstStyle/>
          <a:p>
            <a:pPr algn="l"/>
            <a:r>
              <a:rPr sz="3200" b="1" i="0">
                <a:solidFill>
                  <a:srgbClr val="FFFFFF"/>
                </a:solidFill>
              </a:rPr>
              <a:t>Physics-Informed Neural Networks (PINNs)</a:t>
            </a:r>
            <a:endParaRPr sz="3200" b="1" i="0">
              <a:solidFill>
                <a:srgbClr val="FFFFFF"/>
              </a:solidFill>
            </a:endParaRPr>
          </a:p>
        </p:txBody>
      </p:sp>
      <p:sp>
        <p:nvSpPr>
          <p:cNvPr id="4" name="TextBox 3"/>
          <p:cNvSpPr txBox="1"/>
          <p:nvPr/>
        </p:nvSpPr>
        <p:spPr>
          <a:xfrm>
            <a:off x="274320" y="1298448"/>
            <a:ext cx="11430000" cy="365760"/>
          </a:xfrm>
          <a:prstGeom prst="rect">
            <a:avLst/>
          </a:prstGeom>
          <a:noFill/>
        </p:spPr>
        <p:txBody>
          <a:bodyPr wrap="square">
            <a:spAutoFit/>
          </a:bodyPr>
          <a:lstStyle/>
          <a:p>
            <a:pPr algn="l"/>
            <a:r>
              <a:rPr sz="1600" b="0" i="0">
                <a:solidFill>
                  <a:srgbClr val="C9A84C"/>
                </a:solidFill>
              </a:rPr>
              <a:t>Enforcing Physical Laws as Hard Constraints During Synthetic Generation</a:t>
            </a:r>
            <a:endParaRPr sz="1600" b="0" i="0">
              <a:solidFill>
                <a:srgbClr val="C9A84C"/>
              </a:solidFill>
            </a:endParaRPr>
          </a:p>
        </p:txBody>
      </p:sp>
      <p:sp>
        <p:nvSpPr>
          <p:cNvPr id="5" name="Rectangle 4"/>
          <p:cNvSpPr/>
          <p:nvPr/>
        </p:nvSpPr>
        <p:spPr>
          <a:xfrm>
            <a:off x="150876" y="1755648"/>
            <a:ext cx="1188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920240"/>
            <a:ext cx="11612880" cy="192024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993392"/>
            <a:ext cx="11155680" cy="320040"/>
          </a:xfrm>
          <a:prstGeom prst="rect">
            <a:avLst/>
          </a:prstGeom>
          <a:noFill/>
        </p:spPr>
        <p:txBody>
          <a:bodyPr wrap="square">
            <a:spAutoFit/>
          </a:bodyPr>
          <a:lstStyle/>
          <a:p>
            <a:pPr algn="l"/>
            <a:r>
              <a:rPr sz="950" b="1" i="0">
                <a:solidFill>
                  <a:srgbClr val="C9A84C"/>
                </a:solidFill>
              </a:rPr>
              <a:t>PINN AUGMENTED LOSS FUNCTION</a:t>
            </a:r>
            <a:endParaRPr sz="950" b="1" i="0">
              <a:solidFill>
                <a:srgbClr val="C9A84C"/>
              </a:solidFill>
            </a:endParaRPr>
          </a:p>
        </p:txBody>
      </p:sp>
      <p:pic>
        <p:nvPicPr>
          <p:cNvPr id="8" name="Picture 7" descr="image.png"/>
          <p:cNvPicPr>
            <a:picLocks noChangeAspect="1"/>
          </p:cNvPicPr>
          <p:nvPr/>
        </p:nvPicPr>
        <p:blipFill>
          <a:blip r:embed="rId1"/>
          <a:stretch>
            <a:fillRect/>
          </a:stretch>
        </p:blipFill>
        <p:spPr>
          <a:xfrm>
            <a:off x="1097280" y="2340864"/>
            <a:ext cx="9875520" cy="1234440"/>
          </a:xfrm>
          <a:prstGeom prst="rect">
            <a:avLst/>
          </a:prstGeom>
        </p:spPr>
      </p:pic>
      <p:sp>
        <p:nvSpPr>
          <p:cNvPr id="9" name="Rectangle 8"/>
          <p:cNvSpPr/>
          <p:nvPr/>
        </p:nvSpPr>
        <p:spPr>
          <a:xfrm>
            <a:off x="457200" y="3977639"/>
            <a:ext cx="5486400" cy="59436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4050791"/>
            <a:ext cx="1828800" cy="457200"/>
          </a:xfrm>
          <a:prstGeom prst="rect">
            <a:avLst/>
          </a:prstGeom>
          <a:noFill/>
        </p:spPr>
        <p:txBody>
          <a:bodyPr wrap="square">
            <a:spAutoFit/>
          </a:bodyPr>
          <a:lstStyle/>
          <a:p>
            <a:pPr algn="l"/>
            <a:r>
              <a:rPr sz="1300" b="1" i="0">
                <a:solidFill>
                  <a:srgbClr val="B0BCD4"/>
                </a:solidFill>
              </a:rPr>
              <a:t>ℒ_data</a:t>
            </a:r>
            <a:endParaRPr sz="1300" b="1" i="0">
              <a:solidFill>
                <a:srgbClr val="B0BCD4"/>
              </a:solidFill>
            </a:endParaRPr>
          </a:p>
        </p:txBody>
      </p:sp>
      <p:sp>
        <p:nvSpPr>
          <p:cNvPr id="11" name="TextBox 10"/>
          <p:cNvSpPr txBox="1"/>
          <p:nvPr/>
        </p:nvSpPr>
        <p:spPr>
          <a:xfrm>
            <a:off x="2423160" y="4050791"/>
            <a:ext cx="3383280" cy="475488"/>
          </a:xfrm>
          <a:prstGeom prst="rect">
            <a:avLst/>
          </a:prstGeom>
          <a:noFill/>
        </p:spPr>
        <p:txBody>
          <a:bodyPr wrap="square">
            <a:spAutoFit/>
          </a:bodyPr>
          <a:lstStyle/>
          <a:p>
            <a:pPr algn="l"/>
            <a:r>
              <a:rPr sz="1200" b="0" i="0">
                <a:solidFill>
                  <a:srgbClr val="B0BCD4"/>
                </a:solidFill>
              </a:rPr>
              <a:t>Empirical fit to measured sensor telemetry</a:t>
            </a:r>
            <a:endParaRPr sz="1200" b="0" i="0">
              <a:solidFill>
                <a:srgbClr val="B0BCD4"/>
              </a:solidFill>
            </a:endParaRPr>
          </a:p>
        </p:txBody>
      </p:sp>
      <p:sp>
        <p:nvSpPr>
          <p:cNvPr id="12" name="Rectangle 11"/>
          <p:cNvSpPr/>
          <p:nvPr/>
        </p:nvSpPr>
        <p:spPr>
          <a:xfrm>
            <a:off x="6172200" y="3977639"/>
            <a:ext cx="5486400" cy="59436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81928" y="4050791"/>
            <a:ext cx="1828800" cy="457200"/>
          </a:xfrm>
          <a:prstGeom prst="rect">
            <a:avLst/>
          </a:prstGeom>
          <a:noFill/>
        </p:spPr>
        <p:txBody>
          <a:bodyPr wrap="square">
            <a:spAutoFit/>
          </a:bodyPr>
          <a:lstStyle/>
          <a:p>
            <a:pPr algn="l"/>
            <a:r>
              <a:rPr sz="1300" b="1" i="0">
                <a:solidFill>
                  <a:srgbClr val="C9A84C"/>
                </a:solidFill>
              </a:rPr>
              <a:t>λ_pinn · ‖…‖²</a:t>
            </a:r>
            <a:endParaRPr sz="1300" b="1" i="0">
              <a:solidFill>
                <a:srgbClr val="C9A84C"/>
              </a:solidFill>
            </a:endParaRPr>
          </a:p>
        </p:txBody>
      </p:sp>
      <p:sp>
        <p:nvSpPr>
          <p:cNvPr id="14" name="TextBox 13"/>
          <p:cNvSpPr txBox="1"/>
          <p:nvPr/>
        </p:nvSpPr>
        <p:spPr>
          <a:xfrm>
            <a:off x="8138160" y="4050791"/>
            <a:ext cx="3383280" cy="475488"/>
          </a:xfrm>
          <a:prstGeom prst="rect">
            <a:avLst/>
          </a:prstGeom>
          <a:noFill/>
        </p:spPr>
        <p:txBody>
          <a:bodyPr wrap="square">
            <a:spAutoFit/>
          </a:bodyPr>
          <a:lstStyle/>
          <a:p>
            <a:pPr algn="l"/>
            <a:r>
              <a:rPr sz="1200" b="0" i="0">
                <a:solidFill>
                  <a:srgbClr val="B0BCD4"/>
                </a:solidFill>
              </a:rPr>
              <a:t>Physics residual penalty — forces the model to obey the governing PDE</a:t>
            </a:r>
            <a:endParaRPr sz="1200" b="0" i="0">
              <a:solidFill>
                <a:srgbClr val="B0BCD4"/>
              </a:solidFill>
            </a:endParaRPr>
          </a:p>
        </p:txBody>
      </p:sp>
      <p:sp>
        <p:nvSpPr>
          <p:cNvPr id="15" name="Rectangle 14"/>
          <p:cNvSpPr/>
          <p:nvPr/>
        </p:nvSpPr>
        <p:spPr>
          <a:xfrm>
            <a:off x="457200" y="4690872"/>
            <a:ext cx="5486400" cy="59436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4764024"/>
            <a:ext cx="1828800" cy="457200"/>
          </a:xfrm>
          <a:prstGeom prst="rect">
            <a:avLst/>
          </a:prstGeom>
          <a:noFill/>
        </p:spPr>
        <p:txBody>
          <a:bodyPr wrap="square">
            <a:spAutoFit/>
          </a:bodyPr>
          <a:lstStyle/>
          <a:p>
            <a:pPr algn="l"/>
            <a:r>
              <a:rPr sz="1300" b="1" i="0">
                <a:solidFill>
                  <a:srgbClr val="B0BCD4"/>
                </a:solidFill>
              </a:rPr>
              <a:t>∂u/∂t</a:t>
            </a:r>
            <a:endParaRPr sz="1300" b="1" i="0">
              <a:solidFill>
                <a:srgbClr val="B0BCD4"/>
              </a:solidFill>
            </a:endParaRPr>
          </a:p>
        </p:txBody>
      </p:sp>
      <p:sp>
        <p:nvSpPr>
          <p:cNvPr id="17" name="TextBox 16"/>
          <p:cNvSpPr txBox="1"/>
          <p:nvPr/>
        </p:nvSpPr>
        <p:spPr>
          <a:xfrm>
            <a:off x="2423160" y="4764024"/>
            <a:ext cx="3383280" cy="475488"/>
          </a:xfrm>
          <a:prstGeom prst="rect">
            <a:avLst/>
          </a:prstGeom>
          <a:noFill/>
        </p:spPr>
        <p:txBody>
          <a:bodyPr wrap="square">
            <a:spAutoFit/>
          </a:bodyPr>
          <a:lstStyle/>
          <a:p>
            <a:pPr algn="l"/>
            <a:r>
              <a:rPr sz="1200" b="0" i="0">
                <a:solidFill>
                  <a:srgbClr val="B0BCD4"/>
                </a:solidFill>
              </a:rPr>
              <a:t>Time derivative of the physical field (temperature, stress, velocity…)</a:t>
            </a:r>
            <a:endParaRPr sz="1200" b="0" i="0">
              <a:solidFill>
                <a:srgbClr val="B0BCD4"/>
              </a:solidFill>
            </a:endParaRPr>
          </a:p>
        </p:txBody>
      </p:sp>
      <p:sp>
        <p:nvSpPr>
          <p:cNvPr id="18" name="Rectangle 17"/>
          <p:cNvSpPr/>
          <p:nvPr/>
        </p:nvSpPr>
        <p:spPr>
          <a:xfrm>
            <a:off x="6172200" y="4690872"/>
            <a:ext cx="5486400" cy="59436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81928" y="4764024"/>
            <a:ext cx="1828800" cy="457200"/>
          </a:xfrm>
          <a:prstGeom prst="rect">
            <a:avLst/>
          </a:prstGeom>
          <a:noFill/>
        </p:spPr>
        <p:txBody>
          <a:bodyPr wrap="square">
            <a:spAutoFit/>
          </a:bodyPr>
          <a:lstStyle/>
          <a:p>
            <a:pPr algn="l"/>
            <a:r>
              <a:rPr sz="1300" b="1" i="0">
                <a:solidFill>
                  <a:srgbClr val="4DD0E1"/>
                </a:solidFill>
              </a:rPr>
              <a:t>𝒩[u]</a:t>
            </a:r>
            <a:endParaRPr sz="1300" b="1" i="0">
              <a:solidFill>
                <a:srgbClr val="4DD0E1"/>
              </a:solidFill>
            </a:endParaRPr>
          </a:p>
        </p:txBody>
      </p:sp>
      <p:sp>
        <p:nvSpPr>
          <p:cNvPr id="20" name="TextBox 19"/>
          <p:cNvSpPr txBox="1"/>
          <p:nvPr/>
        </p:nvSpPr>
        <p:spPr>
          <a:xfrm>
            <a:off x="8138160" y="4764024"/>
            <a:ext cx="3383280" cy="475488"/>
          </a:xfrm>
          <a:prstGeom prst="rect">
            <a:avLst/>
          </a:prstGeom>
          <a:noFill/>
        </p:spPr>
        <p:txBody>
          <a:bodyPr wrap="square">
            <a:spAutoFit/>
          </a:bodyPr>
          <a:lstStyle/>
          <a:p>
            <a:pPr algn="l"/>
            <a:r>
              <a:rPr sz="1200" b="0" i="0">
                <a:solidFill>
                  <a:srgbClr val="B0BCD4"/>
                </a:solidFill>
              </a:rPr>
              <a:t>Differential operator encoding physical law (Navier-Stokes, elasticity, thermodynamics)</a:t>
            </a:r>
            <a:endParaRPr sz="1200" b="0" i="0">
              <a:solidFill>
                <a:srgbClr val="B0BCD4"/>
              </a:solidFill>
            </a:endParaRPr>
          </a:p>
        </p:txBody>
      </p:sp>
      <p:sp>
        <p:nvSpPr>
          <p:cNvPr id="21" name="Rectangle 20"/>
          <p:cNvSpPr/>
          <p:nvPr/>
        </p:nvSpPr>
        <p:spPr>
          <a:xfrm>
            <a:off x="457200" y="5404104"/>
            <a:ext cx="5486400" cy="59436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5477256"/>
            <a:ext cx="1828800" cy="457200"/>
          </a:xfrm>
          <a:prstGeom prst="rect">
            <a:avLst/>
          </a:prstGeom>
          <a:noFill/>
        </p:spPr>
        <p:txBody>
          <a:bodyPr wrap="square">
            <a:spAutoFit/>
          </a:bodyPr>
          <a:lstStyle/>
          <a:p>
            <a:pPr algn="l"/>
            <a:r>
              <a:rPr sz="1300" b="1" i="0">
                <a:solidFill>
                  <a:srgbClr val="B0BCD4"/>
                </a:solidFill>
              </a:rPr>
              <a:t>f</a:t>
            </a:r>
            <a:endParaRPr sz="1300" b="1" i="0">
              <a:solidFill>
                <a:srgbClr val="B0BCD4"/>
              </a:solidFill>
            </a:endParaRPr>
          </a:p>
        </p:txBody>
      </p:sp>
      <p:sp>
        <p:nvSpPr>
          <p:cNvPr id="23" name="TextBox 22"/>
          <p:cNvSpPr txBox="1"/>
          <p:nvPr/>
        </p:nvSpPr>
        <p:spPr>
          <a:xfrm>
            <a:off x="2423160" y="5477256"/>
            <a:ext cx="3383280" cy="475488"/>
          </a:xfrm>
          <a:prstGeom prst="rect">
            <a:avLst/>
          </a:prstGeom>
          <a:noFill/>
        </p:spPr>
        <p:txBody>
          <a:bodyPr wrap="square">
            <a:spAutoFit/>
          </a:bodyPr>
          <a:lstStyle/>
          <a:p>
            <a:pPr algn="l"/>
            <a:r>
              <a:rPr sz="1200" b="0" i="0">
                <a:solidFill>
                  <a:srgbClr val="B0BCD4"/>
                </a:solidFill>
              </a:rPr>
              <a:t>Known external forcing term (loads, heat sources, boundary conditions)</a:t>
            </a:r>
            <a:endParaRPr sz="1200" b="0" i="0">
              <a:solidFill>
                <a:srgbClr val="B0BCD4"/>
              </a:solidFill>
            </a:endParaRPr>
          </a:p>
        </p:txBody>
      </p:sp>
      <p:sp>
        <p:nvSpPr>
          <p:cNvPr id="24" name="TextBox 23"/>
          <p:cNvSpPr txBox="1"/>
          <p:nvPr/>
        </p:nvSpPr>
        <p:spPr>
          <a:xfrm>
            <a:off x="274320" y="6537960"/>
            <a:ext cx="11612880" cy="320040"/>
          </a:xfrm>
          <a:prstGeom prst="rect">
            <a:avLst/>
          </a:prstGeom>
          <a:noFill/>
        </p:spPr>
        <p:txBody>
          <a:bodyPr wrap="square">
            <a:spAutoFit/>
          </a:bodyPr>
          <a:lstStyle/>
          <a:p>
            <a:pPr algn="l"/>
            <a:r>
              <a:rPr sz="1300" b="1" i="0">
                <a:solidFill>
                  <a:srgbClr val="4DD0E1"/>
                </a:solidFill>
              </a:rPr>
              <a:t>PINNs close the Executability Gap. Synthetic data generated under PINN constraints obeys the laws of physics — guaranteed.</a:t>
            </a:r>
            <a:endParaRPr sz="1300" b="1" i="0">
              <a:solidFill>
                <a:srgbClr val="4DD0E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70D1A"/>
        </a:solidFill>
        <a:effectLst/>
      </p:bgPr>
    </p:bg>
    <p:spTree>
      <p:nvGrpSpPr>
        <p:cNvPr id="1" name=""/>
        <p:cNvGrpSpPr/>
        <p:nvPr/>
      </p:nvGrpSpPr>
      <p:grpSpPr/>
      <p:sp>
        <p:nvSpPr>
          <p:cNvPr id="2" name="Rectangle 1"/>
          <p:cNvSpPr/>
          <p:nvPr/>
        </p:nvSpPr>
        <p:spPr>
          <a:xfrm>
            <a:off x="182880" y="182880"/>
            <a:ext cx="2377440" cy="2926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070D1A"/>
                </a:solidFill>
              </a:rPr>
              <a:t>MODULE 3 · SYNTHETIC DATA BRIDGE</a:t>
            </a:r>
            <a:endParaRPr sz="900" b="1">
              <a:solidFill>
                <a:srgbClr val="070D1A"/>
              </a:solidFill>
            </a:endParaRPr>
          </a:p>
        </p:txBody>
      </p:sp>
      <p:sp>
        <p:nvSpPr>
          <p:cNvPr id="3" name="TextBox 2"/>
          <p:cNvSpPr txBox="1"/>
          <p:nvPr/>
        </p:nvSpPr>
        <p:spPr>
          <a:xfrm>
            <a:off x="274320" y="566928"/>
            <a:ext cx="11430000" cy="822960"/>
          </a:xfrm>
          <a:prstGeom prst="rect">
            <a:avLst/>
          </a:prstGeom>
          <a:noFill/>
        </p:spPr>
        <p:txBody>
          <a:bodyPr wrap="square">
            <a:spAutoFit/>
          </a:bodyPr>
          <a:lstStyle/>
          <a:p>
            <a:pPr algn="l"/>
            <a:r>
              <a:rPr sz="3200" b="1" i="0">
                <a:solidFill>
                  <a:srgbClr val="FFFFFF"/>
                </a:solidFill>
              </a:rPr>
              <a:t>Real-Time Uncertainty Diagnostics</a:t>
            </a:r>
            <a:endParaRPr sz="3200" b="1" i="0">
              <a:solidFill>
                <a:srgbClr val="FFFFFF"/>
              </a:solidFill>
            </a:endParaRPr>
          </a:p>
        </p:txBody>
      </p:sp>
      <p:sp>
        <p:nvSpPr>
          <p:cNvPr id="4" name="TextBox 3"/>
          <p:cNvSpPr txBox="1"/>
          <p:nvPr/>
        </p:nvSpPr>
        <p:spPr>
          <a:xfrm>
            <a:off x="274320" y="1298448"/>
            <a:ext cx="11430000" cy="365760"/>
          </a:xfrm>
          <a:prstGeom prst="rect">
            <a:avLst/>
          </a:prstGeom>
          <a:noFill/>
        </p:spPr>
        <p:txBody>
          <a:bodyPr wrap="square">
            <a:spAutoFit/>
          </a:bodyPr>
          <a:lstStyle/>
          <a:p>
            <a:pPr algn="l"/>
            <a:r>
              <a:rPr sz="1600" b="0" i="0">
                <a:solidFill>
                  <a:srgbClr val="C9A84C"/>
                </a:solidFill>
              </a:rPr>
              <a:t>Production Safety: Managing Hallucination Through Statistical Confidence</a:t>
            </a:r>
            <a:endParaRPr sz="1600" b="0" i="0">
              <a:solidFill>
                <a:srgbClr val="C9A84C"/>
              </a:solidFill>
            </a:endParaRPr>
          </a:p>
        </p:txBody>
      </p:sp>
      <p:sp>
        <p:nvSpPr>
          <p:cNvPr id="5" name="Rectangle 4"/>
          <p:cNvSpPr/>
          <p:nvPr/>
        </p:nvSpPr>
        <p:spPr>
          <a:xfrm>
            <a:off x="150876" y="1755648"/>
            <a:ext cx="1188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920240"/>
            <a:ext cx="11612880" cy="219456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993392"/>
            <a:ext cx="6400800" cy="347472"/>
          </a:xfrm>
          <a:prstGeom prst="rect">
            <a:avLst/>
          </a:prstGeom>
          <a:noFill/>
        </p:spPr>
        <p:txBody>
          <a:bodyPr wrap="square">
            <a:spAutoFit/>
          </a:bodyPr>
          <a:lstStyle/>
          <a:p>
            <a:pPr algn="l"/>
            <a:r>
              <a:rPr sz="950" b="1" i="0">
                <a:solidFill>
                  <a:srgbClr val="4DD0E1"/>
                </a:solidFill>
              </a:rPr>
              <a:t>METRIC 1 — RECONSTRUCTION RESIDUAL  (Aleatoric / Input Uncertainty)</a:t>
            </a:r>
            <a:endParaRPr sz="950" b="1" i="0">
              <a:solidFill>
                <a:srgbClr val="4DD0E1"/>
              </a:solidFill>
            </a:endParaRPr>
          </a:p>
        </p:txBody>
      </p:sp>
      <p:pic>
        <p:nvPicPr>
          <p:cNvPr id="8" name="Picture 7" descr="image.png"/>
          <p:cNvPicPr>
            <a:picLocks noChangeAspect="1"/>
          </p:cNvPicPr>
          <p:nvPr/>
        </p:nvPicPr>
        <p:blipFill>
          <a:blip r:embed="rId1"/>
          <a:stretch>
            <a:fillRect/>
          </a:stretch>
        </p:blipFill>
        <p:spPr>
          <a:xfrm>
            <a:off x="457200" y="2395728"/>
            <a:ext cx="6400800" cy="1024128"/>
          </a:xfrm>
          <a:prstGeom prst="rect">
            <a:avLst/>
          </a:prstGeom>
        </p:spPr>
      </p:pic>
      <p:sp>
        <p:nvSpPr>
          <p:cNvPr id="9" name="TextBox 8"/>
          <p:cNvSpPr txBox="1"/>
          <p:nvPr/>
        </p:nvSpPr>
        <p:spPr>
          <a:xfrm>
            <a:off x="7132320" y="2176272"/>
            <a:ext cx="4572000" cy="1783080"/>
          </a:xfrm>
          <a:prstGeom prst="rect">
            <a:avLst/>
          </a:prstGeom>
          <a:noFill/>
        </p:spPr>
        <p:txBody>
          <a:bodyPr wrap="square">
            <a:spAutoFit/>
          </a:bodyPr>
          <a:lstStyle/>
          <a:p>
            <a:pPr algn="l"/>
            <a:r>
              <a:rPr sz="1300" b="0" i="0">
                <a:solidFill>
                  <a:srgbClr val="B0BCD4"/>
                </a:solidFill>
              </a:rPr>
              <a:t>Measures how faithfully the model can reconstruct its own input.
A spike → the system has encountered an out-of-distribution physical configuration.
Action: PAUSE and flag for human review.</a:t>
            </a:r>
            <a:endParaRPr sz="1300" b="0" i="0">
              <a:solidFill>
                <a:srgbClr val="B0BCD4"/>
              </a:solidFill>
            </a:endParaRPr>
          </a:p>
        </p:txBody>
      </p:sp>
      <p:sp>
        <p:nvSpPr>
          <p:cNvPr id="10" name="Rectangle 9"/>
          <p:cNvSpPr/>
          <p:nvPr/>
        </p:nvSpPr>
        <p:spPr>
          <a:xfrm>
            <a:off x="274320" y="4251960"/>
            <a:ext cx="11612880" cy="219456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4325112"/>
            <a:ext cx="8229600" cy="347472"/>
          </a:xfrm>
          <a:prstGeom prst="rect">
            <a:avLst/>
          </a:prstGeom>
          <a:noFill/>
        </p:spPr>
        <p:txBody>
          <a:bodyPr wrap="square">
            <a:spAutoFit/>
          </a:bodyPr>
          <a:lstStyle/>
          <a:p>
            <a:pPr algn="l"/>
            <a:r>
              <a:rPr sz="950" b="1" i="0">
                <a:solidFill>
                  <a:srgbClr val="C9A84C"/>
                </a:solidFill>
              </a:rPr>
              <a:t>METRIC 2 — INTER-SEED DENOISING VARIANCE  (Epistemic Uncertainty)</a:t>
            </a:r>
            <a:endParaRPr sz="950" b="1" i="0">
              <a:solidFill>
                <a:srgbClr val="C9A84C"/>
              </a:solidFill>
            </a:endParaRPr>
          </a:p>
        </p:txBody>
      </p:sp>
      <p:pic>
        <p:nvPicPr>
          <p:cNvPr id="12" name="Picture 11" descr="image.png"/>
          <p:cNvPicPr>
            <a:picLocks noChangeAspect="1"/>
          </p:cNvPicPr>
          <p:nvPr/>
        </p:nvPicPr>
        <p:blipFill>
          <a:blip r:embed="rId2"/>
          <a:stretch>
            <a:fillRect/>
          </a:stretch>
        </p:blipFill>
        <p:spPr>
          <a:xfrm>
            <a:off x="457200" y="4736592"/>
            <a:ext cx="7132320" cy="1051560"/>
          </a:xfrm>
          <a:prstGeom prst="rect">
            <a:avLst/>
          </a:prstGeom>
        </p:spPr>
      </p:pic>
      <p:sp>
        <p:nvSpPr>
          <p:cNvPr id="13" name="TextBox 12"/>
          <p:cNvSpPr txBox="1"/>
          <p:nvPr/>
        </p:nvSpPr>
        <p:spPr>
          <a:xfrm>
            <a:off x="8321040" y="4507992"/>
            <a:ext cx="3657600" cy="1783080"/>
          </a:xfrm>
          <a:prstGeom prst="rect">
            <a:avLst/>
          </a:prstGeom>
          <a:noFill/>
        </p:spPr>
        <p:txBody>
          <a:bodyPr wrap="square">
            <a:spAutoFit/>
          </a:bodyPr>
          <a:lstStyle/>
          <a:p>
            <a:pPr algn="l"/>
            <a:r>
              <a:rPr sz="1300" b="0" i="0">
                <a:solidFill>
                  <a:srgbClr val="B0BCD4"/>
                </a:solidFill>
              </a:rPr>
              <a:t>Measures disagreement across independently seeded denoising chains.
A spike → the model is deeply uncertain about the future state.
Action: HALT deployment in this region.</a:t>
            </a:r>
            <a:endParaRPr sz="1300" b="0" i="0">
              <a:solidFill>
                <a:srgbClr val="B0BCD4"/>
              </a:solidFill>
            </a:endParaRPr>
          </a:p>
        </p:txBody>
      </p:sp>
      <p:sp>
        <p:nvSpPr>
          <p:cNvPr id="14" name="TextBox 13"/>
          <p:cNvSpPr txBox="1"/>
          <p:nvPr/>
        </p:nvSpPr>
        <p:spPr>
          <a:xfrm>
            <a:off x="274320" y="6565392"/>
            <a:ext cx="11612880" cy="292608"/>
          </a:xfrm>
          <a:prstGeom prst="rect">
            <a:avLst/>
          </a:prstGeom>
          <a:noFill/>
        </p:spPr>
        <p:txBody>
          <a:bodyPr wrap="square">
            <a:spAutoFit/>
          </a:bodyPr>
          <a:lstStyle/>
          <a:p>
            <a:pPr algn="l"/>
            <a:r>
              <a:rPr sz="1300" b="1" i="0">
                <a:solidFill>
                  <a:srgbClr val="FFFFFF"/>
                </a:solidFill>
              </a:rPr>
              <a:t>These two metrics constitute a real-time safety monitor. The system fails safely — never silently.</a:t>
            </a:r>
            <a:endParaRPr sz="1300" b="1" i="0">
              <a:solidFill>
                <a:srgbClr val="FFFFFF"/>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70D1A"/>
        </a:solidFill>
        <a:effectLst/>
      </p:bgPr>
    </p:bg>
    <p:spTree>
      <p:nvGrpSpPr>
        <p:cNvPr id="1" name=""/>
        <p:cNvGrpSpPr/>
        <p:nvPr/>
      </p:nvGrpSpPr>
      <p:grpSpPr/>
      <p:sp>
        <p:nvSpPr>
          <p:cNvPr id="2" name="Rectangle 1"/>
          <p:cNvSpPr/>
          <p:nvPr/>
        </p:nvSpPr>
        <p:spPr>
          <a:xfrm>
            <a:off x="182880" y="182880"/>
            <a:ext cx="2377440" cy="2926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900" b="1">
                <a:solidFill>
                  <a:srgbClr val="070D1A"/>
                </a:solidFill>
              </a:rPr>
              <a:t>MODULE 3 · SYNTHETIC DATA BRIDGE</a:t>
            </a:r>
            <a:endParaRPr sz="900" b="1">
              <a:solidFill>
                <a:srgbClr val="070D1A"/>
              </a:solidFill>
            </a:endParaRPr>
          </a:p>
        </p:txBody>
      </p:sp>
      <p:sp>
        <p:nvSpPr>
          <p:cNvPr id="3" name="TextBox 2"/>
          <p:cNvSpPr txBox="1"/>
          <p:nvPr/>
        </p:nvSpPr>
        <p:spPr>
          <a:xfrm>
            <a:off x="274320" y="566928"/>
            <a:ext cx="11430000" cy="822960"/>
          </a:xfrm>
          <a:prstGeom prst="rect">
            <a:avLst/>
          </a:prstGeom>
          <a:noFill/>
        </p:spPr>
        <p:txBody>
          <a:bodyPr wrap="square">
            <a:spAutoFit/>
          </a:bodyPr>
          <a:lstStyle/>
          <a:p>
            <a:pPr algn="l"/>
            <a:r>
              <a:rPr sz="3200" b="1" i="0">
                <a:solidFill>
                  <a:srgbClr val="FFFFFF"/>
                </a:solidFill>
              </a:rPr>
              <a:t>The Closed-Loop Flywheel Architecture</a:t>
            </a:r>
            <a:endParaRPr sz="3200" b="1" i="0">
              <a:solidFill>
                <a:srgbClr val="FFFFFF"/>
              </a:solidFill>
            </a:endParaRPr>
          </a:p>
        </p:txBody>
      </p:sp>
      <p:sp>
        <p:nvSpPr>
          <p:cNvPr id="4" name="TextBox 3"/>
          <p:cNvSpPr txBox="1"/>
          <p:nvPr/>
        </p:nvSpPr>
        <p:spPr>
          <a:xfrm>
            <a:off x="274320" y="1298448"/>
            <a:ext cx="11430000" cy="365760"/>
          </a:xfrm>
          <a:prstGeom prst="rect">
            <a:avLst/>
          </a:prstGeom>
          <a:noFill/>
        </p:spPr>
        <p:txBody>
          <a:bodyPr wrap="square">
            <a:spAutoFit/>
          </a:bodyPr>
          <a:lstStyle/>
          <a:p>
            <a:pPr algn="l"/>
            <a:r>
              <a:rPr sz="1600" b="0" i="0">
                <a:solidFill>
                  <a:srgbClr val="C9A84C"/>
                </a:solidFill>
              </a:rPr>
              <a:t>A Co-Development, Federated Data Ecosystem — The Ultimate Competitive Moat</a:t>
            </a:r>
            <a:endParaRPr sz="1600" b="0" i="0">
              <a:solidFill>
                <a:srgbClr val="C9A84C"/>
              </a:solidFill>
            </a:endParaRPr>
          </a:p>
        </p:txBody>
      </p:sp>
      <p:sp>
        <p:nvSpPr>
          <p:cNvPr id="5" name="Rectangle 4"/>
          <p:cNvSpPr/>
          <p:nvPr/>
        </p:nvSpPr>
        <p:spPr>
          <a:xfrm>
            <a:off x="150876" y="1755648"/>
            <a:ext cx="1188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938528"/>
            <a:ext cx="2231136" cy="320040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1168" y="1938528"/>
            <a:ext cx="2231136" cy="73152"/>
          </a:xfrm>
          <a:prstGeom prst="rect">
            <a:avLst/>
          </a:prstGeom>
          <a:solidFill>
            <a:srgbClr val="4DD0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0896" y="2029968"/>
            <a:ext cx="2011680" cy="640080"/>
          </a:xfrm>
          <a:prstGeom prst="rect">
            <a:avLst/>
          </a:prstGeom>
          <a:noFill/>
        </p:spPr>
        <p:txBody>
          <a:bodyPr wrap="square">
            <a:spAutoFit/>
          </a:bodyPr>
          <a:lstStyle/>
          <a:p>
            <a:pPr algn="l"/>
            <a:r>
              <a:rPr sz="1200" b="1" i="0">
                <a:solidFill>
                  <a:srgbClr val="4DD0E1"/>
                </a:solidFill>
              </a:rPr>
              <a:t>01
TELEMETRY</a:t>
            </a:r>
            <a:endParaRPr sz="1200" b="1" i="0">
              <a:solidFill>
                <a:srgbClr val="4DD0E1"/>
              </a:solidFill>
            </a:endParaRPr>
          </a:p>
        </p:txBody>
      </p:sp>
      <p:sp>
        <p:nvSpPr>
          <p:cNvPr id="9" name="TextBox 8"/>
          <p:cNvSpPr txBox="1"/>
          <p:nvPr/>
        </p:nvSpPr>
        <p:spPr>
          <a:xfrm>
            <a:off x="310896" y="2724912"/>
            <a:ext cx="2011680" cy="1417320"/>
          </a:xfrm>
          <a:prstGeom prst="rect">
            <a:avLst/>
          </a:prstGeom>
          <a:noFill/>
        </p:spPr>
        <p:txBody>
          <a:bodyPr wrap="square">
            <a:spAutoFit/>
          </a:bodyPr>
          <a:lstStyle/>
          <a:p>
            <a:pPr algn="l"/>
            <a:r>
              <a:rPr sz="1250" b="0" i="0">
                <a:solidFill>
                  <a:srgbClr val="B0BCD4"/>
                </a:solidFill>
              </a:rPr>
              <a:t>Sparse, real-world
industrial sensor data
ingested &amp; cleaned.</a:t>
            </a:r>
            <a:endParaRPr sz="1250" b="0" i="0">
              <a:solidFill>
                <a:srgbClr val="B0BCD4"/>
              </a:solidFill>
            </a:endParaRPr>
          </a:p>
        </p:txBody>
      </p:sp>
      <p:sp>
        <p:nvSpPr>
          <p:cNvPr id="10" name="Rectangle 9"/>
          <p:cNvSpPr/>
          <p:nvPr/>
        </p:nvSpPr>
        <p:spPr>
          <a:xfrm>
            <a:off x="2432304" y="3200400"/>
            <a:ext cx="146304"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78608" y="1938528"/>
            <a:ext cx="2231136" cy="320040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78608" y="1938528"/>
            <a:ext cx="2231136"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88336" y="2029968"/>
            <a:ext cx="2011680" cy="640080"/>
          </a:xfrm>
          <a:prstGeom prst="rect">
            <a:avLst/>
          </a:prstGeom>
          <a:noFill/>
        </p:spPr>
        <p:txBody>
          <a:bodyPr wrap="square">
            <a:spAutoFit/>
          </a:bodyPr>
          <a:lstStyle/>
          <a:p>
            <a:pPr algn="l"/>
            <a:r>
              <a:rPr sz="1200" b="1" i="0">
                <a:solidFill>
                  <a:srgbClr val="C9A84C"/>
                </a:solidFill>
              </a:rPr>
              <a:t>02
CALIBRATION</a:t>
            </a:r>
            <a:endParaRPr sz="1200" b="1" i="0">
              <a:solidFill>
                <a:srgbClr val="C9A84C"/>
              </a:solidFill>
            </a:endParaRPr>
          </a:p>
        </p:txBody>
      </p:sp>
      <p:sp>
        <p:nvSpPr>
          <p:cNvPr id="14" name="TextBox 13"/>
          <p:cNvSpPr txBox="1"/>
          <p:nvPr/>
        </p:nvSpPr>
        <p:spPr>
          <a:xfrm>
            <a:off x="2688336" y="2724912"/>
            <a:ext cx="2011680" cy="1417320"/>
          </a:xfrm>
          <a:prstGeom prst="rect">
            <a:avLst/>
          </a:prstGeom>
          <a:noFill/>
        </p:spPr>
        <p:txBody>
          <a:bodyPr wrap="square">
            <a:spAutoFit/>
          </a:bodyPr>
          <a:lstStyle/>
          <a:p>
            <a:pPr algn="l"/>
            <a:r>
              <a:rPr sz="1250" b="0" i="0">
                <a:solidFill>
                  <a:srgbClr val="B0BCD4"/>
                </a:solidFill>
              </a:rPr>
              <a:t>World model latent space
anchored to real-world
physical telemetry.</a:t>
            </a:r>
            <a:endParaRPr sz="1250" b="0" i="0">
              <a:solidFill>
                <a:srgbClr val="B0BCD4"/>
              </a:solidFill>
            </a:endParaRPr>
          </a:p>
        </p:txBody>
      </p:sp>
      <p:sp>
        <p:nvSpPr>
          <p:cNvPr id="15" name="Rectangle 14"/>
          <p:cNvSpPr/>
          <p:nvPr/>
        </p:nvSpPr>
        <p:spPr>
          <a:xfrm>
            <a:off x="4809744" y="3200400"/>
            <a:ext cx="146304"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956048" y="1938528"/>
            <a:ext cx="2231136" cy="320040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56048" y="1938528"/>
            <a:ext cx="2231136" cy="73152"/>
          </a:xfrm>
          <a:prstGeom prst="rect">
            <a:avLst/>
          </a:prstGeom>
          <a:solidFill>
            <a:srgbClr val="4DD0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65776" y="2029968"/>
            <a:ext cx="2011680" cy="640080"/>
          </a:xfrm>
          <a:prstGeom prst="rect">
            <a:avLst/>
          </a:prstGeom>
          <a:noFill/>
        </p:spPr>
        <p:txBody>
          <a:bodyPr wrap="square">
            <a:spAutoFit/>
          </a:bodyPr>
          <a:lstStyle/>
          <a:p>
            <a:pPr algn="l"/>
            <a:r>
              <a:rPr sz="1200" b="1" i="0">
                <a:solidFill>
                  <a:srgbClr val="4DD0E1"/>
                </a:solidFill>
              </a:rPr>
              <a:t>03
GENERATION</a:t>
            </a:r>
            <a:endParaRPr sz="1200" b="1" i="0">
              <a:solidFill>
                <a:srgbClr val="4DD0E1"/>
              </a:solidFill>
            </a:endParaRPr>
          </a:p>
        </p:txBody>
      </p:sp>
      <p:sp>
        <p:nvSpPr>
          <p:cNvPr id="19" name="TextBox 18"/>
          <p:cNvSpPr txBox="1"/>
          <p:nvPr/>
        </p:nvSpPr>
        <p:spPr>
          <a:xfrm>
            <a:off x="5065776" y="2724912"/>
            <a:ext cx="2011680" cy="1417320"/>
          </a:xfrm>
          <a:prstGeom prst="rect">
            <a:avLst/>
          </a:prstGeom>
          <a:noFill/>
        </p:spPr>
        <p:txBody>
          <a:bodyPr wrap="square">
            <a:spAutoFit/>
          </a:bodyPr>
          <a:lstStyle/>
          <a:p>
            <a:pPr algn="l"/>
            <a:r>
              <a:rPr sz="1250" b="0" i="0">
                <a:solidFill>
                  <a:srgbClr val="B0BCD4"/>
                </a:solidFill>
              </a:rPr>
              <a:t>Large-scale synthetic
edge cases generated
&amp; PINN-verified.</a:t>
            </a:r>
            <a:endParaRPr sz="1250" b="0" i="0">
              <a:solidFill>
                <a:srgbClr val="B0BCD4"/>
              </a:solidFill>
            </a:endParaRPr>
          </a:p>
        </p:txBody>
      </p:sp>
      <p:sp>
        <p:nvSpPr>
          <p:cNvPr id="20" name="Rectangle 19"/>
          <p:cNvSpPr/>
          <p:nvPr/>
        </p:nvSpPr>
        <p:spPr>
          <a:xfrm>
            <a:off x="7187183" y="3200400"/>
            <a:ext cx="146304"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33488" y="1938528"/>
            <a:ext cx="2231136" cy="320040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33488" y="1938528"/>
            <a:ext cx="2231136"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43216" y="2029968"/>
            <a:ext cx="2011680" cy="640080"/>
          </a:xfrm>
          <a:prstGeom prst="rect">
            <a:avLst/>
          </a:prstGeom>
          <a:noFill/>
        </p:spPr>
        <p:txBody>
          <a:bodyPr wrap="square">
            <a:spAutoFit/>
          </a:bodyPr>
          <a:lstStyle/>
          <a:p>
            <a:pPr algn="l"/>
            <a:r>
              <a:rPr sz="1200" b="1" i="0">
                <a:solidFill>
                  <a:srgbClr val="C9A84C"/>
                </a:solidFill>
              </a:rPr>
              <a:t>04
DEPLOYMENT</a:t>
            </a:r>
            <a:endParaRPr sz="1200" b="1" i="0">
              <a:solidFill>
                <a:srgbClr val="C9A84C"/>
              </a:solidFill>
            </a:endParaRPr>
          </a:p>
        </p:txBody>
      </p:sp>
      <p:sp>
        <p:nvSpPr>
          <p:cNvPr id="24" name="TextBox 23"/>
          <p:cNvSpPr txBox="1"/>
          <p:nvPr/>
        </p:nvSpPr>
        <p:spPr>
          <a:xfrm>
            <a:off x="7443216" y="2724912"/>
            <a:ext cx="2011680" cy="1417320"/>
          </a:xfrm>
          <a:prstGeom prst="rect">
            <a:avLst/>
          </a:prstGeom>
          <a:noFill/>
        </p:spPr>
        <p:txBody>
          <a:bodyPr wrap="square">
            <a:spAutoFit/>
          </a:bodyPr>
          <a:lstStyle/>
          <a:p>
            <a:pPr algn="l"/>
            <a:r>
              <a:rPr sz="1250" b="0" i="0">
                <a:solidFill>
                  <a:srgbClr val="B0BCD4"/>
                </a:solidFill>
              </a:rPr>
              <a:t>Zero-shot policy
deployed to target
physical environment.</a:t>
            </a:r>
            <a:endParaRPr sz="1250" b="0" i="0">
              <a:solidFill>
                <a:srgbClr val="B0BCD4"/>
              </a:solidFill>
            </a:endParaRPr>
          </a:p>
        </p:txBody>
      </p:sp>
      <p:sp>
        <p:nvSpPr>
          <p:cNvPr id="25" name="Rectangle 24"/>
          <p:cNvSpPr/>
          <p:nvPr/>
        </p:nvSpPr>
        <p:spPr>
          <a:xfrm>
            <a:off x="9564624" y="3200400"/>
            <a:ext cx="146304"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10928" y="1938528"/>
            <a:ext cx="2231136" cy="320040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710928" y="1938528"/>
            <a:ext cx="2231136" cy="73152"/>
          </a:xfrm>
          <a:prstGeom prst="rect">
            <a:avLst/>
          </a:prstGeom>
          <a:solidFill>
            <a:srgbClr val="4DD0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0656" y="2029968"/>
            <a:ext cx="2011680" cy="640080"/>
          </a:xfrm>
          <a:prstGeom prst="rect">
            <a:avLst/>
          </a:prstGeom>
          <a:noFill/>
        </p:spPr>
        <p:txBody>
          <a:bodyPr wrap="square">
            <a:spAutoFit/>
          </a:bodyPr>
          <a:lstStyle/>
          <a:p>
            <a:pPr algn="l"/>
            <a:r>
              <a:rPr sz="1200" b="1" i="0">
                <a:solidFill>
                  <a:srgbClr val="4DD0E1"/>
                </a:solidFill>
              </a:rPr>
              <a:t>05
FEEDBACK</a:t>
            </a:r>
            <a:endParaRPr sz="1200" b="1" i="0">
              <a:solidFill>
                <a:srgbClr val="4DD0E1"/>
              </a:solidFill>
            </a:endParaRPr>
          </a:p>
        </p:txBody>
      </p:sp>
      <p:sp>
        <p:nvSpPr>
          <p:cNvPr id="29" name="TextBox 28"/>
          <p:cNvSpPr txBox="1"/>
          <p:nvPr/>
        </p:nvSpPr>
        <p:spPr>
          <a:xfrm>
            <a:off x="9820656" y="2724912"/>
            <a:ext cx="2011680" cy="1417320"/>
          </a:xfrm>
          <a:prstGeom prst="rect">
            <a:avLst/>
          </a:prstGeom>
          <a:noFill/>
        </p:spPr>
        <p:txBody>
          <a:bodyPr wrap="square">
            <a:spAutoFit/>
          </a:bodyPr>
          <a:lstStyle/>
          <a:p>
            <a:pPr algn="l"/>
            <a:r>
              <a:rPr sz="1250" b="0" i="0">
                <a:solidFill>
                  <a:srgbClr val="B0BCD4"/>
                </a:solidFill>
              </a:rPr>
              <a:t>Uncertainty-flagged
outcomes logged &amp;
routed to Stage 01.</a:t>
            </a:r>
            <a:endParaRPr sz="1250" b="0" i="0">
              <a:solidFill>
                <a:srgbClr val="B0BCD4"/>
              </a:solidFill>
            </a:endParaRPr>
          </a:p>
        </p:txBody>
      </p:sp>
      <p:sp>
        <p:nvSpPr>
          <p:cNvPr id="30" name="Rectangle 29"/>
          <p:cNvSpPr/>
          <p:nvPr/>
        </p:nvSpPr>
        <p:spPr>
          <a:xfrm>
            <a:off x="274320" y="5303520"/>
            <a:ext cx="11612880" cy="50292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5367528"/>
            <a:ext cx="11247120" cy="384048"/>
          </a:xfrm>
          <a:prstGeom prst="rect">
            <a:avLst/>
          </a:prstGeom>
          <a:noFill/>
        </p:spPr>
        <p:txBody>
          <a:bodyPr wrap="square">
            <a:spAutoFit/>
          </a:bodyPr>
          <a:lstStyle/>
          <a:p>
            <a:pPr algn="l"/>
            <a:r>
              <a:rPr sz="1300" b="1" i="0">
                <a:solidFill>
                  <a:srgbClr val="C9A84C"/>
                </a:solidFill>
              </a:rPr>
              <a:t>↺  Feedback loop is continuous — every real-world deployment enriches the next training cycle automatically.</a:t>
            </a:r>
            <a:endParaRPr sz="1300" b="1" i="0">
              <a:solidFill>
                <a:srgbClr val="C9A84C"/>
              </a:solidFill>
            </a:endParaRPr>
          </a:p>
        </p:txBody>
      </p:sp>
      <p:sp>
        <p:nvSpPr>
          <p:cNvPr id="32" name="Rectangle 31"/>
          <p:cNvSpPr/>
          <p:nvPr/>
        </p:nvSpPr>
        <p:spPr>
          <a:xfrm>
            <a:off x="274320" y="5943600"/>
            <a:ext cx="11612880" cy="822960"/>
          </a:xfrm>
          <a:prstGeom prst="rect">
            <a:avLst/>
          </a:prstGeom>
          <a:solidFill>
            <a:srgbClr val="102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74320" y="5943600"/>
            <a:ext cx="73152" cy="8229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6016752"/>
            <a:ext cx="11247120" cy="685800"/>
          </a:xfrm>
          <a:prstGeom prst="rect">
            <a:avLst/>
          </a:prstGeom>
          <a:noFill/>
        </p:spPr>
        <p:txBody>
          <a:bodyPr wrap="square">
            <a:spAutoFit/>
          </a:bodyPr>
          <a:lstStyle/>
          <a:p>
            <a:pPr algn="l"/>
            <a:r>
              <a:rPr sz="1400" b="1" i="0">
                <a:solidFill>
                  <a:srgbClr val="FFFFFF"/>
                </a:solidFill>
              </a:rPr>
              <a:t>THE MOAT:  Compute is a commodity. This operational data flywheel — built on real industrial execution — is virtually impossible to replicate without years of deployment experience.</a:t>
            </a:r>
            <a:endParaRPr sz="1400" b="1" i="0">
              <a:solidFill>
                <a:srgbClr val="FFFFFF"/>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70D1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47472"/>
            <a:ext cx="11430000" cy="347472"/>
          </a:xfrm>
          <a:prstGeom prst="rect">
            <a:avLst/>
          </a:prstGeom>
          <a:noFill/>
        </p:spPr>
        <p:txBody>
          <a:bodyPr wrap="square">
            <a:spAutoFit/>
          </a:bodyPr>
          <a:lstStyle/>
          <a:p>
            <a:pPr algn="l"/>
            <a:r>
              <a:rPr sz="1000" b="1" i="0">
                <a:solidFill>
                  <a:srgbClr val="C9A84C"/>
                </a:solidFill>
              </a:rPr>
              <a:t>STRATEGIC SYNTHESIS</a:t>
            </a:r>
            <a:endParaRPr sz="1000" b="1" i="0">
              <a:solidFill>
                <a:srgbClr val="C9A84C"/>
              </a:solidFill>
            </a:endParaRPr>
          </a:p>
        </p:txBody>
      </p:sp>
      <p:sp>
        <p:nvSpPr>
          <p:cNvPr id="4" name="TextBox 3"/>
          <p:cNvSpPr txBox="1"/>
          <p:nvPr/>
        </p:nvSpPr>
        <p:spPr>
          <a:xfrm>
            <a:off x="320040" y="685800"/>
            <a:ext cx="11430000" cy="1051560"/>
          </a:xfrm>
          <a:prstGeom prst="rect">
            <a:avLst/>
          </a:prstGeom>
          <a:noFill/>
        </p:spPr>
        <p:txBody>
          <a:bodyPr wrap="square">
            <a:spAutoFit/>
          </a:bodyPr>
          <a:lstStyle/>
          <a:p>
            <a:pPr algn="l"/>
            <a:r>
              <a:rPr sz="4000" b="1" i="0">
                <a:solidFill>
                  <a:srgbClr val="FFFFFF"/>
                </a:solidFill>
              </a:rPr>
              <a:t>Engineering World Models for Physical AI</a:t>
            </a:r>
            <a:endParaRPr sz="4000" b="1" i="0">
              <a:solidFill>
                <a:srgbClr val="FFFFFF"/>
              </a:solidFill>
            </a:endParaRPr>
          </a:p>
        </p:txBody>
      </p:sp>
      <p:sp>
        <p:nvSpPr>
          <p:cNvPr id="5" name="Rectangle 4"/>
          <p:cNvSpPr/>
          <p:nvPr/>
        </p:nvSpPr>
        <p:spPr>
          <a:xfrm>
            <a:off x="150876" y="1828800"/>
            <a:ext cx="1188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993392"/>
            <a:ext cx="11567160" cy="96012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993392"/>
            <a:ext cx="73152" cy="960120"/>
          </a:xfrm>
          <a:prstGeom prst="rect">
            <a:avLst/>
          </a:prstGeom>
          <a:solidFill>
            <a:srgbClr val="4DD0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048256"/>
            <a:ext cx="3840480" cy="384048"/>
          </a:xfrm>
          <a:prstGeom prst="rect">
            <a:avLst/>
          </a:prstGeom>
          <a:noFill/>
        </p:spPr>
        <p:txBody>
          <a:bodyPr wrap="square">
            <a:spAutoFit/>
          </a:bodyPr>
          <a:lstStyle/>
          <a:p>
            <a:pPr algn="l"/>
            <a:r>
              <a:rPr sz="1450" b="1" i="0">
                <a:solidFill>
                  <a:srgbClr val="FFFFFF"/>
                </a:solidFill>
              </a:rPr>
              <a:t>Engineering over Entertainment</a:t>
            </a:r>
            <a:endParaRPr sz="1450" b="1" i="0">
              <a:solidFill>
                <a:srgbClr val="FFFFFF"/>
              </a:solidFill>
            </a:endParaRPr>
          </a:p>
        </p:txBody>
      </p:sp>
      <p:sp>
        <p:nvSpPr>
          <p:cNvPr id="9" name="TextBox 8"/>
          <p:cNvSpPr txBox="1"/>
          <p:nvPr/>
        </p:nvSpPr>
        <p:spPr>
          <a:xfrm>
            <a:off x="4434840" y="2048256"/>
            <a:ext cx="7406640" cy="804672"/>
          </a:xfrm>
          <a:prstGeom prst="rect">
            <a:avLst/>
          </a:prstGeom>
          <a:noFill/>
        </p:spPr>
        <p:txBody>
          <a:bodyPr wrap="square">
            <a:spAutoFit/>
          </a:bodyPr>
          <a:lstStyle/>
          <a:p>
            <a:pPr algn="l"/>
            <a:r>
              <a:rPr sz="1300" b="0" i="0">
                <a:solidFill>
                  <a:srgbClr val="B0BCD4"/>
                </a:solidFill>
              </a:rPr>
              <a:t>Deploy physics-constrained world models (Schools II &amp; III) — not consumer video generators. Verifiable physical laws are non-negotiable.</a:t>
            </a:r>
            <a:endParaRPr sz="1300" b="0" i="0">
              <a:solidFill>
                <a:srgbClr val="B0BCD4"/>
              </a:solidFill>
            </a:endParaRPr>
          </a:p>
        </p:txBody>
      </p:sp>
      <p:sp>
        <p:nvSpPr>
          <p:cNvPr id="10" name="Rectangle 9"/>
          <p:cNvSpPr/>
          <p:nvPr/>
        </p:nvSpPr>
        <p:spPr>
          <a:xfrm>
            <a:off x="320040" y="3044952"/>
            <a:ext cx="11567160" cy="96012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3044952"/>
            <a:ext cx="73152" cy="9601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3099816"/>
            <a:ext cx="3840480" cy="384048"/>
          </a:xfrm>
          <a:prstGeom prst="rect">
            <a:avLst/>
          </a:prstGeom>
          <a:noFill/>
        </p:spPr>
        <p:txBody>
          <a:bodyPr wrap="square">
            <a:spAutoFit/>
          </a:bodyPr>
          <a:lstStyle/>
          <a:p>
            <a:pPr algn="l"/>
            <a:r>
              <a:rPr sz="1450" b="1" i="0">
                <a:solidFill>
                  <a:srgbClr val="FFFFFF"/>
                </a:solidFill>
              </a:rPr>
              <a:t>Automated Verification Pipelines</a:t>
            </a:r>
            <a:endParaRPr sz="1450" b="1" i="0">
              <a:solidFill>
                <a:srgbClr val="FFFFFF"/>
              </a:solidFill>
            </a:endParaRPr>
          </a:p>
        </p:txBody>
      </p:sp>
      <p:sp>
        <p:nvSpPr>
          <p:cNvPr id="13" name="TextBox 12"/>
          <p:cNvSpPr txBox="1"/>
          <p:nvPr/>
        </p:nvSpPr>
        <p:spPr>
          <a:xfrm>
            <a:off x="4434840" y="3099816"/>
            <a:ext cx="7406640" cy="804672"/>
          </a:xfrm>
          <a:prstGeom prst="rect">
            <a:avLst/>
          </a:prstGeom>
          <a:noFill/>
        </p:spPr>
        <p:txBody>
          <a:bodyPr wrap="square">
            <a:spAutoFit/>
          </a:bodyPr>
          <a:lstStyle/>
          <a:p>
            <a:pPr algn="l"/>
            <a:r>
              <a:rPr sz="1300" b="0" i="0">
                <a:solidFill>
                  <a:srgbClr val="B0BCD4"/>
                </a:solidFill>
              </a:rPr>
              <a:t>PINN-augmented synthetic generation automates the cleaning of industrial sensor telemetry and closes the Executability Gap at scale.</a:t>
            </a:r>
            <a:endParaRPr sz="1300" b="0" i="0">
              <a:solidFill>
                <a:srgbClr val="B0BCD4"/>
              </a:solidFill>
            </a:endParaRPr>
          </a:p>
        </p:txBody>
      </p:sp>
      <p:sp>
        <p:nvSpPr>
          <p:cNvPr id="14" name="Rectangle 13"/>
          <p:cNvSpPr/>
          <p:nvPr/>
        </p:nvSpPr>
        <p:spPr>
          <a:xfrm>
            <a:off x="320040" y="4096512"/>
            <a:ext cx="11567160" cy="96012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 y="4096512"/>
            <a:ext cx="73152" cy="960120"/>
          </a:xfrm>
          <a:prstGeom prst="rect">
            <a:avLst/>
          </a:prstGeom>
          <a:solidFill>
            <a:srgbClr val="4DD0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151376"/>
            <a:ext cx="3840480" cy="384048"/>
          </a:xfrm>
          <a:prstGeom prst="rect">
            <a:avLst/>
          </a:prstGeom>
          <a:noFill/>
        </p:spPr>
        <p:txBody>
          <a:bodyPr wrap="square">
            <a:spAutoFit/>
          </a:bodyPr>
          <a:lstStyle/>
          <a:p>
            <a:pPr algn="l"/>
            <a:r>
              <a:rPr sz="1450" b="1" i="0">
                <a:solidFill>
                  <a:srgbClr val="FFFFFF"/>
                </a:solidFill>
              </a:rPr>
              <a:t>Mandate the Accumulation Ratio</a:t>
            </a:r>
            <a:endParaRPr sz="1450" b="1" i="0">
              <a:solidFill>
                <a:srgbClr val="FFFFFF"/>
              </a:solidFill>
            </a:endParaRPr>
          </a:p>
        </p:txBody>
      </p:sp>
      <p:sp>
        <p:nvSpPr>
          <p:cNvPr id="17" name="TextBox 16"/>
          <p:cNvSpPr txBox="1"/>
          <p:nvPr/>
        </p:nvSpPr>
        <p:spPr>
          <a:xfrm>
            <a:off x="4434840" y="4151376"/>
            <a:ext cx="7406640" cy="804672"/>
          </a:xfrm>
          <a:prstGeom prst="rect">
            <a:avLst/>
          </a:prstGeom>
          <a:noFill/>
        </p:spPr>
        <p:txBody>
          <a:bodyPr wrap="square">
            <a:spAutoFit/>
          </a:bodyPr>
          <a:lstStyle/>
          <a:p>
            <a:pPr algn="l"/>
            <a:r>
              <a:rPr sz="1300" b="0" i="0">
                <a:solidFill>
                  <a:srgbClr val="B0BCD4"/>
                </a:solidFill>
              </a:rPr>
              <a:t>Enforce α-governed data mixing at the board level. Model collapse is not a hyperparameter risk — it is a governance failure.</a:t>
            </a:r>
            <a:endParaRPr sz="1300" b="0" i="0">
              <a:solidFill>
                <a:srgbClr val="B0BCD4"/>
              </a:solidFill>
            </a:endParaRPr>
          </a:p>
        </p:txBody>
      </p:sp>
      <p:sp>
        <p:nvSpPr>
          <p:cNvPr id="18" name="Rectangle 17"/>
          <p:cNvSpPr/>
          <p:nvPr/>
        </p:nvSpPr>
        <p:spPr>
          <a:xfrm>
            <a:off x="320040" y="5148072"/>
            <a:ext cx="11567160" cy="960120"/>
          </a:xfrm>
          <a:prstGeom prst="rect">
            <a:avLst/>
          </a:prstGeom>
          <a:solidFill>
            <a:srgbClr val="0E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0040" y="5148072"/>
            <a:ext cx="73152" cy="9601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5202936"/>
            <a:ext cx="3840480" cy="384048"/>
          </a:xfrm>
          <a:prstGeom prst="rect">
            <a:avLst/>
          </a:prstGeom>
          <a:noFill/>
        </p:spPr>
        <p:txBody>
          <a:bodyPr wrap="square">
            <a:spAutoFit/>
          </a:bodyPr>
          <a:lstStyle/>
          <a:p>
            <a:pPr algn="l"/>
            <a:r>
              <a:rPr sz="1450" b="1" i="0">
                <a:solidFill>
                  <a:srgbClr val="FFFFFF"/>
                </a:solidFill>
              </a:rPr>
              <a:t>The Ultimate ROI</a:t>
            </a:r>
            <a:endParaRPr sz="1450" b="1" i="0">
              <a:solidFill>
                <a:srgbClr val="FFFFFF"/>
              </a:solidFill>
            </a:endParaRPr>
          </a:p>
        </p:txBody>
      </p:sp>
      <p:sp>
        <p:nvSpPr>
          <p:cNvPr id="21" name="TextBox 20"/>
          <p:cNvSpPr txBox="1"/>
          <p:nvPr/>
        </p:nvSpPr>
        <p:spPr>
          <a:xfrm>
            <a:off x="4434840" y="5202936"/>
            <a:ext cx="7406640" cy="804672"/>
          </a:xfrm>
          <a:prstGeom prst="rect">
            <a:avLst/>
          </a:prstGeom>
          <a:noFill/>
        </p:spPr>
        <p:txBody>
          <a:bodyPr wrap="square">
            <a:spAutoFit/>
          </a:bodyPr>
          <a:lstStyle/>
          <a:p>
            <a:pPr algn="l"/>
            <a:r>
              <a:rPr sz="1300" b="0" i="0">
                <a:solidFill>
                  <a:srgbClr val="B0BCD4"/>
                </a:solidFill>
              </a:rPr>
              <a:t>Shift CapEx from physical prototyping and manual annotation to scalable, OpEx-driven computational simulation via the closed-loop flywheel.</a:t>
            </a:r>
            <a:endParaRPr sz="1300" b="0" i="0">
              <a:solidFill>
                <a:srgbClr val="B0BCD4"/>
              </a:solidFill>
            </a:endParaRPr>
          </a:p>
        </p:txBody>
      </p:sp>
      <p:sp>
        <p:nvSpPr>
          <p:cNvPr id="22" name="TextBox 21"/>
          <p:cNvSpPr txBox="1"/>
          <p:nvPr/>
        </p:nvSpPr>
        <p:spPr>
          <a:xfrm>
            <a:off x="320040" y="6236208"/>
            <a:ext cx="11567160" cy="530352"/>
          </a:xfrm>
          <a:prstGeom prst="rect">
            <a:avLst/>
          </a:prstGeom>
          <a:noFill/>
        </p:spPr>
        <p:txBody>
          <a:bodyPr wrap="square">
            <a:spAutoFit/>
          </a:bodyPr>
          <a:lstStyle/>
          <a:p>
            <a:pPr algn="ctr"/>
            <a:r>
              <a:rPr sz="1600" b="1" i="0">
                <a:solidFill>
                  <a:srgbClr val="C9A84C"/>
                </a:solidFill>
              </a:rPr>
              <a:t>The future of industry is physical AI. The question is not whether to deploy — it is who deploys it first, and who deploys it right.</a:t>
            </a:r>
            <a:endParaRPr sz="1600" b="1" i="0">
              <a:solidFill>
                <a:srgbClr val="C9A84C"/>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12517</Words>
  <Application>WPS Presentation</Application>
  <PresentationFormat>On-screen Show (4:3)</PresentationFormat>
  <Paragraphs>556</Paragraphs>
  <Slides>19</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19</vt:i4>
      </vt:variant>
    </vt:vector>
  </HeadingPairs>
  <TitlesOfParts>
    <vt:vector size="29" baseType="lpstr">
      <vt:lpstr>Arial</vt:lpstr>
      <vt:lpstr>SimSun</vt:lpstr>
      <vt:lpstr>Wingdings</vt:lpstr>
      <vt:lpstr>Arial</vt:lpstr>
      <vt:lpstr>Calibri</vt:lpstr>
      <vt:lpstr>Microsoft YaHei</vt:lpstr>
      <vt:lpstr>Arial Unicode MS</vt:lpstr>
      <vt:lpstr>BatangChe</vt:lpstr>
      <vt:lpstr>Segoe Print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k18ka</cp:lastModifiedBy>
  <cp:revision>2</cp:revision>
  <dcterms:created xsi:type="dcterms:W3CDTF">2013-01-27T09:14:00Z</dcterms:created>
  <dcterms:modified xsi:type="dcterms:W3CDTF">2026-09-01T18:03:09Z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696224BBF5664D80A9A22B2717A33FBC_12</vt:lpwstr>
  </property>
  <property fmtid="{D5CDD505-2E9C-101B-9397-08002B2CF9AE}" pid="3" name="KSOProductBuildVer">
    <vt:lpwstr>1033-12.1.0.28032</vt:lpwstr>
  </property>
</Properties>
</file>