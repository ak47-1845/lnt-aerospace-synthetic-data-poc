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84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85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28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15"/>
        <p:guide pos="285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35555" y="2501354"/>
            <a:ext cx="7120890" cy="1015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sz="7200" b="1" i="0" u="none">
                <a:solidFill>
                  <a:srgbClr val="14B8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Genesis </a:t>
            </a:r>
            <a:r>
              <a:rPr sz="7200" b="1" i="0" u="none">
                <a:solidFill>
                  <a:srgbClr val="14B8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endParaRPr sz="7200" b="1" i="0" u="none">
              <a:solidFill>
                <a:srgbClr val="14B8A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75747" y="3602384"/>
            <a:ext cx="4040505" cy="754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FAF9F6"/>
                </a:solidFill>
                <a:latin typeface="Merriweather"/>
              </a:rPr>
              <a:t>Physical AI</a:t>
            </a:r>
            <a:endParaRPr sz="5400" b="1" i="0" u="none">
              <a:solidFill>
                <a:srgbClr val="FAF9F6"/>
              </a:solidFill>
              <a:latin typeface="Merriweath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850" y="1178421"/>
            <a:ext cx="6343650" cy="164008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850" y="3104257"/>
            <a:ext cx="6343650" cy="16400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850" y="5030092"/>
            <a:ext cx="6343650" cy="16400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178421"/>
            <a:ext cx="4240530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sz="2400" b="1" i="0" u="none">
                <a:solidFill>
                  <a:srgbClr val="14B8A6"/>
                </a:solidFill>
                <a:latin typeface="Book Antiqua" panose="02040602050305030304" charset="0"/>
                <a:cs typeface="Book Antiqua" panose="02040602050305030304" charset="0"/>
              </a:rPr>
              <a:t>A Structural Inflection Point</a:t>
            </a:r>
            <a:endParaRPr sz="2400" b="1" i="0" u="none">
              <a:solidFill>
                <a:srgbClr val="14B8A6"/>
              </a:solidFill>
              <a:latin typeface="Book Antiqua" panose="02040602050305030304" charset="0"/>
              <a:cs typeface="Book Antiqua" panose="0204060205030503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2100262"/>
            <a:ext cx="4038600" cy="1642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5"/>
              </a:lnSpc>
            </a:pPr>
            <a:r>
              <a:rPr sz="1425" b="0" i="0" u="none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The AI landscape has decisively departed from language-centric paradigms. The physical world is irreducible: governed by occlusion, complex geometry, causality, and multi-dimensional physics that no corpus of written text fully encodes.</a:t>
            </a:r>
            <a:endParaRPr sz="1425" b="0" i="0" u="none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72125" y="1473696"/>
            <a:ext cx="6040755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0A192F"/>
                </a:solidFill>
                <a:latin typeface="Merriweather"/>
              </a:rPr>
              <a:t>The Pivot</a:t>
            </a:r>
            <a:endParaRPr sz="1800" b="1" i="0" u="none">
              <a:solidFill>
                <a:srgbClr val="0A192F"/>
              </a:solidFill>
              <a:latin typeface="Merriweath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72125" y="1885057"/>
            <a:ext cx="5753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The frontier has moved toward embodied AI, spatial intelligence, and physical AI.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72125" y="3399532"/>
            <a:ext cx="6040755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0A192F"/>
                </a:solidFill>
                <a:latin typeface="Merriweather"/>
              </a:rPr>
              <a:t>The Substrate</a:t>
            </a:r>
            <a:endParaRPr sz="1800" b="1" i="0" u="none">
              <a:solidFill>
                <a:srgbClr val="0A192F"/>
              </a:solidFill>
              <a:latin typeface="Merriweath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72125" y="3810892"/>
            <a:ext cx="5753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World models are the computational surrogate of the environment, enabling simulative reasoning.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72125" y="5325367"/>
            <a:ext cx="6040755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0A192F"/>
                </a:solidFill>
                <a:latin typeface="Merriweather"/>
              </a:rPr>
              <a:t>The Fuel</a:t>
            </a:r>
            <a:endParaRPr sz="1800" b="1" i="0" u="none">
              <a:solidFill>
                <a:srgbClr val="0A192F"/>
              </a:solidFill>
              <a:latin typeface="Merriweath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572125" y="5736728"/>
            <a:ext cx="5753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Synthetic data is a rigorous manufacturing discipline, critical for bridging the physical gap.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1500" y="187821"/>
            <a:ext cx="116014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A192F"/>
                </a:solidFill>
                <a:latin typeface="Book Antiqua" panose="02040602050305030304" charset="0"/>
                <a:cs typeface="Book Antiqua" panose="02040602050305030304" charset="0"/>
              </a:rPr>
              <a:t>Executive </a:t>
            </a:r>
            <a:r>
              <a:rPr sz="2850" b="1" i="0" u="none">
                <a:solidFill>
                  <a:srgbClr val="0A192F"/>
                </a:solidFill>
                <a:latin typeface="Book Antiqua" panose="02040602050305030304" charset="0"/>
                <a:cs typeface="Book Antiqua" panose="02040602050305030304" charset="0"/>
              </a:rPr>
              <a:t>Summary</a:t>
            </a:r>
            <a:endParaRPr sz="2850" b="1" i="0" u="none">
              <a:solidFill>
                <a:srgbClr val="0A192F"/>
              </a:solidFill>
              <a:latin typeface="Book Antiqua" panose="02040602050305030304" charset="0"/>
              <a:cs typeface="Book Antiqua" panose="0204060205030503030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1500" y="778371"/>
            <a:ext cx="11049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27550" y="1352550"/>
            <a:ext cx="2902585" cy="7391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DM Sans"/>
              </a:rPr>
              <a:t>PART 01</a:t>
            </a:r>
            <a:endParaRPr sz="1800" b="1" i="0" u="none">
              <a:solidFill>
                <a:srgbClr val="14B8A6"/>
              </a:solidFill>
              <a:latin typeface="DM San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363" y="2205930"/>
            <a:ext cx="10181272" cy="1292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AF9F6"/>
                </a:solidFill>
                <a:latin typeface="Book Antiqua" panose="02040602050305030304" charset="0"/>
                <a:cs typeface="Book Antiqua" panose="02040602050305030304" charset="0"/>
              </a:rPr>
              <a:t>Macro Evolution, Frontier AI Scaling,</a:t>
            </a:r>
            <a:r>
              <a:rPr>
                <a:latin typeface="Book Antiqua" panose="02040602050305030304" charset="0"/>
                <a:cs typeface="Book Antiqua" panose="02040602050305030304" charset="0"/>
              </a:rPr>
              <a:t>
</a:t>
            </a:r>
            <a:r>
              <a:rPr sz="4200" b="1" i="0" u="none">
                <a:solidFill>
                  <a:srgbClr val="FAF9F6"/>
                </a:solidFill>
                <a:latin typeface="Book Antiqua" panose="02040602050305030304" charset="0"/>
                <a:cs typeface="Book Antiqua" panose="02040602050305030304" charset="0"/>
              </a:rPr>
              <a:t> and Economic Dynamics</a:t>
            </a:r>
            <a:endParaRPr sz="4200" b="1" i="0" u="none">
              <a:solidFill>
                <a:srgbClr val="FAF9F6"/>
              </a:solidFill>
              <a:latin typeface="Book Antiqua" panose="02040602050305030304" charset="0"/>
              <a:cs typeface="Book Antiqua" panose="0204060205030503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15000" y="4015680"/>
            <a:ext cx="7620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62250" y="4339530"/>
            <a:ext cx="6667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DM Sans"/>
              </a:rPr>
              <a:t>The shift from autoregressive text to physical domain integration, the economics of compute, and the exhaustion of public data.</a:t>
            </a:r>
            <a:endParaRPr sz="1500" b="0" i="0" u="none">
              <a:solidFill>
                <a:srgbClr val="CBD5E1"/>
              </a:solidFill>
              <a:latin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962745"/>
            <a:ext cx="5286375" cy="20639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4125" y="1962745"/>
            <a:ext cx="5286375" cy="206394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502943"/>
            <a:ext cx="5286375" cy="23068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4502943"/>
            <a:ext cx="5286375" cy="20639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038820"/>
            <a:ext cx="11049000" cy="547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5"/>
              </a:lnSpc>
            </a:pPr>
            <a:r>
              <a:rPr b="0" i="0" u="none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epoch's marginal unit of new capability became progressively more expensive, culminating in the necessity of physical simulation.</a:t>
            </a:r>
            <a:endParaRPr b="0" i="0" u="none">
              <a:solidFill>
                <a:srgbClr val="47556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6775" y="2286595"/>
            <a:ext cx="4930616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1. Supervised Discriminative </a:t>
            </a:r>
            <a:r>
              <a:rPr sz="1800" b="0" i="0" u="none">
                <a:latin typeface="Merriweather"/>
              </a:rPr>
              <a:t>(Pre-2018)</a:t>
            </a:r>
            <a:endParaRPr sz="1800" b="0" i="0" u="none">
              <a:latin typeface="Merriweath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6775" y="2697956"/>
            <a:ext cx="46958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DM Sans"/>
              </a:rPr>
              <a:t>Signal:</a:t>
            </a:r>
            <a:r>
              <a:rPr sz="1275" b="0" i="0" u="none">
                <a:solidFill>
                  <a:srgbClr val="475569"/>
                </a:solidFill>
                <a:latin typeface="DM Sans"/>
              </a:rPr>
              <a:t> Human-annotated labels.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6775" y="3093243"/>
            <a:ext cx="46958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Competence was bounded by manual labeling cost. Resulted in narrow generalization.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16065" y="2228215"/>
            <a:ext cx="4720590" cy="261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2. Autoregressive Pretraining </a:t>
            </a:r>
            <a:r>
              <a:rPr sz="1800" b="0" i="0" u="none">
                <a:latin typeface="Merriweather"/>
              </a:rPr>
              <a:t>(2018-2023)</a:t>
            </a:r>
            <a:endParaRPr sz="1800" b="0" i="0" u="none">
              <a:latin typeface="Merriweath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16065" y="2988310"/>
            <a:ext cx="4709160" cy="466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DM Sans"/>
              </a:rPr>
              <a:t>Signal:</a:t>
            </a:r>
            <a:r>
              <a:rPr sz="1275" b="0" i="0" u="none">
                <a:solidFill>
                  <a:srgbClr val="475569"/>
                </a:solidFill>
                <a:latin typeface="DM Sans"/>
              </a:rPr>
              <a:t> Raw internet text.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29400" y="3300888"/>
            <a:ext cx="46958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Enabled scaling laws but resulted in hallucination and lacked true grounding in physical causality.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6775" y="4826793"/>
            <a:ext cx="4930616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3. Test-Time Reasoning </a:t>
            </a:r>
            <a:r>
              <a:rPr sz="1800" b="0" i="0" u="none">
                <a:latin typeface="Merriweather"/>
              </a:rPr>
              <a:t>(2023-2025)</a:t>
            </a:r>
            <a:endParaRPr sz="1800" b="0" i="0" u="none">
              <a:latin typeface="Merriweath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6775" y="5238154"/>
            <a:ext cx="46958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DM Sans"/>
              </a:rPr>
              <a:t>Signal:</a:t>
            </a:r>
            <a:r>
              <a:rPr sz="1275" b="0" i="0" u="none">
                <a:solidFill>
                  <a:srgbClr val="475569"/>
                </a:solidFill>
                <a:latin typeface="DM Sans"/>
              </a:rPr>
              <a:t> Inference-time deliberation.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6775" y="5633442"/>
            <a:ext cx="469582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Monte Carlo tree search layered on pretrained weights. Shifted cost to inference compute. Capable but unembodied.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29400" y="4826793"/>
            <a:ext cx="4930616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4. Embodied Physical AI </a:t>
            </a:r>
            <a:r>
              <a:rPr sz="1800" b="0" i="0" u="none">
                <a:latin typeface="Merriweather"/>
              </a:rPr>
              <a:t>(2025-Present)</a:t>
            </a:r>
            <a:endParaRPr sz="1800" b="0" i="0" u="none">
              <a:latin typeface="Merriweath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29400" y="5238154"/>
            <a:ext cx="46958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DM Sans"/>
              </a:rPr>
              <a:t>Signal:</a:t>
            </a:r>
            <a:r>
              <a:rPr sz="1275" b="0" i="0" u="none">
                <a:solidFill>
                  <a:srgbClr val="475569"/>
                </a:solidFill>
                <a:latin typeface="DM Sans"/>
              </a:rPr>
              <a:t> Interaction &amp; Simulation.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29400" y="5633442"/>
            <a:ext cx="46958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World models grounded in 3D space, contact physics, and closed-loop action. The final frontier of capability scaling.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1500" y="4822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A192F"/>
                </a:solidFill>
                <a:latin typeface="Merriweather"/>
              </a:rPr>
              <a:t>The Four Epochs of Machine Intelligence</a:t>
            </a:r>
            <a:endParaRPr sz="2850" b="1" i="0" u="none">
              <a:solidFill>
                <a:srgbClr val="0A192F"/>
              </a:solidFill>
              <a:latin typeface="Merriweather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71500" y="638770"/>
            <a:ext cx="11049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 Box 20"/>
          <p:cNvSpPr txBox="1"/>
          <p:nvPr/>
        </p:nvSpPr>
        <p:spPr>
          <a:xfrm>
            <a:off x="12118340" y="30321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4125" y="4289524"/>
            <a:ext cx="5286375" cy="15763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5350" y="2923540"/>
            <a:ext cx="3018790" cy="923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i="0" u="none">
                <a:solidFill>
                  <a:srgbClr val="14B8A6"/>
                </a:solidFill>
                <a:latin typeface="Merriweather"/>
              </a:rPr>
              <a:t>202</a:t>
            </a:r>
            <a:r>
              <a:rPr lang="en-IN" sz="7200" b="1" i="0" u="none">
                <a:solidFill>
                  <a:srgbClr val="14B8A6"/>
                </a:solidFill>
                <a:latin typeface="Merriweather"/>
              </a:rPr>
              <a:t>8</a:t>
            </a:r>
            <a:endParaRPr sz="7200" b="1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5350" y="3932932"/>
            <a:ext cx="2670333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FAF9F6"/>
                </a:solidFill>
                <a:latin typeface="DM Sans"/>
              </a:rPr>
              <a:t>Public Text Exhaustion</a:t>
            </a:r>
            <a:endParaRPr sz="1800" b="1" i="0" u="none">
              <a:solidFill>
                <a:srgbClr val="FAF9F6"/>
              </a:solidFill>
              <a:latin typeface="DM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5350" y="4487167"/>
            <a:ext cx="2676525" cy="576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DM Sans"/>
              </a:rPr>
              <a:t>$10^{14} Tokens Consumed</a:t>
            </a:r>
            <a:endParaRPr sz="1500" b="1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34125" y="1982688"/>
            <a:ext cx="5550693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FAF9F6"/>
                </a:solidFill>
                <a:latin typeface="Merriweather"/>
              </a:rPr>
              <a:t>The Compute Wall</a:t>
            </a:r>
            <a:endParaRPr sz="1800" b="1" i="0" u="none">
              <a:solidFill>
                <a:srgbClr val="FAF9F6"/>
              </a:solidFill>
              <a:latin typeface="Merriweath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34125" y="2394049"/>
            <a:ext cx="5286375" cy="734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public, human-generated text corpus available for training is projected to be effectively exhausted by frontier-scale training runs between 2027 and 2028.</a:t>
            </a:r>
            <a:endParaRPr sz="1275" b="0" i="0" u="none">
              <a:solidFill>
                <a:srgbClr val="CBD5E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34125" y="3275111"/>
            <a:ext cx="5286375" cy="734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Simultaneously, beyond 10^{27} FLOPs, progress is bottlenecked by gigawatt-scale power availability at datacenter sites</a:t>
            </a:r>
            <a:r>
              <a:rPr lang="en-IN" sz="1275" b="0" i="0" u="none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75" b="0" i="0" u="none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grid-infrastructure constraint, not a silicon constraint.</a:t>
            </a:r>
            <a:endParaRPr sz="1275" b="0" i="0" u="none">
              <a:solidFill>
                <a:srgbClr val="CBD5E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34150" y="4489549"/>
            <a:ext cx="48863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14B8A6"/>
                </a:solidFill>
                <a:latin typeface="DM Sans"/>
              </a:rPr>
              <a:t>The Strategic Pivot</a:t>
            </a:r>
            <a:endParaRPr sz="1275" b="1" i="0" u="none">
              <a:solidFill>
                <a:srgbClr val="14B8A6"/>
              </a:solidFill>
              <a:latin typeface="DM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34150" y="4827686"/>
            <a:ext cx="48863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DM Sans"/>
              </a:rPr>
              <a:t>The lever for future capability growth is no longer raw capital deployed toward pretraining on public text. It is proprietary synthetic-data generation.</a:t>
            </a:r>
            <a:endParaRPr sz="1200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AF9F6"/>
                </a:solidFill>
                <a:latin typeface="Merriweather"/>
              </a:rPr>
              <a:t>The Data Exhaustion Crisis</a:t>
            </a:r>
            <a:endParaRPr sz="2850" b="1" i="0" u="none">
              <a:solidFill>
                <a:srgbClr val="FAF9F6"/>
              </a:solidFill>
              <a:latin typeface="Merriweather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5350" y="2799715"/>
            <a:ext cx="3945255" cy="923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i="0" u="none">
                <a:solidFill>
                  <a:srgbClr val="14B8A6"/>
                </a:solidFill>
                <a:latin typeface="Merriweather"/>
              </a:rPr>
              <a:t>$512</a:t>
            </a:r>
            <a:r>
              <a:rPr lang="en-IN" sz="7200" b="1" i="0" u="none">
                <a:solidFill>
                  <a:srgbClr val="14B8A6"/>
                </a:solidFill>
                <a:latin typeface="Merriweather"/>
              </a:rPr>
              <a:t>B </a:t>
            </a:r>
            <a:endParaRPr lang="en-IN" sz="7200" b="1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9685" y="3714750"/>
            <a:ext cx="3773805" cy="9086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40"/>
              </a:lnSpc>
            </a:pPr>
            <a:endParaRPr sz="1800" b="1" i="0" u="none">
              <a:solidFill>
                <a:srgbClr val="0A192F"/>
              </a:solidFill>
              <a:latin typeface="DM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5350" y="4410967"/>
            <a:ext cx="4962525" cy="489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capital-expenditure supercycle behind AI is unprecedented. 88% of adopting organizations report measurable revenue gains.</a:t>
            </a:r>
            <a:endParaRPr sz="1275" b="0" i="0" u="none">
              <a:solidFill>
                <a:srgbClr val="47556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34125" y="2959000"/>
            <a:ext cx="5550693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The Fragile Trust Paradox</a:t>
            </a:r>
            <a:endParaRPr sz="1800" b="1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34125" y="3370361"/>
            <a:ext cx="5286375" cy="489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Massive enterprise deployment coexists with state-of-the-art models that still unpredictably fail basic logical or spatial tasks.</a:t>
            </a:r>
            <a:endParaRPr sz="1275" b="0" i="0" u="none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34125" y="4008536"/>
            <a:ext cx="5286375" cy="734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Enterprise integration cannot scale fully until this fragile trust is resolved. The market increasingly rewards systems that prioritize </a:t>
            </a:r>
            <a:r>
              <a:rPr sz="1275" b="1" i="0" u="none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verifiability</a:t>
            </a:r>
            <a:r>
              <a:rPr sz="1275" b="0" i="0" u="none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 over sheer generative capability.</a:t>
            </a:r>
            <a:endParaRPr sz="1275" b="0" i="0" u="none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A192F"/>
                </a:solidFill>
                <a:latin typeface="Merriweather"/>
              </a:rPr>
              <a:t>The AI Economic Surge &amp; The Fragile Trust Paradox</a:t>
            </a:r>
            <a:endParaRPr sz="2850" b="1" i="0" u="none">
              <a:solidFill>
                <a:srgbClr val="0A192F"/>
              </a:solidFill>
              <a:latin typeface="Merriweather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" y="6419850"/>
            <a:ext cx="2524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A192F"/>
                </a:solidFill>
                <a:latin typeface="DM Sans"/>
              </a:rPr>
              <a:t>Source: The Genesis of Physical AI, 2026. Sec 1.1</a:t>
            </a:r>
            <a:endParaRPr sz="900" b="0" i="0" u="none">
              <a:solidFill>
                <a:srgbClr val="0A192F"/>
              </a:solidFill>
              <a:latin typeface="DM Sans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895350" y="39706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b="1">
                <a:solidFill>
                  <a:srgbClr val="0A192F"/>
                </a:solidFill>
                <a:latin typeface="DM Sans"/>
                <a:sym typeface="+mn-ea"/>
              </a:rPr>
              <a:t>Projected AI Spend by 2027</a:t>
            </a:r>
            <a:endParaRPr lang="en-US" b="1">
              <a:solidFill>
                <a:srgbClr val="0A192F"/>
              </a:solidFill>
              <a:latin typeface="DM Sans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5063430"/>
            <a:ext cx="11049000" cy="11049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42269"/>
            <a:ext cx="5286375" cy="22401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2442269"/>
            <a:ext cx="5286375" cy="2240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489769"/>
            <a:ext cx="8572500" cy="576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2000" b="0" i="0" u="none">
                <a:solidFill>
                  <a:srgbClr val="CBD5E1"/>
                </a:solidFill>
                <a:latin typeface="Bell MT" panose="02020503060305020303" charset="0"/>
                <a:cs typeface="Bell MT" panose="02020503060305020303" charset="0"/>
              </a:rPr>
              <a:t>Individual employees are adopting AI tools faster than organizations can govern them, creating substantial shadow-IT and data-leakage risk.</a:t>
            </a:r>
            <a:endParaRPr sz="2000" b="0" i="0" u="none">
              <a:solidFill>
                <a:srgbClr val="CBD5E1"/>
              </a:solidFill>
              <a:latin typeface="Bell MT" panose="02020503060305020303" charset="0"/>
              <a:cs typeface="Bell MT" panose="02020503060305020303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5463480"/>
            <a:ext cx="10668000" cy="518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2000" b="0" i="0" u="none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Organizations where senior leadership actively shapes AI governance report significantly higher realized business value than those leaving decisions to technical teams.</a:t>
            </a:r>
            <a:endParaRPr sz="2000" b="0" i="0" u="none">
              <a:solidFill>
                <a:srgbClr val="CBD5E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6775" y="2737544"/>
            <a:ext cx="46958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0" i="0" u="none">
                <a:solidFill>
                  <a:srgbClr val="14B8A6"/>
                </a:solidFill>
                <a:latin typeface="Merriweather"/>
              </a:rPr>
              <a:t>66%</a:t>
            </a:r>
            <a:endParaRPr sz="3600" b="0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6775" y="3337619"/>
            <a:ext cx="4930616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FAF9F6"/>
                </a:solidFill>
                <a:latin typeface="Merriweather"/>
              </a:rPr>
              <a:t>Report Productivity Gains</a:t>
            </a:r>
            <a:endParaRPr sz="1800" b="1" i="0" u="none">
              <a:solidFill>
                <a:srgbClr val="FAF9F6"/>
              </a:solidFill>
              <a:latin typeface="Merriweath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6775" y="3748980"/>
            <a:ext cx="46958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CBD5E1"/>
                </a:solidFill>
                <a:latin typeface="DM Sans"/>
              </a:rPr>
              <a:t>Two-thirds of organizations report individual task-level productivity gains from AI integration.</a:t>
            </a:r>
            <a:endParaRPr sz="1275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29400" y="2737544"/>
            <a:ext cx="46958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0" i="0" u="none">
                <a:solidFill>
                  <a:srgbClr val="14B8A6"/>
                </a:solidFill>
                <a:latin typeface="Merriweather"/>
              </a:rPr>
              <a:t>33%</a:t>
            </a:r>
            <a:endParaRPr sz="3600" b="0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29400" y="3337619"/>
            <a:ext cx="4930616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FAF9F6"/>
                </a:solidFill>
                <a:latin typeface="Merriweather"/>
              </a:rPr>
              <a:t>Achieve Business Transformation</a:t>
            </a:r>
            <a:endParaRPr sz="1800" b="1" i="0" u="none">
              <a:solidFill>
                <a:srgbClr val="FAF9F6"/>
              </a:solidFill>
              <a:latin typeface="Merriweath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29400" y="3748980"/>
            <a:ext cx="46958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CBD5E1"/>
                </a:solidFill>
                <a:latin typeface="DM Sans"/>
              </a:rPr>
              <a:t>Only one-third are genuinely reimagining their business processes around it. The gap is governance, not capability.</a:t>
            </a:r>
            <a:endParaRPr sz="1275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1500" y="499169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AF9F6"/>
                </a:solidFill>
                <a:latin typeface="Merriweather"/>
              </a:rPr>
              <a:t>The Adoption Gap is Organizational</a:t>
            </a:r>
            <a:endParaRPr sz="2850" b="1" i="0" u="none">
              <a:solidFill>
                <a:srgbClr val="FAF9F6"/>
              </a:solidFill>
              <a:latin typeface="Merriweather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1500" y="1089719"/>
            <a:ext cx="11049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4125" y="2511474"/>
            <a:ext cx="5286375" cy="6823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958851"/>
            <a:ext cx="5550693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0A192F"/>
                </a:solidFill>
                <a:latin typeface="Merriweather"/>
              </a:rPr>
              <a:t>Kaplan / Chinchilla Scaling</a:t>
            </a:r>
            <a:endParaRPr sz="1800" b="1" i="0" u="none">
              <a:solidFill>
                <a:srgbClr val="0A192F"/>
              </a:solidFill>
              <a:latin typeface="Merriweath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500" y="3370212"/>
            <a:ext cx="5286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Historically, AI capability scaled along predictable power-law curves relating cross-entropy loss to model size and dataset size.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4008387"/>
            <a:ext cx="528637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Compute-optimal training requires parameter count ($N$) and data volume ($D$) to grow in roughly equal proportion for a fixed compute budget.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34125" y="4889301"/>
            <a:ext cx="5286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0A192F"/>
                </a:solidFill>
                <a:latin typeface="DM Sans"/>
              </a:rPr>
              <a:t>The strategic reality: The floor $E$ does not move, no matter how much larger $N$ or $D$ becomes.</a:t>
            </a:r>
            <a:endParaRPr sz="1275" b="1" i="0" u="none">
              <a:solidFill>
                <a:srgbClr val="0A192F"/>
              </a:solidFill>
              <a:latin typeface="DM Sans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016" y="2701974"/>
            <a:ext cx="2379017" cy="3013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67475" y="3381970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DM Sans"/>
              </a:rPr>
              <a:t>▪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24625" y="3384351"/>
            <a:ext cx="5095875" cy="242887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DM Sans"/>
              </a:rPr>
              <a:t>$L$:</a:t>
            </a:r>
            <a:r>
              <a:rPr sz="1275" b="0" i="0" u="none">
                <a:solidFill>
                  <a:srgbClr val="475569"/>
                </a:solidFill>
                <a:latin typeface="DM Sans"/>
              </a:rPr>
              <a:t> Cross-entropy loss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67475" y="3739157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DM Sans"/>
              </a:rPr>
              <a:t>▪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24625" y="3741539"/>
            <a:ext cx="5095875" cy="242887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DM Sans"/>
              </a:rPr>
              <a:t>$E$:</a:t>
            </a:r>
            <a:r>
              <a:rPr sz="1275" b="0" i="0" u="none">
                <a:solidFill>
                  <a:srgbClr val="475569"/>
                </a:solidFill>
                <a:latin typeface="DM Sans"/>
              </a:rPr>
              <a:t> Irreducible entropy floor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67475" y="4096345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DM Sans"/>
              </a:rPr>
              <a:t>▪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24625" y="4098726"/>
            <a:ext cx="5095875" cy="242887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DM Sans"/>
              </a:rPr>
              <a:t>$N$:</a:t>
            </a:r>
            <a:r>
              <a:rPr sz="1275" b="0" i="0" u="none">
                <a:solidFill>
                  <a:srgbClr val="475569"/>
                </a:solidFill>
                <a:latin typeface="DM Sans"/>
              </a:rPr>
              <a:t> Parameter count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67475" y="4453532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DM Sans"/>
              </a:rPr>
              <a:t>▪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24625" y="4455914"/>
            <a:ext cx="5095875" cy="242887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DM Sans"/>
              </a:rPr>
              <a:t>$D$:</a:t>
            </a:r>
            <a:r>
              <a:rPr sz="1275" b="0" i="0" u="none">
                <a:solidFill>
                  <a:srgbClr val="475569"/>
                </a:solidFill>
                <a:latin typeface="DM Sans"/>
              </a:rPr>
              <a:t> Dataset size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A192F"/>
                </a:solidFill>
                <a:latin typeface="Merriweather"/>
              </a:rPr>
              <a:t>Scaling Laws Hit the Entropy Floor</a:t>
            </a:r>
            <a:endParaRPr sz="2850" b="1" i="0" u="none">
              <a:solidFill>
                <a:srgbClr val="0A192F"/>
              </a:solidFill>
              <a:latin typeface="Merriweather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3513236"/>
            <a:ext cx="5286375" cy="62016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2836961"/>
            <a:ext cx="5286375" cy="1076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4103786"/>
            <a:ext cx="5286375" cy="13192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425600"/>
            <a:ext cx="5550693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Unified Compute Budget</a:t>
            </a:r>
            <a:endParaRPr sz="1800" b="1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2836961"/>
            <a:ext cx="5286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CBD5E1"/>
                </a:solidFill>
                <a:latin typeface="DM Sans"/>
              </a:rPr>
              <a:t>The industry has transitioned to unifying pretraining decisions and test-time execution choices under a single budget.</a:t>
            </a:r>
            <a:endParaRPr sz="1275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0" y="4323903"/>
            <a:ext cx="5286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CBD5E1"/>
                </a:solidFill>
                <a:latin typeface="DM Sans"/>
              </a:rPr>
              <a:t>Rather than building massive, sluggish models, the frontier builds nimble, overtrained systems tested repeatedly under fixed budgets.</a:t>
            </a:r>
            <a:endParaRPr sz="1275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34125" y="2425600"/>
            <a:ext cx="5550693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System 1 vs. System 2</a:t>
            </a:r>
            <a:endParaRPr sz="1800" b="1" i="0" u="none">
              <a:solidFill>
                <a:srgbClr val="14B8A6"/>
              </a:solidFill>
              <a:latin typeface="Merriweather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7716" y="3703736"/>
            <a:ext cx="2042517" cy="2391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29400" y="3132236"/>
            <a:ext cx="46958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CBD5E1"/>
                </a:solidFill>
                <a:latin typeface="DM Sans"/>
              </a:rPr>
              <a:t>System 1:</a:t>
            </a:r>
            <a:r>
              <a:rPr sz="1275" b="0" i="0" u="none">
                <a:solidFill>
                  <a:srgbClr val="CBD5E1"/>
                </a:solidFill>
                <a:latin typeface="DM Sans"/>
              </a:rPr>
              <a:t> Single reflexive forward pass. Fast, cheap, but brittle on novel physical problems.</a:t>
            </a:r>
            <a:endParaRPr sz="1275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29400" y="4399061"/>
            <a:ext cx="469582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CBD5E1"/>
                </a:solidFill>
                <a:latin typeface="DM Sans"/>
              </a:rPr>
              <a:t>System 2:</a:t>
            </a:r>
            <a:r>
              <a:rPr sz="1275" b="0" i="0" u="none">
                <a:solidFill>
                  <a:srgbClr val="CBD5E1"/>
                </a:solidFill>
                <a:latin typeface="DM Sans"/>
              </a:rPr>
              <a:t> Executes dynamic chain-of-thought, Monte Carlo Tree Search, and self-verification. Slower, expensive, but autonomous and self-correcting.</a:t>
            </a:r>
            <a:endParaRPr sz="1275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AF9F6"/>
                </a:solidFill>
                <a:latin typeface="Merriweather"/>
              </a:rPr>
              <a:t>From Training Scale to Test-Time Reasoning</a:t>
            </a:r>
            <a:endParaRPr sz="2850" b="1" i="0" u="none">
              <a:solidFill>
                <a:srgbClr val="FAF9F6"/>
              </a:solidFill>
              <a:latin typeface="Merriweather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463998"/>
            <a:ext cx="3492400" cy="2920603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9650" y="2463998"/>
            <a:ext cx="3492549" cy="292060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950" y="2463998"/>
            <a:ext cx="3492400" cy="29206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2759273"/>
            <a:ext cx="3046943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-90%</a:t>
            </a:r>
            <a:endParaRPr sz="1800" b="1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6775" y="3398639"/>
            <a:ext cx="304694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A192F"/>
                </a:solidFill>
                <a:latin typeface="DM Sans"/>
              </a:rPr>
              <a:t>Cost of Intelligence</a:t>
            </a:r>
            <a:endParaRPr sz="1350" b="1" i="0" u="none">
              <a:solidFill>
                <a:srgbClr val="0A192F"/>
              </a:solidFill>
              <a:latin typeface="DM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6775" y="3722489"/>
            <a:ext cx="2901850" cy="1214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Raw intelligence is rapidly commoditizing. Open-weight models operate at 25-50x lower cost per token, making raw inference abundant.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44925" y="2759273"/>
            <a:ext cx="3047099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55.8%</a:t>
            </a:r>
            <a:endParaRPr sz="1800" b="1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44925" y="3398639"/>
            <a:ext cx="304709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A192F"/>
                </a:solidFill>
                <a:latin typeface="DM Sans"/>
              </a:rPr>
              <a:t>Software Acceleration</a:t>
            </a:r>
            <a:endParaRPr sz="1350" b="1" i="0" u="none">
              <a:solidFill>
                <a:srgbClr val="0A192F"/>
              </a:solidFill>
              <a:latin typeface="DM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44925" y="3722489"/>
            <a:ext cx="2901999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Coding is the ultimate proving ground for System 2 AI because compilers provide instantaneous, closed-loop verifiability.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23225" y="2759273"/>
            <a:ext cx="3046943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$15.7T</a:t>
            </a:r>
            <a:endParaRPr sz="1800" b="1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23225" y="3398639"/>
            <a:ext cx="304694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A192F"/>
                </a:solidFill>
                <a:latin typeface="DM Sans"/>
              </a:rPr>
              <a:t>Macro Exposure</a:t>
            </a:r>
            <a:endParaRPr sz="1350" b="1" i="0" u="none">
              <a:solidFill>
                <a:srgbClr val="0A192F"/>
              </a:solidFill>
              <a:latin typeface="DM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23225" y="3722489"/>
            <a:ext cx="290185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Projected GDP uplift by 2030. Manufacturing and logistics represent &gt;60% of exposure, driving the mandate for Physical AI.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A192F"/>
                </a:solidFill>
                <a:latin typeface="Merriweather"/>
              </a:rPr>
              <a:t>Where the AI Economy is Moving</a:t>
            </a:r>
            <a:endParaRPr sz="2850" b="1" i="0" u="none">
              <a:solidFill>
                <a:srgbClr val="0A192F"/>
              </a:solidFill>
              <a:latin typeface="Merriweather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660" y="364490"/>
            <a:ext cx="9416415" cy="64935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45931" y="1794569"/>
            <a:ext cx="1100137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DM Sans"/>
              </a:rPr>
              <a:t>PART 02</a:t>
            </a:r>
            <a:endParaRPr sz="1800" b="1" i="0" u="none">
              <a:solidFill>
                <a:srgbClr val="14B8A6"/>
              </a:solidFill>
              <a:latin typeface="DM San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80398" y="2205930"/>
            <a:ext cx="9631203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AF9F6"/>
                </a:solidFill>
                <a:latin typeface="Merriweather"/>
              </a:rPr>
              <a:t>World Models: Comparative Status,</a:t>
            </a:r>
            <a:r>
              <a:t>
</a:t>
            </a:r>
            <a:r>
              <a:rPr sz="4200" b="1" i="0" u="none">
                <a:solidFill>
                  <a:srgbClr val="FAF9F6"/>
                </a:solidFill>
                <a:latin typeface="Merriweather"/>
              </a:rPr>
              <a:t> Gaps, and Failure Modes</a:t>
            </a:r>
            <a:endParaRPr sz="4200" b="1" i="0" u="none">
              <a:solidFill>
                <a:srgbClr val="FAF9F6"/>
              </a:solidFill>
              <a:latin typeface="Merriweath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15000" y="4015680"/>
            <a:ext cx="7620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62250" y="4339530"/>
            <a:ext cx="6667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DM Sans"/>
              </a:rPr>
              <a:t>The transition from text-prediction to simulating a Partially Observable Markov Decision Process in multi-dimensional space.</a:t>
            </a:r>
            <a:endParaRPr sz="1500" b="0" i="0" u="none">
              <a:solidFill>
                <a:srgbClr val="CBD5E1"/>
              </a:solidFill>
              <a:latin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6953" y="3084611"/>
            <a:ext cx="7423546" cy="6000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6953" y="4551461"/>
            <a:ext cx="7423546" cy="5689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96975"/>
            <a:ext cx="3306663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0A192F"/>
                </a:solidFill>
                <a:latin typeface="Merriweather"/>
              </a:rPr>
              <a:t>Pearl's Causal Ladder</a:t>
            </a:r>
            <a:endParaRPr sz="1800" b="1" i="0" u="none">
              <a:solidFill>
                <a:srgbClr val="0A192F"/>
              </a:solidFill>
              <a:latin typeface="Merriweath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2408336"/>
            <a:ext cx="3149203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A language model is confined to the associational rung—it recognizes co-occurrence but lacks physical grounding.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4970561"/>
            <a:ext cx="3149203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Safe physical execution requires evaluating alternative physical paths *before* acting.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96953" y="1996975"/>
            <a:ext cx="7794724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0A192F"/>
                </a:solidFill>
                <a:latin typeface="Merriweather"/>
              </a:rPr>
              <a:t>The Formal Substrate (POMDP)</a:t>
            </a:r>
            <a:endParaRPr sz="1800" b="1" i="0" u="none">
              <a:solidFill>
                <a:srgbClr val="0A192F"/>
              </a:solidFill>
              <a:latin typeface="Merriweath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96953" y="2408336"/>
            <a:ext cx="7423546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An intelligent agent in a physical environment is modeled as a Partially Observable Markov Decision Process: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96953" y="3875186"/>
            <a:ext cx="7423546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A learned world model instantiates this via a compressed latent space ($Z$) enabling tractable simulative reasoning: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4850" y="3287017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DM Sans"/>
              </a:rPr>
              <a:t>▪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2000" y="3289399"/>
            <a:ext cx="2958703" cy="242887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DM Sans"/>
              </a:rPr>
              <a:t>I. Association:</a:t>
            </a:r>
            <a:r>
              <a:rPr sz="1275" b="0" i="0" u="none">
                <a:solidFill>
                  <a:srgbClr val="475569"/>
                </a:solidFill>
                <a:latin typeface="DM Sans"/>
              </a:rPr>
              <a:t> $P(Y|X)$ (LLMs)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4850" y="3644205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DM Sans"/>
              </a:rPr>
              <a:t>▪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2000" y="3646586"/>
            <a:ext cx="2958703" cy="48577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DM Sans"/>
              </a:rPr>
              <a:t>II. Intervention:</a:t>
            </a:r>
            <a:r>
              <a:rPr sz="1275" b="0" i="0" u="none">
                <a:solidFill>
                  <a:srgbClr val="475569"/>
                </a:solidFill>
                <a:latin typeface="DM Sans"/>
              </a:rPr>
              <a:t> $P(Y|do(u))$ (Robotic action)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4850" y="4244280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DM Sans"/>
              </a:rPr>
              <a:t>▪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2000" y="4246661"/>
            <a:ext cx="2958703" cy="48577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DM Sans"/>
              </a:rPr>
              <a:t>III. Counterfactuals:</a:t>
            </a:r>
            <a:r>
              <a:rPr sz="1275" b="0" i="0" u="none">
                <a:solidFill>
                  <a:srgbClr val="475569"/>
                </a:solidFill>
                <a:latin typeface="DM Sans"/>
              </a:rPr>
              <a:t> $P(Y_u|X',Y')$ (Planning)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653" y="3275111"/>
            <a:ext cx="2816572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778" y="4646711"/>
            <a:ext cx="7204471" cy="37846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A192F"/>
                </a:solidFill>
                <a:latin typeface="Merriweather"/>
              </a:rPr>
              <a:t>Why Text Intelligence Breaks in Physical Space</a:t>
            </a:r>
            <a:endParaRPr sz="2850" b="1" i="0" u="none">
              <a:solidFill>
                <a:srgbClr val="0A192F"/>
              </a:solidFill>
              <a:latin typeface="Merriweather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547044"/>
            <a:ext cx="3492400" cy="275451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9650" y="2547044"/>
            <a:ext cx="3492549" cy="27545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950" y="2547044"/>
            <a:ext cx="3492400" cy="2754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2842319"/>
            <a:ext cx="3046943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1. Renderer School</a:t>
            </a:r>
            <a:endParaRPr sz="1800" b="1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6775" y="3253680"/>
            <a:ext cx="29018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1" u="none">
                <a:solidFill>
                  <a:srgbClr val="CBD5E1"/>
                </a:solidFill>
                <a:latin typeface="DM Sans"/>
              </a:rPr>
              <a:t>Generative Simulators</a:t>
            </a:r>
            <a:endParaRPr sz="1275" b="0" i="1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6775" y="3639442"/>
            <a:ext cx="2901850" cy="1214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CBD5E1"/>
                </a:solidFill>
                <a:latin typeface="DM Sans"/>
              </a:rPr>
              <a:t>Optimizes for photorealistic pixel diffusion. High latency. Severe hallucination risk because visual plausibility does not equal physical correctness.</a:t>
            </a:r>
            <a:endParaRPr sz="1275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44925" y="2842319"/>
            <a:ext cx="3047099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2. Latent / JEPA</a:t>
            </a:r>
            <a:endParaRPr sz="1800" b="1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44925" y="3253680"/>
            <a:ext cx="2901999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1" u="none">
                <a:solidFill>
                  <a:srgbClr val="CBD5E1"/>
                </a:solidFill>
                <a:latin typeface="DM Sans"/>
              </a:rPr>
              <a:t>Predictive Models</a:t>
            </a:r>
            <a:endParaRPr sz="1275" b="0" i="1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44925" y="3639442"/>
            <a:ext cx="2901999" cy="1214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CBD5E1"/>
                </a:solidFill>
                <a:latin typeface="DM Sans"/>
              </a:rPr>
              <a:t>Rejects pixel rendering for abstract future states in an energy-based latent space. Highly data-efficient with sub-5ms inference latency. Ideal for real-time control.</a:t>
            </a:r>
            <a:endParaRPr sz="1275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23225" y="2842319"/>
            <a:ext cx="3046943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3. Spatial / Engineered</a:t>
            </a:r>
            <a:endParaRPr sz="1800" b="1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23225" y="3253680"/>
            <a:ext cx="29018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1" u="none">
                <a:solidFill>
                  <a:srgbClr val="CBD5E1"/>
                </a:solidFill>
                <a:latin typeface="DM Sans"/>
              </a:rPr>
              <a:t>Physics Platforms</a:t>
            </a:r>
            <a:endParaRPr sz="1275" b="0" i="1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23225" y="3639442"/>
            <a:ext cx="2901850" cy="1214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CBD5E1"/>
                </a:solidFill>
                <a:latin typeface="DM Sans"/>
              </a:rPr>
              <a:t>Uses explicit 3D/4D volumetric occupancy voxels combined with Physics-Informed Neural Networks. High industrial trust due to conservation laws.</a:t>
            </a:r>
            <a:endParaRPr sz="1275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AF9F6"/>
                </a:solidFill>
                <a:latin typeface="Merriweather"/>
              </a:rPr>
              <a:t>The Three Schools of World Models</a:t>
            </a:r>
            <a:endParaRPr sz="2850" b="1" i="0" u="none">
              <a:solidFill>
                <a:srgbClr val="FAF9F6"/>
              </a:solidFill>
              <a:latin typeface="Merriweather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1816000"/>
            <a:ext cx="110490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Conflating these three schools is a profound strategic error. Each optimizes for a genuinely different objective.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249388"/>
          <a:ext cx="11048998" cy="3783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4271"/>
                <a:gridCol w="3242220"/>
                <a:gridCol w="3011388"/>
                <a:gridCol w="3001119"/>
              </a:tblGrid>
              <a:tr h="472901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A192F"/>
                          </a:solidFill>
                          <a:latin typeface="DM Sans"/>
                        </a:rPr>
                        <a:t>Dimension</a:t>
                      </a:r>
                      <a:endParaRPr sz="975" b="1" i="0" u="none">
                        <a:solidFill>
                          <a:srgbClr val="0A192F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A192F"/>
                          </a:solidFill>
                          <a:latin typeface="DM Sans"/>
                        </a:rPr>
                        <a:t>Renderer School</a:t>
                      </a:r>
                      <a:endParaRPr sz="975" b="1" i="0" u="none">
                        <a:solidFill>
                          <a:srgbClr val="0A192F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A192F"/>
                          </a:solidFill>
                          <a:latin typeface="DM Sans"/>
                        </a:rPr>
                        <a:t>Latent / JEPA School</a:t>
                      </a:r>
                      <a:endParaRPr sz="975" b="1" i="0" u="none">
                        <a:solidFill>
                          <a:srgbClr val="0A192F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A192F"/>
                          </a:solidFill>
                          <a:latin typeface="DM Sans"/>
                        </a:rPr>
                        <a:t>Spatial / Engineered School</a:t>
                      </a:r>
                      <a:endParaRPr sz="975" b="1" i="0" u="none">
                        <a:solidFill>
                          <a:srgbClr val="0A192F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290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DM Sans"/>
                        </a:rPr>
                        <a:t>Core Technique</a:t>
                      </a:r>
                      <a:endParaRPr sz="1125" b="1" i="0" u="none">
                        <a:solidFill>
                          <a:srgbClr val="475569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DM Sans"/>
                        </a:rPr>
                        <a:t>Pixel diffusion / autoregressive video</a:t>
                      </a:r>
                      <a:endParaRPr sz="1125" b="0" i="0" u="none">
                        <a:solidFill>
                          <a:srgbClr val="475569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DM Sans"/>
                        </a:rPr>
                        <a:t>Energy-based latent prediction</a:t>
                      </a:r>
                      <a:endParaRPr sz="1125" b="0" i="0" u="none">
                        <a:solidFill>
                          <a:srgbClr val="475569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DM Sans"/>
                        </a:rPr>
                        <a:t>3D/4D voxel occupancy + PINNs</a:t>
                      </a:r>
                      <a:endParaRPr sz="1125" b="0" i="0" u="none">
                        <a:solidFill>
                          <a:srgbClr val="475569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290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DM Sans"/>
                        </a:rPr>
                        <a:t>Exemplars</a:t>
                      </a:r>
                      <a:endParaRPr sz="1125" b="1" i="0" u="none">
                        <a:solidFill>
                          <a:srgbClr val="475569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DM Sans"/>
                        </a:rPr>
                        <a:t>Sora, Genie 1/2, Oasis</a:t>
                      </a:r>
                      <a:endParaRPr sz="1125" b="0" i="0" u="none">
                        <a:solidFill>
                          <a:srgbClr val="475569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DM Sans"/>
                        </a:rPr>
                        <a:t>V-JEPA, Dreamer V3, TD-MPC2</a:t>
                      </a:r>
                      <a:endParaRPr sz="1125" b="0" i="0" u="none">
                        <a:solidFill>
                          <a:srgbClr val="475569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DM Sans"/>
                        </a:rPr>
                        <a:t>Tesla occupancy nets, Isaac Sim</a:t>
                      </a:r>
                      <a:endParaRPr sz="1125" b="0" i="0" u="none">
                        <a:solidFill>
                          <a:srgbClr val="475569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290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DM Sans"/>
                        </a:rPr>
                        <a:t>Physics Origin</a:t>
                      </a:r>
                      <a:endParaRPr sz="1125" b="1" i="0" u="none">
                        <a:solidFill>
                          <a:srgbClr val="475569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DM Sans"/>
                        </a:rPr>
                        <a:t>Emergent (learned incidentally)</a:t>
                      </a:r>
                      <a:endParaRPr sz="1125" b="0" i="0" u="none">
                        <a:solidFill>
                          <a:srgbClr val="475569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DM Sans"/>
                        </a:rPr>
                        <a:t>Emergent, abstract representation</a:t>
                      </a:r>
                      <a:endParaRPr sz="1125" b="0" i="0" u="none">
                        <a:solidFill>
                          <a:srgbClr val="475569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DM Sans"/>
                        </a:rPr>
                        <a:t>Explicitly engineered / constrained</a:t>
                      </a:r>
                      <a:endParaRPr sz="1125" b="0" i="0" u="none">
                        <a:solidFill>
                          <a:srgbClr val="475569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290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DM Sans"/>
                        </a:rPr>
                        <a:t>Data Efficiency</a:t>
                      </a:r>
                      <a:endParaRPr sz="1125" b="1" i="0" u="none">
                        <a:solidFill>
                          <a:srgbClr val="475569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DM Sans"/>
                        </a:rPr>
                        <a:t>Low (requires vast video corpus)</a:t>
                      </a:r>
                      <a:endParaRPr sz="1125" b="0" i="0" u="none">
                        <a:solidFill>
                          <a:srgbClr val="475569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DM Sans"/>
                        </a:rPr>
                        <a:t>High (&lt;62 hrs real robot data)</a:t>
                      </a:r>
                      <a:endParaRPr sz="1125" b="0" i="0" u="none">
                        <a:solidFill>
                          <a:srgbClr val="475569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DM Sans"/>
                        </a:rPr>
                        <a:t>Medium (simulator-bootstrapped)</a:t>
                      </a:r>
                      <a:endParaRPr sz="1125" b="0" i="0" u="none">
                        <a:solidFill>
                          <a:srgbClr val="475569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290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DM Sans"/>
                        </a:rPr>
                        <a:t>Latency</a:t>
                      </a:r>
                      <a:endParaRPr sz="1125" b="1" i="0" u="none">
                        <a:solidFill>
                          <a:srgbClr val="475569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DM Sans"/>
                        </a:rPr>
                        <a:t>High (seconds per frame)</a:t>
                      </a:r>
                      <a:endParaRPr sz="1125" b="0" i="0" u="none">
                        <a:solidFill>
                          <a:srgbClr val="475569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DM Sans"/>
                        </a:rPr>
                        <a:t>Very low (sub-5ms feasible)</a:t>
                      </a:r>
                      <a:endParaRPr sz="1125" b="0" i="0" u="none">
                        <a:solidFill>
                          <a:srgbClr val="475569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DM Sans"/>
                        </a:rPr>
                        <a:t>Low-Medium</a:t>
                      </a:r>
                      <a:endParaRPr sz="1125" b="0" i="0" u="none">
                        <a:solidFill>
                          <a:srgbClr val="475569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290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DM Sans"/>
                        </a:rPr>
                        <a:t>Hallucination Risk</a:t>
                      </a:r>
                      <a:endParaRPr sz="1125" b="1" i="0" u="none">
                        <a:solidFill>
                          <a:srgbClr val="475569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DM Sans"/>
                        </a:rPr>
                        <a:t>High (plausibility $\neq$ correctness)</a:t>
                      </a:r>
                      <a:endParaRPr sz="1125" b="0" i="0" u="none">
                        <a:solidFill>
                          <a:srgbClr val="475569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DM Sans"/>
                        </a:rPr>
                        <a:t>Low (no pixel generation)</a:t>
                      </a:r>
                      <a:endParaRPr sz="1125" b="0" i="0" u="none">
                        <a:solidFill>
                          <a:srgbClr val="475569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DM Sans"/>
                        </a:rPr>
                        <a:t>Low (physics-constrained)</a:t>
                      </a:r>
                      <a:endParaRPr sz="1125" b="0" i="0" u="none">
                        <a:solidFill>
                          <a:srgbClr val="475569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290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DM Sans"/>
                        </a:rPr>
                        <a:t>Best Use Case</a:t>
                      </a:r>
                      <a:endParaRPr sz="1125" b="1" i="0" u="none">
                        <a:solidFill>
                          <a:srgbClr val="475569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DM Sans"/>
                        </a:rPr>
                        <a:t>Human-facing content simulation</a:t>
                      </a:r>
                      <a:endParaRPr sz="1125" b="0" i="0" u="none">
                        <a:solidFill>
                          <a:srgbClr val="475569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DM Sans"/>
                        </a:rPr>
                        <a:t>Safety-critical robotic control</a:t>
                      </a:r>
                      <a:endParaRPr sz="1125" b="0" i="0" u="none">
                        <a:solidFill>
                          <a:srgbClr val="475569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DM Sans"/>
                        </a:rPr>
                        <a:t>Industrial digital twins, AV</a:t>
                      </a:r>
                      <a:endParaRPr sz="1125" b="0" i="0" u="none">
                        <a:solidFill>
                          <a:srgbClr val="475569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684561"/>
            <a:ext cx="1794271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65771" y="2684561"/>
            <a:ext cx="3242220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07992" y="2684561"/>
            <a:ext cx="3011388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19380" y="2684561"/>
            <a:ext cx="3001119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160811"/>
            <a:ext cx="1794271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65771" y="3160811"/>
            <a:ext cx="3242220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07992" y="3160811"/>
            <a:ext cx="3011388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9380" y="3160811"/>
            <a:ext cx="3001119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637061"/>
            <a:ext cx="1794271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65771" y="3637061"/>
            <a:ext cx="3242220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07992" y="3637061"/>
            <a:ext cx="3011388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19380" y="3637061"/>
            <a:ext cx="3001119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4113311"/>
            <a:ext cx="1794271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5771" y="4113311"/>
            <a:ext cx="3242220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07992" y="4113311"/>
            <a:ext cx="3011388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19380" y="4113311"/>
            <a:ext cx="3001119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" y="4589561"/>
            <a:ext cx="1794271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65771" y="4589561"/>
            <a:ext cx="3242220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07992" y="4589561"/>
            <a:ext cx="3011388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19380" y="4589561"/>
            <a:ext cx="3001119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1500" y="5065811"/>
            <a:ext cx="1794271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65771" y="5065811"/>
            <a:ext cx="3242220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07992" y="5065811"/>
            <a:ext cx="3011388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19380" y="5065811"/>
            <a:ext cx="3001119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1500" y="5542061"/>
            <a:ext cx="1794271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65771" y="5542061"/>
            <a:ext cx="3242220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07992" y="5542061"/>
            <a:ext cx="3011388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19380" y="5542061"/>
            <a:ext cx="3001119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1500" y="6018311"/>
            <a:ext cx="1794271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65771" y="6018311"/>
            <a:ext cx="3242220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07992" y="6018311"/>
            <a:ext cx="3011388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619380" y="6018311"/>
            <a:ext cx="3001119" cy="9525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A192F"/>
                </a:solidFill>
                <a:latin typeface="Merriweather"/>
              </a:rPr>
              <a:t>Comparative Matrix Across Architectures</a:t>
            </a:r>
            <a:endParaRPr sz="2850" b="1" i="0" u="none">
              <a:solidFill>
                <a:srgbClr val="0A192F"/>
              </a:solidFill>
              <a:latin typeface="Merriweather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3707010"/>
            <a:ext cx="5286375" cy="7506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619375"/>
            <a:ext cx="5550693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Value Over Imagined Rollouts</a:t>
            </a:r>
            <a:endParaRPr sz="1800" b="1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500" y="3030735"/>
            <a:ext cx="5286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CBD5E1"/>
                </a:solidFill>
                <a:latin typeface="DM Sans"/>
              </a:rPr>
              <a:t>An intelligent agent evaluates alternative physical paths before acting. It discounts future rewards inside an imagined world.</a:t>
            </a:r>
            <a:endParaRPr sz="1275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4648200"/>
            <a:ext cx="52863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CBD5E1"/>
                </a:solidFill>
                <a:latin typeface="DM Sans"/>
              </a:rPr>
              <a:t>Intelligence requires an internal simulator of reality, not merely a predictor of the next word.</a:t>
            </a:r>
            <a:endParaRPr sz="1125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34125" y="2619375"/>
            <a:ext cx="5550693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Benchmarking the Benchmarks</a:t>
            </a:r>
            <a:endParaRPr sz="1800" b="1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34125" y="3030735"/>
            <a:ext cx="528637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CBD5E1"/>
                </a:solidFill>
                <a:latin typeface="DM Sans"/>
              </a:rPr>
              <a:t>Evaluation remains the least mature part of the field. Frontier laboratories still do not publish results to a shared, standardized leaderboard.</a:t>
            </a:r>
            <a:endParaRPr sz="1275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34125" y="3911798"/>
            <a:ext cx="528637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CBD5E1"/>
                </a:solidFill>
                <a:latin typeface="DM Sans"/>
              </a:rPr>
              <a:t>Claims that a world model is "state of the art" based on visual fidelity (e.g., LPIPS/SSIM) carry no weight for physical AI, because visual plausibility does not guarantee contact physics or executability.</a:t>
            </a:r>
            <a:endParaRPr sz="1275" b="0" i="0" u="none">
              <a:solidFill>
                <a:srgbClr val="CBD5E1"/>
              </a:solidFill>
              <a:latin typeface="DM Sa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631" y="3897510"/>
            <a:ext cx="3976538" cy="3696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AF9F6"/>
                </a:solidFill>
                <a:latin typeface="Merriweather"/>
              </a:rPr>
              <a:t>The Value Function &amp; The Benchmark Problem</a:t>
            </a:r>
            <a:endParaRPr sz="2850" b="1" i="0" u="none">
              <a:solidFill>
                <a:srgbClr val="FAF9F6"/>
              </a:solidFill>
              <a:latin typeface="Merriweather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3590627"/>
            <a:ext cx="5286375" cy="68326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3590627"/>
            <a:ext cx="5286375" cy="6106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502991"/>
            <a:ext cx="5550693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0A192F"/>
                </a:solidFill>
                <a:latin typeface="Merriweather"/>
              </a:rPr>
              <a:t>FM1: Autoregressive Drift</a:t>
            </a:r>
            <a:endParaRPr sz="1800" b="1" i="0" u="none">
              <a:solidFill>
                <a:srgbClr val="0A192F"/>
              </a:solidFill>
              <a:latin typeface="Merriweath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2914352"/>
            <a:ext cx="5286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Single-step latent prediction error compounds over a temporal horizon $T$.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4464397"/>
            <a:ext cx="528637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DM Sans"/>
              </a:rPr>
              <a:t>Impact:</a:t>
            </a:r>
            <a:r>
              <a:rPr sz="1275" b="0" i="0" u="none">
                <a:solidFill>
                  <a:srgbClr val="475569"/>
                </a:solidFill>
                <a:latin typeface="DM Sans"/>
              </a:rPr>
              <a:t> Objects and layouts drift or are forgotten. Solid walls are bypassed after minutes of simulation. Must be actively monitored via uncertainty diagnostics.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34125" y="2502991"/>
            <a:ext cx="5550693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0A192F"/>
                </a:solidFill>
                <a:latin typeface="Merriweather"/>
              </a:rPr>
              <a:t>FM2: The Executability Gap</a:t>
            </a:r>
            <a:endParaRPr sz="1800" b="1" i="0" u="none">
              <a:solidFill>
                <a:srgbClr val="0A192F"/>
              </a:solidFill>
              <a:latin typeface="Merriweath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34125" y="2914352"/>
            <a:ext cx="5286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Perceptual losses reward video that looks correct but ignores underlying contact dynamics.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34125" y="4391769"/>
            <a:ext cx="528637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DM Sans"/>
              </a:rPr>
              <a:t>Impact:</a:t>
            </a:r>
            <a:r>
              <a:rPr sz="1275" b="0" i="0" u="none">
                <a:solidFill>
                  <a:srgbClr val="475569"/>
                </a:solidFill>
                <a:latin typeface="DM Sans"/>
              </a:rPr>
              <a:t> A visually flawless synthetic action can cause a real robot to shatter a part if the generation violated Coulomb friction. Visual fidelity is structurally insufficient.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740" y="3781127"/>
            <a:ext cx="3280320" cy="302269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176" y="3781127"/>
            <a:ext cx="1352698" cy="22964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A192F"/>
                </a:solidFill>
                <a:latin typeface="Merriweather"/>
              </a:rPr>
              <a:t>Failure Modes I: Drift and Executability</a:t>
            </a:r>
            <a:endParaRPr sz="2850" b="1" i="0" u="none">
              <a:solidFill>
                <a:srgbClr val="0A192F"/>
              </a:solidFill>
              <a:latin typeface="Merriweather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445121"/>
            <a:ext cx="2235993" cy="495835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243" y="1445121"/>
            <a:ext cx="6005512" cy="49583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4506" y="1445121"/>
            <a:ext cx="2235993" cy="49583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518" y="2247007"/>
            <a:ext cx="5414962" cy="49425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9781" y="2841128"/>
            <a:ext cx="1645443" cy="4296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1740396"/>
            <a:ext cx="1727715" cy="891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FM3: Perceptual Hallucination</a:t>
            </a:r>
            <a:endParaRPr sz="1800" b="1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6775" y="2745878"/>
            <a:ext cx="1645443" cy="1457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CBD5E1"/>
                </a:solidFill>
                <a:latin typeface="DM Sans"/>
              </a:rPr>
              <a:t>Out-of-distribution inputs (unfamiliar tools, sensor noise) are forced into familiar codebook tokens.</a:t>
            </a:r>
            <a:endParaRPr sz="1275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6775" y="4498478"/>
            <a:ext cx="1645443" cy="1457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CBD5E1"/>
                </a:solidFill>
                <a:latin typeface="DM Sans"/>
              </a:rPr>
              <a:t>Impact:</a:t>
            </a:r>
            <a:r>
              <a:rPr sz="1275" b="0" i="0" u="none">
                <a:solidFill>
                  <a:srgbClr val="CBD5E1"/>
                </a:solidFill>
                <a:latin typeface="DM Sans"/>
              </a:rPr>
              <a:t> Silently corrupts the simulation base state. The system misperceives reality without knowing it.</a:t>
            </a:r>
            <a:endParaRPr sz="1275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88518" y="1740396"/>
            <a:ext cx="5685710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FM4: Action Marginalization</a:t>
            </a:r>
            <a:endParaRPr sz="1800" b="1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88518" y="2836515"/>
            <a:ext cx="5414962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CBD5E1"/>
                </a:solidFill>
                <a:latin typeface="DM Sans"/>
              </a:rPr>
              <a:t>Impact:</a:t>
            </a:r>
            <a:r>
              <a:rPr sz="1275" b="0" i="0" u="none">
                <a:solidFill>
                  <a:srgbClr val="CBD5E1"/>
                </a:solidFill>
                <a:latin typeface="DM Sans"/>
              </a:rPr>
              <a:t> The model ignores operator input, functioning on a pre-recorded autopilot loop despite changing controls.</a:t>
            </a:r>
            <a:endParaRPr sz="1275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79781" y="1740396"/>
            <a:ext cx="1727715" cy="891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FM5: The Sim-to-Real Gap</a:t>
            </a:r>
            <a:endParaRPr sz="1800" b="1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79781" y="3366045"/>
            <a:ext cx="1645443" cy="1943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CBD5E1"/>
                </a:solidFill>
                <a:latin typeface="DM Sans"/>
              </a:rPr>
              <a:t>Impact:</a:t>
            </a:r>
            <a:r>
              <a:rPr sz="1275" b="0" i="0" u="none">
                <a:solidFill>
                  <a:srgbClr val="CBD5E1"/>
                </a:solidFill>
                <a:latin typeface="DM Sans"/>
              </a:rPr>
              <a:t> Synthetic data cannot fully replace real-world data due to long-tail friction variability. Dictates a mandatory hybrid strategy.</a:t>
            </a:r>
            <a:endParaRPr sz="1275" b="0" i="0" u="none">
              <a:solidFill>
                <a:srgbClr val="CBD5E1"/>
              </a:solidFill>
              <a:latin typeface="DM Sans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2343" y="2342257"/>
            <a:ext cx="5195887" cy="303758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9514" y="2936378"/>
            <a:ext cx="1174402" cy="23916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54521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AF9F6"/>
                </a:solidFill>
                <a:latin typeface="Merriweather"/>
              </a:rPr>
              <a:t>Failure Modes II: Hallucination &amp; Marginalization</a:t>
            </a:r>
            <a:endParaRPr sz="2850" b="1" i="0" u="none">
              <a:solidFill>
                <a:srgbClr val="FAF9F6"/>
              </a:solidFill>
              <a:latin typeface="Merriweather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1500" y="1045071"/>
            <a:ext cx="11049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09930"/>
            <a:ext cx="6272530" cy="561149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755" y="281940"/>
            <a:ext cx="4742815" cy="20707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755" y="2457450"/>
            <a:ext cx="4754880" cy="25133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640" y="5171440"/>
            <a:ext cx="3789045" cy="13309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45931" y="1794569"/>
            <a:ext cx="1100137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sz="1800" b="1" i="0" u="none">
                <a:solidFill>
                  <a:srgbClr val="0A192F"/>
                </a:solidFill>
                <a:latin typeface="DM Sans"/>
              </a:rPr>
              <a:t>PART 03</a:t>
            </a:r>
            <a:endParaRPr sz="1800" b="1" i="0" u="none">
              <a:solidFill>
                <a:srgbClr val="0A192F"/>
              </a:solidFill>
              <a:latin typeface="DM San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85636" y="2205930"/>
            <a:ext cx="5820727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0A192F"/>
                </a:solidFill>
                <a:latin typeface="Merriweather"/>
              </a:rPr>
              <a:t>Synthetic Data as the</a:t>
            </a:r>
            <a:r>
              <a:t>
</a:t>
            </a:r>
            <a:r>
              <a:rPr sz="4200" b="1" i="0" u="none">
                <a:solidFill>
                  <a:srgbClr val="0A192F"/>
                </a:solidFill>
                <a:latin typeface="Merriweather"/>
              </a:rPr>
              <a:t> Connective Tissue</a:t>
            </a:r>
            <a:endParaRPr sz="4200" b="1" i="0" u="none">
              <a:solidFill>
                <a:srgbClr val="0A192F"/>
              </a:solidFill>
              <a:latin typeface="Merriweath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15000" y="4015680"/>
            <a:ext cx="762000" cy="38100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62250" y="4339530"/>
            <a:ext cx="6667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DM Sans"/>
              </a:rPr>
              <a:t>Bridging the exhaustion of human data and the physical execution gap through rigorous manufacturing discipline.</a:t>
            </a:r>
            <a:endParaRPr sz="1500" b="0" i="0" u="none">
              <a:solidFill>
                <a:srgbClr val="475569"/>
              </a:solidFill>
              <a:latin typeface="DM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892325"/>
            <a:ext cx="2619375" cy="259258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1375" y="2892325"/>
            <a:ext cx="2619375" cy="25925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0" y="2892325"/>
            <a:ext cx="2619375" cy="25925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125" y="2892325"/>
            <a:ext cx="2619375" cy="25925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363688"/>
            <a:ext cx="110490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CBD5E1"/>
                </a:solidFill>
                <a:latin typeface="DM Sans"/>
              </a:rPr>
              <a:t>Synthetic data is a governed manufacturing discipline, not a shortcut. Each tier trades scale for certainty.</a:t>
            </a:r>
            <a:endParaRPr sz="1275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6775" y="3187600"/>
            <a:ext cx="2130266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Tier 1</a:t>
            </a:r>
            <a:endParaRPr sz="1800" b="1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6775" y="3598961"/>
            <a:ext cx="20288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FAF9F6"/>
                </a:solidFill>
                <a:latin typeface="DM Sans"/>
              </a:rPr>
              <a:t>Model-Generated Reasoning Traces</a:t>
            </a:r>
            <a:endParaRPr sz="1275" b="1" i="0" u="none">
              <a:solidFill>
                <a:srgbClr val="FAF9F6"/>
              </a:solidFill>
              <a:latin typeface="DM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6775" y="4237136"/>
            <a:ext cx="202882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DM Sans"/>
              </a:rPr>
              <a:t>Tree search, self-play, compiler-verified code execution. Cheap and abundant but bounded by the verifier.</a:t>
            </a:r>
            <a:endParaRPr sz="1050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76650" y="3187600"/>
            <a:ext cx="2130266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Tier 2</a:t>
            </a:r>
            <a:endParaRPr sz="1800" b="1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76650" y="3598961"/>
            <a:ext cx="20288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FAF9F6"/>
                </a:solidFill>
                <a:latin typeface="DM Sans"/>
              </a:rPr>
              <a:t>Statistically Grounded Tabular</a:t>
            </a:r>
            <a:endParaRPr sz="1275" b="1" i="0" u="none">
              <a:solidFill>
                <a:srgbClr val="FAF9F6"/>
              </a:solidFill>
              <a:latin typeface="DM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76650" y="4237136"/>
            <a:ext cx="20288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DM Sans"/>
              </a:rPr>
              <a:t>Copulas, DP-GANs. Validated by Kolmogorov-Smirnov test validation.</a:t>
            </a:r>
            <a:endParaRPr sz="1050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86525" y="3187600"/>
            <a:ext cx="2130266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Tier 3</a:t>
            </a:r>
            <a:endParaRPr sz="1800" b="1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86525" y="3598961"/>
            <a:ext cx="20288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FAF9F6"/>
                </a:solidFill>
                <a:latin typeface="DM Sans"/>
              </a:rPr>
              <a:t>Simulated Spatial Telemetry</a:t>
            </a:r>
            <a:endParaRPr sz="1275" b="1" i="0" u="none">
              <a:solidFill>
                <a:srgbClr val="FAF9F6"/>
              </a:solidFill>
              <a:latin typeface="DM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86525" y="4237136"/>
            <a:ext cx="20288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DM Sans"/>
              </a:rPr>
              <a:t>3D Gaussian Splats, NeRFs, Isaac Sim rollouts. Critical for physical AI edge cases.</a:t>
            </a:r>
            <a:endParaRPr sz="1050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296400" y="3187600"/>
            <a:ext cx="2130266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Tier 4</a:t>
            </a:r>
            <a:endParaRPr sz="1800" b="1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296400" y="3598961"/>
            <a:ext cx="20288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FAF9F6"/>
                </a:solidFill>
                <a:latin typeface="DM Sans"/>
              </a:rPr>
              <a:t>Formally Verified Data</a:t>
            </a:r>
            <a:endParaRPr sz="1275" b="1" i="0" u="none">
              <a:solidFill>
                <a:srgbClr val="FAF9F6"/>
              </a:solidFill>
              <a:latin typeface="DM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296400" y="3994249"/>
            <a:ext cx="202882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DM Sans"/>
              </a:rPr>
              <a:t>Lean 4, SMT solvers, ASIC-grade formal verification. Expensive, but carries mathematical guarantees.</a:t>
            </a:r>
            <a:endParaRPr sz="1050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AF9F6"/>
                </a:solidFill>
                <a:latin typeface="Merriweather"/>
              </a:rPr>
              <a:t>A Working Taxonomy of Synthetic Data</a:t>
            </a:r>
            <a:endParaRPr sz="2850" b="1" i="0" u="none">
              <a:solidFill>
                <a:srgbClr val="FAF9F6"/>
              </a:solidFill>
              <a:latin typeface="Merriweather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52006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A192F"/>
                </a:solidFill>
                <a:latin typeface="Merriweather"/>
              </a:rPr>
              <a:t>The Model Collapse Risk</a:t>
            </a:r>
            <a:endParaRPr sz="2850" b="1" i="0" u="none">
              <a:solidFill>
                <a:srgbClr val="0A192F"/>
              </a:solidFill>
              <a:latin typeface="Merriweather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1500" y="1162050"/>
            <a:ext cx="4953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126753"/>
            <a:ext cx="5200650" cy="321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sz="1950" b="1" i="0" u="none">
                <a:solidFill>
                  <a:srgbClr val="0A192F"/>
                </a:solidFill>
                <a:latin typeface="Merriweather"/>
              </a:rPr>
              <a:t>Replace Collapse</a:t>
            </a:r>
            <a:endParaRPr sz="1950" b="1" i="0" u="none">
              <a:solidFill>
                <a:srgbClr val="0A192F"/>
              </a:solidFill>
              <a:latin typeface="Merriweath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2562969"/>
            <a:ext cx="49530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Indiscriminate recursive training on unfiltered outputs drives variance to zero, causing models to forget the tails of the true distribution.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0" y="4497734"/>
            <a:ext cx="49530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0A192F"/>
                </a:solidFill>
                <a:latin typeface="DM Sans"/>
              </a:rPr>
              <a:t>The Consequence</a:t>
            </a:r>
            <a:endParaRPr sz="1275" b="1" i="0" u="none">
              <a:solidFill>
                <a:srgbClr val="0A192F"/>
              </a:solidFill>
              <a:latin typeface="DM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500" y="4893022"/>
            <a:ext cx="4953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If a model only studies from textbooks it wrote itself, it loses the rare edge cases that matter most for physical safety.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781" y="3729781"/>
            <a:ext cx="2005012" cy="29170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3681710"/>
            <a:ext cx="5977532" cy="45824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5282" y="3924597"/>
            <a:ext cx="4595217" cy="5584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594074"/>
            <a:ext cx="6276409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The Accumulate-and-Filter Resolution</a:t>
            </a:r>
            <a:endParaRPr sz="1800" b="1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3005435"/>
            <a:ext cx="5977532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CBD5E1"/>
                </a:solidFill>
                <a:latin typeface="DM Sans"/>
              </a:rPr>
              <a:t>Mix curated synthetic data with retained real data at a carefully maintained ratio ($\alpha$) to prevent collapse.</a:t>
            </a:r>
            <a:endParaRPr sz="1275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4330451"/>
            <a:ext cx="5977532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CBD5E1"/>
                </a:solidFill>
                <a:latin typeface="DM Sans"/>
              </a:rPr>
              <a:t>Every dataset must state its ratio $\alpha$ and its programmatic verifier mechanism.</a:t>
            </a:r>
            <a:endParaRPr sz="1125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25282" y="2594074"/>
            <a:ext cx="4824978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Synthetic Reasoning (GRPO)</a:t>
            </a:r>
            <a:endParaRPr sz="1800" b="1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25282" y="3005435"/>
            <a:ext cx="4595217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CBD5E1"/>
                </a:solidFill>
                <a:latin typeface="DM Sans"/>
              </a:rPr>
              <a:t>Group Relative Policy Optimization forces step-by-step reasoning autonomously via programmatic verifiers (e.g., physics collision engines).</a:t>
            </a:r>
            <a:endParaRPr sz="1275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25282" y="4673500"/>
            <a:ext cx="459521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CBD5E1"/>
                </a:solidFill>
                <a:latin typeface="DM Sans"/>
              </a:rPr>
              <a:t>Quality outweighs quantity: 1,000 verified manipulation trajectories beat 1,000,000 unfiltered rollouts.</a:t>
            </a:r>
            <a:endParaRPr sz="1125" b="0" i="0" u="none">
              <a:solidFill>
                <a:srgbClr val="CBD5E1"/>
              </a:solidFill>
              <a:latin typeface="DM Sans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3776960"/>
            <a:ext cx="5758457" cy="267741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1440" y="4019847"/>
            <a:ext cx="2771477" cy="36790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AF9F6"/>
                </a:solidFill>
                <a:latin typeface="Merriweather"/>
              </a:rPr>
              <a:t>Accumulation, Curation, and GRPO</a:t>
            </a:r>
            <a:endParaRPr sz="2850" b="1" i="0" u="none">
              <a:solidFill>
                <a:srgbClr val="FAF9F6"/>
              </a:solidFill>
              <a:latin typeface="Merriweather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850" y="2608957"/>
            <a:ext cx="6343650" cy="26306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678906"/>
            <a:ext cx="42291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World-foundation-model platforms are explicitly trained to manufacture synthetic training data, not merely to render impressive demonstrations.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500" y="3559968"/>
            <a:ext cx="4229100" cy="1457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DM Sans"/>
              </a:rPr>
              <a:t>The Apex Use Case: Autonomous Driving.</a:t>
            </a:r>
            <a:r>
              <a:rPr sz="1275" b="0" i="0" u="none">
                <a:solidFill>
                  <a:srgbClr val="475569"/>
                </a:solidFill>
                <a:latin typeface="DM Sans"/>
              </a:rPr>
              <a:t> Top-tier teams treat synthetic scenario generation as core infrastructure. Engineers generate thousands of synthetic scenarios (e.g., a child running into the street) so the system learns to brake correctly without risking a human life.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72125" y="2904232"/>
            <a:ext cx="6040755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0A192F"/>
                </a:solidFill>
                <a:latin typeface="Merriweather"/>
              </a:rPr>
              <a:t>The Transformation</a:t>
            </a:r>
            <a:endParaRPr sz="1800" b="1" i="0" u="none">
              <a:solidFill>
                <a:srgbClr val="0A192F"/>
              </a:solidFill>
              <a:latin typeface="Merriweath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72125" y="4577655"/>
            <a:ext cx="57531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0A192F"/>
                </a:solidFill>
                <a:latin typeface="DM Sans"/>
              </a:rPr>
              <a:t>World models are the factories manufacturing the fuel Physical AI needs to learn.</a:t>
            </a:r>
            <a:endParaRPr sz="1125" b="1" i="0" u="none">
              <a:solidFill>
                <a:srgbClr val="0A192F"/>
              </a:solidFill>
              <a:latin typeface="DM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05475" y="3313211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DM Sans"/>
              </a:rPr>
              <a:t>▪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62625" y="3315592"/>
            <a:ext cx="5562600" cy="242887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80% reduction in automation setup time.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05475" y="3670399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DM Sans"/>
              </a:rPr>
              <a:t>▪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62625" y="3672780"/>
            <a:ext cx="5562600" cy="242887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40% reduction in operational costs.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05475" y="4027586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DM Sans"/>
              </a:rPr>
              <a:t>▪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62625" y="4029967"/>
            <a:ext cx="5562600" cy="242887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50% accelerated time-to-market.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A192F"/>
                </a:solidFill>
                <a:latin typeface="Merriweather"/>
              </a:rPr>
              <a:t>World Models as Data Engines</a:t>
            </a:r>
            <a:endParaRPr sz="2850" b="1" i="0" u="none">
              <a:solidFill>
                <a:srgbClr val="0A192F"/>
              </a:solidFill>
              <a:latin typeface="Merriweather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3581102"/>
            <a:ext cx="5286375" cy="533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3485852"/>
            <a:ext cx="5286375" cy="4391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4601319"/>
            <a:ext cx="5286375" cy="6585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493466"/>
            <a:ext cx="5550693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Physics-Informed Neural Networks</a:t>
            </a:r>
            <a:endParaRPr sz="1800" b="1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2904827"/>
            <a:ext cx="5286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CBD5E1"/>
                </a:solidFill>
                <a:latin typeface="DM Sans"/>
              </a:rPr>
              <a:t>PINNs enforce hard boundary conditions (mass, energy, momentum) directly into the generation pipeline, closing the executability gap.</a:t>
            </a:r>
            <a:endParaRPr sz="1275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34125" y="2493466"/>
            <a:ext cx="5550693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Real-Time Uncertainty Signals</a:t>
            </a:r>
            <a:endParaRPr sz="1800" b="1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34125" y="2904827"/>
            <a:ext cx="52863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CBD5E1"/>
                </a:solidFill>
                <a:latin typeface="DM Sans"/>
              </a:rPr>
              <a:t>Aleatoric:</a:t>
            </a:r>
            <a:r>
              <a:rPr sz="1125" b="0" i="0" u="none">
                <a:solidFill>
                  <a:srgbClr val="CBD5E1"/>
                </a:solidFill>
                <a:latin typeface="DM Sans"/>
              </a:rPr>
              <a:t> Reconstruction residual measures how well the model reconstructs a true observation.</a:t>
            </a:r>
            <a:endParaRPr sz="1125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34125" y="4020294"/>
            <a:ext cx="52863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CBD5E1"/>
                </a:solidFill>
                <a:latin typeface="DM Sans"/>
              </a:rPr>
              <a:t>Epistemic:</a:t>
            </a:r>
            <a:r>
              <a:rPr sz="1125" b="0" i="0" u="none">
                <a:solidFill>
                  <a:srgbClr val="CBD5E1"/>
                </a:solidFill>
                <a:latin typeface="DM Sans"/>
              </a:rPr>
              <a:t> Inter-seed variance measures how much predictions vary across seeds (model confidence).</a:t>
            </a:r>
            <a:endParaRPr sz="1125" b="0" i="0" u="none">
              <a:solidFill>
                <a:srgbClr val="CBD5E1"/>
              </a:solidFill>
              <a:latin typeface="DM Sans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655" y="3676352"/>
            <a:ext cx="4452491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460" y="3562052"/>
            <a:ext cx="4130278" cy="286791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5425" y="4677519"/>
            <a:ext cx="4032200" cy="5061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AF9F6"/>
                </a:solidFill>
                <a:latin typeface="Merriweather"/>
              </a:rPr>
              <a:t>Physics Verification &amp; Uncertainty Diagnostics</a:t>
            </a:r>
            <a:endParaRPr sz="2850" b="1" i="0" u="none">
              <a:solidFill>
                <a:srgbClr val="FAF9F6"/>
              </a:solidFill>
              <a:latin typeface="Merriweather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7695" y="3522910"/>
            <a:ext cx="476250" cy="4762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710" y="3522910"/>
            <a:ext cx="476250" cy="47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726" y="3522910"/>
            <a:ext cx="476250" cy="47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741" y="3522910"/>
            <a:ext cx="476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7756" y="3522910"/>
            <a:ext cx="476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2408485"/>
            <a:ext cx="110490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5"/>
              </a:lnSpc>
            </a:pPr>
            <a:r>
              <a:rPr sz="1425" b="0" i="0" u="none">
                <a:solidFill>
                  <a:srgbClr val="475569"/>
                </a:solidFill>
                <a:latin typeface="DM Sans"/>
              </a:rPr>
              <a:t>A world model trains on real data, generates verified synthetic data to train physical-AI agents, which deploy into the real world to collect new data, closing the loop.</a:t>
            </a:r>
            <a:endParaRPr sz="142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1500" y="4471913"/>
            <a:ext cx="11049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6404" y="4135675"/>
            <a:ext cx="82010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A192F"/>
                </a:solidFill>
                <a:latin typeface="DM Sans"/>
              </a:rPr>
              <a:t>Telemetry</a:t>
            </a:r>
            <a:endParaRPr sz="1200" b="1" i="0" u="none">
              <a:solidFill>
                <a:srgbClr val="0A192F"/>
              </a:solidFill>
              <a:latin typeface="DM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1500" y="4687490"/>
            <a:ext cx="19887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DM Sans"/>
              </a:rPr>
              <a:t>Sparse, noisy real-world industrial telemetry ingested from the field.</a:t>
            </a:r>
            <a:endParaRPr sz="1050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00782" y="4178855"/>
            <a:ext cx="86010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A192F"/>
                </a:solidFill>
                <a:latin typeface="DM Sans"/>
              </a:rPr>
              <a:t>Calibration</a:t>
            </a:r>
            <a:endParaRPr sz="1200" b="1" i="0" u="none">
              <a:solidFill>
                <a:srgbClr val="0A192F"/>
              </a:solidFill>
              <a:latin typeface="DM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36515" y="4687490"/>
            <a:ext cx="198879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DM Sans"/>
              </a:rPr>
              <a:t>World model calibrated against telemetry, anchoring to reality.</a:t>
            </a:r>
            <a:endParaRPr sz="1050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50795" y="4135675"/>
            <a:ext cx="89011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A192F"/>
                </a:solidFill>
                <a:latin typeface="DM Sans"/>
              </a:rPr>
              <a:t>Generation</a:t>
            </a:r>
            <a:endParaRPr sz="1200" b="1" i="0" u="none">
              <a:solidFill>
                <a:srgbClr val="0A192F"/>
              </a:solidFill>
              <a:latin typeface="DM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01530" y="4687490"/>
            <a:ext cx="19887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DM Sans"/>
              </a:rPr>
              <a:t>Large-scale synthetic edge cases generated and PINN physics-verified.</a:t>
            </a:r>
            <a:endParaRPr sz="1050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30971" y="4135675"/>
            <a:ext cx="96012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A192F"/>
                </a:solidFill>
                <a:latin typeface="DM Sans"/>
              </a:rPr>
              <a:t>Deployment</a:t>
            </a:r>
            <a:endParaRPr sz="1200" b="1" i="0" u="none">
              <a:solidFill>
                <a:srgbClr val="0A192F"/>
              </a:solidFill>
              <a:latin typeface="DM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66545" y="4687490"/>
            <a:ext cx="198879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DM Sans"/>
              </a:rPr>
              <a:t>Zero-shot policy deployment into target environments.</a:t>
            </a:r>
            <a:endParaRPr sz="1050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315842" y="4135675"/>
            <a:ext cx="62007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A192F"/>
                </a:solidFill>
                <a:latin typeface="DM Sans"/>
              </a:rPr>
              <a:t>Logging</a:t>
            </a:r>
            <a:endParaRPr sz="1200" b="1" i="0" u="none">
              <a:solidFill>
                <a:srgbClr val="0A192F"/>
              </a:solidFill>
              <a:latin typeface="DM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31560" y="4687490"/>
            <a:ext cx="198879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DM Sans"/>
              </a:rPr>
              <a:t>Uncertainty-flagged outcomes fed back into Stage 1 to retrain.</a:t>
            </a:r>
            <a:endParaRPr sz="1050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A192F"/>
                </a:solidFill>
                <a:latin typeface="Merriweather"/>
              </a:rPr>
              <a:t>The Closed-Loop Flywheel Architecture</a:t>
            </a:r>
            <a:endParaRPr sz="2850" b="1" i="0" u="none">
              <a:solidFill>
                <a:srgbClr val="0A192F"/>
              </a:solidFill>
              <a:latin typeface="Merriweather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188964"/>
            <a:ext cx="5286375" cy="1882973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4125" y="2188964"/>
            <a:ext cx="5286375" cy="188297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548187"/>
            <a:ext cx="5286375" cy="188297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4548187"/>
            <a:ext cx="5286375" cy="18829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417439"/>
            <a:ext cx="11049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CBD5E1"/>
                </a:solidFill>
                <a:latin typeface="DM Sans"/>
              </a:rPr>
              <a:t>A minimum viable provenance practice requires four operational controls. Governance must be operationally enforceable, not merely stated as policy.</a:t>
            </a:r>
            <a:endParaRPr sz="1275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6775" y="2484239"/>
            <a:ext cx="4930616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1. Dataset Cards</a:t>
            </a:r>
            <a:endParaRPr sz="1800" b="1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6775" y="2895600"/>
            <a:ext cx="469582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CBD5E1"/>
                </a:solidFill>
                <a:latin typeface="DM Sans"/>
              </a:rPr>
              <a:t>Every synthetic batch ships with a machine-readable record of its generating model version, its verifier, and its measured pass rate.</a:t>
            </a:r>
            <a:endParaRPr sz="1275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29400" y="2484239"/>
            <a:ext cx="4930616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2. Fingerprinting</a:t>
            </a:r>
            <a:endParaRPr sz="1800" b="1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29400" y="2895600"/>
            <a:ext cx="469582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CBD5E1"/>
                </a:solidFill>
                <a:latin typeface="DM Sans"/>
              </a:rPr>
              <a:t>Synthetic samples are tagged to allow future audits to definitively determine the synthetic-vs-real fraction of any training set.</a:t>
            </a:r>
            <a:endParaRPr sz="1275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6775" y="4843462"/>
            <a:ext cx="4930616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3. Ratio Enforcement</a:t>
            </a:r>
            <a:endParaRPr sz="1800" b="1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6775" y="5254823"/>
            <a:ext cx="469582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CBD5E1"/>
                </a:solidFill>
                <a:latin typeface="DM Sans"/>
              </a:rPr>
              <a:t>The accumulation ratio ($\alpha$) is a strict build parameter. Pipelines that silently drift higher in synthetic fraction trigger collapse.</a:t>
            </a:r>
            <a:endParaRPr sz="1275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9400" y="4843462"/>
            <a:ext cx="4930616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4. Periodic Re-anchoring</a:t>
            </a:r>
            <a:endParaRPr sz="1800" b="1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29400" y="5254823"/>
            <a:ext cx="469582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CBD5E1"/>
                </a:solidFill>
                <a:latin typeface="DM Sans"/>
              </a:rPr>
              <a:t>The real-data fraction is refreshed on a fixed cadence to prevent the world model from drifting away from current physical realities.</a:t>
            </a:r>
            <a:endParaRPr sz="1275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1500" y="426839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AF9F6"/>
                </a:solidFill>
                <a:latin typeface="Merriweather"/>
              </a:rPr>
              <a:t>Governance is a Structural Component</a:t>
            </a:r>
            <a:endParaRPr sz="2850" b="1" i="0" u="none">
              <a:solidFill>
                <a:srgbClr val="FAF9F6"/>
              </a:solidFill>
              <a:latin typeface="Merriweather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71500" y="1017389"/>
            <a:ext cx="11049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760245"/>
            <a:ext cx="5550693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0A192F"/>
                </a:solidFill>
                <a:latin typeface="Merriweather"/>
              </a:rPr>
              <a:t>Engineering Models $\neq$ Video Generators</a:t>
            </a:r>
            <a:endParaRPr sz="1800" b="1" i="0" u="none">
              <a:solidFill>
                <a:srgbClr val="0A192F"/>
              </a:solidFill>
              <a:latin typeface="Merriweath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1500" y="3370361"/>
            <a:ext cx="528637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Commercial world models optimize for visual plausibility. Engineering-grade models optimize for physical invariants: structural load tensors, thermodynamics, and conservation laws.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500" y="4412079"/>
            <a:ext cx="5286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Conflating the two is the most consequential category error a technical evaluation can make.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38925" y="2704207"/>
            <a:ext cx="5230653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0A192F"/>
                </a:solidFill>
                <a:latin typeface="Merriweather"/>
              </a:rPr>
              <a:t>Federated Co-Development</a:t>
            </a:r>
            <a:endParaRPr sz="1800" b="1" i="0" u="none">
              <a:solidFill>
                <a:srgbClr val="0A192F"/>
              </a:solidFill>
              <a:latin typeface="Merriweath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38925" y="3115567"/>
            <a:ext cx="49815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The most durable arrangement is symbiotic: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72275" y="5435540"/>
            <a:ext cx="49815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DM Sans"/>
              </a:rPr>
              <a:t>Compute talent does not substitute for industrial trust.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72275" y="3555464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DM Sans"/>
              </a:rPr>
              <a:t>▪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29425" y="3510855"/>
            <a:ext cx="4791075" cy="48577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DM Sans"/>
              </a:rPr>
              <a:t>Partner A (Incumbent):</a:t>
            </a:r>
            <a:r>
              <a:rPr sz="1275" b="0" i="0" u="none">
                <a:solidFill>
                  <a:srgbClr val="475569"/>
                </a:solidFill>
                <a:latin typeface="DM Sans"/>
              </a:rPr>
              <a:t> Contributes unstructured industrial telemetry, real-world distribution, and domain oversight.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72275" y="4467959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DM Sans"/>
              </a:rPr>
              <a:t>▪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29425" y="4411920"/>
            <a:ext cx="4791075" cy="48577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DM Sans"/>
              </a:rPr>
              <a:t>Partner B (Specialist):</a:t>
            </a:r>
            <a:r>
              <a:rPr sz="1275" b="0" i="0" u="none">
                <a:solidFill>
                  <a:srgbClr val="475569"/>
                </a:solidFill>
                <a:latin typeface="DM Sans"/>
              </a:rPr>
              <a:t> Contributes train-to-test architecture, reasoning loops, and physics-calibrated generation.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A192F"/>
                </a:solidFill>
                <a:latin typeface="Merriweather"/>
              </a:rPr>
              <a:t>From Theory to Industrial Deployment</a:t>
            </a:r>
            <a:endParaRPr sz="2850" b="1" i="0" u="none">
              <a:solidFill>
                <a:srgbClr val="0A192F"/>
              </a:solidFill>
              <a:latin typeface="Merriweather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71500" y="2032694"/>
          <a:ext cx="11049000" cy="3783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4700"/>
                <a:gridCol w="7734300"/>
              </a:tblGrid>
              <a:tr h="472901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AF9F6"/>
                          </a:solidFill>
                          <a:latin typeface="DM Sans"/>
                        </a:rPr>
                        <a:t>Evaluation Axis</a:t>
                      </a:r>
                      <a:endParaRPr sz="975" b="1" i="0" u="none">
                        <a:solidFill>
                          <a:srgbClr val="FAF9F6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AF9F6"/>
                          </a:solidFill>
                          <a:latin typeface="DM Sans"/>
                        </a:rPr>
                        <a:t>What to Demand (Verification Criteria)</a:t>
                      </a:r>
                      <a:endParaRPr sz="975" b="1" i="0" u="none">
                        <a:solidFill>
                          <a:srgbClr val="FAF9F6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290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AF9F6"/>
                          </a:solidFill>
                          <a:latin typeface="DM Sans"/>
                        </a:rPr>
                        <a:t>School Identification</a:t>
                      </a:r>
                      <a:endParaRPr sz="1125" b="1" i="0" u="none">
                        <a:solidFill>
                          <a:srgbClr val="FAF9F6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DM Sans"/>
                        </a:rPr>
                        <a:t>Which school (Renderer, Latent, Spatial) does this platform belong to? Does it match safety-critical needs?</a:t>
                      </a:r>
                      <a:endParaRPr sz="1125" b="0" i="0" u="none">
                        <a:solidFill>
                          <a:srgbClr val="CBD5E1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290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AF9F6"/>
                          </a:solidFill>
                          <a:latin typeface="DM Sans"/>
                        </a:rPr>
                        <a:t>Long-Horizon Consistency</a:t>
                      </a:r>
                      <a:endParaRPr sz="1125" b="1" i="0" u="none">
                        <a:solidFill>
                          <a:srgbClr val="FAF9F6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DM Sans"/>
                        </a:rPr>
                        <a:t>Demand measured drift bounds ($\mathbb{E}[||\hat{z}_T - z_T||]$) at increasing horizons, not a single demo.</a:t>
                      </a:r>
                      <a:endParaRPr sz="1125" b="0" i="0" u="none">
                        <a:solidFill>
                          <a:srgbClr val="CBD5E1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290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AF9F6"/>
                          </a:solidFill>
                          <a:latin typeface="DM Sans"/>
                        </a:rPr>
                        <a:t>Executability Proof</a:t>
                      </a:r>
                      <a:endParaRPr sz="1125" b="1" i="0" u="none">
                        <a:solidFill>
                          <a:srgbClr val="FAF9F6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DM Sans"/>
                        </a:rPr>
                        <a:t>Evidence actions are tested against contact dynamics, not just perceptual metrics (LPIPS/SSIM).</a:t>
                      </a:r>
                      <a:endParaRPr sz="1125" b="0" i="0" u="none">
                        <a:solidFill>
                          <a:srgbClr val="CBD5E1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290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AF9F6"/>
                          </a:solidFill>
                          <a:latin typeface="DM Sans"/>
                        </a:rPr>
                        <a:t>Collapse Governance</a:t>
                      </a:r>
                      <a:endParaRPr sz="1125" b="1" i="0" u="none">
                        <a:solidFill>
                          <a:srgbClr val="FAF9F6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DM Sans"/>
                        </a:rPr>
                        <a:t>Explicit accumulation ratio ($\alpha$) and verifier identity for every synthetic dataset.</a:t>
                      </a:r>
                      <a:endParaRPr sz="1125" b="0" i="0" u="none">
                        <a:solidFill>
                          <a:srgbClr val="CBD5E1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290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AF9F6"/>
                          </a:solidFill>
                          <a:latin typeface="DM Sans"/>
                        </a:rPr>
                        <a:t>Uncertainty Exposure</a:t>
                      </a:r>
                      <a:endParaRPr sz="1125" b="1" i="0" u="none">
                        <a:solidFill>
                          <a:srgbClr val="FAF9F6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DM Sans"/>
                        </a:rPr>
                        <a:t>Are reconstruction residual and inter-seed variance exposed at inference to flag blind spots?</a:t>
                      </a:r>
                      <a:endParaRPr sz="1125" b="0" i="0" u="none">
                        <a:solidFill>
                          <a:srgbClr val="CBD5E1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290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AF9F6"/>
                          </a:solidFill>
                          <a:latin typeface="DM Sans"/>
                        </a:rPr>
                        <a:t>Sim-to-Real Honesty</a:t>
                      </a:r>
                      <a:endParaRPr sz="1125" b="1" i="0" u="none">
                        <a:solidFill>
                          <a:srgbClr val="FAF9F6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DM Sans"/>
                        </a:rPr>
                        <a:t>The honest position is a stated hybrid ratio of synthetic to real data, not claims of 100% synthetic parity.</a:t>
                      </a:r>
                      <a:endParaRPr sz="1125" b="0" i="0" u="none">
                        <a:solidFill>
                          <a:srgbClr val="CBD5E1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290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AF9F6"/>
                          </a:solidFill>
                          <a:latin typeface="DM Sans"/>
                        </a:rPr>
                        <a:t>Benchmark Provenance</a:t>
                      </a:r>
                      <a:endParaRPr sz="1125" b="1" i="0" u="none">
                        <a:solidFill>
                          <a:srgbClr val="FAF9F6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DM Sans"/>
                        </a:rPr>
                        <a:t>Is the result published against a shared leaderboard, or a self-reported internal comparison?</a:t>
                      </a:r>
                      <a:endParaRPr sz="1125" b="0" i="0" u="none">
                        <a:solidFill>
                          <a:srgbClr val="CBD5E1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71500" y="2467867"/>
            <a:ext cx="3314700" cy="9525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2467867"/>
            <a:ext cx="7734300" cy="9525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944117"/>
            <a:ext cx="3314700" cy="9525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86200" y="2944117"/>
            <a:ext cx="7734300" cy="9525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420367"/>
            <a:ext cx="3314700" cy="9525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86200" y="3420367"/>
            <a:ext cx="7734300" cy="9525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896617"/>
            <a:ext cx="3314700" cy="9525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86200" y="3896617"/>
            <a:ext cx="7734300" cy="9525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372867"/>
            <a:ext cx="3314700" cy="9525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86200" y="4372867"/>
            <a:ext cx="7734300" cy="9525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849117"/>
            <a:ext cx="3314700" cy="9525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86200" y="4849117"/>
            <a:ext cx="7734300" cy="9525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5325367"/>
            <a:ext cx="3314700" cy="9525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86200" y="5325367"/>
            <a:ext cx="7734300" cy="9525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5801617"/>
            <a:ext cx="3314700" cy="9525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86200" y="5801617"/>
            <a:ext cx="7734300" cy="9525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AF9F6"/>
                </a:solidFill>
                <a:latin typeface="Merriweather"/>
              </a:rPr>
              <a:t>A Practical Evaluation Framework</a:t>
            </a:r>
            <a:endParaRPr sz="2850" b="1" i="0" u="none">
              <a:solidFill>
                <a:srgbClr val="FAF9F6"/>
              </a:solidFill>
              <a:latin typeface="Merriweather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4125" y="2036564"/>
            <a:ext cx="5286375" cy="37754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161282"/>
            <a:ext cx="5550693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0A192F"/>
                </a:solidFill>
                <a:latin typeface="Merriweather"/>
              </a:rPr>
              <a:t>Scenario: Robotic Arm Handling</a:t>
            </a:r>
            <a:endParaRPr sz="1800" b="1" i="0" u="none">
              <a:solidFill>
                <a:srgbClr val="0A192F"/>
              </a:solidFill>
              <a:latin typeface="Merriweath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500" y="2572642"/>
            <a:ext cx="5286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DM Sans"/>
              </a:rPr>
              <a:t>Challenge:</a:t>
            </a:r>
            <a:r>
              <a:rPr sz="1275" b="0" i="0" u="none">
                <a:solidFill>
                  <a:srgbClr val="475569"/>
                </a:solidFill>
                <a:latin typeface="DM Sans"/>
              </a:rPr>
              <a:t> Handling a new part variant with sparse real-world data (low hundreds of examples).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15125" y="2417564"/>
            <a:ext cx="4750593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14B8A6"/>
                </a:solidFill>
                <a:latin typeface="Merriweather"/>
              </a:rPr>
              <a:t>The Strategic Conclusion</a:t>
            </a:r>
            <a:endParaRPr sz="1800" b="1" i="0" u="none">
              <a:solidFill>
                <a:srgbClr val="14B8A6"/>
              </a:solidFill>
              <a:latin typeface="Merriweath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15125" y="2828925"/>
            <a:ext cx="45243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DM Sans"/>
              </a:rPr>
              <a:t>This architecture shifts CapEx from physical prototyping to scalable, OpEx-driven computational simulation—accelerating time-to-market and strengthening regulatory compliance.</a:t>
            </a:r>
            <a:endParaRPr sz="1200" b="0" i="0" u="none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15125" y="3800475"/>
            <a:ext cx="4524375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15125" y="4105275"/>
            <a:ext cx="4524375" cy="117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sz="1650" b="0" i="0" u="none">
                <a:solidFill>
                  <a:srgbClr val="FAF9F6"/>
                </a:solidFill>
                <a:latin typeface="Merriweather"/>
              </a:rPr>
              <a:t>"The actual competition is not achieving the highest benchmark, but executing data-governance and physical engineering discipline most rigorously."</a:t>
            </a:r>
            <a:endParaRPr sz="1650" b="0" i="0" u="none">
              <a:solidFill>
                <a:srgbClr val="FAF9F6"/>
              </a:solidFill>
              <a:latin typeface="Merriweath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3208436"/>
            <a:ext cx="762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DM Sans"/>
              </a:rPr>
              <a:t>1.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2000" y="3210817"/>
            <a:ext cx="5095875" cy="48577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DM Sans"/>
              </a:rPr>
              <a:t>School:</a:t>
            </a:r>
            <a:r>
              <a:rPr sz="1275" b="0" i="0" u="none">
                <a:solidFill>
                  <a:srgbClr val="475569"/>
                </a:solidFill>
                <a:latin typeface="DM Sans"/>
              </a:rPr>
              <a:t> Select Spatial/Engineered (measured geometry + contact dynamics).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8175" y="3808511"/>
            <a:ext cx="1238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DM Sans"/>
              </a:rPr>
              <a:t>2.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2000" y="3810892"/>
            <a:ext cx="5095875" cy="485775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DM Sans"/>
              </a:rPr>
              <a:t>Generation:</a:t>
            </a:r>
            <a:r>
              <a:rPr sz="1275" b="0" i="0" u="none">
                <a:solidFill>
                  <a:srgbClr val="475569"/>
                </a:solidFill>
                <a:latin typeface="DM Sans"/>
              </a:rPr>
              <a:t> Create 1,000s of trajectories checked against PINN loss for physical plausibility.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8175" y="4408586"/>
            <a:ext cx="1238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DM Sans"/>
              </a:rPr>
              <a:t>3.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2000" y="4410967"/>
            <a:ext cx="5095875" cy="485775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DM Sans"/>
              </a:rPr>
              <a:t>Governance:</a:t>
            </a:r>
            <a:r>
              <a:rPr sz="1275" b="0" i="0" u="none">
                <a:solidFill>
                  <a:srgbClr val="475569"/>
                </a:solidFill>
                <a:latin typeface="DM Sans"/>
              </a:rPr>
              <a:t> Enforce accumulation ratio $\alpha$ with real handling data.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8175" y="5008661"/>
            <a:ext cx="1238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DM Sans"/>
              </a:rPr>
              <a:t>4.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5011042"/>
            <a:ext cx="5095875" cy="485775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DM Sans"/>
              </a:rPr>
              <a:t>Deployment:</a:t>
            </a:r>
            <a:r>
              <a:rPr sz="1275" b="0" i="0" u="none">
                <a:solidFill>
                  <a:srgbClr val="475569"/>
                </a:solidFill>
                <a:latin typeface="DM Sans"/>
              </a:rPr>
              <a:t> Execute policy while monitoring reconstruction residual for real-time uncertainty flagging.</a:t>
            </a:r>
            <a:endParaRPr sz="1275" b="0" i="0" u="none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A192F"/>
                </a:solidFill>
                <a:latin typeface="Merriweather"/>
              </a:rPr>
              <a:t>The Industrial Test Case &amp; Strategic ROI</a:t>
            </a:r>
            <a:endParaRPr sz="2850" b="1" i="0" u="none">
              <a:solidFill>
                <a:srgbClr val="0A192F"/>
              </a:solidFill>
              <a:latin typeface="Merriweather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15822</Words>
  <Application>WPS Presentation</Application>
  <PresentationFormat>On-screen Show (4:3)</PresentationFormat>
  <Paragraphs>552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3" baseType="lpstr">
      <vt:lpstr>Arial</vt:lpstr>
      <vt:lpstr>SimSun</vt:lpstr>
      <vt:lpstr>Wingdings</vt:lpstr>
      <vt:lpstr>Arial</vt:lpstr>
      <vt:lpstr>Merriweather</vt:lpstr>
      <vt:lpstr>Segoe Print</vt:lpstr>
      <vt:lpstr>Book Antiqua</vt:lpstr>
      <vt:lpstr>Microsoft YaHei</vt:lpstr>
      <vt:lpstr>DM Sans</vt:lpstr>
      <vt:lpstr>Bell MT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Adari Karthik</cp:lastModifiedBy>
  <cp:revision>4</cp:revision>
  <dcterms:created xsi:type="dcterms:W3CDTF">2013-01-27T09:14:00Z</dcterms:created>
  <dcterms:modified xsi:type="dcterms:W3CDTF">2026-09-09T15:02:58Z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97CF2E0812494B29B6FE7A534E981482_13</vt:lpwstr>
  </property>
</Properties>
</file>