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Disclosed Capital ($B)</c:v>
                </c:pt>
              </c:strCache>
            </c:strRef>
          </c:tx>
          <c:spPr>
            <a:solidFill>
              <a:srgbClr val="B9750B"/>
            </a:solidFill>
            <a:effectLst/>
          </c:spPr>
          <c:invertIfNegative val="0"/>
          <c:dLbls>
            <c:numFmt formatCode="&quot;$&quot;0.00&quot;B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0E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Robotics Foundation
Models &amp; Humanoids</c:v>
                </c:pt>
                <c:pt idx="1">
                  <c:v>Simulation &amp; Digital
Twin Platforms</c:v>
                </c:pt>
                <c:pt idx="2">
                  <c:v>Industrial Automation
AI (Fixed &amp; Mobile)</c:v>
                </c:pt>
                <c:pt idx="3">
                  <c:v>Robotics Safety &amp;
Compliance Tooling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2.23</c:v>
                </c:pt>
                <c:pt idx="1">
                  <c:v>1.48</c:v>
                </c:pt>
                <c:pt idx="2">
                  <c:v>0.43</c:v>
                </c:pt>
                <c:pt idx="3">
                  <c:v>0.045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3B465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d52b358-a6da-4fa9-ae8e-53691d36256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hyperlink" Target="https://github.com/AK47-1845/physical-ai-atl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143000"/>
            <a:ext cx="1188720" cy="320040"/>
          </a:xfrm>
          <a:prstGeom prst="line">
            <a:avLst/>
          </a:prstGeom>
          <a:noFill/>
          <a:ln w="25400">
            <a:solidFill>
              <a:srgbClr val="2837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1143000"/>
            <a:ext cx="914400" cy="868680"/>
          </a:xfrm>
          <a:prstGeom prst="line">
            <a:avLst/>
          </a:prstGeom>
          <a:noFill/>
          <a:ln w="25400">
            <a:solidFill>
              <a:srgbClr val="2837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25880"/>
            <a:ext cx="777240" cy="685800"/>
          </a:xfrm>
          <a:prstGeom prst="line">
            <a:avLst/>
          </a:prstGeom>
          <a:noFill/>
          <a:ln w="25400">
            <a:solidFill>
              <a:srgbClr val="2837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4232" y="13990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2952" y="107899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17352" y="19476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94592" y="126187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kern="0" spc="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PRACTICE OF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kern="0" spc="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AI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C9A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Landscape, Commercialization, Competition, and the Industrial-AI Bridge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274320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07492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2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STRATEGIC 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AI is the shift from predicting the next </a:t>
            </a:r>
            <a:r>
              <a:rPr lang="en-US" sz="4000" b="1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</a:t>
            </a: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 intervening in the next </a:t>
            </a:r>
            <a:r>
              <a:rPr lang="en-US" sz="40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moment of physical reality.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autoregressive prediction in static semantic space, to closed-loop causal control of continuous physical dynamics </a:t>
            </a:r>
            <a:r>
              <a:rPr lang="en-IN" altLang="en-US" sz="16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6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sensed, acted on, and corrected at machine speed.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facts that define the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02152" cy="37033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1016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$3.2B+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 18 MONTHS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136392"/>
            <a:ext cx="304495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Venture capital into humanoid &amp; robotics foundation model startups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1748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33672" y="1600200"/>
            <a:ext cx="3502152" cy="37033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1016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62272" y="1920240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&lt;$20M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462272" y="278892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ALL VENDORS, COMBINED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3136392"/>
            <a:ext cx="304495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329184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Industry-wide commercial revenue from unconstrained humanoid deployments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62272" y="4846320"/>
            <a:ext cx="711403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B975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4841748"/>
            <a:ext cx="71140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964424" y="1600200"/>
            <a:ext cx="3502152" cy="37033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1016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93024" y="1920240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Bridge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193024" y="278892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STRATEGIC THESIS OF THIS BRIEFING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93024" y="3136392"/>
            <a:ext cx="304495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3291840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LTTS's highest-conviction play: certified systems integration, V&amp;V, and synthetic data </a:t>
            </a:r>
            <a:r>
              <a:rPr lang="en-IN" altLang="en-US" sz="14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4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not hardware, not foundation models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193024" y="4846320"/>
            <a:ext cx="843077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4841748"/>
            <a:ext cx="84307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SPECULATIVE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768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Capital is subsidizing hardware experimentation while the durable margin sits in software, verification, and integration </a:t>
            </a:r>
            <a:r>
              <a:rPr lang="en-IN" altLang="en-US" sz="1450" i="1" dirty="0">
                <a:solidFill>
                  <a:srgbClr val="768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-</a:t>
            </a:r>
            <a:r>
              <a:rPr lang="en-US" sz="1450" i="1" dirty="0">
                <a:solidFill>
                  <a:srgbClr val="768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where LTTS already competes.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837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4206240" y="1965960"/>
            <a:ext cx="0" cy="2377440"/>
          </a:xfrm>
          <a:prstGeom prst="line">
            <a:avLst/>
          </a:prstGeom>
          <a:noFill/>
          <a:ln w="19050">
            <a:solidFill>
              <a:srgbClr val="2837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26280" y="1965960"/>
            <a:ext cx="7040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26280" y="278892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Commercial Maturity Mapping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26280" y="3593592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4754880" y="3447288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operational tiers, from paid production to lab-only demos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4032504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9" name="Text 7"/>
          <p:cNvSpPr/>
          <p:nvPr/>
        </p:nvSpPr>
        <p:spPr>
          <a:xfrm>
            <a:off x="4754880" y="388620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Disclosed venture capital by sub-segment, 2024–2026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26280" y="4471416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1" name="Text 9"/>
          <p:cNvSpPr/>
          <p:nvPr/>
        </p:nvSpPr>
        <p:spPr>
          <a:xfrm>
            <a:off x="4754880" y="4325112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capital vs. maturity asymmetry — and what it means for LTTS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 · 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 maturity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02152" cy="46177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1016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10512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2E9E6B"/>
          </a:solidFill>
        </p:spPr>
      </p:sp>
      <p:sp>
        <p:nvSpPr>
          <p:cNvPr id="6" name="Text 4"/>
          <p:cNvSpPr/>
          <p:nvPr/>
        </p:nvSpPr>
        <p:spPr>
          <a:xfrm>
            <a:off x="731520" y="181051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at Scale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revenue, core workflows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304495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5643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Waymo </a:t>
            </a:r>
            <a:r>
              <a:rPr lang="en-IN" alt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150,000+ paid robotaxi trips/week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968496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63924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432511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Intuition / NVIDIA Isaac Sim </a:t>
            </a:r>
            <a:r>
              <a:rPr lang="en-IN" alt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ADAS validation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837176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32604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519379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TSMC </a:t>
            </a:r>
            <a:r>
              <a:rPr lang="en-IN" alt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automated defect classification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5705856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68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701284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33672" y="1554480"/>
            <a:ext cx="3502152" cy="46177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1016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62272" y="1810512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B9750B"/>
          </a:solidFill>
        </p:spPr>
      </p:sp>
      <p:sp>
        <p:nvSpPr>
          <p:cNvPr id="21" name="Text 19"/>
          <p:cNvSpPr/>
          <p:nvPr/>
        </p:nvSpPr>
        <p:spPr>
          <a:xfrm>
            <a:off x="4462272" y="181051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62272" y="226771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Customer Pilots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462272" y="276148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Pre-production, bounded environments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62272" y="3291840"/>
            <a:ext cx="304495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345643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AI </a:t>
            </a:r>
            <a:r>
              <a:rPr lang="en-IN" alt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Figure 02 at BMW Spartanburg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62272" y="3968496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3963924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62272" y="432511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Apptronik </a:t>
            </a:r>
            <a:r>
              <a:rPr lang="en-IN" alt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Apollo at Mercedes-Benz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62272" y="4837176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4832604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62272" y="519379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Boston Dynamics </a:t>
            </a:r>
            <a:r>
              <a:rPr lang="en-IN" alt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Stretch at DHL Supply Chain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62272" y="5705856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5701284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64424" y="1554480"/>
            <a:ext cx="3502152" cy="46177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101600" dist="381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93024" y="1810512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C0392B"/>
          </a:solidFill>
        </p:spPr>
      </p:sp>
      <p:sp>
        <p:nvSpPr>
          <p:cNvPr id="36" name="Text 34"/>
          <p:cNvSpPr/>
          <p:nvPr/>
        </p:nvSpPr>
        <p:spPr>
          <a:xfrm>
            <a:off x="8193024" y="181051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93024" y="226771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Demonstrations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193024" y="2761488"/>
            <a:ext cx="30449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claims, no scale deployment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93024" y="3291840"/>
            <a:ext cx="304495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345643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Zero-shot &lt;0.1mm precision assembly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193024" y="3968496"/>
            <a:ext cx="843077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3024" y="3963924"/>
            <a:ext cx="84307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SPECULATIVE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93024" y="4325112"/>
            <a:ext cx="30449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Unstructured multi-step domestic tasks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193024" y="4837176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68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93024" y="4832604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 · 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Disclosed capital by segment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2024–2026 · disclosed funding rounds, aggregated by sub-segment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00200"/>
          <a:ext cx="60350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600200"/>
            <a:ext cx="4800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16733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Robotics Foundation Models &amp; Humanoids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202082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Leaders: Wayve · Figure AI · Physical Intelligence · 1X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40880" y="2276856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/ EARLY PRODUCTION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0" y="2697480"/>
            <a:ext cx="4800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27706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&amp; Digital Twin Platforms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0" y="311810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Leaders: Applied Intuition · Scale AI · World Labs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40880" y="3374136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0" y="3794760"/>
            <a:ext cx="4800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386791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Automation AI (Fixed &amp; Mobile)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40880" y="421538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Leaders: Skild AI · Bright Machines · Covariant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040880" y="4471416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 / PRODUCTION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58000" y="4892040"/>
            <a:ext cx="4800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49651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Robotics Safety &amp; Compliance Tooling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0" y="531266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Leaders: Credo AI · Holistic AI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040880" y="5568696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PILOT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614476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14019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 · 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capital vs. maturity asymmetry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HUMANOID CAPITAL TRAP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D2A45"/>
          </a:solidFill>
        </p:spPr>
      </p:sp>
      <p:sp>
        <p:nvSpPr>
          <p:cNvPr id="6" name="Text 4"/>
          <p:cNvSpPr/>
          <p:nvPr/>
        </p:nvSpPr>
        <p:spPr>
          <a:xfrm>
            <a:off x="502920" y="2148840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$2.2B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INTO HUMANOID OEMs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 the last 18 months, across general-purpose humanoid hardware vendors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4663440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4658868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35040" y="30175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03720" y="1828800"/>
            <a:ext cx="4800600" cy="3200400"/>
          </a:xfrm>
          <a:prstGeom prst="roundRect">
            <a:avLst>
              <a:gd name="adj" fmla="val 2857"/>
            </a:avLst>
          </a:prstGeom>
          <a:solidFill>
            <a:srgbClr val="1D2A4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148840"/>
            <a:ext cx="4800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&lt;$20M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903720" y="352044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REVENUE, INDUSTRY-WIDE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3931920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commercial production revenue across the entire humanoid sub-segment, all vendors combined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0" y="4800600"/>
            <a:ext cx="711403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B975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4796028"/>
            <a:ext cx="71140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8C9A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Implication for LTTS: capital is aggressively subsidizing hardware experimentation. The durable position is upstream </a:t>
            </a:r>
            <a:r>
              <a:rPr lang="en-IN" altLang="en-US" sz="1450" i="1" dirty="0">
                <a:solidFill>
                  <a:srgbClr val="8C9A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-</a:t>
            </a:r>
            <a:r>
              <a:rPr lang="en-US" sz="1450" i="1" dirty="0">
                <a:solidFill>
                  <a:srgbClr val="8C9A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as the integration and testing partner that earns service revenue regardless of which hardware vendor wins.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837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4206240" y="1965960"/>
            <a:ext cx="0" cy="2377440"/>
          </a:xfrm>
          <a:prstGeom prst="line">
            <a:avLst/>
          </a:prstGeom>
          <a:noFill/>
          <a:ln w="19050">
            <a:solidFill>
              <a:srgbClr val="2837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26280" y="1965960"/>
            <a:ext cx="7040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DIRECTION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26280" y="278892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Frontier Is Actually Working 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26280" y="3593592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4754880" y="3447288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active engineering bottlenecks across frontier labs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4032504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9" name="Text 7"/>
          <p:cNvSpPr/>
          <p:nvPr/>
        </p:nvSpPr>
        <p:spPr>
          <a:xfrm>
            <a:off x="4754880" y="388620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five canonical world-model failure modes — and what mitigates each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26280" y="4471416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1" name="Text 9"/>
          <p:cNvSpPr/>
          <p:nvPr/>
        </p:nvSpPr>
        <p:spPr>
          <a:xfrm>
            <a:off x="4754880" y="4325112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Pearl's Causal Ladder explains the LLM-robotics failure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 · RESEARCH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technical priorities at the frontier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Published technical direction across Physical Intelligence, Google DeepMind, NVIDIA GEAR, Stanford IRIS, UC Berkeley BAIR, and Toyota Research Institute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77393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Flow Matching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1773936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21608"/>
            <a:ext cx="1773936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50Hz continuous control trajectories, replacing discrete action tokens (π0, ManiFlow)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7208" y="178308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0088" y="2011680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3" name="Text 11"/>
          <p:cNvSpPr/>
          <p:nvPr/>
        </p:nvSpPr>
        <p:spPr>
          <a:xfrm>
            <a:off x="2990088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90088" y="2651760"/>
            <a:ext cx="177393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3D Physics-Informed World Models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90088" y="3566160"/>
            <a:ext cx="1773936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3721608"/>
            <a:ext cx="1773936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Voxel and point-flow representations replace 2D pixel prediction for contact and collision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11496" y="178308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94376" y="2011680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9" name="Text 17"/>
          <p:cNvSpPr/>
          <p:nvPr/>
        </p:nvSpPr>
        <p:spPr>
          <a:xfrm>
            <a:off x="529437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94376" y="2651760"/>
            <a:ext cx="177393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Reinforced Fine-Tuning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94376" y="3566160"/>
            <a:ext cx="1773936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3721608"/>
            <a:ext cx="1773936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sub-goal rewards and residual policies correct imitation-learning drift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15784" y="178308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98664" y="2011680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25" name="Text 23"/>
          <p:cNvSpPr/>
          <p:nvPr/>
        </p:nvSpPr>
        <p:spPr>
          <a:xfrm>
            <a:off x="7598664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98664" y="2651760"/>
            <a:ext cx="177393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Cross-Embodiment Scaling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98664" y="3566160"/>
            <a:ext cx="1773936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98664" y="3721608"/>
            <a:ext cx="1773936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Log-linear scaling pre-training on egocentric human video (NVIDIA EgoScale, 2026)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20072" y="178308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02952" y="2011680"/>
            <a:ext cx="457200" cy="457200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31" name="Text 29"/>
          <p:cNvSpPr/>
          <p:nvPr/>
        </p:nvSpPr>
        <p:spPr>
          <a:xfrm>
            <a:off x="9902952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02952" y="2651760"/>
            <a:ext cx="177393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Model Compression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902952" y="3566160"/>
            <a:ext cx="1773936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02952" y="3721608"/>
            <a:ext cx="1773936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Channel-aware quantized VLAs run deterministically on Jetson AGX Orin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 · RESEARCH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canonical world-model failure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201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FM1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Compounding Autoregressive Drift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 per-step errors multiply exponentially over long rollouts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0" y="1581912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Hierarchical state models, receding-horizon MPC, flow matching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732520" y="1655064"/>
            <a:ext cx="2651760" cy="146304"/>
          </a:xfrm>
          <a:prstGeom prst="roundRect">
            <a:avLst>
              <a:gd name="adj" fmla="val 50000"/>
            </a:avLst>
          </a:prstGeom>
          <a:solidFill>
            <a:srgbClr val="E7EAF0"/>
          </a:solidFill>
        </p:spPr>
      </p:sp>
      <p:sp>
        <p:nvSpPr>
          <p:cNvPr id="10" name="Shape 8"/>
          <p:cNvSpPr/>
          <p:nvPr/>
        </p:nvSpPr>
        <p:spPr>
          <a:xfrm>
            <a:off x="8732520" y="1655064"/>
            <a:ext cx="1591056" cy="146304"/>
          </a:xfrm>
          <a:prstGeom prst="roundRect">
            <a:avLst>
              <a:gd name="adj" fmla="val 50000"/>
            </a:avLst>
          </a:prstGeom>
          <a:solidFill>
            <a:srgbClr val="B9750B"/>
          </a:solidFill>
        </p:spPr>
      </p:sp>
      <p:sp>
        <p:nvSpPr>
          <p:cNvPr id="11" name="Text 9"/>
          <p:cNvSpPr/>
          <p:nvPr/>
        </p:nvSpPr>
        <p:spPr>
          <a:xfrm>
            <a:off x="8732520" y="185623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Partially solved on benchmarks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11201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96312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FM2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478024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Executability Gap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277063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frames violate real contact physics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2478024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Physics-informed loss constraints, differentiable physics engines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32520" y="2551176"/>
            <a:ext cx="2651760" cy="146304"/>
          </a:xfrm>
          <a:prstGeom prst="roundRect">
            <a:avLst>
              <a:gd name="adj" fmla="val 50000"/>
            </a:avLst>
          </a:prstGeom>
          <a:solidFill>
            <a:srgbClr val="E7EAF0"/>
          </a:solidFill>
        </p:spPr>
      </p:sp>
      <p:sp>
        <p:nvSpPr>
          <p:cNvPr id="18" name="Shape 16"/>
          <p:cNvSpPr/>
          <p:nvPr/>
        </p:nvSpPr>
        <p:spPr>
          <a:xfrm>
            <a:off x="8732520" y="2551176"/>
            <a:ext cx="1193292" cy="146304"/>
          </a:xfrm>
          <a:prstGeom prst="roundRect">
            <a:avLst>
              <a:gd name="adj" fmla="val 50000"/>
            </a:avLst>
          </a:prstGeom>
          <a:solidFill>
            <a:srgbClr val="B9750B"/>
          </a:solidFill>
        </p:spPr>
      </p:sp>
      <p:sp>
        <p:nvSpPr>
          <p:cNvPr id="19" name="Text 17"/>
          <p:cNvSpPr/>
          <p:nvPr/>
        </p:nvSpPr>
        <p:spPr>
          <a:xfrm>
            <a:off x="8732520" y="2752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Gaining traction in simulation tooling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300984"/>
            <a:ext cx="11201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92424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FM3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374136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Perceptual Hallucination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17320" y="366674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Out-of-distribution inputs mapped to incorrect known tokens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3374136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Latent reconstruction residual gating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32520" y="3447288"/>
            <a:ext cx="2651760" cy="146304"/>
          </a:xfrm>
          <a:prstGeom prst="roundRect">
            <a:avLst>
              <a:gd name="adj" fmla="val 50000"/>
            </a:avLst>
          </a:prstGeom>
          <a:solidFill>
            <a:srgbClr val="E7EAF0"/>
          </a:solidFill>
        </p:spPr>
      </p:sp>
      <p:sp>
        <p:nvSpPr>
          <p:cNvPr id="26" name="Shape 24"/>
          <p:cNvSpPr/>
          <p:nvPr/>
        </p:nvSpPr>
        <p:spPr>
          <a:xfrm>
            <a:off x="8732520" y="3447288"/>
            <a:ext cx="795528" cy="146304"/>
          </a:xfrm>
          <a:prstGeom prst="roundRect">
            <a:avLst>
              <a:gd name="adj" fmla="val 50000"/>
            </a:avLst>
          </a:prstGeom>
          <a:solidFill>
            <a:srgbClr val="B9750B"/>
          </a:solidFill>
        </p:spPr>
      </p:sp>
      <p:sp>
        <p:nvSpPr>
          <p:cNvPr id="27" name="Text 25"/>
          <p:cNvSpPr/>
          <p:nvPr/>
        </p:nvSpPr>
        <p:spPr>
          <a:xfrm>
            <a:off x="8732520" y="364845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research; critical for safety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197096"/>
            <a:ext cx="11201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88536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FM4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4270248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Marginalization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17320" y="456285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Predictions become invariant to real-time operator input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17720" y="4270248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Action-conditioned contrastive losses, inverse dynamics heads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32520" y="4343400"/>
            <a:ext cx="2651760" cy="146304"/>
          </a:xfrm>
          <a:prstGeom prst="roundRect">
            <a:avLst>
              <a:gd name="adj" fmla="val 50000"/>
            </a:avLst>
          </a:prstGeom>
          <a:solidFill>
            <a:srgbClr val="E7EAF0"/>
          </a:solidFill>
        </p:spPr>
      </p:sp>
      <p:sp>
        <p:nvSpPr>
          <p:cNvPr id="34" name="Shape 32"/>
          <p:cNvSpPr/>
          <p:nvPr/>
        </p:nvSpPr>
        <p:spPr>
          <a:xfrm>
            <a:off x="8732520" y="4343400"/>
            <a:ext cx="662940" cy="146304"/>
          </a:xfrm>
          <a:prstGeom prst="roundRect">
            <a:avLst>
              <a:gd name="adj" fmla="val 50000"/>
            </a:avLst>
          </a:prstGeom>
          <a:solidFill>
            <a:srgbClr val="B9750B"/>
          </a:solidFill>
        </p:spPr>
      </p:sp>
      <p:sp>
        <p:nvSpPr>
          <p:cNvPr id="35" name="Text 33"/>
          <p:cNvSpPr/>
          <p:nvPr/>
        </p:nvSpPr>
        <p:spPr>
          <a:xfrm>
            <a:off x="8732520" y="454456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research in foundation labs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5093208"/>
            <a:ext cx="112014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184648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FM5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7320" y="516636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Sim-to-Real Reality Gap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417320" y="545896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Mismatches between simulation dynamics and real-world friction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17720" y="5166360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Real2Sim2Real closed loops, hybrid synthetic-plus-real data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32520" y="5239512"/>
            <a:ext cx="2651760" cy="146304"/>
          </a:xfrm>
          <a:prstGeom prst="roundRect">
            <a:avLst>
              <a:gd name="adj" fmla="val 50000"/>
            </a:avLst>
          </a:prstGeom>
          <a:solidFill>
            <a:srgbClr val="E7EAF0"/>
          </a:solidFill>
        </p:spPr>
      </p:sp>
      <p:sp>
        <p:nvSpPr>
          <p:cNvPr id="42" name="Shape 40"/>
          <p:cNvSpPr/>
          <p:nvPr/>
        </p:nvSpPr>
        <p:spPr>
          <a:xfrm>
            <a:off x="8732520" y="5239512"/>
            <a:ext cx="1856232" cy="146304"/>
          </a:xfrm>
          <a:prstGeom prst="roundRect">
            <a:avLst>
              <a:gd name="adj" fmla="val 50000"/>
            </a:avLst>
          </a:prstGeom>
          <a:solidFill>
            <a:srgbClr val="B9750B"/>
          </a:solidFill>
        </p:spPr>
      </p:sp>
      <p:sp>
        <p:nvSpPr>
          <p:cNvPr id="43" name="Text 41"/>
          <p:cNvSpPr/>
          <p:nvPr/>
        </p:nvSpPr>
        <p:spPr>
          <a:xfrm>
            <a:off x="8732520" y="54406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industrial engineering practice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 · RESEARCH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LLMs fail at robotics </a:t>
            </a:r>
            <a:r>
              <a:rPr lang="en-IN" alt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Pearl's Causal Ladder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733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RUNG III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Counterfactuals &amp; Planning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508760"/>
            <a:ext cx="2743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P(Yᵤ | X', Y')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66560" y="1508760"/>
            <a:ext cx="46634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execution requires evaluating alternative physical paths before acting.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1D2A45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90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RUNG II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Intervention &amp; Action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2926080"/>
            <a:ext cx="2743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P(Y | do(u))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46634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control requires predicting the effect of a specific action </a:t>
            </a:r>
            <a:r>
              <a:rPr lang="en-IN" altLang="en-US" sz="11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1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e.g. a 15N torque applied to an object.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079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RUNG 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Association &amp; Observation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4343400"/>
            <a:ext cx="2743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P(Y | X)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66560" y="4343400"/>
            <a:ext cx="46634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models operate on observational correlation </a:t>
            </a:r>
            <a:r>
              <a:rPr lang="en-IN" altLang="en-US" sz="11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1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 most probable next token given history.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This causal distinction is why industrial robotics requires dedicated world models and physics-grounded verification — not raw prompt engineering on LLMs.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837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4206240" y="1965960"/>
            <a:ext cx="0" cy="2377440"/>
          </a:xfrm>
          <a:prstGeom prst="line">
            <a:avLst/>
          </a:prstGeom>
          <a:noFill/>
          <a:ln w="19050">
            <a:solidFill>
              <a:srgbClr val="2837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26280" y="1965960"/>
            <a:ext cx="7040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26280" y="278892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Physical AI Generates Revenue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26280" y="3593592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4754880" y="3447288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commercial models and their deal economics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4032504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9" name="Text 7"/>
          <p:cNvSpPr/>
          <p:nvPr/>
        </p:nvSpPr>
        <p:spPr>
          <a:xfrm>
            <a:off x="4754880" y="388620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LTTS's four-offering engineering services playbook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 · COMMERCIALIZATION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 models &amp; deal economics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39696" cy="46177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55648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Licensing / FMaaS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" y="2487168"/>
            <a:ext cx="181051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596896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Intelligence · Skild AI · Covariant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7512" y="352044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$100K–$500K+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" y="388620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license + overage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" y="4526280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CYCLE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7512" y="4718304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IN" alt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50840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" y="5266944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 Software / Head of Robotics R&amp;D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07208" y="1554480"/>
            <a:ext cx="2139696" cy="46177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755648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OEM (HW + SW)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71800" y="2487168"/>
            <a:ext cx="181051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596896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AI · Agility Robotics · Boston Dynamics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71800" y="352044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$5K–$15K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971800" y="388620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/robot/mo (RaaS) or CapEx + SLA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0" y="4526280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CYCLE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71800" y="4718304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r>
              <a:rPr lang="en-IN" alt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50840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71800" y="5266944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 / VP Logistics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11496" y="1554480"/>
            <a:ext cx="2139696" cy="46177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1755648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&amp; Validation Tooling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76088" y="2487168"/>
            <a:ext cx="181051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596896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Isaac · Applied Intuition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76088" y="352044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$250K–$2.0M+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276088" y="388620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SaaS ACV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76088" y="4526280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CYCLE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76088" y="4718304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IN" alt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mo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76088" y="50840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76088" y="5266944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 Engineering / Autonomous Systems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15784" y="1554480"/>
            <a:ext cx="2139696" cy="46177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0376" y="1755648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&amp; Safety Verification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80376" y="2487168"/>
            <a:ext cx="1810512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0376" y="2596896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TÜV SÜD · UL Solutions · Credo AI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80376" y="352044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$150K–$750K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580376" y="388620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fee + subscription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0376" y="4526280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CYCLE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80376" y="4718304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IN" alt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mo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80376" y="50840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80376" y="5266944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Chief Safety Officer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720072" y="1554480"/>
            <a:ext cx="2139696" cy="4617720"/>
          </a:xfrm>
          <a:prstGeom prst="roundRect">
            <a:avLst>
              <a:gd name="adj" fmla="val 3419"/>
            </a:avLst>
          </a:prstGeom>
          <a:solidFill>
            <a:srgbClr val="0B122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84664" y="1755648"/>
            <a:ext cx="18105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Systems Integration &amp; Deployment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884664" y="2487168"/>
            <a:ext cx="1810512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84664" y="2596896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LTTS · KPIT Tech · Accenture Industry X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884664" y="3520440"/>
            <a:ext cx="1810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$1.0M–$8.0M+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9884664" y="3886200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site, T&amp;M + milestone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884664" y="4526280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CYCLE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884664" y="4718304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mo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884664" y="508406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884664" y="5266944"/>
            <a:ext cx="181051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CIO / VP Manufacturing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884664" y="1572768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LTTS LANE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 · COMMERCIALIZATION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LTTS's four service offerings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engineering services playbook — capital-light, service-heavy, hardware-agnostic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66928" cy="56692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7" name="Image 0" descr="/home/claude/icons/data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482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92808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Data Factory as a Service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 client CAD/PLM assemblies into calibrated Isaac Sim digital twins to train synthetic policies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3273552"/>
            <a:ext cx="498348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32841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$1.0M–$3.5M / annual engagement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920240"/>
            <a:ext cx="566928" cy="56692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14" name="Image 1" descr="/home/claude/icons/bridge_F5A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04825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892808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Brownfield PLC-to-AI Integration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46520" y="256032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middleware bridging neural outputs to Siemens S7-1500 / Rockwell ControlLogix with safety interlocks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46520" y="3273552"/>
            <a:ext cx="498348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332841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$1.5M–$5.0M / plant rollout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2920" y="39319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4160520"/>
            <a:ext cx="566928" cy="56692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1" name="Image 2" descr="/home/claude/icons/shield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288536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4133088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AI Verification &amp; Validation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31520" y="480060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stress-testing of third-party neural controllers against ISO 13849 and IEC 61508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31520" y="5513832"/>
            <a:ext cx="498348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31520" y="556869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$500K–$1.5M / engagement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17920" y="39319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46520" y="4160520"/>
            <a:ext cx="566928" cy="56692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8" name="Image 3" descr="/home/claude/icons/monitor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288536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78040" y="4133088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 Embodied MLOps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446520" y="480060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telemetry monitoring, edge drift detection, automated synthetic retraining pipelines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446520" y="5513832"/>
            <a:ext cx="498348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46520" y="556869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$500K–$2.0M / annual recurring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837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4206240" y="1965960"/>
            <a:ext cx="0" cy="2377440"/>
          </a:xfrm>
          <a:prstGeom prst="line">
            <a:avLst/>
          </a:prstGeom>
          <a:noFill/>
          <a:ln w="19050">
            <a:solidFill>
              <a:srgbClr val="2837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26280" y="1965960"/>
            <a:ext cx="7040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 &amp; ADOPTION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26280" y="278892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Production Reality vs. Hype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26280" y="3593592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4754880" y="3447288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production deployments across five sectors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4032504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9" name="Text 7"/>
          <p:cNvSpPr/>
          <p:nvPr/>
        </p:nvSpPr>
        <p:spPr>
          <a:xfrm>
            <a:off x="4754880" y="388620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Hype-ahead-of-deployment categories — and the concrete reason why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 · USE CASES &amp; ADOPTION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production deployments by sector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139696" cy="42976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965960"/>
            <a:ext cx="658368" cy="65836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" name="Image 0" descr="/home/claude/icons/automotive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1122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7063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Automotive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7512" y="3264408"/>
            <a:ext cx="1810512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Optical/acoustic QC at BMW, Ford, Mercedes; sheet-metal handling under fixed fixtures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249985" y="555040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49985" y="554583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807208" y="1691640"/>
            <a:ext cx="2139696" cy="42976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965960"/>
            <a:ext cx="658368" cy="65836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13" name="Image 1" descr="/home/claude/icons/aerospace_F5A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11226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4368" y="277063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Aerospace &amp; Defense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71800" y="3264408"/>
            <a:ext cx="1810512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Composite layup inspection and robotic drilling guidance on Airbus and Boeing programs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554273" y="555040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683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54273" y="554583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111496" y="1691640"/>
            <a:ext cx="2139696" cy="42976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52160" y="1965960"/>
            <a:ext cx="658368" cy="65836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0" name="Image 2" descr="/home/claude/icons/semiconductor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211226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48656" y="277063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Semiconductor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276088" y="3264408"/>
            <a:ext cx="1810512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Physics-informed defect prediction across lithography stages at TSMC and Intel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858561" y="555040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6839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858561" y="554583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415784" y="1691640"/>
            <a:ext cx="2139696" cy="42976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56448" y="1965960"/>
            <a:ext cx="658368" cy="65836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7" name="Image 3" descr="/home/claude/icons/logistics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11226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52944" y="277063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Logistics &amp; Warehousing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580376" y="3264408"/>
            <a:ext cx="1810512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Stretch trailer unloading at DHL; AMR fleets at Amazon Robotics and Symbotic/Walmart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162849" y="555040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162849" y="554583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9720072" y="1691640"/>
            <a:ext cx="2139696" cy="42976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460736" y="1965960"/>
            <a:ext cx="658368" cy="658368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34" name="Image 4" descr="/home/claude/icons/energy_F5A6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112264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57232" y="2770632"/>
            <a:ext cx="1865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 &amp; Utilities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9884664" y="3264408"/>
            <a:ext cx="1810512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thermal and vibration monitoring on heavy gas turbines — GE Vernova, Siemens Energy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10467137" y="555040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467137" y="554583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 · USE CASES &amp; ADOPTION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Hype-ahead-of-deployment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pic>
        <p:nvPicPr>
          <p:cNvPr id="5" name="Image 0" descr="/home/claude/icons/alert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1343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Humanoid Assembly Workers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CLAIM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3227832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Claims of broad replacement of final-assembly workers within 12–24 months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995928"/>
            <a:ext cx="315468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142232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ISN'T REAL YET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" y="4361688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 cables and deformable wire harnesses at &lt;60-second takt times exceed current humanoid dexterity and speed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" y="5367528"/>
            <a:ext cx="843077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362956"/>
            <a:ext cx="84307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SPECULATIVE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29768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pic>
        <p:nvPicPr>
          <p:cNvPr id="15" name="Image 1" descr="/home/claude/icons/alert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8288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26280" y="231343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Outdoor Construction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26280" y="30175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CLAIM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26280" y="3227832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autonomous heavy construction on unconstrained sites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26280" y="3995928"/>
            <a:ext cx="315468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26280" y="4142232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ISN'T REAL YET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526280" y="4361688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Changing weather, mud, and soil mechanics disrupt visual odometry and sim-to-real transfer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26280" y="536752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6839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26280" y="536295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809244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pic>
        <p:nvPicPr>
          <p:cNvPr id="25" name="Image 2" descr="/home/claude/icons/alert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0" y="231343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Class III Surgery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8321040" y="301752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CLAIM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321040" y="3227832"/>
            <a:ext cx="3154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autonomous surgical tissue resection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321040" y="3995928"/>
            <a:ext cx="315468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321040" y="4142232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ISN'T REAL YET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321040" y="4361688"/>
            <a:ext cx="3154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FDA Class III regulatory frameworks keep systems strictly surgeon-in-the-loop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321040" y="5367528"/>
            <a:ext cx="64556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321040" y="5362956"/>
            <a:ext cx="6455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2E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908685" y="6423279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837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4206240" y="1965960"/>
            <a:ext cx="0" cy="2377440"/>
          </a:xfrm>
          <a:prstGeom prst="line">
            <a:avLst/>
          </a:prstGeom>
          <a:noFill/>
          <a:ln w="19050">
            <a:solidFill>
              <a:srgbClr val="2837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26280" y="1965960"/>
            <a:ext cx="7040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LANDSCAPE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26280" y="278892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Layered Analysis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26280" y="3593592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4754880" y="3447288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five-layer competitive stack — and where LTTS sits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4032504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9" name="Text 7"/>
          <p:cNvSpPr/>
          <p:nvPr/>
        </p:nvSpPr>
        <p:spPr>
          <a:xfrm>
            <a:off x="4754880" y="388620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High-value gaps no player has claimed yet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· 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layered competitive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201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Robotics Foundation Models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06240" y="15819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Intelligence · Skild AI · DeepMind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43800" y="1581912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Challengers </a:t>
            </a:r>
            <a:r>
              <a:rPr lang="en-IN" alt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frontier algorithms, dependent on partners for distribution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368296"/>
            <a:ext cx="11201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4144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Automation Incumbents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2441448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Siemens · Rockwell Automation · ABB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43800" y="2441448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Dominant </a:t>
            </a:r>
            <a:r>
              <a:rPr lang="en-IN" alt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own factory floors, safety certifications, customer trust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27832"/>
            <a:ext cx="11201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00984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Platforms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06240" y="3300984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(Isaac/Cosmos) · Applied Intuition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43800" y="3300984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Dominant </a:t>
            </a:r>
            <a:r>
              <a:rPr lang="en-IN" alt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platform standard for testing and virtual commissioning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87368"/>
            <a:ext cx="11201400" cy="768096"/>
          </a:xfrm>
          <a:prstGeom prst="roundRect">
            <a:avLst>
              <a:gd name="adj" fmla="val 7143"/>
            </a:avLst>
          </a:prstGeom>
          <a:solidFill>
            <a:srgbClr val="0B122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6052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ER&amp;D Engineering Services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416052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LTTS · KPIT Tech · Tata Tech · Cyient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43800" y="4160520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competitors </a:t>
            </a:r>
            <a:r>
              <a:rPr lang="en-IN" alt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racing to build certified Physical AI field practices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384280" y="4416552"/>
            <a:ext cx="109728" cy="109728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1" name="Shape 19"/>
          <p:cNvSpPr/>
          <p:nvPr/>
        </p:nvSpPr>
        <p:spPr>
          <a:xfrm>
            <a:off x="502920" y="4946904"/>
            <a:ext cx="11201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20056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&amp; Compliance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06240" y="5020056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TÜV SÜD · UL Solutions · Credo AI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43800" y="5020056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Gatekeepers </a:t>
            </a:r>
            <a:r>
              <a:rPr lang="en-IN" alt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00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mandatory for legal operation and factory insurance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768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LTTS competes directly in the ER&amp;D layer </a:t>
            </a:r>
            <a:r>
              <a:rPr lang="en-IN" altLang="en-US" sz="1300" i="1" dirty="0">
                <a:solidFill>
                  <a:srgbClr val="768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-</a:t>
            </a:r>
            <a:r>
              <a:rPr lang="en-US" sz="1300" i="1" dirty="0">
                <a:solidFill>
                  <a:srgbClr val="768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and this briefing argues for a deliberate push upward into Safety &amp; Compliance credentials.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· 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High-value underserved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6" name="Image 0" descr="/home/claude/icons/gap1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122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 Safety Verification Tooling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certifiers demand deterministic safety proofs, but no automated toolchain translates neural policy outputs into IEC 61508 / ISO 13849 compliance dossiers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965960"/>
            <a:ext cx="594360" cy="5943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12" name="Image 1" descr="/home/claude/icons/gap2_F5A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1122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69748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0" y="2926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CAD/PLM → Differentiable Physics Pipelines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72000" y="379476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Converting industrial CAD assemblies into simulation-ready digital twins is still heavy manual engineering </a:t>
            </a:r>
            <a:r>
              <a:rPr lang="en-IN" altLang="en-US" sz="11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1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automated ingestion is an open commercial lane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9244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1965960"/>
            <a:ext cx="594360" cy="5943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18" name="Image 2" descr="/home/claude/icons/gap3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11226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2697480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366760" y="29260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Edge Deployment Middleware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66760" y="3794760"/>
            <a:ext cx="30632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execution of large models on edge compute (NVIDIA Jetson) without jitter or safety-watchdog violations remains unsolved at scale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 · THE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industrial AI → physical AI bridge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AN EVOLUTION — A DIFFERENT DNA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0195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1D scalar time-series (vibration, temperature, current) — human notifications on minute/hour timescales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1363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42900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3D spatial representations, depth point clouds, force feedback — actuator commands at ≥50Hz (Δt ≤ 20ms)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43434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Predictive-maintenance vendors cannot easily pivot into robotics control — Physical AI requires robotics, controls, and mechanical engineering DNA.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417320"/>
            <a:ext cx="5715000" cy="4892040"/>
          </a:xfrm>
          <a:prstGeom prst="roundRect">
            <a:avLst>
              <a:gd name="adj" fmla="val 1869"/>
            </a:avLst>
          </a:prstGeom>
          <a:solidFill>
            <a:srgbClr val="1D2A45"/>
          </a:solidFill>
        </p:spPr>
      </p:sp>
      <p:sp>
        <p:nvSpPr>
          <p:cNvPr id="13" name="Text 11"/>
          <p:cNvSpPr/>
          <p:nvPr/>
        </p:nvSpPr>
        <p:spPr>
          <a:xfrm>
            <a:off x="6263640" y="162763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DOMAIN ENGINEERING MOAT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Kinematic Singularity Management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63640" y="2423160"/>
            <a:ext cx="5166360" cy="1051560"/>
          </a:xfrm>
          <a:prstGeom prst="roundRect">
            <a:avLst>
              <a:gd name="adj" fmla="val 5217"/>
            </a:avLst>
          </a:prstGeom>
          <a:solidFill>
            <a:srgbClr val="0B1220"/>
          </a:solidFill>
        </p:spPr>
      </p:sp>
      <p:sp>
        <p:nvSpPr>
          <p:cNvPr id="16" name="Text 14"/>
          <p:cNvSpPr/>
          <p:nvPr/>
        </p:nvSpPr>
        <p:spPr>
          <a:xfrm>
            <a:off x="6263640" y="2606040"/>
            <a:ext cx="5166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μ(q) = √det( J(q) Jᵀ(q) )  →  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55080" y="3035808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Yoshikawa manipulability measure, approaching a kinematic singularity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365760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 ENGLISH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3913632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 a singularity, even a small, bounded Cartesian command from a VLA policy demands unbounded joint velocity (‖q̇‖ → ∞).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484632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real factory cells this triggers drive over-current trips, joint e-stops, or gearbox damage — pure ML engineers cannot build the singularity-robust inverse kinematics and damped-least-squares filtering this requires.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 · THE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closed-loop operational data flywheel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80760" y="1828800"/>
            <a:ext cx="2217598" cy="1611179"/>
          </a:xfrm>
          <a:prstGeom prst="line">
            <a:avLst/>
          </a:prstGeom>
          <a:noFill/>
          <a:ln w="19050">
            <a:solidFill>
              <a:srgbClr val="C7CED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451311" y="3439979"/>
            <a:ext cx="847047" cy="2606942"/>
          </a:xfrm>
          <a:prstGeom prst="line">
            <a:avLst/>
          </a:prstGeom>
          <a:noFill/>
          <a:ln w="19050">
            <a:solidFill>
              <a:srgbClr val="C7CED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710209" y="6046921"/>
            <a:ext cx="2741101" cy="9144"/>
          </a:xfrm>
          <a:prstGeom prst="line">
            <a:avLst/>
          </a:prstGeom>
          <a:noFill/>
          <a:ln w="19050">
            <a:solidFill>
              <a:srgbClr val="C7CED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863162" y="3439979"/>
            <a:ext cx="847047" cy="2606942"/>
          </a:xfrm>
          <a:prstGeom prst="line">
            <a:avLst/>
          </a:prstGeom>
          <a:noFill/>
          <a:ln w="19050">
            <a:solidFill>
              <a:srgbClr val="C7CED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863162" y="1828800"/>
            <a:ext cx="2217598" cy="1611179"/>
          </a:xfrm>
          <a:prstGeom prst="line">
            <a:avLst/>
          </a:prstGeom>
          <a:noFill/>
          <a:ln w="19050">
            <a:solidFill>
              <a:srgbClr val="C7CED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257800" y="3337560"/>
            <a:ext cx="1645920" cy="1645920"/>
          </a:xfrm>
          <a:prstGeom prst="ellipse">
            <a:avLst/>
          </a:prstGeom>
          <a:solidFill>
            <a:srgbClr val="0B1220"/>
          </a:solidFill>
        </p:spPr>
      </p:sp>
      <p:sp>
        <p:nvSpPr>
          <p:cNvPr id="10" name="Text 8"/>
          <p:cNvSpPr/>
          <p:nvPr/>
        </p:nvSpPr>
        <p:spPr>
          <a:xfrm>
            <a:off x="5257800" y="3337560"/>
            <a:ext cx="16459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635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55448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13" name="Image 0" descr="/home/claude/icons/telemetry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776" y="1636776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67728" y="150876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83480" y="194767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Telemetry Ingestion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83480" y="22585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7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motor torque, current, and visual streams from industrial buses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7063918" y="2822759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635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01078" y="2959919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19" name="Image 1" descr="/home/claude/icons/calibration_F5A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374" y="3042215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85326" y="291419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201078" y="3353111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Parameter Calibration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201078" y="366400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7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 friction, payload inertia and backlash using real telemetry</a:t>
            </a:r>
            <a:endParaRPr lang="en-US" sz="870" dirty="0"/>
          </a:p>
        </p:txBody>
      </p:sp>
      <p:sp>
        <p:nvSpPr>
          <p:cNvPr id="23" name="Shape 19"/>
          <p:cNvSpPr/>
          <p:nvPr/>
        </p:nvSpPr>
        <p:spPr>
          <a:xfrm>
            <a:off x="6216871" y="530352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635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354031" y="544068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25" name="Image 2" descr="/home/claude/icons/synthetic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327" y="552297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38279" y="539496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54031" y="583387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Data Generation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354031" y="61447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7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diverse edge-case scenarios in Isaac Sim</a:t>
            </a:r>
            <a:endParaRPr lang="en-US" sz="870" dirty="0"/>
          </a:p>
        </p:txBody>
      </p:sp>
      <p:sp>
        <p:nvSpPr>
          <p:cNvPr id="29" name="Shape 24"/>
          <p:cNvSpPr/>
          <p:nvPr/>
        </p:nvSpPr>
        <p:spPr>
          <a:xfrm>
            <a:off x="3475769" y="530352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635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612929" y="5440680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31" name="Image 3" descr="/home/claude/icons/edge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225" y="5522976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97177" y="539496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12929" y="583387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Policy Deployment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3612929" y="61447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7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compressed models on Jetson, wrapped in safety envelopes</a:t>
            </a:r>
            <a:endParaRPr lang="en-US" sz="870" dirty="0"/>
          </a:p>
        </p:txBody>
      </p:sp>
      <p:sp>
        <p:nvSpPr>
          <p:cNvPr id="35" name="Shape 29"/>
          <p:cNvSpPr/>
          <p:nvPr/>
        </p:nvSpPr>
        <p:spPr>
          <a:xfrm>
            <a:off x="2628722" y="2822759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blurRad="63500" dist="25400" dir="5400000" algn="bl" rotWithShape="0">
              <a:srgbClr val="9AA5B8">
                <a:alpha val="2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2765882" y="2959919"/>
            <a:ext cx="365760" cy="365760"/>
          </a:xfrm>
          <a:prstGeom prst="ellipse">
            <a:avLst/>
          </a:prstGeom>
          <a:solidFill>
            <a:srgbClr val="0B1220"/>
          </a:solidFill>
        </p:spPr>
      </p:sp>
      <p:pic>
        <p:nvPicPr>
          <p:cNvPr id="37" name="Image 4" descr="/home/claude/icons/feedback_F5A6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178" y="3042215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750130" y="291419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2765882" y="3353111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OOD Monitoring &amp; Feedback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2765882" y="366400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7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anomalies in production to trigger re-simulation</a:t>
            </a:r>
            <a:endParaRPr lang="en-US" sz="870" dirty="0"/>
          </a:p>
        </p:txBody>
      </p:sp>
      <p:sp>
        <p:nvSpPr>
          <p:cNvPr id="41" name="Text 34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roadmap </a:t>
            </a:r>
            <a:r>
              <a:rPr lang="en-IN" alt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2800" b="1" kern="0" spc="2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2027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$10.8M total Year-1 committed investment across four sequenced priorities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35640" cy="0"/>
          </a:xfrm>
          <a:prstGeom prst="line">
            <a:avLst/>
          </a:prstGeom>
          <a:noFill/>
          <a:ln w="25400">
            <a:solidFill>
              <a:srgbClr val="2837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5356" y="2048256"/>
            <a:ext cx="201168" cy="20116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317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2027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V&amp;V Practice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safety dossier compiler — Control Barrier Functions certify neural policies against ISO 13849 / IEC 61508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4892040"/>
            <a:ext cx="224028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01091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$2.8M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800" y="5394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High-margin functional safety auditing service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75988" y="2048256"/>
            <a:ext cx="201168" cy="20116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23317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 2027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73552" y="2651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7889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Alliances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56432" y="333756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Siemens / Rockwell / AI-lab bridge partnerships, unlocking brownfield plant floor and CAD access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56432" y="4892040"/>
            <a:ext cx="224028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501091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$1.3M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456432" y="5394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Preferred deployment partner for plant rollouts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46620" y="2048256"/>
            <a:ext cx="201168" cy="20116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3317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 2027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44184" y="2651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27889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Data Factory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227064" y="333756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Isaac Sim / Omniverse compute cluster and simulation engineering team for CAD-to-digital-twin pipelines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27064" y="4892040"/>
            <a:ext cx="224028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501091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$4.2M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227064" y="5394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Monetize CAD/PLM data for model training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17252" y="2048256"/>
            <a:ext cx="201168" cy="20116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14816" y="23317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ONGOING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814816" y="2651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2A45"/>
          </a:solidFill>
          <a:ln w="12700">
            <a:solidFill>
              <a:srgbClr val="2837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97696" y="278892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Talent CoE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997696" y="333756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250 engineers upskilled across PyTorch, ROS2, Isaac Lab; lateral hiring in embodied AI and formal safety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997696" y="4892040"/>
            <a:ext cx="2240280" cy="0"/>
          </a:xfrm>
          <a:prstGeom prst="line">
            <a:avLst/>
          </a:prstGeom>
          <a:noFill/>
          <a:ln w="12700">
            <a:solidFill>
              <a:srgbClr val="2837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97696" y="501091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$2.5M/yr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8997696" y="5394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Differentiated workforce with deep domain moat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6080760"/>
            <a:ext cx="711403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B975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076188"/>
            <a:ext cx="71140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IN" alt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2800" b="1" kern="0" spc="20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year forecast &amp; key uncertainties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EVOLUTION · 2026–2030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82296" cy="82296"/>
          </a:xfrm>
          <a:prstGeom prst="ellipse">
            <a:avLst/>
          </a:prstGeom>
          <a:solidFill>
            <a:srgbClr val="B9750B"/>
          </a:solidFill>
        </p:spPr>
      </p:sp>
      <p:sp>
        <p:nvSpPr>
          <p:cNvPr id="7" name="Text 5"/>
          <p:cNvSpPr/>
          <p:nvPr/>
        </p:nvSpPr>
        <p:spPr>
          <a:xfrm>
            <a:off x="960120" y="20756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Commoditization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arms and mobile bases commoditize rapidly; value shifts to software and integration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82296" cy="82296"/>
          </a:xfrm>
          <a:prstGeom prst="ellipse">
            <a:avLst/>
          </a:prstGeom>
          <a:solidFill>
            <a:srgbClr val="B9750B"/>
          </a:solidFill>
        </p:spPr>
      </p:sp>
      <p:sp>
        <p:nvSpPr>
          <p:cNvPr id="10" name="Text 8"/>
          <p:cNvSpPr/>
          <p:nvPr/>
        </p:nvSpPr>
        <p:spPr>
          <a:xfrm>
            <a:off x="960120" y="285292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Layer Consolidation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Robotics foundation models consolidate into 2–3 dominant ecosystems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749040"/>
            <a:ext cx="82296" cy="82296"/>
          </a:xfrm>
          <a:prstGeom prst="ellipse">
            <a:avLst/>
          </a:prstGeom>
          <a:solidFill>
            <a:srgbClr val="B9750B"/>
          </a:solidFill>
        </p:spPr>
      </p:sp>
      <p:sp>
        <p:nvSpPr>
          <p:cNvPr id="13" name="Text 11"/>
          <p:cNvSpPr/>
          <p:nvPr/>
        </p:nvSpPr>
        <p:spPr>
          <a:xfrm>
            <a:off x="960120" y="36301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Layer Fragmentation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8862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Brownfield diversity keeps systems integration a fragmented, high-margin domain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526280"/>
            <a:ext cx="82296" cy="82296"/>
          </a:xfrm>
          <a:prstGeom prst="ellipse">
            <a:avLst/>
          </a:prstGeom>
          <a:solidFill>
            <a:srgbClr val="B9750B"/>
          </a:solidFill>
        </p:spPr>
      </p:sp>
      <p:sp>
        <p:nvSpPr>
          <p:cNvPr id="16" name="Text 14"/>
          <p:cNvSpPr/>
          <p:nvPr/>
        </p:nvSpPr>
        <p:spPr>
          <a:xfrm>
            <a:off x="960120" y="44074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Exhaustion Pivot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Proprietary physical telemetry becomes the primary driver of capability gains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0B1220"/>
          </a:solidFill>
        </p:spPr>
      </p:sp>
      <p:sp>
        <p:nvSpPr>
          <p:cNvPr id="19" name="Text 17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SOURCES OF UNCERTAINTY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2240280"/>
            <a:ext cx="82296" cy="8229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6675120" y="2121408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Regulatory Caging Mandates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377440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Enforced physical cages for mobile robots would extend collaborative-humanoid adoption timelines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3172968"/>
            <a:ext cx="82296" cy="8229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4" name="Text 22"/>
          <p:cNvSpPr/>
          <p:nvPr/>
        </p:nvSpPr>
        <p:spPr>
          <a:xfrm>
            <a:off x="6675120" y="3054096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Geopolitical Decoupling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310128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restrictions on compute or robotics hardware could bifurcate Western and Asian ecosystems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4105656"/>
            <a:ext cx="82296" cy="8229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7" name="Text 25"/>
          <p:cNvSpPr/>
          <p:nvPr/>
        </p:nvSpPr>
        <p:spPr>
          <a:xfrm>
            <a:off x="6675120" y="398678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Sim-to-Real Progress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2428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of differentiable-physics gains dictates how fast synthetic data replaces manual programming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532120"/>
            <a:ext cx="11201400" cy="621792"/>
          </a:xfrm>
          <a:prstGeom prst="roundRect">
            <a:avLst>
              <a:gd name="adj" fmla="val 8824"/>
            </a:avLst>
          </a:prstGeom>
          <a:solidFill>
            <a:srgbClr val="EDEFF3"/>
          </a:solidFill>
        </p:spPr>
      </p:sp>
      <p:sp>
        <p:nvSpPr>
          <p:cNvPr id="30" name="Text 28"/>
          <p:cNvSpPr/>
          <p:nvPr/>
        </p:nvSpPr>
        <p:spPr>
          <a:xfrm>
            <a:off x="731520" y="5532120"/>
            <a:ext cx="107442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7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RIGOR   </a:t>
            </a:r>
            <a:r>
              <a:rPr 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claim is sourced and tagged by verification tier; 11 unverifiable claims were cut in drafting </a:t>
            </a:r>
            <a:r>
              <a:rPr lang="en-IN" alt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050" dirty="0">
                <a:solidFill>
                  <a:srgbClr val="3B465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full log available on request.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6547104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20" dirty="0">
                <a:solidFill>
                  <a:srgbClr val="768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AND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6984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future of industrial automation is Physical AI.
</a:t>
            </a:r>
            <a:r>
              <a:rPr lang="en-US" sz="2800" b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LTTS's opportunity is to become the trusted engineering bridge that verifies, integrates, and deploys it safely </a:t>
            </a:r>
            <a:r>
              <a:rPr lang="en-IN" altLang="en-US" sz="2800" b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2800" b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at scale.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1D2A45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IMMEDIATE NEXT STEP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 the Q1 2027 Physical AI V&amp;V Practice launch </a:t>
            </a:r>
            <a:r>
              <a:rPr lang="en-IN" alt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$2.8M </a:t>
            </a:r>
            <a:r>
              <a:rPr lang="en-IN" alt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 secure first-mover position before PLC incumbents lock in their 2027 alliance partners.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C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capital barrier · addresses an immediate regulatory bottleneck · builds the safety methodology every later phase depends 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58368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>
            <a:hlinkClick r:id="rId1" tooltip="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65" y="854710"/>
            <a:ext cx="8851265" cy="49796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096000" y="60229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https://github.com/AK47-1845/physical-ai-atlas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15007</Words>
  <Application>WPS Presentation</Application>
  <PresentationFormat>On-screen Show (16:9)</PresentationFormat>
  <Paragraphs>786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Adari Karthik</cp:lastModifiedBy>
  <cp:revision>2</cp:revision>
  <dcterms:created xsi:type="dcterms:W3CDTF">2026-09-09T08:39:00Z</dcterms:created>
  <dcterms:modified xsi:type="dcterms:W3CDTF">2026-09-09T14:42:44Z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DE9ED6BFD12048F88CEAD25EF1492813_13</vt:lpwstr>
  </property>
</Properties>
</file>