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510028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MODULE 1 · COMMERCIAL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591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Segoe UI"/>
              </a:rPr>
              <a:t>Commercial Maturity Framework: Scale vs. Pilots vs. Demos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>
                <a:solidFill>
                  <a:srgbClr val="64748B"/>
                </a:solidFill>
                <a:latin typeface="Segoe UI"/>
              </a:rPr>
              <a:t>Three-tier classification separating commercial revenue scale from qualified enterprise pilots and staged lab claims.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19072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3924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392424" cy="54864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057400"/>
            <a:ext cx="3026664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47857"/>
                </a:solidFill>
                <a:latin typeface="Segoe UI"/>
              </a:rPr>
              <a:t>TIER 1 · PRODUCTION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04872"/>
            <a:ext cx="30266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0F172A"/>
                </a:solidFill>
                <a:latin typeface="Segoe UI"/>
              </a:rPr>
              <a:t>Commercial Production at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98648"/>
            <a:ext cx="3026664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Core Criteria: </a:t>
            </a:r>
            <a:r>
              <a:rPr sz="1050">
                <a:solidFill>
                  <a:srgbClr val="1E293B"/>
                </a:solidFill>
                <a:latin typeface="Segoe UI"/>
              </a:rPr>
              <a:t>Proven revenue at commercial scale, continuous paid operation without safety drivers, regulatory operating approval, and contractual uptime guarantees.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Waymo (Alphabet): </a:t>
            </a:r>
            <a:r>
              <a:rPr sz="1050">
                <a:solidFill>
                  <a:srgbClr val="1E293B"/>
                </a:solidFill>
                <a:latin typeface="Segoe UI"/>
              </a:rPr>
              <a:t>&gt;150,000 paid commercial trips/week and &gt;1,000,000 autonomous commercial miles weekly across San Francisco, Phoenix, and Los Angeles.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Tesla FSD: </a:t>
            </a:r>
            <a:r>
              <a:rPr sz="1050">
                <a:solidFill>
                  <a:srgbClr val="1E293B"/>
                </a:solidFill>
                <a:latin typeface="Segoe UI"/>
              </a:rPr>
              <a:t>&gt;2.0 billion cumulative miles operated on End-to-End neural networks (FSD v12+), validating mass visual scaling.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TSMC Semiconductor: </a:t>
            </a:r>
            <a:r>
              <a:rPr sz="1050">
                <a:solidFill>
                  <a:srgbClr val="1E293B"/>
                </a:solidFill>
                <a:latin typeface="Segoe UI"/>
              </a:rPr>
              <a:t>Physics-informed neural networks operating in production EUV lithography and wafer defect classification with nanometer precision.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1874519"/>
            <a:ext cx="33924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98264" y="1874519"/>
            <a:ext cx="3392424" cy="54864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81144" y="2057400"/>
            <a:ext cx="3026664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TIER 2 · ENTERPRISE PILOTS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404872"/>
            <a:ext cx="30266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0F172A"/>
                </a:solidFill>
                <a:latin typeface="Segoe UI"/>
              </a:rPr>
              <a:t>Qualified Enterprise Field Pilots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898648"/>
            <a:ext cx="3026664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Core Criteria: </a:t>
            </a:r>
            <a:r>
              <a:rPr sz="1050">
                <a:solidFill>
                  <a:srgbClr val="1E293B"/>
                </a:solidFill>
                <a:latin typeface="Segoe UI"/>
              </a:rPr>
              <a:t>Multi-week customer plant trials with human safety oversight, bounded operational envelopes, and qualitative validation without fleet expansion.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Figure AI / BMW Spartanburg: </a:t>
            </a:r>
            <a:r>
              <a:rPr sz="1050">
                <a:solidFill>
                  <a:srgbClr val="1E293B"/>
                </a:solidFill>
                <a:latin typeface="Segoe UI"/>
              </a:rPr>
              <a:t>Figure 02 bipedal humanoid trial at BMW Spartanburg plant (Aug 2024), testing sheet metal subassembly placement into chassis fixtures.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Apptronik / Mercedes-Benz: </a:t>
            </a:r>
            <a:r>
              <a:rPr sz="1050">
                <a:solidFill>
                  <a:srgbClr val="1E293B"/>
                </a:solidFill>
                <a:latin typeface="Segoe UI"/>
              </a:rPr>
              <a:t>Commercial pilot agreement (Mar 2024) deploying Apollo humanoids for delivery of assembly component totes to production workers.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Boston Dynamics / DHL Supply Chain: </a:t>
            </a:r>
            <a:r>
              <a:rPr sz="1050">
                <a:solidFill>
                  <a:srgbClr val="1E293B"/>
                </a:solidFill>
                <a:latin typeface="Segoe UI"/>
              </a:rPr>
              <a:t>Expanding deployment of Stretch mobile manipulators for automated carton unloading from truck containers across logistics hubs.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874519"/>
            <a:ext cx="33924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65008" y="1874519"/>
            <a:ext cx="3392424" cy="54864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47888" y="2057400"/>
            <a:ext cx="3026664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C2410C"/>
                </a:solidFill>
                <a:latin typeface="Segoe UI"/>
              </a:rPr>
              <a:t>TIER 3 · UNVERIFIED LAB DEMOS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404872"/>
            <a:ext cx="30266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0F172A"/>
                </a:solidFill>
                <a:latin typeface="Segoe UI"/>
              </a:rPr>
              <a:t>Unverified Lab &amp; Marketing Demos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898648"/>
            <a:ext cx="3026664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Core Criteria: </a:t>
            </a:r>
            <a:r>
              <a:rPr sz="1050">
                <a:solidFill>
                  <a:srgbClr val="1E293B"/>
                </a:solidFill>
                <a:latin typeface="Segoe UI"/>
              </a:rPr>
              <a:t>Teleoperated demonstrations, highly staged cherry-picked video releases, no public MTBF data, and failure under real environmental variance.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Pervasive Teleoperation Masking: </a:t>
            </a:r>
            <a:r>
              <a:rPr sz="1050">
                <a:solidFill>
                  <a:srgbClr val="1E293B"/>
                </a:solidFill>
                <a:latin typeface="Segoe UI"/>
              </a:rPr>
              <a:t>Widespread use of VR puppeteering and hidden human teleoperation disguised as autonomous end-to-end foundation model inference.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Unitree, 1X, Agility Marketing: </a:t>
            </a:r>
            <a:r>
              <a:rPr sz="1050">
                <a:solidFill>
                  <a:srgbClr val="1E293B"/>
                </a:solidFill>
                <a:latin typeface="Segoe UI"/>
              </a:rPr>
              <a:t>Viral social media demos showing dynamic parkour or warehouse box-shifting that fail to replicate under industrial dust, glare, or continuous run times.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Sim-to-Real Contact Collapse: </a:t>
            </a:r>
            <a:r>
              <a:rPr sz="1050">
                <a:solidFill>
                  <a:srgbClr val="1E293B"/>
                </a:solidFill>
                <a:latin typeface="Segoe UI"/>
              </a:rPr>
              <a:t>Policies trained purely in rigid-body physics simulators failing catastrophically when encountering deformable packaging or surface oil.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626364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A58CA"/>
                </a:solidFill>
                <a:latin typeface="Segoe UI"/>
              </a:rPr>
              <a:t>STRATEGIC TAKEAWAY  —  </a:t>
            </a:r>
            <a:r>
              <a:rPr sz="1100">
                <a:solidFill>
                  <a:srgbClr val="1E293B"/>
                </a:solidFill>
                <a:latin typeface="Segoe UI"/>
              </a:rPr>
              <a:t>Production-grade physical AI is currently restricted to autonomous mobility and semiconductor fabs; humanoid robotics remains firmly in Tier 2 pilots.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