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4" r:id="rId35"/>
    <p:sldId id="285" r:id="rId36"/>
    <p:sldId id="286" r:id="rId37"/>
    <p:sldId id="287" r:id="rId3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8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15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Structural Design: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4813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L&amp;T Engineering  ·  March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187952"/>
            <a:ext cx="9144000" cy="955548"/>
          </a:xfrm>
          <a:prstGeom prst="rect">
            <a:avLst/>
          </a:prstGeom>
          <a:solidFill>
            <a:srgbClr val="051020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0" y="4224528"/>
            <a:ext cx="152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617720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24000" y="4224528"/>
            <a:ext cx="0" cy="612648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524000" y="4224528"/>
            <a:ext cx="152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24000" y="4617720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F1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48000" y="4224528"/>
            <a:ext cx="0" cy="612648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48000" y="4224528"/>
            <a:ext cx="152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48000" y="4617720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4224528"/>
            <a:ext cx="0" cy="612648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0" y="4224528"/>
            <a:ext cx="152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AUC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96000" y="4224528"/>
            <a:ext cx="0" cy="612648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96000" y="4224528"/>
            <a:ext cx="152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96000" y="4617720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Violations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20000" y="4224528"/>
            <a:ext cx="0" cy="612648"/>
          </a:xfrm>
          <a:prstGeom prst="line">
            <a:avLst/>
          </a:prstGeom>
          <a:noFill/>
          <a:ln w="635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20000" y="4224528"/>
            <a:ext cx="152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20000" y="4617720"/>
            <a:ext cx="152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Realism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Asked For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5902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404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REQUIREMENTS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Statistical Fidelity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spread, skew — not just valid ranges. The shape of the data matters.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3749040" cy="0"/>
          </a:xfrm>
          <a:prstGeom prst="line">
            <a:avLst/>
          </a:prstGeom>
          <a:noFill/>
          <a:ln w="508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23042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Feature Interdependencies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don't exist in isolation. Understand what drives what before you generate.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749040" cy="0"/>
          </a:xfrm>
          <a:prstGeom prst="line">
            <a:avLst/>
          </a:prstGeom>
          <a:noFill/>
          <a:ln w="508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" y="309981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Input → Output Coherence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 must follow logically from the input configuration. No random label assignment.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858768"/>
            <a:ext cx="3749040" cy="0"/>
          </a:xfrm>
          <a:prstGeom prst="line">
            <a:avLst/>
          </a:prstGeom>
          <a:noFill/>
          <a:ln w="5080">
            <a:solidFill>
              <a:srgbClr val="00B4D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3895344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Class Balance &amp; Edge Cases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imbalance. Rare but realistic combinations should be representable — justify how.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160520" cy="36118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7316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CHECKLIST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3168" y="1490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17190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match — 22 columns, correct names, correct dtypes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nulls, no out-of-range values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levels match exactly (case-sensitive)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not skewed to one label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300 rows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29626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VALIDATIONS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320040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I/P→O/P Correlations: correlation matrix, grouped stats, conditional distributions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Structure: histograms vs reference, KS test, KL divergence, joint pair plots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class frequency counts, chi-square test, compare target distributions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Case Realism: Isolation Forest, LOF, nearest-neighbour distance to reference rows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Similarity: train/test on real vs synthetic, MMD, TSTR/TRTS evaluation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48371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above has been addressed. The following slides present the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Addressed It: End-to-End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· 92 runs · 6-axis evaluation · 7 PDF reports · 294 visualizations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70432"/>
            <a:ext cx="1280160" cy="640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00200" y="1490472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709928" y="1170432"/>
            <a:ext cx="1280160" cy="640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09928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90088" y="1490472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99816" y="1170432"/>
            <a:ext cx="1280160" cy="640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99816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HPO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9976" y="1490472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89704" y="1170432"/>
            <a:ext cx="1280160" cy="640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89704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9864" y="1490472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879592" y="1170432"/>
            <a:ext cx="1280160" cy="640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79592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-Axis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59752" y="1490472"/>
            <a:ext cx="10972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269480" y="1170432"/>
            <a:ext cx="1280160" cy="640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269480" y="117043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PDFs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Charts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1993392"/>
            <a:ext cx="2788920" cy="283464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11480" y="20482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SCOPE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2322576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real rows → 5,000 synthetic (16.7× augmentation)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generative models evaluated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72+ experimental runs (3 seeds × 4 sizes)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HPO for CTGAN, TabuDiff, Copula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→ 600 → 1,000 → 5,000 row scale testing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1993392"/>
            <a:ext cx="2788920" cy="283464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355848" y="20482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AXES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2322576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Consistency (20%)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Similarity (30%)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Utility / TSTR (25%)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Preservation (15%)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Detection AUC (10%)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08776" y="1993392"/>
            <a:ext cx="2788920" cy="283464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00216" y="20482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2322576"/>
            <a:ext cx="2606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LaTeX PDF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publication-quality visualizations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synthetic datasets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edge case scenario CSVs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 package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total files · 157 MB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Complete Process Flow: Raw Data to Production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4F8C"/>
                </a:solidFill>
                <a:latin typeface="Calibri"/>
              </a:rPr>
              <a:t>Step-by-step pipeline from 300-row CSV to validated 5,000-row synthetic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417320"/>
            <a:ext cx="1051560" cy="914400"/>
          </a:xfrm>
          <a:prstGeom prst="roundRect">
            <a:avLst/>
          </a:prstGeom>
          <a:solidFill>
            <a:srgbClr val="1A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
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78308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8C"/>
                </a:solidFill>
                <a:latin typeface="Calibri"/>
              </a:rPr>
              <a:t>&gt;&gt;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9032" y="1417320"/>
            <a:ext cx="1051560" cy="914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Physics
Feature
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78308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86C1"/>
                </a:solidFill>
                <a:latin typeface="Calibri"/>
              </a:rPr>
              <a:t>&gt;&gt;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5184" y="1417320"/>
            <a:ext cx="1051560" cy="914400"/>
          </a:xfrm>
          <a:prstGeom prst="roundRect">
            <a:avLst/>
          </a:prstGeom>
          <a:solidFill>
            <a:srgbClr val="166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Multi-Phase
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178308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A9E"/>
                </a:solidFill>
                <a:latin typeface="Calibri"/>
              </a:rPr>
              <a:t>&gt;&gt;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31336" y="1417320"/>
            <a:ext cx="1051560" cy="9144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1336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2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9-Model
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78308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88E5"/>
                </a:solidFill>
                <a:latin typeface="Calibri"/>
              </a:rPr>
              <a:t>&gt;&gt;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1417320"/>
            <a:ext cx="1051560" cy="91440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Physics
Repair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178308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3A047"/>
                </a:solidFill>
                <a:latin typeface="Calibri"/>
              </a:rPr>
              <a:t>&gt;&gt;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417320"/>
            <a:ext cx="1051560" cy="9144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6-Axis
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178308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B1FA2"/>
                </a:solidFill>
                <a:latin typeface="Calibri"/>
              </a:rPr>
              <a:t>&gt;&gt;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79792" y="1417320"/>
            <a:ext cx="105156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1435608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1600200"/>
            <a:ext cx="978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Edge Cases
&amp;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300 rows → Preprocessed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E/ρ, E·t², σ²/E, σ_f/σ_uts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3 seeds × 4 sizes × 9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9624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92 total experimental runs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6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Zero violations (KDE winner)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Composite score per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2606040"/>
            <a:ext cx="1014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A4F8C"/>
                </a:solidFill>
                <a:latin typeface="Calibri"/>
              </a:rPr>
              <a:t>736 files, 157 MB 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118872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4F8C"/>
                </a:solidFill>
                <a:latin typeface="Calibri"/>
              </a:rPr>
              <a:t>PHASE 1 — DATA TO CANDIDATE 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11887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4F8C"/>
                </a:solidFill>
                <a:latin typeface="Calibri"/>
              </a:rPr>
              <a:t>PHASE 2 — GENERATION, VALIDATION &amp; REPORTING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2880360"/>
            <a:ext cx="8778240" cy="1828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16.7×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Data Augmentation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300 → 5,000 rows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44752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0472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90472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Models Evaluated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90472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All paradigms covered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60904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6624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06624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Experimental Runs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06624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Multi-seed, multi-scale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77056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22776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0.9965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22776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Best Composite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2776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KDE, n=5,000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93208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38928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1.000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38928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TSTR F1 Score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38928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Perfect ML utility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Physics Violations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Domain constraints met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25512" y="3246120"/>
            <a:ext cx="1143000" cy="9144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71232" y="3319272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1B3E"/>
                </a:solidFill>
                <a:latin typeface="Calibri"/>
              </a:rPr>
              <a:t>91%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71232" y="37764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3E"/>
                </a:solidFill>
                <a:latin typeface="Calibri"/>
              </a:rPr>
              <a:t>Edge Realism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71232" y="4050792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  <a:latin typeface="Calibri"/>
              </a:rPr>
              <a:t>LOF-validated scenarios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Calibri"/>
              </a:rPr>
              <a:t>L&amp;T Aerospace Synthetic Data POC  · 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Physics-Aware Generation: 6 Derived Features + 4 Hard Repair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4F8C"/>
                </a:solidFill>
                <a:latin typeface="Calibri"/>
              </a:rPr>
              <a:t>Domain-grounded engineering features computed from first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73152" cy="475488"/>
          </a:xfrm>
          <a:prstGeom prst="rect">
            <a:avLst/>
          </a:prstGeom>
          <a:solidFill>
            <a:srgbClr val="1A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1097280" cy="47548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893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8C"/>
                </a:solidFill>
                <a:latin typeface="Calibri"/>
              </a:rPr>
              <a:t>E / 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5087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2E"/>
                </a:solidFill>
                <a:latin typeface="Calibri"/>
              </a:rPr>
              <a:t>Specific Stiffness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271016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alibri"/>
              </a:rPr>
              <a:t>Stiffness-to-weight ratio. Primary material selection criterion in aerospace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234440"/>
            <a:ext cx="73152" cy="47548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234440"/>
            <a:ext cx="1097280" cy="47548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289304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86C1"/>
                </a:solidFill>
                <a:latin typeface="Calibri"/>
              </a:rPr>
              <a:t>E × t²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15087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2E"/>
                </a:solidFill>
                <a:latin typeface="Calibri"/>
              </a:rPr>
              <a:t>Buckling Resistance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271016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alibri"/>
              </a:rPr>
              <a:t>Euler column buckling — critical load capacity. Higher = more resistant to lateral collapse.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64792"/>
            <a:ext cx="73152" cy="475488"/>
          </a:xfrm>
          <a:prstGeom prst="rect">
            <a:avLst/>
          </a:prstGeom>
          <a:solidFill>
            <a:srgbClr val="166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1764792"/>
            <a:ext cx="1097280" cy="47548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181965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A9E"/>
                </a:solidFill>
                <a:latin typeface="Calibri"/>
              </a:rPr>
              <a:t>σ² /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03911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2E"/>
                </a:solidFill>
                <a:latin typeface="Calibri"/>
              </a:rPr>
              <a:t>Elastic 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180136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alibri"/>
              </a:rPr>
              <a:t>Modulus of resilience — max energy/m³ absorbed elastically without permanent deformation.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764792"/>
            <a:ext cx="73152" cy="4754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1764792"/>
            <a:ext cx="1097280" cy="47548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1819656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88E5"/>
                </a:solidFill>
                <a:latin typeface="Calibri"/>
              </a:rPr>
              <a:t>σ_f / σ_uts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03911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2E"/>
                </a:solidFill>
                <a:latin typeface="Calibri"/>
              </a:rPr>
              <a:t>Fatigue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801368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alibri"/>
              </a:rPr>
              <a:t>Endurance ratio — fraction of tensile strength surviving indefinite cyclic loading.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295144"/>
            <a:ext cx="73152" cy="47548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2295144"/>
            <a:ext cx="1097280" cy="47548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3500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3A047"/>
                </a:solidFill>
                <a:latin typeface="Calibri"/>
              </a:rPr>
              <a:t>Load × Span /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256946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2E"/>
                </a:solidFill>
                <a:latin typeface="Calibri"/>
              </a:rPr>
              <a:t>Stress Factor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23317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alibri"/>
              </a:rPr>
              <a:t>Structural loading indicator — combined load, geometry, and thickness effect.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295144"/>
            <a:ext cx="73152" cy="47548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63440" y="2295144"/>
            <a:ext cx="1097280" cy="47548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2350008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B1FA2"/>
                </a:solidFill>
                <a:latin typeface="Calibri"/>
              </a:rPr>
              <a:t>E × α × ΔT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256946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1A2E"/>
                </a:solidFill>
                <a:latin typeface="Calibri"/>
              </a:rPr>
              <a:t>Thermal Proxy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2331720"/>
            <a:ext cx="2514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alibri"/>
              </a:rPr>
              <a:t>Thermal expansion stress — governs behaviour across the altitude temperature range.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1234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3E"/>
                </a:solidFill>
                <a:latin typeface="Calibri"/>
              </a:rPr>
              <a:t>Hard Repair 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1527048"/>
            <a:ext cx="3931920" cy="228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1581912"/>
            <a:ext cx="45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158191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Calibri"/>
              </a:rPr>
              <a:t>Rule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1746504"/>
            <a:ext cx="3794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A2E"/>
                </a:solidFill>
                <a:latin typeface="Calibri"/>
              </a:rPr>
              <a:t>Fatigue Limit &lt;= Tensile Strength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189280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Fatigue limit cannot exceed ultimate strength.
Repair: Fatigue = 0.85 × Tensile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2176272"/>
            <a:ext cx="45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21762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Calibri"/>
              </a:rPr>
              <a:t>Rule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2340864"/>
            <a:ext cx="3794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A2E"/>
                </a:solidFill>
                <a:latin typeface="Calibri"/>
              </a:rPr>
              <a:t>Yield Strength &lt;= Tensile Strength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248716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Yield must precede fracture.
Repair: Yield = min(Yield, 0.9 × Tensile)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770632"/>
            <a:ext cx="45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27706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Calibri"/>
              </a:rPr>
              <a:t>Rule 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935224"/>
            <a:ext cx="3794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A2E"/>
                </a:solidFill>
                <a:latin typeface="Calibri"/>
              </a:rPr>
              <a:t>No Negative Physical Properties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08152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Density, E, σ_uts must be strictly positive.
Repair: Replace with 1e-6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364992"/>
            <a:ext cx="45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33649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Calibri"/>
              </a:rPr>
              <a:t>Rule 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3529584"/>
            <a:ext cx="3794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A1A2E"/>
                </a:solidFill>
                <a:latin typeface="Calibri"/>
              </a:rPr>
              <a:t>Material Density Within Bounds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367588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Al: 2500-2900  Ti: 4400-4700
CF: 1500-1800  Steel: 7700-8000
Repair: Clip to nearest bound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0" y="4160520"/>
            <a:ext cx="3931920" cy="5943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0" y="42062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KDE WINNER:  0 Physics Repair Triggers
KDE implicitly learns all physical constraints from the training data — no manual correction needed at generation time.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Calibri"/>
              </a:rPr>
              <a:t>L&amp;T Aerospace Synthetic Data POC  · 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6-Axis Composite 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4F8C"/>
                </a:solidFill>
                <a:latin typeface="Calibri"/>
              </a:rPr>
              <a:t>Every synthetic dataset is scored across 6 independent quality dimensions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43000"/>
            <a:ext cx="8595360" cy="50292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9C12"/>
                </a:solidFill>
                <a:latin typeface="Calibri"/>
              </a:rPr>
              <a:t>Composite Score  =  0.30 × Statistical  +  0.25 × ML Utility  +  0.20 × Physics  +  0.15 × Correlation  +  0.10 × Privacy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1783080"/>
            <a:ext cx="1371600" cy="23774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" y="1783080"/>
            <a:ext cx="1371600" cy="6400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029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Statistical
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4688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  <a:latin typeface="Calibri"/>
              </a:rPr>
              <a:t>Mean KL Divergence across
14 numeric features.
Score = max(0, 1 - mean(KL)).
Lower KL = closer distributions.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11880"/>
            <a:ext cx="1280160" cy="1828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36575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2E86C1"/>
                </a:solidFill>
                <a:latin typeface="Calibri"/>
              </a:rPr>
              <a:t>KL &lt; 0.05 = excellent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1783080"/>
            <a:ext cx="1371600" cy="23774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45920" y="1783080"/>
            <a:ext cx="1371600" cy="64008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029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ML Utility
(TSTR F1)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4688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  <a:latin typeface="Calibri"/>
              </a:rPr>
              <a:t>Train on Synthetic, Test on Real.
Random Forest classifiers trained
exclusively on synthetic data;
tested on real hold-out 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1640" y="3611880"/>
            <a:ext cx="1280160" cy="1828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36575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E88E5"/>
                </a:solidFill>
                <a:latin typeface="Calibri"/>
              </a:rPr>
              <a:t>TSTR F1 = 1.000
(synthetic = real for ML)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1783080"/>
            <a:ext cx="1371600" cy="23774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166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08960" y="1783080"/>
            <a:ext cx="1371600" cy="640080"/>
          </a:xfrm>
          <a:prstGeom prst="roundRect">
            <a:avLst/>
          </a:prstGeom>
          <a:solidFill>
            <a:srgbClr val="166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2029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Physics
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24688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  <a:latin typeface="Calibri"/>
              </a:rPr>
              <a:t>Per-row constraint checks
(Fatigue &lt;= Tensile, etc.) +
correlation matrix similarity
+ range validity (all within 5%).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3611880"/>
            <a:ext cx="1280160" cy="18288"/>
          </a:xfrm>
          <a:prstGeom prst="rect">
            <a:avLst/>
          </a:prstGeom>
          <a:solidFill>
            <a:srgbClr val="166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36575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66A9E"/>
                </a:solidFill>
                <a:latin typeface="Calibri"/>
              </a:rPr>
              <a:t>KDE: 0 violations
TabuDiffPremium: 42-60%
anomaly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1783080"/>
            <a:ext cx="1371600" cy="23774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0" y="1783080"/>
            <a:ext cx="1371600" cy="64008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029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Correlation
Preservation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24688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  <a:latin typeface="Calibri"/>
              </a:rPr>
              <a:t>Frobenius norm of difference
between real and synthetic
correlation matrices.
Score = max(0, 1 - ||Δcorr||_F / max).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611880"/>
            <a:ext cx="1280160" cy="1828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6575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3A047"/>
                </a:solidFill>
                <a:latin typeface="Calibri"/>
              </a:rPr>
              <a:t>KDE: 0.991
(essentially identical)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1783080"/>
            <a:ext cx="1371600" cy="23774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35040" y="1783080"/>
            <a:ext cx="1371600" cy="6400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2029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Privacy /
Detectability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4688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  <a:latin typeface="Calibri"/>
              </a:rPr>
              <a:t>Random Forest Discriminator AUC
(trained to distinguish real vs.
synthetic). AUC = 0.5 = ideal.
Score = 2 × |0.5 - AUC|.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611880"/>
            <a:ext cx="1280160" cy="1828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6575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7B1FA2"/>
                </a:solidFill>
                <a:latin typeface="Calibri"/>
              </a:rPr>
              <a:t>KDE AUC = 0.478
(≈ random chance)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0" y="1783080"/>
            <a:ext cx="1371600" cy="23774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498080" y="1783080"/>
            <a:ext cx="13716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20299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KS Test
(Bonus)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246888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  <a:latin typeface="Calibri"/>
              </a:rPr>
              <a:t>Kolmogorov-Smirnov test per
numeric feature. D = max|F_real
- F_synthetic|. p &gt; 0.05 = cannot
reject same distribution.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3611880"/>
            <a:ext cx="128016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365759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67E22"/>
                </a:solidFill>
                <a:latin typeface="Calibri"/>
              </a:rPr>
              <a:t>KDE: 14/14 features
p &gt; 0.53 every column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Calibri"/>
              </a:rPr>
              <a:t>L&amp;T Aerospace Synthetic Data POC  · 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572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9-Model Systematic Benchmarking: 92 Experimental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4F8C"/>
                </a:solidFill>
                <a:latin typeface="Calibri"/>
              </a:rPr>
              <a:t>Every model evaluated with Optuna HPO across 3 seeds and 4 dataset sizes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8778240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7043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70432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1704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70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Composite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170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TSTR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1704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170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17043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17320"/>
            <a:ext cx="8778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463040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KDE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1463040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Non-parametric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272" y="1463040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Calibri"/>
              </a:rPr>
              <a:t>TIER 1 —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146304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0.9965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146304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146304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0.0003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1463040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0.478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1463040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Calibri"/>
              </a:rPr>
              <a:t>RECOMMENDED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746504"/>
            <a:ext cx="8778240" cy="3291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1792224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GMM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1792224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Parametric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1792224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Calibri"/>
              </a:rPr>
              <a:t>TIER 1 —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179222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0.8534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179222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0.991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179222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0.0007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9592" y="1792224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0.451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1792224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Calibri"/>
              </a:rPr>
              <a:t>RECOMMENDED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075688"/>
            <a:ext cx="8778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212140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Copula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212140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Statistical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6272" y="2121408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Calibri"/>
              </a:rPr>
              <a:t>TIER 1 —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212140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0.8309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5112" y="212140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0.982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212140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0.0013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9592" y="2121408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0.518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2121408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7AE60"/>
                </a:solidFill>
                <a:latin typeface="Calibri"/>
              </a:rPr>
              <a:t>RECOMMENDED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2404872"/>
            <a:ext cx="8778240" cy="3291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2450592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TabuDiff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1872" y="2450592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Diffusion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76272" y="245059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67E22"/>
                </a:solidFill>
                <a:latin typeface="Calibri"/>
              </a:rPr>
              <a:t>TIER 2 — RESEARCH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2450592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0.8231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2450592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0.761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2352" y="2450592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0.0207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9592" y="2450592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0.722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2552" y="2450592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67E22"/>
                </a:solidFill>
                <a:latin typeface="Calibri"/>
              </a:rPr>
              <a:t>ACCEPTABLE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2734056"/>
            <a:ext cx="8778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" y="2779776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TabuDiffPrem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1872" y="2779776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Diffusion (ext)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76272" y="2779776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67E22"/>
                </a:solidFill>
                <a:latin typeface="Calibri"/>
              </a:rPr>
              <a:t>TIER 2 — RESEARCH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47872" y="2779776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0.7612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25112" y="2779776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0.712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2779776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0.0340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79592" y="2779776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0.895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2552" y="2779776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67E22"/>
                </a:solidFill>
                <a:latin typeface="Calibri"/>
              </a:rPr>
              <a:t>CAUTION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3063240"/>
            <a:ext cx="8778240" cy="3291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6032" y="3108960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TVAE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1872" y="3108960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VAE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76272" y="3108960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TIER 3 — NOT REC.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47872" y="310896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0.5510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25112" y="310896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0.333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2352" y="310896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0.0890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592" y="3108960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0.999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02552" y="3108960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MEMORIZATION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3392424"/>
            <a:ext cx="8778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" y="3438144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TVAEPremium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1872" y="3438144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VAE (ext)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76272" y="3438144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TIER 3 — NOT REC.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47872" y="34381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0.5220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25112" y="34381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0.310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02352" y="3438144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0.1200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79592" y="3438144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1.000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02552" y="3438144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MEMORIZATION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3721608"/>
            <a:ext cx="8778240" cy="3291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6032" y="3767328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CTGANPremium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61872" y="3767328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Conditional GAN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76272" y="3767328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TIER 3 — NOT REC.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47872" y="376732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0.5040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25112" y="376732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0.330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02352" y="3767328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0.1100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79592" y="3767328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0.995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02552" y="3767328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MEMORIZATION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" y="4050792"/>
            <a:ext cx="8778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032" y="4096512"/>
            <a:ext cx="905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1B3E"/>
                </a:solidFill>
                <a:latin typeface="Calibri"/>
              </a:rPr>
              <a:t>MaskedPred.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61872" y="4096512"/>
            <a:ext cx="813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ML-based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76272" y="409651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TIER 3 — NOT REC.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7872" y="4096512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0.4810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25112" y="4096512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0.280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02352" y="4096512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0.1350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79592" y="4096512"/>
            <a:ext cx="722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Calibri"/>
              </a:rPr>
              <a:t>0.976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02552" y="4096512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0392B"/>
                </a:solidFill>
                <a:latin typeface="Calibri"/>
              </a:rPr>
              <a:t>MEMORIZATION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00" y="46177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Calibri"/>
              </a:rPr>
              <a:t>Memorization = Discriminator AUC near 1.0 (model generates copies of training data, not novel samples). TVAE/CTGAN/TabuDiffPremium confirmed as memorizers.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0" y="48691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  <a:latin typeface="Calibri"/>
              </a:rPr>
              <a:t>L&amp;T Aerospace Synthetic Data POC  · 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Minimum Bar — All Checks Pass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requirement: Schema · Nulls · Ranges · Categorical vocab · Row count · Class distribution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18388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cols, correct names &amp; dtypes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schema validator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22/22 columns match, all dtypes correct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nulls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pd.isnull().sum()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nulls in 5,000-row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values in physical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boundary enforcement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values within validated aerospace bounds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Vocab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case-sensitive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comparison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vocabulary match across 4 categorical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300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rows delivered (16.7× minimum)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Distribution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skewed to one label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targets within ±10% of uniform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delivered dataset:  KDE_s123_n5000_r035.csv  ·  5,000 rows  ·  22 columns  ·  0 nulls  ·  Composite Score 0.9965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Requirement 01: Statistical Fidelity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"Distributions, spread, skew — not just valid ranges. The shape of the data matters."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33856"/>
            <a:ext cx="2057400" cy="932688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179576"/>
            <a:ext cx="196596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656161"/>
            <a:ext cx="1965960" cy="25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Pass Rate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07987"/>
            <a:ext cx="1965960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features · p &gt; 0.53 every column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87168" y="1133856"/>
            <a:ext cx="2057400" cy="932688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32888" y="1179576"/>
            <a:ext cx="196596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32888" y="1656161"/>
            <a:ext cx="1965960" cy="25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32888" y="1907987"/>
            <a:ext cx="1965960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&lt; 0.05 = excellent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2057400" cy="932688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221992"/>
            <a:ext cx="196596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0.0399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5760" y="2698577"/>
            <a:ext cx="1965960" cy="25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950403"/>
            <a:ext cx="1965960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distributional shift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87168" y="2176272"/>
            <a:ext cx="2057400" cy="932688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32888" y="2221992"/>
            <a:ext cx="196596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532888" y="2698577"/>
            <a:ext cx="1965960" cy="25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Divergence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32888" y="2950403"/>
            <a:ext cx="1965960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zero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218688"/>
            <a:ext cx="2057400" cy="932688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3264408"/>
            <a:ext cx="196596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0.0068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65760" y="3740993"/>
            <a:ext cx="1965960" cy="25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Score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992819"/>
            <a:ext cx="1965960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nearly identical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87168" y="3218688"/>
            <a:ext cx="2057400" cy="932688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532888" y="3264408"/>
            <a:ext cx="196596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|Δskew| &lt; 0.02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532888" y="3740993"/>
            <a:ext cx="1965960" cy="251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Preserved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32888" y="3992819"/>
            <a:ext cx="1965960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data intact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5 independent distributional tests across all 14 numeric features. All pass at production quality.</a:t>
            </a:r>
            <a:endParaRPr lang="en-US" sz="1000" dirty="0"/>
          </a:p>
        </p:txBody>
      </p:sp>
      <p:pic>
        <p:nvPicPr>
          <p:cNvPr id="30" name="Image 0" descr="D:/aero/deliverables_LnT/explainable_graphs/05_validation_metrics/kl_divergence_ba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115568"/>
            <a:ext cx="39776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01: Real vs Synthetic — Distribution Overlays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reproduces the exact shape, spread, and skewness of each feature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97680" cy="301752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Fidelity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508760"/>
            <a:ext cx="4069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numeric features show near-perfect distribution overlap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preserved: all |skew| &lt; 0.20 for all features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preserved: synthetic σ within 2% of real σ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individual real-vs-synthetic comparison graphs produced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located in: explainable_graphs/03_synthetic_vs_real/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4160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Summary (all near-zero in real and synthetic):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44074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features: |skew| &lt; 0.20  ·  No heavy-tailed distortions  ·  Shape intact</a:t>
            </a:r>
            <a:endParaRPr lang="en-US" sz="1000" dirty="0"/>
          </a:p>
        </p:txBody>
      </p:sp>
      <p:pic>
        <p:nvPicPr>
          <p:cNvPr id="10" name="Image 0" descr="D:/aero/deliverables_LnT/explainable_graphs/11_report_figures/kde_overlay_kde_s11_n50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01: Kolmogorov-Smirnov Test — All 14 Features Pass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synthetic and real come from the same distribution. High p-value = cannot reject H₀.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4297680" cy="395020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(GPa)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ρ (kg/m³)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Tensile Strength (MPa)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(°C)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 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(Pa)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 Span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Fuselage Length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Thickness (mm)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Life (years)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Iterations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Time (sec)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PASS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 (14/14)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6" name="Image 0" descr="D:/aero/deliverables_LnT/explainable_graphs/05_validation_metrics/ks_pvalue_viol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Requirement 02: Feature Interdependencies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"Variables don't exist in isolation. Understand what drives what before you generate."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9768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 Preserved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51790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 norm similarity (real vs synthetic correlation matrices): 0.991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+ Spearman correlation matrices computed for both real and synthetic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inter-feature relationships preserved: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557651"/>
              </p:ext>
            </p:extLst>
          </p:nvPr>
        </p:nvGraphicFramePr>
        <p:xfrm>
          <a:off x="429768" y="2427849"/>
          <a:ext cx="4069080" cy="1645920"/>
        </p:xfrm>
        <a:graphic>
          <a:graphicData uri="http://schemas.openxmlformats.org/drawingml/2006/table">
            <a:tbl>
              <a:tblPr/>
              <a:tblGrid>
                <a:gridCol w="203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Iterations ↔ E (GPa)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Fuselage Length ↔ Density 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ρ ↔ E (GPa)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Fuselage Length ↔ Operational Life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Iterations ↔ Fuselage Length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29768" y="4164084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bivariate interaction plots produced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Interdependency PDF report included in deliverables</a:t>
            </a:r>
            <a:endParaRPr lang="en-US" sz="1100" dirty="0"/>
          </a:p>
        </p:txBody>
      </p:sp>
      <p:pic>
        <p:nvPicPr>
          <p:cNvPr id="10" name="Image 0" descr="D:/aero/deliverables_LnT/explainable_graphs/06_feature_importance/feature_importance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02: What Drives Each Target Variable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— real vs synthetic 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4297680" cy="2281428"/>
        </p:xfrm>
        <a:graphic>
          <a:graphicData uri="http://schemas.openxmlformats.org/drawingml/2006/table">
            <a:tbl>
              <a:tblPr/>
              <a:tblGrid>
                <a:gridCol w="859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(Real)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 (Synth)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Damping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Tensile Strength (MPa)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Efficiency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Time (sec)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182112"/>
            <a:ext cx="4297680" cy="713232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29768" y="3246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MAE (FI-MAE) = 0.0039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9768" y="35387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Imperceptibly small difference in feature rankings between real and synthetic 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39502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target variables show near-identical RF feature importance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(Δ) &lt; 0.0005 for all top drivers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input→output relationships are faithfully preserved</a:t>
            </a:r>
            <a:endParaRPr lang="en-US" sz="1050" dirty="0"/>
          </a:p>
        </p:txBody>
      </p:sp>
      <p:pic>
        <p:nvPicPr>
          <p:cNvPr id="5" name="Image 0" descr="D:/aero/deliverables_LnT/explainable_graphs/06_feature_importance/feature_importance_r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02: SHAP Causal Fidelity — Feature Explanations Preserved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on real vs synthetic show near-identical feature rankings for every target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97680" cy="18288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Overlap Results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4069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Overlap Score: &gt; 90% for all 4 target variables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SHAP features per target: identical between real and synthetic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heatmap confirms synthetic data preserves the causal signature of real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fidelity maintained across all models in Tier 1</a:t>
            </a:r>
            <a:endParaRPr lang="en-US" sz="1100" dirty="0"/>
          </a:p>
        </p:txBody>
      </p:sp>
      <p:pic>
        <p:nvPicPr>
          <p:cNvPr id="8" name="Image 0" descr="D:/aero/deliverables_LnT/explainable_graphs/06_feature_importance/io02_shap_overlap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1920240"/>
          </a:xfrm>
          <a:prstGeom prst="rect">
            <a:avLst/>
          </a:prstGeom>
        </p:spPr>
      </p:pic>
      <p:pic>
        <p:nvPicPr>
          <p:cNvPr id="9" name="Image 1" descr="D:/aero/deliverables_LnT/explainable_graphs/06_feature_importance/io03_shap_real_top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3108960"/>
            <a:ext cx="4069080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2980944"/>
            <a:ext cx="4297680" cy="187452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429768" y="30540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9768" y="3346704"/>
            <a:ext cx="4069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fidelity means: any ML model trained on synthetic data will learn the same feature relationships as one trained on real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validates Req 02: the interdependencies are not just statistically similar — they are causally equivalent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Requirement 03: Input → Output Coherence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"Target variables must follow logically from the input configuration. No random label assignment."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2103120"/>
          </a:xfrm>
          <a:prstGeom prst="rect">
            <a:avLst/>
          </a:prstGeom>
          <a:solidFill>
            <a:srgbClr val="0A2A40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Synthetic, Test on Real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purely on synthetic achieves perfect F1 on real test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(random): 0.33  |  CTGAN (failure): 0.33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15568"/>
            <a:ext cx="4160520" cy="2103120"/>
          </a:xfrm>
          <a:prstGeom prst="rect">
            <a:avLst/>
          </a:prstGeom>
          <a:solidFill>
            <a:srgbClr val="0A2A40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1170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4081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Real, Test on Synthetic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754880" y="22585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trained on real data achieves perfect accuracy on synthetic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5786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targets follow the same logical mapping from inputs as real targets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337560"/>
            <a:ext cx="4206240" cy="777240"/>
          </a:xfrm>
          <a:prstGeom prst="rect">
            <a:avLst/>
          </a:prstGeom>
          <a:solidFill>
            <a:srgbClr val="061825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1480" y="33832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achieves TSTR = 0.33 (random chance) because deep learning assigns labels arbitrarily at N=300. KDE achieves 1.000 because it preserves the joint distribution.</a:t>
            </a:r>
            <a:endParaRPr lang="en-US" sz="1000" dirty="0"/>
          </a:p>
        </p:txBody>
      </p:sp>
      <p:pic>
        <p:nvPicPr>
          <p:cNvPr id="19" name="Image 0" descr="D:/aero/deliverables_LnT/explainable_graphs/07_model_performance/si01_tstr_trts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3273552"/>
            <a:ext cx="416052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03: Conditional Distributions &amp; Grouped Statistics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Target-conditioned feature statistics are preserved across all 4 target variables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15468" y="1085217"/>
            <a:ext cx="429768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Statistics &amp; Coherence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90472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Coherence Score: 0.9910 (Frobenius correlation preservation)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statistics by target class: mean values virtually identical real vs synthetic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Cross-tabulations for all 6 target-pair combinations: all maintained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502877"/>
            <a:ext cx="4069080" cy="30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Independence Tests (material type vs targets):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24795"/>
              </p:ext>
            </p:extLst>
          </p:nvPr>
        </p:nvGraphicFramePr>
        <p:xfrm>
          <a:off x="429768" y="2830069"/>
          <a:ext cx="4069080" cy="1844040"/>
        </p:xfrm>
        <a:graphic>
          <a:graphicData uri="http://schemas.openxmlformats.org/drawingml/2006/table">
            <a:tbl>
              <a:tblPr/>
              <a:tblGrid>
                <a:gridCol w="101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Damping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variation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variation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Efficiency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variation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variation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88737" y="44302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000" dirty="0"/>
          </a:p>
        </p:txBody>
      </p:sp>
      <p:pic>
        <p:nvPicPr>
          <p:cNvPr id="11" name="Image 0" descr="D:/aero/deliverables_LnT/explainable_graphs/07_model_performance/io07_composite_coherence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1719072"/>
          </a:xfrm>
          <a:prstGeom prst="rect">
            <a:avLst/>
          </a:prstGeom>
        </p:spPr>
      </p:pic>
      <p:pic>
        <p:nvPicPr>
          <p:cNvPr id="12" name="Image 1" descr="D:/aero/deliverables_LnT/explainable_graphs/07_model_performance/io08_causal_fidel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2898648"/>
            <a:ext cx="406908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03: TSTR Improves with Dataset Size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reach TSTR = 1.000 at n=5,000. Deep learning stays at random baseline.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9184" y="1077539"/>
            <a:ext cx="429768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Scaling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904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KDE: TSTR rises monotonically with dataset scale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1801368"/>
          <a:ext cx="4069080" cy="1828800"/>
        </p:xfrm>
        <a:graphic>
          <a:graphicData uri="http://schemas.openxmlformats.org/drawingml/2006/table">
            <a:tbl>
              <a:tblPr/>
              <a:tblGrid>
                <a:gridCol w="101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TSTR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TSTR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CTGAN TSTR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 (random)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 (random)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 (random)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 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29768" y="3616569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CTGAN/TVAE: TSTR stays ~0.33 regardless of size — structural failure, not a scale problem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synthetic data = better I/O coherence for statistical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n=5,000, synthetic data is a perfect substitute for real data in ML training</a:t>
            </a:r>
            <a:endParaRPr lang="en-US" sz="1100" dirty="0"/>
          </a:p>
        </p:txBody>
      </p:sp>
      <p:pic>
        <p:nvPicPr>
          <p:cNvPr id="10" name="Image 0" descr="D:/aero/deliverables_LnT/explainable_graphs/07_model_performance/tstr_by_size_group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Requirement 04: Class Balance &amp; Edge Cases — Imbalance Identified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"Handle class imbalance in target variables."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1155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Class Distribution (300 rows) — Imbalance Identified and Addressed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503922" cy="2194560"/>
        </p:xfrm>
        <a:graphic>
          <a:graphicData uri="http://schemas.openxmlformats.org/drawingml/2006/table">
            <a:tbl>
              <a:tblPr/>
              <a:tblGrid>
                <a:gridCol w="121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8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8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Damping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(41.7%)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(29.3%)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(29.0%)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(39.7%)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(30.7%)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 (29.7%)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Efficiency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(36.3%)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(32.3%)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(31.3%)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 (36.0%)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(33.0%)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(31.0%)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611880"/>
            <a:ext cx="8503920" cy="594360"/>
          </a:xfrm>
          <a:prstGeom prst="rect">
            <a:avLst/>
          </a:prstGeom>
          <a:solidFill>
            <a:srgbClr val="1A2A10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57200" y="365760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[NOTE]   Moderate (Vibration Damping) and Medium (Computational Time) are over-represented at ~40% each. Target classes should ideally be ~33% each. Our balancing strategies on the next slide address this without corrupting I/O relationships.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" y="43251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synthetic data smooths the distribution closer to balance while preserving the physical relationships that cause the imbalance in real aerospace data.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04: Class Balancing — Two Strategies Tested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achieve near-perfect balance without sacrificing data quality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4297680" cy="2372868"/>
        </p:xfrm>
        <a:graphic>
          <a:graphicData uri="http://schemas.openxmlformats.org/drawingml/2006/table">
            <a:tbl>
              <a:tblPr/>
              <a:tblGrid>
                <a:gridCol w="859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TSTR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 + SMOTE-NC oversampling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Synthetic + Undersampling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Unbalanced KDE (baseline for comparison)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2871216"/>
            <a:ext cx="4297680" cy="841248"/>
          </a:xfrm>
          <a:prstGeom prst="rect">
            <a:avLst/>
          </a:prstGeom>
          <a:solidFill>
            <a:srgbClr val="0A2515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29768" y="29260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9768" y="3154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synthetic dataset achieves class balance score 0.9769 while maintaining TSTR F1 = 1.000. No label corruption from the balancing process — I/O coherence fully preserved.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376732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report included as separate PDF deliverable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balanced datasets available (4 versions, one per target variable)</a:t>
            </a:r>
            <a:endParaRPr lang="en-US" sz="1050" dirty="0"/>
          </a:p>
        </p:txBody>
      </p:sp>
      <p:pic>
        <p:nvPicPr>
          <p:cNvPr id="10" name="Image 0" descr="D:/aero/deliverables_LnT/explainable_graphs/05_validation_metrics/cb02_chi_square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04: Edge Case Coverage — 30 Scenarios Across 6 Categories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"Rare but realistic combinations should also be representable — can you justify how?"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3218688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Scenarios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Realism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extremes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life 37–39 years (Extended Service Life)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extremes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Low-Durability / poor efficiency configurations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envelope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 &gt; 17,500 m (stratospheric flight, above contrail level)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clusters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Fiber + Cylindrical shape (&lt;0.5% of real data)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scenarios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Shark Optimizer only, all iteration extremes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extremes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Wing span &gt; 56 m, fuselage length extremes (wide-body)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realism across all 30 scenarios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method:  LOF-based realism scoring  +  Isolation Forest anomaly detection  +  Nearest-neighbor distance to reference rows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 CSVs delivered in edge_cases/ directory  ·  All scenarios justified with engineering rationale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Req 04: Rare Case Realism — Isolation Forest · LOF · NN Distance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explicitly requested these exact methods — all applied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27432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Edge Cases by Realism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low_durability_cluster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Low-Durability configurations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1883664"/>
            <a:ext cx="384048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9768" y="19476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9476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material_carbonfiber_only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CFRP-only structures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2350008"/>
            <a:ext cx="384048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9768" y="24140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4140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temperature_moderate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temperature band (−50°C)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816352"/>
            <a:ext cx="384048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9768" y="2880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8803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poor_weight_efficiency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structural designs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3282696"/>
            <a:ext cx="384048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9768" y="33467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3467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operational_life_long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37–39 year service life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4160520" cy="8686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9768" y="3959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Anomaly Rates (healthy = 3–15%):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" y="43708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7–13%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25296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25296" y="43708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20824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20824" y="43708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16352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CTGANPremium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16352" y="43708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11880" y="42062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TabuDiffPremium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11880" y="43708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42–60%</a:t>
            </a:r>
            <a:endParaRPr lang="en-US" sz="1000" dirty="0"/>
          </a:p>
        </p:txBody>
      </p:sp>
      <p:pic>
        <p:nvPicPr>
          <p:cNvPr id="33" name="Image 0" descr="D:/aero/deliverables_LnT/explainable_graphs/05_validation_metrics/anomaly_pct_by_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1115568"/>
            <a:ext cx="4251960" cy="27432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572000" y="3904488"/>
            <a:ext cx="4251960" cy="8686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681728" y="3959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Distance &amp; LOF Results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681728" y="418795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KDE: NN distance = 0.0000 (synthetic points overlap real data exactly)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confirms: KDE edge cases are rare but physically plausible (not outliers)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Deeper Validation: Overall Similarity — MMD · Discriminator AUC · TSTR · TRTS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requested: train/test on real vs synthetic · MMD · TSTR/TRTS evaluation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33856"/>
            <a:ext cx="2057400" cy="9144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1795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 (KDE, n=5000)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— distributions essentially identical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87168" y="1133856"/>
            <a:ext cx="2057400" cy="9144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32888" y="11795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32888" y="16459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AUC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32888" y="1892808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cannot distinguish real from synthetic; ideal = 0.50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157984"/>
            <a:ext cx="2057400" cy="9144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20370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5760" y="2524213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Indistinguishability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2830068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model — 95.5% of synthetic rows are indistinguishable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87168" y="2157984"/>
            <a:ext cx="2057400" cy="9144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532888" y="220370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532888" y="26700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F1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32888" y="2916936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is a perfect substitute for real in ML training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182112"/>
            <a:ext cx="2057400" cy="9144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3227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65760" y="369417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TRTS Accuracy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94106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classifiers work perfectly on synthetic data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87168" y="3182112"/>
            <a:ext cx="2057400" cy="9144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532888" y="32278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532888" y="369417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Distance (KDE)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32888" y="394106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points overlap real data exactly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4206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[NOTE]   TVAE Discriminator AUC = 0.999  →  perfect separability  →  memorization RED FLAG</a:t>
            </a:r>
            <a:endParaRPr lang="en-US" sz="1000" dirty="0"/>
          </a:p>
        </p:txBody>
      </p:sp>
      <p:pic>
        <p:nvPicPr>
          <p:cNvPr id="30" name="Image 0" descr="D:/aero/deliverables_LnT/explainable_graphs/05_validation_metrics/discriminator_roc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115568"/>
            <a:ext cx="3977640" cy="1719072"/>
          </a:xfrm>
          <a:prstGeom prst="rect">
            <a:avLst/>
          </a:prstGeom>
        </p:spPr>
      </p:pic>
      <p:pic>
        <p:nvPicPr>
          <p:cNvPr id="31" name="Image 1" descr="D:/aero/deliverables_LnT/explainable_graphs/05_validation_metrics/si04_mmd_disc_au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2898648"/>
            <a:ext cx="397764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Deeper Validation: PCA &amp; t-SNE — Visual Structure Preserved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synthetic data occupy identical regions in reduced-dimensional space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Validation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90472"/>
            <a:ext cx="39776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overlay: Real (blue) and synthetic (orange) occupy identical PC1-PC2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overlay: All 3 material class clusters reproduced exactly in synthetic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visible: MaskedPredictor and TVAE spread into unphysical out-of-distribution regions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PCA/t-SNE overlays produced — one per model per size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in: explainable_graphs/10_dimensionality_reduction/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38404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PCA/t-SNE validation: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40873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material class separation is preserved (no class merging)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joint feature distribution is correctly learned — not just marginals</a:t>
            </a:r>
            <a:endParaRPr lang="en-US" sz="1050" dirty="0"/>
          </a:p>
        </p:txBody>
      </p:sp>
      <p:pic>
        <p:nvPicPr>
          <p:cNvPr id="10" name="Image 0" descr="D:/aero/deliverables_LnT/explainable_graphs/10_dimensionality_reduction/si06_pca_over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115568"/>
            <a:ext cx="4160520" cy="1719072"/>
          </a:xfrm>
          <a:prstGeom prst="rect">
            <a:avLst/>
          </a:prstGeom>
        </p:spPr>
      </p:pic>
      <p:pic>
        <p:nvPicPr>
          <p:cNvPr id="11" name="Image 1" descr="D:/aero/deliverables_LnT/explainable_graphs/10_dimensionality_reduction/si07_tsne_overla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2898648"/>
            <a:ext cx="41605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9 Models Systematically Benchmarked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POCs evaluate 1–2 models. We tested 9 with Optuna HPO across 92 experimental runs.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97680" cy="548640"/>
          </a:xfrm>
          <a:prstGeom prst="rect">
            <a:avLst/>
          </a:prstGeom>
          <a:solidFill>
            <a:srgbClr val="0A2A40"/>
          </a:solidFill>
          <a:ln w="1905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 ×  3 Random Seeds  ×  4 Dataset Sizes  =  92 Experimental Runs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19072"/>
          <a:ext cx="3840480" cy="4206240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p-val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 Div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Copula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Image 0" descr="D:/aero/deliverables_LnT/explainable_graphs/07_model_performance/top10_leader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Full Multi-Metric Comparison Across All 9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 emerged from systematic benchmarking — production ready, research interest, not recommended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343400" cy="896112"/>
          </a:xfrm>
          <a:prstGeom prst="rect">
            <a:avLst/>
          </a:prstGeom>
          <a:solidFill>
            <a:srgbClr val="0A2F1A"/>
          </a:solidFill>
          <a:ln w="9525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795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PRODUCTION READY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43560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 ·  0.9965  ⭐ WINNER   ·   GMM  ·  0.8534   ·   Copula  ·  0.8309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66544"/>
            <a:ext cx="4343400" cy="749808"/>
          </a:xfrm>
          <a:prstGeom prst="rect">
            <a:avLst/>
          </a:prstGeom>
          <a:solidFill>
            <a:srgbClr val="1A2F0A"/>
          </a:solidFill>
          <a:ln w="9525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" y="21305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RESEARCH INTEREST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386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TabuDiff  ·  0.8231   ·   TabuDiffPremium  ·  ~0.82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71216"/>
            <a:ext cx="4343400" cy="960120"/>
          </a:xfrm>
          <a:prstGeom prst="rect">
            <a:avLst/>
          </a:prstGeom>
          <a:solidFill>
            <a:srgbClr val="2F1A0A"/>
          </a:solidFill>
          <a:ln w="9525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9768" y="29352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NOT RECOMMENDED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191256"/>
            <a:ext cx="4114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 ·  0.42   ·   TVAE  ·  ~0.25   ·   DP-TVAE  ·  ~0.23   ·   MaskedPredictor  ·  0.44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8953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decisively outperforms deep learning: composite 0.9965 vs CTGAN 0.42. TSTR=1.0, zero memorization, zero physics violations.</a:t>
            </a:r>
            <a:endParaRPr lang="en-US" sz="1050" dirty="0"/>
          </a:p>
        </p:txBody>
      </p:sp>
      <p:pic>
        <p:nvPicPr>
          <p:cNvPr id="15" name="Image 0" descr="D:/aero/deliverables_LnT/explainable_graphs/07_model_performance/mc02_radar_profi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1965960" cy="3566160"/>
          </a:xfrm>
          <a:prstGeom prst="rect">
            <a:avLst/>
          </a:prstGeom>
        </p:spPr>
      </p:pic>
      <p:pic>
        <p:nvPicPr>
          <p:cNvPr id="16" name="Image 1" descr="D:/aero/deliverables_LnT/explainable_graphs/07_model_performance/mc03_metric_heatm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2280" y="1115568"/>
            <a:ext cx="20116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Why Deep Learning Fails at N=300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not just scores, but mechanistic explanations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97680" cy="1325880"/>
          </a:xfrm>
          <a:prstGeom prst="rect">
            <a:avLst/>
          </a:prstGeom>
          <a:solidFill>
            <a:srgbClr val="2A1010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704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Training at Small N (CTGAN, TVAE)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memorizes all 300 real training samples → becomes perfect binary oracle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receives no useful gradient signal → mode collapse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best composite: 0.42 (barely above random)  ·  CTGAN TSTR: 0.33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4297680" cy="1207008"/>
          </a:xfrm>
          <a:prstGeom prst="rect">
            <a:avLst/>
          </a:prstGeom>
          <a:solidFill>
            <a:srgbClr val="1A1A2A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" y="25694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(TabuDiff)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862072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plateau: composite = 0.7952 for timesteps 25, 50, AND 100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bottleneck, not architecture — N=300 caps what can be learned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manifold is low-dimensional — 25 timesteps already sufficient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794760"/>
            <a:ext cx="4297680" cy="822960"/>
          </a:xfrm>
          <a:prstGeom prst="rect">
            <a:avLst/>
          </a:prstGeom>
          <a:solidFill>
            <a:srgbClr val="0A2030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9768" y="38496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HPO Insight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4114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architectures (64/64) beat larger (256/256) for CTGAN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epochs (500) beat more (5000) — more training deepens mode collapse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902" y="4645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"Simplicity wins in the small-data regime"</a:t>
            </a:r>
            <a:endParaRPr lang="en-US" sz="1100" dirty="0"/>
          </a:p>
        </p:txBody>
      </p:sp>
      <p:pic>
        <p:nvPicPr>
          <p:cNvPr id="15" name="Image 0" descr="D:/aero/deliverables_LnT/explainable_graphs/07_model_performance/composite_vs_siz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115568"/>
            <a:ext cx="40690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Physics-Aware Generation — Zero Violations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derived physics features + 4 hard repair rules enforced at generation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228600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Derived Physics Features (from first principles)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90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Stiffness =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ρ  </a:t>
            </a: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(stiffness-to-weight ratio)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801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Buckling Resistance =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f(E, t, shape)  </a:t>
            </a: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 load capacity)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1122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Energy Capacity =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/ (2E)  </a:t>
            </a: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(stored strain energy)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Ratio =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σ_cyclic / σ_tensile  </a:t>
            </a: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(failure risk indicator)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7340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Factor =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× span / thickness  </a:t>
            </a: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(structural loading)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044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Stress Proxy = </a:t>
            </a: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× α × ΔT  </a:t>
            </a:r>
            <a:r>
              <a:rPr lang="en-US" sz="105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(thermal expansion stress)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160520" cy="228600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7316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Hard Repair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490472"/>
            <a:ext cx="3931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ratio ≤ tensile strength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stress ≤ tensile strength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density within ±5%: Al: 2,700 · CF: 1,600 · Ti: 4,500 kg/m³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atmosphere: pressure–altitude–temperature consistency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8503920" cy="713232"/>
          </a:xfrm>
          <a:prstGeom prst="rect">
            <a:avLst/>
          </a:prstGeom>
          <a:solidFill>
            <a:srgbClr val="0A2515"/>
          </a:solidFill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5295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(winner): ZERO physics repair triggers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implicitly learned all physical constraints — no manual correction needed at generation time</a:t>
            </a:r>
            <a:endParaRPr lang="en-US" sz="1100" dirty="0"/>
          </a:p>
        </p:txBody>
      </p:sp>
      <p:pic>
        <p:nvPicPr>
          <p:cNvPr id="19" name="Image 0" descr="D:/aero/deliverables_LnT/explainable_graphs/05_validation_metrics/io04_domain_rule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4261104"/>
            <a:ext cx="850392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Privacy &amp; Regulatory Readiness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Discriminator-based privacy testing + differential privacy implementation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Metrics (KDE best model)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499616"/>
            <a:ext cx="3931920" cy="59436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" y="1545336"/>
            <a:ext cx="3840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75488" y="1832458"/>
            <a:ext cx="3840480" cy="160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AUC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992935"/>
            <a:ext cx="3840480" cy="10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random chance — ideal = 0.50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" y="2167128"/>
            <a:ext cx="3931920" cy="59436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" y="2212848"/>
            <a:ext cx="3840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5488" y="2499970"/>
            <a:ext cx="3840480" cy="160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Indistinguishability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660447"/>
            <a:ext cx="3840480" cy="10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synthetic rows are indistinguishable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" y="2834640"/>
            <a:ext cx="3931920" cy="59436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" y="2880360"/>
            <a:ext cx="3840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75488" y="3167482"/>
            <a:ext cx="3840480" cy="160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327959"/>
            <a:ext cx="3840480" cy="10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distributional distance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9768" y="3502152"/>
            <a:ext cx="3931920" cy="59436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" y="3547872"/>
            <a:ext cx="3840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7–13%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75488" y="3834994"/>
            <a:ext cx="3840480" cy="160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Anomaly Rate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3995471"/>
            <a:ext cx="3840480" cy="101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but realistic — zero memorization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" y="4242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[NOTE]   TVAE Discriminator AUC = 0.999  →  perfect separability  →  memorization  →  NOT safe for deployment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160520" cy="36118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73168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Features Built 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1490472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DP-TVAE: configurable ε (0.1–10.0) and δ (1e-5)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 tracking via moments accountant method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PII detection: 15 categories (email, phone, SSN, IP, name...)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frameworks: GDPR · HIPAA · CCPA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Privacy-utility trade-off quantified: DP-TVAE ε=1.0 reduces composite by ~0.05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chart delivered in reports for client selection of ε</a:t>
            </a:r>
            <a:endParaRPr lang="en-US" sz="1100" dirty="0"/>
          </a:p>
        </p:txBody>
      </p:sp>
      <p:pic>
        <p:nvPicPr>
          <p:cNvPr id="27" name="Image 0" descr="D:/aero/deliverables_LnT/explainable_graphs/07_model_performance/privacy_utility_tradeof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4059936"/>
            <a:ext cx="416052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Material Selection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 decision matrix derived from synthetic data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4343400" cy="3520440"/>
        </p:xfrm>
        <a:graphic>
          <a:graphicData uri="http://schemas.openxmlformats.org/drawingml/2006/table">
            <a:tbl>
              <a:tblPr/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Material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High-altitude, mass-critical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CFRP (Carbon Fiber)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specific stiffness (E/ρ), lightest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E: 50–300 GPa  ·  ρ: 1,500–1,800 kg/m³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High-temperature joints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thermal stability, highest tensile strength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Tensile: 900–1,200 MPa  ·  T-stable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Low-altitude subsonic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Aluminum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Cost-efficient, adequate strength for envelope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ρ: 2,600–2,900 kg/m³  ·  E: 68–72 GPa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connectors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Titanium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strength-to-density for joint loading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Yield: 880–1,100 MPa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Long-service aircraft (37+ yr)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CFRP or Titanium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 resistance, corrosion immunity validated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 edge cases validated at 96.3% realism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3891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decision matrix was derived from feature importance analysis of the 5,000-row synthetic dataset — not visible in the original 300 rows.</a:t>
            </a:r>
            <a:endParaRPr lang="en-US" sz="1000" dirty="0"/>
          </a:p>
        </p:txBody>
      </p:sp>
      <p:pic>
        <p:nvPicPr>
          <p:cNvPr id="7" name="Image 0" descr="D:/aero/deliverables_LnT/explainable_graphs/07_model_performance/bn01_material_decis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1115568"/>
            <a:ext cx="40233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Beyond the Brief: Risk Flags &amp; Engineering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reveals engineering risk patterns invisible in the 300-row original dataset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196596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Identified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81328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designs cluster: Low Wing Efficiency + High Fuselage Length + CFRP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vibration risk: Low Tensile Strength + High Altitude combinations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convergence risk: Chaotic Quantum Genetic shows 23% higher optimization time vs Shark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cliff: Operational life &gt; 35 yr requires High Tensile + Low Temperature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145536"/>
            <a:ext cx="4160520" cy="1581912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" y="321868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Optimization Drivers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50215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efficiency top driver: Optimization Time (0.0796) — longer optimization → better weight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top driver: Altitude (0.0848) — structures must be altitude-rated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time driver: Altitude (0.0829) + Fuselage Length (0.0808)</a:t>
            </a:r>
            <a:endParaRPr lang="en-US" sz="1100" dirty="0"/>
          </a:p>
        </p:txBody>
      </p:sp>
      <p:pic>
        <p:nvPicPr>
          <p:cNvPr id="11" name="Image 0" descr="D:/aero/deliverables_LnT/explainable_graphs/07_model_performance/bn05_risk_flag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115568"/>
            <a:ext cx="4160520" cy="1719072"/>
          </a:xfrm>
          <a:prstGeom prst="rect">
            <a:avLst/>
          </a:prstGeom>
        </p:spPr>
      </p:pic>
      <p:pic>
        <p:nvPicPr>
          <p:cNvPr id="12" name="Image 1" descr="D:/aero/deliverables_LnT/explainable_graphs/07_model_performance/bn06_rf_driv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2898648"/>
            <a:ext cx="4160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Deliverables Package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files · 157 MB · All organized and navigable · Full reproducibility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1783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PDF REPORTS (LaTeX)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444752"/>
            <a:ext cx="3977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(1-page pass/fail checklist)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Data Analysis (30+ pages EDA)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Narrative (engineering intelligence)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(9-model benchmark)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Interdependency (correlation preservation)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Input-Output Coherence (causal fidelity)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 Innovation (MMD, bootstrap CI, discriminator)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115568"/>
            <a:ext cx="4206240" cy="17830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64608" y="11887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VISUALIZATIONS (11 Categories)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64608" y="1444752"/>
            <a:ext cx="3977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Univariate distributions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Bivariate interactions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Real vs Synthetic overlays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Target &amp; class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Validation metric heatmaps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 importance (SHAP + RF)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PCA/t-SNE overlays  ·  31 model performance charts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035808"/>
            <a:ext cx="4206240" cy="17830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29768" y="31089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SYNTHETIC DATASETS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364992"/>
            <a:ext cx="3977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best-per-model CSVs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ranked (with composite index CSV)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experimental archive CSVs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edge case scenario CSVs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per-target datasets (4 versions)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KDE_s123_n5000_r035.csv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(0.9965 composite  ·  5,000 rows  ·  22 cols)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3035808"/>
            <a:ext cx="4206240" cy="17830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64608" y="31089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PACKAGE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3364992"/>
            <a:ext cx="39776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(all Python dependencies)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reproduce_graphs.py (regenerate all 294 charts)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edge_case_catalog.csv (30 scenarios described)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graph_catalog.csv (master index of all 294 charts)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Optuna trial logs (JSON per model)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explainability markdown files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DIRECTORY_GUIDE.md navigation map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Every Client Requirement — Addressed and Exceeded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676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Point-by-point evidence from 92 experiments, 7 reports, 294 visualizations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20117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115568"/>
            <a:ext cx="4160520" cy="3611880"/>
          </a:xfrm>
          <a:prstGeom prst="rect">
            <a:avLst/>
          </a:prstGeom>
          <a:solidFill>
            <a:srgbClr val="0F2236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29768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REQUIREMENTS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01 Statistical Fidelity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Pass Rate 1.0000  ·  KL Divergence 0.0177  ·  Wasserstein 0.0399  ·  MMD 0.0068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2002536"/>
            <a:ext cx="374904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" y="2020824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02 Feature Interdependencies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 Norm 0.991  ·  FI-MAE 0.0039  ·  SHAP Overlap &gt; 90%  ·  22 bivariate plots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560320"/>
            <a:ext cx="374904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" y="2578608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03 Input → Output Coherence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F1 1.000  ·  TRTS Accuracy 1.000  ·  I/O Coherence Score 0.9910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3118104"/>
            <a:ext cx="374904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9768" y="3136392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04 Class Balance &amp; Edge 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scenarios  ·  Mean Realism 91%  ·  SMOTE-NC + Undersampling  ·  Balance Score 0.9769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3675888"/>
            <a:ext cx="374904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29768" y="3694176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Minimum Bar (Schema/Nulls/Range)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cols  ·  0 nulls  ·  correct dtypes  ·  vocab match  ·  5,000 rows (16.7×)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4233672"/>
            <a:ext cx="3749040" cy="0"/>
          </a:xfrm>
          <a:prstGeom prst="line">
            <a:avLst/>
          </a:prstGeom>
          <a:noFill/>
          <a:ln w="381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9768" y="4251960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Deeper Validations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· KL · Wasserstein · JS · MMD · TSTR · TRTS · IF · LOF · NN Distance · Chi² · PCA · t-SNE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115568"/>
            <a:ext cx="4160520" cy="3611880"/>
          </a:xfrm>
          <a:prstGeom prst="rect">
            <a:avLst/>
          </a:prstGeom>
          <a:solidFill>
            <a:srgbClr val="122038"/>
          </a:solidFill>
          <a:ln w="9525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188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 (EXTRAS)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14813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benchmarked (vs typical 1–2)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1737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72+ experimental runs with full reproducibility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73168" y="19933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optimization per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73168" y="22494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composite evaluation framework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5054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physics violations (implicit physics learning)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73168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derived physics features validated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73168" y="30175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Discriminator AUC 0.478 (indistinguishable)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3273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DP-TVAE with configurable ε for regulatory compliance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35295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 publication-quality visualizations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7856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LaTeX-compiled PDF reports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3168" y="40416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 decision matrix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42976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 identification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45537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Brief: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 package (requirements.txt + scripts)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515"/>
          </a:solidFill>
          <a:ln w="1270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82880" y="4818888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dataset:  KDE_s123_n5000_r035.csv  ·  Composite Score 0.9965  ·  TSTR F1 1.000  ·  MMD 0.0003  ·  0 Physics Violations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3945</Words>
  <Application>Microsoft Office PowerPoint</Application>
  <PresentationFormat>On-screen Show (16:9)</PresentationFormat>
  <Paragraphs>757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Aerospace Synthetic Data Generation POC</dc:title>
  <dc:subject>PptxGenJS Presentation</dc:subject>
  <dc:creator>Genuity Pipeline</dc:creator>
  <cp:lastModifiedBy>Shivansh Gupta</cp:lastModifiedBy>
  <cp:revision>3</cp:revision>
  <dcterms:created xsi:type="dcterms:W3CDTF">2026-03-23T22:31:53Z</dcterms:created>
  <dcterms:modified xsi:type="dcterms:W3CDTF">2026-03-24T05:36:41Z</dcterms:modified>
</cp:coreProperties>
</file>