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61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ENGINEERING  ·  PROOF OF CONCEPT  ·  MARCH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Structural Design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E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synthetic dataset · 9 generative models · 6-axis validation · 0 physics violations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rgbClr val="1C4E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65376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11096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11096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F1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3552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9272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19272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1728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27448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27448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AUC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35624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35624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Violations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2468880"/>
            <a:ext cx="1298448" cy="868680"/>
          </a:xfrm>
          <a:prstGeom prst="rect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2532888"/>
            <a:ext cx="120700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543800" y="2937967"/>
            <a:ext cx="120700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Realism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client requirements met and exceeded  ·  KDE_s123_n5000_r035.csv recommended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Requirements &amp; Our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3474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49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758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Fidelity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00584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spread, skew — shape of data matters, not just valid ranges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773936"/>
            <a:ext cx="3474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783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Interdependencies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0299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don't exist in isolation — understand what drives what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798064"/>
            <a:ext cx="3474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807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Input→Output Coherence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05409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 must follow logically from inputs, no random labels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822192"/>
            <a:ext cx="347472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&amp; Edge Cases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0782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imbalance; rare but realistic combinations must be representable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685800"/>
            <a:ext cx="0" cy="425196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1115568"/>
            <a:ext cx="38404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115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Real Rows (Aerospace Dataset)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144475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618488"/>
            <a:ext cx="38404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618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 Extraction (6 derived features)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194767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37760" y="2121408"/>
            <a:ext cx="38404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121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 Tuning (per model)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245059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2624328"/>
            <a:ext cx="38404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624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9-Model Parallel Generation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295351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3127248"/>
            <a:ext cx="38404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1272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Composite Evaluation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345643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3630168"/>
            <a:ext cx="3840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630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Synthetic Rows + 7 PDF Reports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4617720"/>
            <a:ext cx="384048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 ·  92 runs  ·  294 visualizations  ·  7 PDF reports  ·  736 files</a:t>
            </a:r>
            <a:endParaRPr lang="en-US" sz="8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8D3294-A1C7-7B69-1AC2-AE9A05E4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" y="4617720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Complete Process Flow: Raw Data to Production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4F8C"/>
                </a:solidFill>
              </a:rPr>
              <a:t>Step-by-step pipeline from 300-row CSV to validated 5,000-row synthetic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8686800" cy="228600"/>
          </a:xfrm>
          <a:prstGeom prst="rect">
            <a:avLst/>
          </a:prstGeom>
          <a:solidFill>
            <a:srgbClr val="1A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0642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1: Data Preparation  &gt;&gt;  Candidate Model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2743200" cy="1143000"/>
          </a:xfrm>
          <a:prstGeom prst="rect">
            <a:avLst/>
          </a:prstGeom>
          <a:solidFill>
            <a:srgbClr val="1A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" y="1408176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572768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Data
Preparation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" y="2167128"/>
            <a:ext cx="259689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1854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D1B3E"/>
                </a:solidFill>
              </a:rPr>
              <a:t>300 rows CSV loaded, validated, encoded, scaled, 80/20 split for TSTR holdout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1833372"/>
            <a:ext cx="137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4F8C"/>
                </a:solidFill>
              </a:rPr>
              <a:t>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371600"/>
            <a:ext cx="2743200" cy="1143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82112" y="1408176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1572768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Physics
Feature Extract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2112" y="2167128"/>
            <a:ext cx="259689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21854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D1B3E"/>
                </a:solidFill>
              </a:rPr>
              <a:t>6 derived features: Specific Stiffness, Buckling Resistance, Elastic Energy, Fatigue Ratio, Stress Factor, Thermal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833372"/>
            <a:ext cx="137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86C1"/>
                </a:solidFill>
              </a:rPr>
              <a:t>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71600"/>
            <a:ext cx="2743200" cy="1143000"/>
          </a:xfrm>
          <a:prstGeom prst="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62472" y="1408176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1572768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Multi-Phase
Benchmarking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2167128"/>
            <a:ext cx="2596896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2185416"/>
            <a:ext cx="2560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dirty="0">
                <a:solidFill>
                  <a:srgbClr val="0D1B3E"/>
                </a:solidFill>
              </a:rPr>
              <a:t>Phase 1: 3 </a:t>
            </a:r>
            <a:r>
              <a:rPr sz="700" b="0" dirty="0" err="1">
                <a:solidFill>
                  <a:srgbClr val="0D1B3E"/>
                </a:solidFill>
              </a:rPr>
              <a:t>Optuna</a:t>
            </a:r>
            <a:r>
              <a:rPr sz="700" b="0" dirty="0">
                <a:solidFill>
                  <a:srgbClr val="0D1B3E"/>
                </a:solidFill>
              </a:rPr>
              <a:t> trials (rapid elimination)
Phase 2: 6 </a:t>
            </a:r>
            <a:r>
              <a:rPr sz="700" b="0" dirty="0" err="1">
                <a:solidFill>
                  <a:srgbClr val="0D1B3E"/>
                </a:solidFill>
              </a:rPr>
              <a:t>Optuna</a:t>
            </a:r>
            <a:r>
              <a:rPr sz="700" b="0" dirty="0">
                <a:solidFill>
                  <a:srgbClr val="0D1B3E"/>
                </a:solidFill>
              </a:rPr>
              <a:t> trials (full HP sear</a:t>
            </a:r>
            <a:r>
              <a:rPr lang="en-IN" sz="700" b="0" dirty="0" err="1">
                <a:solidFill>
                  <a:srgbClr val="0D1B3E"/>
                </a:solidFill>
              </a:rPr>
              <a:t>ch</a:t>
            </a:r>
            <a:r>
              <a:rPr lang="en-IN" sz="700" b="0" dirty="0">
                <a:solidFill>
                  <a:srgbClr val="0D1B3E"/>
                </a:solidFill>
              </a:rPr>
              <a:t>)
</a:t>
            </a:r>
            <a:endParaRPr sz="700" b="0" dirty="0">
              <a:solidFill>
                <a:srgbClr val="0D1B3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8600" y="2651760"/>
            <a:ext cx="8686800" cy="2286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266090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2: Generation  &gt;&gt;  Validation  &gt;&gt; 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926080"/>
            <a:ext cx="2011680" cy="1170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" y="296265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" y="312724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9-Model
Generation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" y="3657600"/>
            <a:ext cx="186537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675888"/>
            <a:ext cx="1828800" cy="51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dirty="0">
                <a:solidFill>
                  <a:srgbClr val="0D1B3E"/>
                </a:solidFill>
              </a:rPr>
              <a:t>KDE, GMM, Copula, TVAE, </a:t>
            </a:r>
            <a:r>
              <a:rPr sz="680" b="0" dirty="0" err="1">
                <a:solidFill>
                  <a:srgbClr val="0D1B3E"/>
                </a:solidFill>
              </a:rPr>
              <a:t>TVAEPremium</a:t>
            </a:r>
            <a:r>
              <a:rPr sz="680" b="0" dirty="0">
                <a:solidFill>
                  <a:srgbClr val="0D1B3E"/>
                </a:solidFill>
              </a:rPr>
              <a:t>,
CTGAN, </a:t>
            </a:r>
            <a:r>
              <a:rPr sz="680" b="0" dirty="0" err="1">
                <a:solidFill>
                  <a:srgbClr val="0D1B3E"/>
                </a:solidFill>
              </a:rPr>
              <a:t>CTGANPremium</a:t>
            </a:r>
            <a:r>
              <a:rPr sz="680" b="0" dirty="0">
                <a:solidFill>
                  <a:srgbClr val="0D1B3E"/>
                </a:solidFill>
              </a:rPr>
              <a:t>, </a:t>
            </a:r>
            <a:r>
              <a:rPr sz="680" b="0" dirty="0" err="1">
                <a:solidFill>
                  <a:srgbClr val="0D1B3E"/>
                </a:solidFill>
              </a:rPr>
              <a:t>TabuDiff</a:t>
            </a:r>
            <a:r>
              <a:rPr sz="680" b="0" dirty="0">
                <a:solidFill>
                  <a:srgbClr val="0D1B3E"/>
                </a:solidFill>
              </a:rPr>
              <a:t>, </a:t>
            </a:r>
            <a:r>
              <a:rPr sz="680" b="0" dirty="0" err="1">
                <a:solidFill>
                  <a:srgbClr val="0D1B3E"/>
                </a:solidFill>
              </a:rPr>
              <a:t>MaskedPredictor</a:t>
            </a:r>
            <a:r>
              <a:rPr sz="680" b="0" dirty="0">
                <a:solidFill>
                  <a:srgbClr val="0D1B3E"/>
                </a:solidFill>
              </a:rPr>
              <a:t>
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9424" y="3401568"/>
            <a:ext cx="11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</a:rPr>
              <a:t>&gt;&gt;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9152" y="2926080"/>
            <a:ext cx="2011680" cy="1170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32304" y="296265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304" y="312724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Physics
Repair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2304" y="3657600"/>
            <a:ext cx="186537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50592" y="3675888"/>
            <a:ext cx="1828800" cy="51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dirty="0">
                <a:solidFill>
                  <a:srgbClr val="0D1B3E"/>
                </a:solidFill>
              </a:rPr>
              <a:t>Hard constraint enforcement:
Fatigue &lt;= Tensile Strength
Yield &lt;= Tensile Strength
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9976" y="3401568"/>
            <a:ext cx="11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86C1"/>
                </a:solidFill>
              </a:rPr>
              <a:t>&gt;&gt;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9704" y="2926080"/>
            <a:ext cx="2011680" cy="11704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296265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6" y="312724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6-Axis
Evaluation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2856" y="3657600"/>
            <a:ext cx="186537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81144" y="36758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0D1B3E"/>
                </a:solidFill>
              </a:rPr>
              <a:t>Statistical(30%) + ML Utility(25%)
+ Physics(20%) + Correlation(15%)
+ Privacy(10%) + KS Bonus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3401568"/>
            <a:ext cx="11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B1FA2"/>
                </a:solidFill>
              </a:rPr>
              <a:t>&gt;&gt;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0256" y="2926080"/>
            <a:ext cx="2011680" cy="1170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93408" y="296265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8" y="312724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Edge Cases
&amp; Reports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93408" y="3657600"/>
            <a:ext cx="186537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11696" y="3675888"/>
            <a:ext cx="1828800" cy="51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dirty="0">
                <a:solidFill>
                  <a:srgbClr val="0D1B3E"/>
                </a:solidFill>
              </a:rPr>
              <a:t>30 engineering scenarios, LOF realism validation
7 LaTeX PDF reports, 294 visualizations
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224528"/>
            <a:ext cx="1627632" cy="6583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8600" y="4224528"/>
            <a:ext cx="54864" cy="658368"/>
          </a:xfrm>
          <a:prstGeom prst="rect">
            <a:avLst/>
          </a:prstGeom>
          <a:solidFill>
            <a:srgbClr val="1A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4F8C"/>
                </a:solidFill>
              </a:rPr>
              <a:t>16.7x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Data Augmentation
300 to 5,000 rows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5960" y="4224528"/>
            <a:ext cx="1627632" cy="6583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965960" y="4224528"/>
            <a:ext cx="54864" cy="65836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5740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Models Evaluated
All paradigms tested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03320" y="4224528"/>
            <a:ext cx="1627632" cy="6583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703320" y="4224528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9476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</a:rPr>
              <a:t>0.9965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6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Best Composite Score
KDE, n=5,000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4224528"/>
            <a:ext cx="1627632" cy="6583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440680" y="4224528"/>
            <a:ext cx="54864" cy="658368"/>
          </a:xfrm>
          <a:prstGeom prst="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6A9E"/>
                </a:solidFill>
              </a:rPr>
              <a:t>1.000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212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TSTR F1 Score
Perfect ML utility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78040" y="4224528"/>
            <a:ext cx="1627632" cy="65836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178040" y="4224528"/>
            <a:ext cx="54864" cy="65836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6948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1FA2"/>
                </a:solidFill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948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Physics Violations
Domain constraints met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4261104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</a:rPr>
              <a:t>91%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06840" y="4517136"/>
            <a:ext cx="1490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2E"/>
                </a:solidFill>
              </a:rPr>
              <a:t>Edge Case Realism
LOF-validated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0" y="48874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88"/>
                </a:solidFill>
              </a:rPr>
              <a:t>L&amp;T Aerospace Synthetic Data POC  |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 — All Checks Pass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Delivered Dataset: </a:t>
            </a: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KDE_s123_n5000_r035.csv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5,000 rows  ·  22 columns  ·  Composite Score 0.9965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229600" cy="3200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cols, correct names &amp; dtypes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schema validator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22/22 columns match, all dtypes 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nulls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pd.isnull().sum()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nulls in 5,000-row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values in physical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boundary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within validated aerospace bounds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Vocab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case-sensitive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comparison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vocabulary match (4 categorical features)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300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rows delivered (16.7× minimum)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Distribution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skewed to one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targets within ±10% of uniform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C3FE72C-618B-7DD0-FF0C-FD09E96E8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" y="4617720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01: Statistical Fidelity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01168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13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DISTRIBUTIONAL TESTS — ALL PASS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424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Pass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34640" y="10424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features · p &gt; 0.53 every column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673352"/>
            <a:ext cx="420624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09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1709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1947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&lt; 0.05 = excellent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2340864"/>
            <a:ext cx="420624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77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3774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" y="26151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distributional shift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3008376"/>
            <a:ext cx="420624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44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Divergence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30449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2826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zero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675888"/>
            <a:ext cx="420624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12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712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" y="39502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nearly identical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713232"/>
            <a:ext cx="20116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713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SYNTHETIC vs REAL — SEED 123</a:t>
            </a:r>
            <a:endParaRPr lang="en-US" sz="800" dirty="0"/>
          </a:p>
        </p:txBody>
      </p:sp>
      <p:pic>
        <p:nvPicPr>
          <p:cNvPr id="29" name="Image 0" descr="KDE distribution overlay vs 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578" y="1005840"/>
            <a:ext cx="4251960" cy="32918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28600" y="44074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achieves near-perfect distribution overlap across all 14 numeric features · Skewness preserved |Δskew| &lt; 0.02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61836DD-729F-2D3B-9CA7-7AE29ED5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" y="4617720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02 + 03: Feature Interdependencies &amp; Input→Output Coherence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INTERDEPENDENCIES (Req 02)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87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Norm (correlation matrix similarity)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30168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297680" cy="0"/>
          </a:xfrm>
          <a:prstGeom prst="line">
            <a:avLst/>
          </a:prstGeom>
          <a:noFill/>
          <a:ln w="6350">
            <a:solidFill>
              <a:srgbClr val="D1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417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MAE (real vs synthetic)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0168" y="1417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618488"/>
            <a:ext cx="4297680" cy="0"/>
          </a:xfrm>
          <a:prstGeom prst="line">
            <a:avLst/>
          </a:prstGeom>
          <a:noFill/>
          <a:ln w="6350">
            <a:solidFill>
              <a:srgbClr val="D1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847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Overlap Score (all 4 targets)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3016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4297680" cy="0"/>
          </a:xfrm>
          <a:prstGeom prst="line">
            <a:avLst/>
          </a:prstGeom>
          <a:noFill/>
          <a:ln w="6350">
            <a:solidFill>
              <a:srgbClr val="D1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76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 match (real = synthetic)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0168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478024"/>
            <a:ext cx="4297680" cy="0"/>
          </a:xfrm>
          <a:prstGeom prst="line">
            <a:avLst/>
          </a:prstGeom>
          <a:noFill/>
          <a:ln w="6350">
            <a:solidFill>
              <a:srgbClr val="D1E8F5"/>
            </a:solidFill>
            <a:prstDash val="solid"/>
          </a:ln>
        </p:spPr>
      </p:sp>
      <p:pic>
        <p:nvPicPr>
          <p:cNvPr id="19" name="Image 0" descr="Feature importance 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43200"/>
            <a:ext cx="4297680" cy="1920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709160" y="685800"/>
            <a:ext cx="0" cy="416052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685800"/>
            <a:ext cx="20116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INPUT→OUTPUT COHERENCE (Req 03)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846320" y="987552"/>
            <a:ext cx="19659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92040" y="1051560"/>
            <a:ext cx="18745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892040" y="1506017"/>
            <a:ext cx="187452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F1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Synthetic, Test Real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49440" y="987552"/>
            <a:ext cx="19202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95160" y="1051560"/>
            <a:ext cx="18288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995160" y="1506017"/>
            <a:ext cx="1828800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TRTS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Real, Test Synthetic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4632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Coherence Score: 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0.9910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(Frobenius correlation preservation)</a:t>
            </a:r>
            <a:endParaRPr lang="en-US" sz="950" dirty="0"/>
          </a:p>
        </p:txBody>
      </p:sp>
      <p:pic>
        <p:nvPicPr>
          <p:cNvPr id="30" name="Image 1" descr="TSTR/TRTS heat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4023360" cy="23317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baseline TSTR = 0.33 (random chance) — KDE achieves 1.000 because it preserves joint distribution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E36CB6-6041-CBC2-CD84-B8EE7599D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" y="4617720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04: Class Balance &amp; Edge Cases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STRATEGIES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4251960" cy="16093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TSTR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+ SMOTE-NC oversampling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Synthetic + Undersampling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Unbalanced KDE (baseline)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651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Synthetic + Undersampling achieves 0.9769 balance while maintaining TSTR F1 = 1.000. No label corruption from balancing.</a:t>
            </a:r>
            <a:endParaRPr lang="en-US" sz="850" dirty="0"/>
          </a:p>
        </p:txBody>
      </p:sp>
      <p:pic>
        <p:nvPicPr>
          <p:cNvPr id="9" name="Image 0" descr="Chi-square heatmap class bal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154680"/>
            <a:ext cx="4251960" cy="1554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685800"/>
            <a:ext cx="0" cy="411480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00600" y="685800"/>
            <a:ext cx="20116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0060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EDGE CASE SCENARIOS — 6 CATEGORIES</a:t>
            </a:r>
            <a:endParaRPr lang="en-US" sz="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960120"/>
          <a:ext cx="4069080" cy="32186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Realism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Extremes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Extremes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Envelope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Clusters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Extremes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(30 scenarios)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4800600" y="4480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LOF-based realism scoring + Isolation Forest anomaly detection + Nearest-neighbour distance to reference rows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C391C6-1528-DDF3-9611-FEB7D64D1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" y="4617720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Benchmarked — KDE Wins Decisively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EMERGED FROM BENCHMARKING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PRODUCTION READY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16152"/>
            <a:ext cx="420624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280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0.9965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1289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563624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0.8534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911096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19751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0.8309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350008"/>
            <a:ext cx="42062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50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RESEARCH INTEREST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606040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TabuDiff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2670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~0.82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53512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TabuDiffPremium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0" y="30175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~0.82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392424"/>
            <a:ext cx="42062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92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NOT RECOMMENDED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648456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3712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0.42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995928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0" y="40599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~0.25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343400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DP-TVAE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0" y="44074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~0.23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4690872"/>
            <a:ext cx="4206240" cy="347472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MaskedPredictor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0" y="47548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0.44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685800"/>
            <a:ext cx="0" cy="4114800"/>
          </a:xfrm>
          <a:prstGeom prst="line">
            <a:avLst/>
          </a:prstGeom>
          <a:noFill/>
          <a:ln w="12700">
            <a:solidFill>
              <a:srgbClr val="D1E8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685800"/>
            <a:ext cx="20116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685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LEADERBOARD — ALL KDE</a:t>
            </a:r>
            <a:endParaRPr lang="en-US" sz="800" dirty="0"/>
          </a:p>
        </p:txBody>
      </p:sp>
      <p:pic>
        <p:nvPicPr>
          <p:cNvPr id="45" name="Image 0" descr="Model leader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60120"/>
            <a:ext cx="4069080" cy="374904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2735CB6-62B6-5995-9EB5-2AEBED274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73" y="4572843"/>
            <a:ext cx="1993827" cy="6095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Validations: Privacy, Physics &amp; Visual Structure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011680" cy="8961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169700"/>
            <a:ext cx="1920240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(KDE n=5000)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distributional distance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685800"/>
            <a:ext cx="2011680" cy="8961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7498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169700"/>
            <a:ext cx="1920240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cannot distinguish real from synthetic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685800"/>
            <a:ext cx="2011680" cy="8961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7498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1169700"/>
            <a:ext cx="1920240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Violations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implicitly learns all constraints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57416" y="685800"/>
            <a:ext cx="2011680" cy="8961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749808"/>
            <a:ext cx="1920240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03136" y="1169700"/>
            <a:ext cx="1920240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rows identical to real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664208"/>
            <a:ext cx="201168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ROC CURVES</a:t>
            </a:r>
            <a:endParaRPr lang="en-US" sz="800" dirty="0"/>
          </a:p>
        </p:txBody>
      </p:sp>
      <p:pic>
        <p:nvPicPr>
          <p:cNvPr id="19" name="Image 0" descr="Discriminator ROC cur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01952"/>
            <a:ext cx="4251960" cy="2743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663440" y="1664208"/>
            <a:ext cx="201168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OVERLAY: REAL vs KDE SYNTHETIC</a:t>
            </a:r>
            <a:endParaRPr lang="en-US" sz="800" dirty="0"/>
          </a:p>
        </p:txBody>
      </p:sp>
      <p:pic>
        <p:nvPicPr>
          <p:cNvPr id="22" name="Image 1" descr="PCA overlay real vs synthet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01952"/>
            <a:ext cx="4251960" cy="2743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28600" y="4727448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AUC 0.478 ≈ random — ideal = 0.50 · TVAE AUC = 0.999 = memorization (NOT safe) · KDE NN distance = 0.0000 — perfect overlap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Deliverables Package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9496" y="621792"/>
            <a:ext cx="2057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621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PDF REPORTS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85216" y="914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Executive Summary (1-page checklist)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188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 Data Analysis (30+ pages EDA)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216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Business Narrative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216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Comparison (9-model benchmark)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Feature Interdependency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Input-Output Coherence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216" y="2560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Similarity &amp; Innovation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43300" y="621792"/>
            <a:ext cx="2057400" cy="25603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3300" y="621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VISUALIZATIONS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89020" y="914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42 Univariate distributions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89020" y="1188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22 Bivariate interactions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89020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79 Real vs Synthetic overlays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8902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31 Target &amp; class analysis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8902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21 Validation metric heatmaps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8902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Feature importance (SHAP+RF)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89020" y="25603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36 PCA/t-SNE overlays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92824" y="621792"/>
            <a:ext cx="2057400" cy="256032"/>
          </a:xfrm>
          <a:prstGeom prst="rect">
            <a:avLst/>
          </a:prstGeom>
          <a:solidFill>
            <a:srgbClr val="0F5070"/>
          </a:solidFill>
          <a:ln w="12700">
            <a:solidFill>
              <a:srgbClr val="0F5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621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SYNTHETIC DATASETS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38544" y="914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 best-per-model CSVs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38544" y="1188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10 ranked + composite index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38544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89 experimental archive CSVs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38544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 edge case scenario CSVs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38544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balanced per-target datasets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38544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Best: KDE_s123_n5000_r035.csv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4023360"/>
            <a:ext cx="8686800" cy="685800"/>
          </a:xfrm>
          <a:prstGeom prst="rect">
            <a:avLst/>
          </a:prstGeom>
          <a:solidFill>
            <a:srgbClr val="0A3D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233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RECOMMENDED DATASET: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KDE_s123_n5000_r035.csv</a:t>
            </a:r>
            <a:r>
              <a:rPr lang="en-US" sz="10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Composite 0.9965  ·  TSTR F1 1.000  ·  MMD 0.0003  ·  0 Physics Violations  ·  5,000 rows  ·  22 cols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44074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total files  ·  157 MB  ·  300 → 5,000 rows (16.7× augmentation)  ·  All requirements addressed and exceeded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1272</Words>
  <Application>Microsoft Office PowerPoint</Application>
  <PresentationFormat>On-screen Show (16:9)</PresentationFormat>
  <Paragraphs>282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L&amp;T Aerospace Synthetic Data POC</dc:title>
  <dc:subject>PptxGenJS Presentation</dc:subject>
  <dc:creator>PptxGenJS</dc:creator>
  <cp:lastModifiedBy>Shivansh Gupta</cp:lastModifiedBy>
  <cp:revision>5</cp:revision>
  <dcterms:created xsi:type="dcterms:W3CDTF">2026-03-24T05:44:58Z</dcterms:created>
  <dcterms:modified xsi:type="dcterms:W3CDTF">2026-03-26T00:05:14Z</dcterms:modified>
</cp:coreProperties>
</file>