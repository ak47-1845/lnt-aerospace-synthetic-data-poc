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59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9982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3E10B-1F28-C8E7-D9C4-38D740515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43526-9E8A-0F45-2209-930EA6B7D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C2A3B-89A5-04A6-D9DC-53C9CF0F4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43103-E3F0-AA6E-DD8F-ED31ED170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95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1A0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65A82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949440" y="-457200"/>
            <a:ext cx="2011680" cy="2011680"/>
          </a:xfrm>
          <a:prstGeom prst="ellipse">
            <a:avLst/>
          </a:prstGeom>
          <a:solidFill>
            <a:srgbClr val="21A0C8">
              <a:alpha val="25000"/>
            </a:srgbClr>
          </a:solidFill>
          <a:ln w="12700">
            <a:solidFill>
              <a:srgbClr val="21A0C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0" y="2926080"/>
            <a:ext cx="1463040" cy="146304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21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BRIEFING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Structural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Dataset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 + What We Expect From You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828800" cy="77724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468880" y="3749040"/>
            <a:ext cx="1828800" cy="77724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68880" y="37490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80560" y="3749040"/>
            <a:ext cx="1920240" cy="77724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480560" y="37490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</a:t>
            </a:r>
            <a:endParaRPr lang="en-US" sz="1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Classes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DATASET?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404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Kaggle dataset of 300 simulated aircraft structural configurations.
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design attempt.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Given a material, geometry, and flight environment — what does the structure's performance look like?
</a:t>
            </a: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job: generate more rows that look and behave like this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109728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56048" y="1069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&amp; Physical Properties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6048" y="13533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structure is made of — material type, stiffness (E), density (ρ), Poisson ratio (ν), tensile strength.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212848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0" y="2212848"/>
            <a:ext cx="109728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56048" y="2276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Environment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6048" y="25603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flies — altitude (5k–20k m), temperature (–60 to –40 °C), pressure (100k–200k Pa).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419856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3419856"/>
            <a:ext cx="109728" cy="1097280"/>
          </a:xfrm>
          <a:prstGeom prst="rect">
            <a:avLst/>
          </a:prstGeom>
          <a:solidFill>
            <a:srgbClr val="21A0C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56048" y="34838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&amp; Structure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37673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 — wing span, fuselage length, wall thickness, cross-section shape, load type.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REFERENCE — INPUTS &amp; TARGETS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43059"/>
              </p:ext>
            </p:extLst>
          </p:nvPr>
        </p:nvGraphicFramePr>
        <p:xfrm>
          <a:off x="228600" y="868680"/>
          <a:ext cx="5029200" cy="4175759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4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/ Values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Aluminum, Titanium, Carbon Fiber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(GPa)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50.1 – 199.8 GPa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 (Poisson)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 – 0.35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 (kg/m³)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1,521 – 4,496 kg/m³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Tensile Strength (MPa)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 – 1,496 MPa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Young's Modulus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– 99.6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 (m)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5,086 – 19,963 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(°C)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–60 to –40 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(Pa)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100,172 – 199,839 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Life (years)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39 years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Wing Span (m)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59.7 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Fuselage Length (m)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– 70 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Thickness (mm)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– 14.9 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868680"/>
          <a:ext cx="3566160" cy="192786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/ Values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Shape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Rectangular, Cylindrical, Tapered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Distribution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uniform, point load, distributed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Algorithm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Chaotic Quantum Genetic, Shark Optimizer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Iterations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523 – 1,983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 Time (sec)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51.5 – 149.8 sec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hape 16"/>
          <p:cNvSpPr/>
          <p:nvPr/>
        </p:nvSpPr>
        <p:spPr>
          <a:xfrm>
            <a:off x="5349240" y="3022854"/>
            <a:ext cx="137160" cy="137160"/>
          </a:xfrm>
          <a:prstGeom prst="rect">
            <a:avLst/>
          </a:prstGeom>
          <a:solidFill>
            <a:srgbClr val="F0F7FF"/>
          </a:solidFill>
          <a:ln w="6350">
            <a:solidFill>
              <a:srgbClr val="D1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7"/>
          <p:cNvSpPr/>
          <p:nvPr/>
        </p:nvSpPr>
        <p:spPr>
          <a:xfrm>
            <a:off x="5532120" y="299542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10DFB-D85A-D4BB-34C9-75C0E6466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66991E-7D0A-FDB1-7200-13B0DD944A42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BA6314-1BEC-64C3-22C2-C1C66B6B93A1}"/>
              </a:ext>
            </a:extLst>
          </p:cNvPr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REFERENCE — INPUTS &amp; TARGETS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228600" y="1354074"/>
            <a:ext cx="86868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35407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VARIABLES  (what to predict)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228600" y="1692402"/>
            <a:ext cx="2084832" cy="621792"/>
          </a:xfrm>
          <a:prstGeom prst="rect">
            <a:avLst/>
          </a:prstGeom>
          <a:solidFill>
            <a:srgbClr val="FFF8E7"/>
          </a:solidFill>
          <a:ln w="635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320040" y="1719834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Damping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20040" y="1966722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· Moderate · High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404872" y="1692402"/>
            <a:ext cx="2084832" cy="621792"/>
          </a:xfrm>
          <a:prstGeom prst="rect">
            <a:avLst/>
          </a:prstGeom>
          <a:solidFill>
            <a:srgbClr val="FFF8E7"/>
          </a:solidFill>
          <a:ln w="635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2496312" y="1719834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Time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496312" y="1966722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· Medium · Long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81144" y="1692402"/>
            <a:ext cx="2084832" cy="621792"/>
          </a:xfrm>
          <a:prstGeom prst="rect">
            <a:avLst/>
          </a:prstGeom>
          <a:solidFill>
            <a:srgbClr val="FFF8E7"/>
          </a:solidFill>
          <a:ln w="635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672584" y="1719834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Efficiency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672584" y="1966722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· Good · Excellent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757416" y="1692402"/>
            <a:ext cx="2084832" cy="621792"/>
          </a:xfrm>
          <a:prstGeom prst="rect">
            <a:avLst/>
          </a:prstGeom>
          <a:solidFill>
            <a:srgbClr val="FFF8E7"/>
          </a:solidFill>
          <a:ln w="635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6848856" y="1719834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848856" y="1966722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· Medium · High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28600" y="2469642"/>
            <a:ext cx="137160" cy="137160"/>
          </a:xfrm>
          <a:prstGeom prst="rect">
            <a:avLst/>
          </a:prstGeom>
          <a:solidFill>
            <a:srgbClr val="FFF8E7"/>
          </a:solidFill>
          <a:ln w="63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411480" y="244221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9240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EXPECT FROM YOU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this as a data understanding + generation problem, not just a fill-in-the-blanks task.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160520" cy="1508760"/>
          </a:xfrm>
          <a:prstGeom prst="rect">
            <a:avLst/>
          </a:prstGeom>
          <a:solidFill>
            <a:srgbClr val="0D2A45"/>
          </a:solidFill>
          <a:ln w="12700">
            <a:solidFill>
              <a:srgbClr val="21A0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502920" cy="1508760"/>
          </a:xfrm>
          <a:prstGeom prst="rect">
            <a:avLst/>
          </a:prstGeom>
          <a:solidFill>
            <a:srgbClr val="21A0C8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92608" y="194767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Fidelity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spread, skew — not just valid ranges. The shape of the data matters.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4160520" cy="1508760"/>
          </a:xfrm>
          <a:prstGeom prst="rect">
            <a:avLst/>
          </a:prstGeom>
          <a:solidFill>
            <a:srgbClr val="0D2A45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1508760"/>
            <a:ext cx="502920" cy="1508760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64608" y="194767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16002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Interdependencies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196596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don't exist in isolation. Understand what drives what before you generate.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4160520" cy="1508760"/>
          </a:xfrm>
          <a:prstGeom prst="rect">
            <a:avLst/>
          </a:prstGeom>
          <a:solidFill>
            <a:srgbClr val="0D2A45"/>
          </a:solidFill>
          <a:ln w="12700">
            <a:solidFill>
              <a:srgbClr val="5BA4C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502920" cy="1508760"/>
          </a:xfrm>
          <a:prstGeom prst="rect">
            <a:avLst/>
          </a:prstGeom>
          <a:solidFill>
            <a:srgbClr val="5BA4CF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2608" y="363931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2918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Output Coherence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65760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variables must follow logically from the input configuration. No random label assignment.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200400"/>
            <a:ext cx="4160520" cy="1508760"/>
          </a:xfrm>
          <a:prstGeom prst="rect">
            <a:avLst/>
          </a:prstGeom>
          <a:solidFill>
            <a:srgbClr val="0D2A45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46320" y="3200400"/>
            <a:ext cx="502920" cy="150876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64608" y="363931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32918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&amp; Edge Cases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365760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 in target variables. Rare but realistic combinations should also be representable — can you justify how?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WHAT TO CHECK &amp; HOW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" y="1490472"/>
            <a:ext cx="73152" cy="731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295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match — 22 columns, correct names, correct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2093976"/>
            <a:ext cx="73152" cy="731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18699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nulls, no out-of-range values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697480"/>
            <a:ext cx="73152" cy="731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24871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levels match exactly (case-sensitive)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3300984"/>
            <a:ext cx="73152" cy="731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314096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across target variables — not skewed to one label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3904488"/>
            <a:ext cx="73152" cy="731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" y="3703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300 rows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960120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0" y="960120"/>
            <a:ext cx="42976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VALIDATIONS — YOU FIGURE OUT THE REST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81728" y="1463040"/>
            <a:ext cx="54864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00600" y="14173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I/P → O/P Correlations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16733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· Grouped stats by target class · Conditional distributions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81728" y="2148840"/>
            <a:ext cx="54864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00600" y="21031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Structure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23591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Per-column histograms vs reference · KS test · KL divergence · Joint pair plots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81728" y="2834640"/>
            <a:ext cx="54864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00600" y="27889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30449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frequency counts · Chi-square test · Compare target distributions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81728" y="3520440"/>
            <a:ext cx="54864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00600" y="34747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Case Realism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37307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· LOF · Nearest-neighbour distance to reference rows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81728" y="4206240"/>
            <a:ext cx="54864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00600" y="41605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Similarity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44165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on real vs synthetic · MMD · TSTR / TRTS evaluation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637</Words>
  <Application>Microsoft Office PowerPoint</Application>
  <PresentationFormat>On-screen Show (16:9)</PresentationFormat>
  <Paragraphs>131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Aerospace Structural Design Dataset</dc:title>
  <dc:subject>PptxGenJS Presentation</dc:subject>
  <dc:creator>PptxGenJS</dc:creator>
  <cp:lastModifiedBy>Rachana Komanduri</cp:lastModifiedBy>
  <cp:revision>3</cp:revision>
  <dcterms:created xsi:type="dcterms:W3CDTF">2026-03-11T06:50:15Z</dcterms:created>
  <dcterms:modified xsi:type="dcterms:W3CDTF">2026-03-11T07:13:20Z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993bd6-1ede-4830-9dba-3224251d6855_Enabled">
    <vt:lpwstr>true</vt:lpwstr>
  </property>
  <property fmtid="{D5CDD505-2E9C-101B-9397-08002B2CF9AE}" pid="3" name="MSIP_Label_40993bd6-1ede-4830-9dba-3224251d6855_SetDate">
    <vt:lpwstr>2026-03-11T06:51:45Z</vt:lpwstr>
  </property>
  <property fmtid="{D5CDD505-2E9C-101B-9397-08002B2CF9AE}" pid="4" name="MSIP_Label_40993bd6-1ede-4830-9dba-3224251d6855_Method">
    <vt:lpwstr>Privileged</vt:lpwstr>
  </property>
  <property fmtid="{D5CDD505-2E9C-101B-9397-08002B2CF9AE}" pid="5" name="MSIP_Label_40993bd6-1ede-4830-9dba-3224251d6855_Name">
    <vt:lpwstr>Business</vt:lpwstr>
  </property>
  <property fmtid="{D5CDD505-2E9C-101B-9397-08002B2CF9AE}" pid="6" name="MSIP_Label_40993bd6-1ede-4830-9dba-3224251d6855_SiteId">
    <vt:lpwstr>311b3378-8e8a-4b5e-a33f-e80a3d8ba60a</vt:lpwstr>
  </property>
  <property fmtid="{D5CDD505-2E9C-101B-9397-08002B2CF9AE}" pid="7" name="MSIP_Label_40993bd6-1ede-4830-9dba-3224251d6855_ActionId">
    <vt:lpwstr>13ecb422-f64c-44e7-a717-2a18e72395b9</vt:lpwstr>
  </property>
  <property fmtid="{D5CDD505-2E9C-101B-9397-08002B2CF9AE}" pid="8" name="MSIP_Label_40993bd6-1ede-4830-9dba-3224251d6855_ContentBits">
    <vt:lpwstr>0</vt:lpwstr>
  </property>
  <property fmtid="{D5CDD505-2E9C-101B-9397-08002B2CF9AE}" pid="9" name="MSIP_Label_40993bd6-1ede-4830-9dba-3224251d6855_Tag">
    <vt:lpwstr>10, 0, 1, 1</vt:lpwstr>
  </property>
</Properties>
</file>