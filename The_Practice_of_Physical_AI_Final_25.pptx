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Cover. Welcome Dr. Madhusudhan Singh and LTTS leadership. Frame this briefing around rigorous verification and the multi-billion-dollar engineering services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Taxonomy &amp; Metrics. Highlight the $3.2B vs &lt;$20M asymmetry and explain the 4-tier verification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Failure Modes. Walk through FM1-FM5 and explain why software-only AI startups fail on brownfield shop floors without mechatronic safety 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Research Priorities 1-3. Focus on why π0 continuous flow matching solves the discrete tokenization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Scaling Laws &amp; Edge Inference. Explain NVIDIA GEAR EgoScale and why sub-10ms latency is mandatory for physical dynamic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Maturity Tiers. Explain why Tier 1 scale exists today in Waymo and TSMC, while humanoids remain in Tier 2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Capital Matrix &amp; Hardware Trap. Detail the $3.2B capital concentration and emphasize why LTTS must avoid hardware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Commercial Models (Table 3). Emphasize why Systems Integration is the crown jewel offering for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Competitive Landscape (Table 4). Walk through the 5 ecosystem tiers and show how LTTS sits at the center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Deployments &amp; Hype. Contrast the 5 audited industrial deployments with the viral teleoperated humanoid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Offerings 1 &amp; 2. Walk through Software-Defined Factory as a Service and Industrial PLC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Offerings 3 &amp; 4. Detail the Physical AI V&amp;V Practice and Embodied MLOps continuous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Hybrid Incumbent Model. Explain why Siemens and Rockwell control factory floors and how LTTS acts as the indispensable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Underserved Gaps. Detail why Gaps 1-4 are massive profit pools for LTTS engineering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Market Evolution &amp; Wildcards. Highlight the 4 market transitions and explain why open-source foundation models benefit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Strategic Priorities. Detail the $8.3M phased investment across V&amp;V ($2.8M), Alliances ($1.3M), Data Factory ($4.2M), and Talent CoE ($2.5M/yr).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Strategic Roadmap (Table 5). Present the milestone timeline, deliverables, and phased $8.3M capital deployment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Strategic Boardroom Mandate. Deliver the boardroom action call: LTTS must own the engineering bridge between AI models and plant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Pearl's Causal Ladder. Explain why LLMs are stuck on Rung 1 (P(Y|X)) and why safety certification requires Rung 3 counterfactuals.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Kinematics Moat. Walk through the Jacobian mapping and explain why Yoshikawa manipulability collapse causes drive trips without LTTS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RTOS Timing &amp; Data Flywheel. Detail sub-millisecond jitter requirements and the 5-stage closed-loop 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Appendix A. Full primary sources catalog across capital rounds, research preprints, and customer trial announcements.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Appendix B &amp; Sign-Off. Final document sign-off register and adversarial audit log for Dr. Madhusudhan Singh and LTTS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8313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0A58CA"/>
                </a:solidFill>
                <a:latin typeface="Segoe UI"/>
              </a:rPr>
              <a:t>STRATEGIC BRIEFING · L&amp;T TECHNOLOGY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2591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Segoe UI"/>
              </a:rPr>
              <a:t>Physical Artificial Intelligence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64748B"/>
                </a:solidFill>
                <a:latin typeface="Segoe UI"/>
              </a:rPr>
              <a:t>Commercial Landscape, Kinematics Moats, and the Industrial Engineering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9476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PREPARED EXCLUSIVELY FOR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Dr. Madhusudhan Singh
</a:t>
            </a:r>
            <a:r>
              <a:rPr sz="1150">
                <a:solidFill>
                  <a:srgbClr val="334155"/>
                </a:solidFill>
                <a:latin typeface="Segoe UI"/>
              </a:rPr>
              <a:t>Executive &amp; Technical Leadership, L&amp;T Technology Services Limited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AUTHORSHIP &amp; CLASSIFICATION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Adari Karthikeya
</a:t>
            </a:r>
            <a:r>
              <a:rPr sz="1150">
                <a:solidFill>
                  <a:srgbClr val="334155"/>
                </a:solidFill>
                <a:latin typeface="Segoe UI"/>
              </a:rPr>
              <a:t>Physical AI Practice Research · Version 3.0 Master Briefing · September 2026 (Confidential)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Industrial AI to Physical AI Challenges: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Four-tier verification standard separating audited disclosures from unvetted marketing copy.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58CA"/>
                </a:solidFill>
                <a:latin typeface="Segoe UI"/>
              </a:rPr>
              <a:t>$3.2B+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DISCLOSED VENTURE CAPITAL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Invested across frontier robotics foundation model and humanoid startups between 2024 and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C2410C"/>
                </a:solidFill>
                <a:latin typeface="Segoe UI"/>
              </a:rPr>
              <a:t>&lt; $20M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TRUE HUMANOID REVENUE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Estimated total realized production deployment revenue across all humanoid OEMs globally combined in 2024-2025.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47857"/>
                </a:solidFill>
                <a:latin typeface="Segoe UI"/>
              </a:rPr>
              <a:t>$6.0B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AUTONOMOUS VALUATION CEILING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Achieved by Applied Intuition (Series E, Mar 2024), establishing commercial benchmark for simulation &amp; ADAS software.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TIER 1 · AUDITED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Audited Corporate Disclosures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Verifiable via SEC 10-K filings, audited earnings transcripts, or official corporate press releases.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Mandatory corporate officer attribution, verified dollar value, signed commercial contracts.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Waymo mileage volume, Applied Intuition $6B valuation, Wayve $1.05B 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3863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83863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0168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TIER 2 ·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Primary Literature &amp; Trials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Peer-reviewed publications, arXiv preprints, or official customer-verified plant trials.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Detailed mathematical formulations, experimental methodologies, named customer plant sites.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PI π0 flow matching, NVIDIA EgoScale laws, BMW Spartanburg Figure 02 pilot.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7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82512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TIER 3 · ESTIMATES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Qualified Estimates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Industry extrapolations, trade press whitepapers, and unverified vendor marketing claims.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Clearly labeled as [Estimated] or [Reported]; excluded from core financial models.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Unitree G1 pricing ($16k), humanoid production cost curves, vendor whitepaper savings.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88552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552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34856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TIER 4 · RETRACTED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Adversarially Retracted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Marketing claims from early drafts that failed rigorous primary-source verification.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Full transparent logging in Appendix B audit register; strictly removed from briefing.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Ford 42% scrap reduction, Airbus &lt;2 PPM defects, Amazon 750k robot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Industrial AI to Physical AI Challenges: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Structural physical and algorithmic failure modes causing deep learning policies to fail on live plant floors.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6596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9384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Out-of-Distribution Kinematic Singularity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Neural policy commands end-effector velocity passing near robot joint boundary where det(J) -&gt; 0.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Instantaneous motor over-current trips, emergency brake locking, or stripped gears.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Damped Least-Squares (DLS) mechatronic filtering and null-space projection before servo commands.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24911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24911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816351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79775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Contact-Rich Force-Torque Instability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Non-linear Coulomb friction and surface elasticity create high-frequency impact chattering during insertion.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Rapid force-sensor saturation, acoustic resonance, workpiece gouging, or tool breakage.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High-frequency (1kHz) hybrid impedance/force control layers and tactile feedback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3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575303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66674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30168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Latency-Induced Phase Lag &amp; Oscillation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Edge compute inference latency spikes above 50ms, introducing phase lag between camera and actuator.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Severe mechanical overshoot, hunting oscillations, resonance amplification, and collisions.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Fixed-time budget inference governors, predictive trajectory extrapolators, and RTOS priority scheduling.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25696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425696"/>
            <a:ext cx="73152" cy="7772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451713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FM4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80559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Sensor Degradation &amp; Brownfield Glare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Airborne coolant mist, weld dust, lens smudges, and 50Hz/60Hz fluorescent lighting flicker corrupt camera feeds.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Vision tokens lose semantic confidence, causing robot freeze, false obstacle stops, or miscalculated grasps.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Multi-modal sensor fusion (stereo depth + LiDAR + tactile arrays) and out-of-distribution optical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76088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276088"/>
            <a:ext cx="73152" cy="7772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" y="5367527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FM5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30951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Semantic Drift &amp; Object Pose Hallucination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Pretrained VLA model confuses novel packaging, altered surface finishes, or metallic reflections with clutter.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Grasping empty space, misaligned pick-and-place drops, or applying full grip force to delicate parts.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Explicit 3D geometric bounding-box verification and contact-switch confirmation before trajectory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Research Direction: Flow Matching &amp; World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Core machine learning breakthroughs overcoming discrete tokenization and lack of spatial geometry.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PRIORITY 1 · CONTINUOUS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Continuous Action Flow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Direct velocity field regression via flow matching rather than autoregressive discrete tokenization.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Foundation Benchmark: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Intelligence π0 technical report (Oct 2024, arXiv:2410.24164).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Why Tokenization Failed: </a:t>
            </a:r>
            <a:r>
              <a:rPr sz="1050">
                <a:solidFill>
                  <a:srgbClr val="1E293B"/>
                </a:solidFill>
                <a:latin typeface="Segoe UI"/>
              </a:rPr>
              <a:t>Discretizing continuous motor torques into 256 discrete bins causes severe joint chattering and mechanical jerk.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Enables sub-millimeter precision, fluid multi-joint coordination, and natural compliance during tight-tolerance assembly.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PRIORITY 2 · 3D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3D Geometric &amp; Video World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Pretraining generative models on massive physical video corpora to predict future 3D point-cloud states and scene dynamics.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Industry Implementations: </a:t>
            </a:r>
            <a:r>
              <a:rPr sz="1050">
                <a:solidFill>
                  <a:srgbClr val="1E293B"/>
                </a:solidFill>
                <a:latin typeface="Segoe UI"/>
              </a:rPr>
              <a:t>NVIDIA Cosmos platform, World Labs (Fei-Fei Li spatial intelligence models).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Causal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Generates plausible physics rollouts conditioned on proposed motor actions, allowing robots to simulate consequences before moving.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Reduces on-robot physical trial requirements by 100x by generating thousands of diverse edge-case synthetic variations.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PRIORITY 3 · AUTONOMOUS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Reinforcement Fine-Tuning (RFT)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Autonomous policy improvement through trial-and-error exploration in physics simulation rather than static imitation.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Overcoming Teleop Limits: </a:t>
            </a:r>
            <a:r>
              <a:rPr sz="1050">
                <a:solidFill>
                  <a:srgbClr val="1E293B"/>
                </a:solidFill>
                <a:latin typeface="Segoe UI"/>
              </a:rPr>
              <a:t>Human teleoperation data is prohibitively expensive ($50-$100/hr) and fundamentally reflects sub-optimal human biomechanics.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Curriculum Hardening: </a:t>
            </a:r>
            <a:r>
              <a:rPr sz="1050">
                <a:solidFill>
                  <a:srgbClr val="1E293B"/>
                </a:solidFill>
                <a:latin typeface="Segoe UI"/>
              </a:rPr>
              <a:t>Progressively injecting synthetic friction variances, payload mass shifts, and external push disturbances into the training loop.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Produces hardened neural controllers that autonomously recover from dropped parts, slipping grasps, and misaligned workpieces.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Research Direction: Scaling Laws &amp; Edge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Translating internet-scale human video to robot policies and deploying models under 10ms at the 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PRIORITY 4 · CROSS-EMBODIMENT SCALING LAWS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NVIDIA GEAR EgoScale Discovery (arXiv:2602.16710)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Log-Linear Scaling Laws (Feb 2026): </a:t>
            </a:r>
            <a:r>
              <a:rPr sz="1050">
                <a:solidFill>
                  <a:srgbClr val="1E293B"/>
                </a:solidFill>
                <a:latin typeface="Segoe UI"/>
              </a:rPr>
              <a:t>Research on EgoScale establishes log-linear scaling transferring uncurated human egocentric video directly to heterogeneous physical robot policies.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Universal Latent Representation: </a:t>
            </a:r>
            <a:r>
              <a:rPr sz="1050">
                <a:solidFill>
                  <a:srgbClr val="1E293B"/>
                </a:solidFill>
                <a:latin typeface="Segoe UI"/>
              </a:rPr>
              <a:t>Maps disparate physical morphologies—including bipedal humanoids, quadrupeds, 6-DoF serial arms, and dual-arm manipulators—into a shared action-latent space.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Zero-Shot Spatial Invariant Transfer: </a:t>
            </a:r>
            <a:r>
              <a:rPr sz="1050">
                <a:solidFill>
                  <a:srgbClr val="1E293B"/>
                </a:solidFill>
                <a:latin typeface="Segoe UI"/>
              </a:rPr>
              <a:t>Policies pre-trained on internet-scale human demonstration videos learn fundamental spatial invariants (grasp centroids, clearance vectors) without per-robot teleoperation.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Commercial Advantage for Integrators: </a:t>
            </a:r>
            <a:r>
              <a:rPr sz="1050">
                <a:solidFill>
                  <a:srgbClr val="1E293B"/>
                </a:solidFill>
                <a:latin typeface="Segoe UI"/>
              </a:rPr>
              <a:t>Allows engineering integrators to train a core foundation policy once and deploy it across KUKA, FANUC, ABB, and Universal Robots hardware with minimal fine-tuning.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PRIORITY 5 · SUB-10MS EDGE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Deterministic Edge Quantization &amp; Control Loops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Hard Real-Time Constraint (≤ 10ms):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robot dynamic stability mandates 100Hz control loop frequencies (≤ 10ms latency). High-frequency servo commutation cannot tolerate cloud latency or non-deterministic lag.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FP8 &amp; INT4 TensorRT-LLM Acceleration: </a:t>
            </a:r>
            <a:r>
              <a:rPr sz="1050">
                <a:solidFill>
                  <a:srgbClr val="1E293B"/>
                </a:solidFill>
                <a:latin typeface="Segoe UI"/>
              </a:rPr>
              <a:t>Quantizing multi-billion-parameter VLA models to FP8/INT4 precision using NVIDIA TensorRT-LLM running directly on embedded edge hardware (Jetson Thor / AGX Orin).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Thermal &amp; Power Envelope (15W - 50W): </a:t>
            </a:r>
            <a:r>
              <a:rPr sz="1050">
                <a:solidFill>
                  <a:srgbClr val="1E293B"/>
                </a:solidFill>
                <a:latin typeface="Segoe UI"/>
              </a:rPr>
              <a:t>Industrial mobile manipulators operate on strict battery and thermal budgets. Models must execute within 15W–50W plant power envelopes without active liquid cooling.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Asynchronous Multi-Rate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Decoupling perception from execution: high-level semantic vision runs at 10Hz, policy planning at 100Hz, and low-level torque safety governors commutation at 1kHz.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Commercial Direction: Maturity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Three-tier classification separating commercial revenue scale from qualified enterprise pilots and staged lab claims.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TIER 1 · PRODUCTION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Commercial Production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Waymo (Alphabet): </a:t>
            </a:r>
            <a:r>
              <a:rPr sz="1050">
                <a:solidFill>
                  <a:srgbClr val="1E293B"/>
                </a:solidFill>
                <a:latin typeface="Segoe UI"/>
              </a:rPr>
              <a:t>&gt;150,000 paid commercial trips/week and &gt;1,000,000 autonomous commercial miles weekly across San Francisco, Phoenix, and Los Angeles.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Tesla FSD: </a:t>
            </a:r>
            <a:r>
              <a:rPr sz="1050">
                <a:solidFill>
                  <a:srgbClr val="1E293B"/>
                </a:solidFill>
                <a:latin typeface="Segoe UI"/>
              </a:rPr>
              <a:t>&gt;2.0 billion cumulative miles operated on End-to-End neural networks (FSD v12+), validating mass visual scaling.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TSMC Semiconductor: </a:t>
            </a:r>
            <a:r>
              <a:rPr sz="1050">
                <a:solidFill>
                  <a:srgbClr val="1E293B"/>
                </a:solidFill>
                <a:latin typeface="Segoe UI"/>
              </a:rPr>
              <a:t>Physics-informed neural networks operating in production EUV lithography and wafer defect classification with nanometer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TIER 2 · ENTERPRISE 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Qualified Enterprise Field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Multi-week customer plant trials with human safety oversight, bounded operational envelopes, and qualitative validation without fleet expansion.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Figure AI / BMW Spartanburg: </a:t>
            </a:r>
            <a:r>
              <a:rPr sz="1050">
                <a:solidFill>
                  <a:srgbClr val="1E293B"/>
                </a:solidFill>
                <a:latin typeface="Segoe UI"/>
              </a:rPr>
              <a:t>Figure 02 bipedal humanoid trial at BMW Spartanburg plant (Aug 2024), testing sheet metal subassembly placement into chassis fixtures.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Apptronik / Mercedes-Benz: </a:t>
            </a:r>
            <a:r>
              <a:rPr sz="1050">
                <a:solidFill>
                  <a:srgbClr val="1E293B"/>
                </a:solidFill>
                <a:latin typeface="Segoe UI"/>
              </a:rPr>
              <a:t>Commercial pilot agreement (Mar 2024) deploying Apollo humanoids for delivery of assembly component totes to production workers.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Boston Dynamics / DHL Supply Chain: </a:t>
            </a:r>
            <a:r>
              <a:rPr sz="1050">
                <a:solidFill>
                  <a:srgbClr val="1E293B"/>
                </a:solidFill>
                <a:latin typeface="Segoe UI"/>
              </a:rPr>
              <a:t>Expanding deployment of Stretch mobile manipulators for automated carton unloading from truck containers across logistics hubs.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TIER 3 · UNVERIFIED LAB DEMOS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Unverified Lab &amp; Marketing Demos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Teleoperated demonstrations, highly staged cherry-picked video releases, no public MTBF data, and failure under real environmental variance.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Pervasive Teleoperation Masking: </a:t>
            </a:r>
            <a:r>
              <a:rPr sz="1050">
                <a:solidFill>
                  <a:srgbClr val="1E293B"/>
                </a:solidFill>
                <a:latin typeface="Segoe UI"/>
              </a:rPr>
              <a:t>Widespread use of VR puppeteering and hidden human teleoperation disguised as autonomous end-to-end foundation model inference.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Unitree, 1X, Agility Marketing: </a:t>
            </a:r>
            <a:r>
              <a:rPr sz="1050">
                <a:solidFill>
                  <a:srgbClr val="1E293B"/>
                </a:solidFill>
                <a:latin typeface="Segoe UI"/>
              </a:rPr>
              <a:t>Viral social media demos showing dynamic parkour or warehouse box-shifting that fail to replicate under industrial dust, glare, or continuous run times.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Sim-to-Real Contact Collapse: </a:t>
            </a:r>
            <a:r>
              <a:rPr sz="1050">
                <a:solidFill>
                  <a:srgbClr val="1E293B"/>
                </a:solidFill>
                <a:latin typeface="Segoe UI"/>
              </a:rPr>
              <a:t>Policies trained purely in rigid-body physics simulators failing catastrophically when encountering deformable packaging or surface oil.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Commercial Direction: The Hardware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Over $3.2B in venture capital highlights an acute structural margin crisis in robot 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DISCLOSED CAPITAL ROUNDS (2024 - 2026)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Concentrated Foundation Model Funding ($3.2B+)
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Wayve ($1.05B Series C, May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SoftBank Group, NVIDIA, Microsoft  |  Autonomous driving embodied foundation models.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Figure AI ($675M Series B, Feb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Microsoft, OpenAI, NVIDIA, Bezos ($2.6B val)  |  Generalist bipedal humanoid robots (Figure 02).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Physical Intelligence ($400M Series A, Nov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Bezos Expeditions, Thrive, Lux ($2.4B val)  |  General-purpose robotics foundation model (π0).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Skild AI ($300M Series A, Jul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Lightspeed, Coatue, SoftBank ($1.5B val)  |  Cross-embodiment foundation brains for manipulation.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Applied Intuition ($250M Series E, Mar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Lux Capital, Elad Gil, Porsche ($6.0B val)  |  Autonomous vehicle &amp; robotics simulation / validation.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Scale AI ($1.0B Series F, May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Accel, Strategic Partners ($13.8B val)  |  Embodied data generation &amp; evaluation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STRUCTURAL MARGIN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The Hardware Commoditization Trap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$16,000 Humanoid Price War: </a:t>
            </a:r>
            <a:r>
              <a:rPr sz="1050">
                <a:solidFill>
                  <a:srgbClr val="1E293B"/>
                </a:solidFill>
                <a:latin typeface="Segoe UI"/>
              </a:rPr>
              <a:t>Unitree's G1 launch at $16,000 initiates aggressive deflation in mechanical hardware long before autonomous software reaches production maturity. Chinese supply chains commoditize robot frames rapidly.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Structural Margin Collapse (&lt;15%): </a:t>
            </a:r>
            <a:r>
              <a:rPr sz="1050">
                <a:solidFill>
                  <a:srgbClr val="1E293B"/>
                </a:solidFill>
                <a:latin typeface="Segoe UI"/>
              </a:rPr>
              <a:t>As harmonic drives, frameless motors, and planetary actuators become off-the-shelf commodities, hardware-only OEMs face margin compression mirroring PC and Android handset commoditization.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Software &amp; Integration Captures 70%+ Value: </a:t>
            </a:r>
            <a:r>
              <a:rPr sz="1050">
                <a:solidFill>
                  <a:srgbClr val="1E293B"/>
                </a:solidFill>
                <a:latin typeface="Segoe UI"/>
              </a:rPr>
              <a:t>Economic surplus decisively shifts to: (1) Pretrained Foundation Models, (2) Deterministic Safety Middleware, (3) Physics Digital Twins, and (4) Systems Integration connecting robots to brownfield PLCs.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LTTS Strategic Imperative: </a:t>
            </a:r>
            <a:r>
              <a:rPr sz="1050">
                <a:solidFill>
                  <a:srgbClr val="1E293B"/>
                </a:solidFill>
                <a:latin typeface="Segoe UI"/>
              </a:rPr>
              <a:t>LTTS must never attempt to build or manufacture proprietary robot hardware frames. The winning strategy is to remain entirely hardware-agnostic and capture high-margin software integration, V&amp;V, and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Commercial Models, Deal Economics &amp; Buyer Personas (Table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Comprehensive benchmark of revenue archetypes across foundation models, OEMs, software, and systems integration.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BUSINESS MODEL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1947672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REPRESENTATIVE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947672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CONTRACT &amp; DEAL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947672"/>
            <a:ext cx="969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SALES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194767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PRIMARY BUYER PERSONA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Model Licensing / FMaaS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68296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Physical Intelligence, Skild AI, Covariant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6829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Annual base license + API overage
($100k - $500k+ ARR) [Estimated]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68296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3 - 6 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368296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Software /
Head of Robotics R&amp;D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Integrated HW+SW OEM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172968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Figure AI, Agility Robotics, Boston Dynamics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172968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Robotics-as-a-Service ($5k-$15k/robot/mo)
or CapEx + maintenance SLA [Reported]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172968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12 - 18 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172968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Logistics /
Plant General Manager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Simulation &amp; Validation Tooling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977639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NVIDIA Isaac Sim, Applied Intuition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977639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Enterprise SaaS subscription
($250k - $2.0M+ ACV) [Reported]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977639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6 - 9 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977639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Engineering /
Head of Autonomous Systems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Compliance &amp; Safety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782312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TÜV SÜD, UL Solutions, Credo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78231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Safety audit fee + recurring testing suite
($150k - $750k per engagement) [Estimated]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782312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6 - 12 mos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82312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Chief Safety Officer /
VP Quality &amp; Compliance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13831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5513831"/>
            <a:ext cx="73152" cy="768096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58CA"/>
                </a:solidFill>
                <a:latin typeface="Segoe UI"/>
              </a:rPr>
              <a:t>Systems Integration &amp; Deployment
★ LTTS CORE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586983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LTTS, KPIT Tech, Accenture Industry 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586983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T&amp;M + Milestone-gated deployment
($1.0M - $8.0M+ per site) [Estimated]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586983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4 - 8 mos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586983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Chief Information Officer /
VP Manufacturing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Layered Competitive Landscape Across Physical AI (Table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Five structural tiers define the global ecosystem from foundation models to statutory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ECOSYSTEM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1947672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KEY INDUSTRY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CORE TECHNICAL OFFERING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947672"/>
            <a:ext cx="3557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STRUCTURAL 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Robotics Foundation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6829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Physical Intelligence, Skild AI, DeepMind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Pretrained generalist VLA models
(π0, Skild Brain)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368296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Challengers: Frontier algorithms, high venture capital, but entirely dependent on systems engineering partners for field plant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Industrial Automation Incumbents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172968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Siemens, Rockwell Automation, ABB, Schneider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PLCs, DCS, SCADA, FactoryTalk,
TIA Portal ecosystems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172968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Dominant: Own factory floors, machine safety certifications, and decades of customer trust. Integrating AI through strategic platform partnerships.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Simulation &amp; Digital Twin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977639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NVIDIA (Isaac/Cosmos), Applied Intuition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Physics simulation, synthetic data
generation pipelines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977639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Dominant: Platform standards for testing, virtual commissioning, and synthetic policy generation. Essential software tooling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709159"/>
            <a:ext cx="73152" cy="768096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58CA"/>
                </a:solidFill>
                <a:latin typeface="Segoe UI"/>
              </a:rPr>
              <a:t>ER&amp;D Engineering Services
★ LTTS COMPETITIVE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78231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LTTS, KPIT Tech, Tata Tech, Cyient, Accenture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Systems integration, V&amp;V, digital
engineering &amp; PLC bridges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782312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Direct Competitors: Race to build certified Physical AI field practices and bridge neural policies with industrial plant machinery.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13831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Safety &amp; Statutory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586983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TÜV SÜD, UL Solutions, Credo AI, Holistic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Functional safety audits, regulatory
compliance dossiers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586983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Gatekeepers: Mandatory for legal operation, safety dossiers, and factory insurance underwriting under ISO 13849 / IEC 61508.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Verified Deployments Across 5 Core Sectors &amp; Hype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Audited field implementations across five core verticals vs. viral marketing demonstrations.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21792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217920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576072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AUDITED ENTERPRISE PRODUCTION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57607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Field Implementations Across 5 Core Verticals
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Automotive Manufacturing: </a:t>
            </a:r>
            <a:r>
              <a:rPr sz="1050">
                <a:solidFill>
                  <a:srgbClr val="1E293B"/>
                </a:solidFill>
                <a:latin typeface="Segoe UI"/>
              </a:rPr>
              <a:t>BMW Spartanburg plant successfully completed a multi-week pilot trial of Figure 02 humanoids performing precision sheet metal fixture insertion.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Aerospace Assembly: </a:t>
            </a:r>
            <a:r>
              <a:rPr sz="1050">
                <a:solidFill>
                  <a:srgbClr val="1E293B"/>
                </a:solidFill>
                <a:latin typeface="Segoe UI"/>
              </a:rPr>
              <a:t>Airbus deployment of automated drilling guidance using physics-informed vision on A350 wing assembly, ensuring strict structural hole tolerances.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Semiconductor Fabs: </a:t>
            </a:r>
            <a:r>
              <a:rPr sz="1050">
                <a:solidFill>
                  <a:srgbClr val="1E293B"/>
                </a:solidFill>
                <a:latin typeface="Segoe UI"/>
              </a:rPr>
              <a:t>TSMC deployment of closed-loop neural defect classification and sub-nanometer wafer handling in EUV lithography cleanrooms under ISO Class 1 conditions.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Logistics &amp; Warehousing: </a:t>
            </a:r>
            <a:r>
              <a:rPr sz="1050">
                <a:solidFill>
                  <a:srgbClr val="1E293B"/>
                </a:solidFill>
                <a:latin typeface="Segoe UI"/>
              </a:rPr>
              <a:t>DHL Supply Chain multi-site production deployment of Boston Dynamics Stretch mobile manipulators for automated trailer truck container unloading.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Energy &amp; Turbomachinery: </a:t>
            </a:r>
            <a:r>
              <a:rPr sz="1050">
                <a:solidFill>
                  <a:srgbClr val="1E293B"/>
                </a:solidFill>
                <a:latin typeface="Segoe UI"/>
              </a:rPr>
              <a:t>Heavy industrial gas turbines utilizing physics-informed neural network (PINN) thermal and vibration monitoring for predictive catastrophic valve failure prevention.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1874519"/>
            <a:ext cx="420624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51192" y="1874519"/>
            <a:ext cx="4206240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2039112"/>
            <a:ext cx="3803903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COMMERCIAL GROUNDING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404872"/>
            <a:ext cx="3803903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Hype-Ahead-of-Deployment Reality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Bipedal Mirage: </a:t>
            </a:r>
            <a:r>
              <a:rPr sz="1050">
                <a:solidFill>
                  <a:srgbClr val="1E293B"/>
                </a:solidFill>
                <a:latin typeface="Segoe UI"/>
              </a:rPr>
              <a:t>Viral videos of humanoids folding t-shirts or doing backflips disguise pervasive VR teleoperation and zero payload capacity. Bipedal stability in active plants remains unproven.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Commercial Plant Economics: </a:t>
            </a:r>
            <a:r>
              <a:rPr sz="1050">
                <a:solidFill>
                  <a:srgbClr val="1E293B"/>
                </a:solidFill>
                <a:latin typeface="Segoe UI"/>
              </a:rPr>
              <a:t>Factories do not need $150,000 bipedal legs. They need wheeled AMRs equipped with 6-DoF compliant arms costing 5x less with 10x higher payload and MTBF.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Brownfield Reality: </a:t>
            </a:r>
            <a:r>
              <a:rPr sz="1050">
                <a:solidFill>
                  <a:srgbClr val="1E293B"/>
                </a:solidFill>
                <a:latin typeface="Segoe UI"/>
              </a:rPr>
              <a:t>AI startups underestimate factory brownfield realities: oil mist, welding flashes, legacy 24V PLCs, and union safety regulations that halt uncertified equipment.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Integration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Plant managers refuse to deploy experimental foundation models without certified e-stops, PLC handshakes, and signed ISO safety dossiers.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The ER&amp;D Services Opportunity &amp; Commercial Offerings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Positioning LTTS to capture the $45B engineering services market through industrial AI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OFFERING 1 · RECONFIGURABLE CELL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Software-Defined Factory as a Service (SD-FaaS)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Enterprise Problem: </a:t>
            </a:r>
            <a:r>
              <a:rPr sz="1050">
                <a:solidFill>
                  <a:srgbClr val="1E293B"/>
                </a:solidFill>
                <a:latin typeface="Segoe UI"/>
              </a:rPr>
              <a:t>Traditional factory lines require 12 to 18 months and millions in CapEx to re-tool for new product variants. Physical AI enables dynamic, software-driven cell re-tasking.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Monetizing Enterprise CAD/PLM: </a:t>
            </a:r>
            <a:r>
              <a:rPr sz="1050">
                <a:solidFill>
                  <a:srgbClr val="1E293B"/>
                </a:solidFill>
                <a:latin typeface="Segoe UI"/>
              </a:rPr>
              <a:t>LTTS ingests existing customer Siemens Teamcenter / Dassault Systèmes CAD assemblies directly into NVIDIA Omniverse digital twins to generate validated robot workcells.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($2.0M - $5.0M per Plant): </a:t>
            </a:r>
            <a:r>
              <a:rPr sz="1050">
                <a:solidFill>
                  <a:srgbClr val="1E293B"/>
                </a:solidFill>
                <a:latin typeface="Segoe UI"/>
              </a:rPr>
              <a:t>Turnkey transformation contracts covering simulation setup, automated line re-tooling, and recurring edge calibration SLAs.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Measurable ROI: </a:t>
            </a:r>
            <a:r>
              <a:rPr sz="1050">
                <a:solidFill>
                  <a:srgbClr val="1E293B"/>
                </a:solidFill>
                <a:latin typeface="Segoe UI"/>
              </a:rPr>
              <a:t>Reduces physical line commissioning time from 16 weeks to 3 weeks, eliminating costly mechanical re-machining change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OFFERING 2 · DETERMINISTIC SAFETY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Industrial PLC &amp; Edge Bridge Middleware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Interface Chasm: </a:t>
            </a:r>
            <a:r>
              <a:rPr sz="1050">
                <a:solidFill>
                  <a:srgbClr val="1E293B"/>
                </a:solidFill>
                <a:latin typeface="Segoe UI"/>
              </a:rPr>
              <a:t>Foundation models output asynchronous PyTorch tensors at 100Hz; industrial automation operates on deterministic cyclic PLCs at 1kHz over PROFINET and EtherCAT.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Certified Bridge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LTTS develops certified middleware wrapping neural trajectories with deterministic safety interlocks and certified PLC communication drivers (Siemens S7-1500, Rockwell ControlLogix).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($500k - $1.5M per Cell): </a:t>
            </a:r>
            <a:r>
              <a:rPr sz="1050">
                <a:solidFill>
                  <a:srgbClr val="1E293B"/>
                </a:solidFill>
                <a:latin typeface="Segoe UI"/>
              </a:rPr>
              <a:t>Priced as systems integration plus per-node recurring software runtime licenses ($10k-$25k/robot/yr).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Strategic Moat: </a:t>
            </a:r>
            <a:r>
              <a:rPr sz="1050">
                <a:solidFill>
                  <a:srgbClr val="1E293B"/>
                </a:solidFill>
                <a:latin typeface="Segoe UI"/>
              </a:rPr>
              <a:t>Prevents deep learning hallucinations from tripping factory safety circuits, providing plant managers with certified fail-safe guarantees.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LTTS Offerings 3 &amp; 4: V&amp;V Practice and Embodied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High-margin recurring revenue models in statutory safety certification and continuous brownfield fleet calibration.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2B49"/>
                </a:solidFill>
                <a:latin typeface="Segoe UI"/>
              </a:rPr>
              <a:t>OFFERING 3 · STATUTORY SAFETY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Physical AI Verification &amp; Validation (V&amp;V)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Compliance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Enterprises cannot deploy uncertified neural policies into live plants without invalidating facility insurance under ISO 13849 (PL-d/e) and IEC 61508.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Formal Reachability Verification: </a:t>
            </a:r>
            <a:r>
              <a:rPr sz="1050">
                <a:solidFill>
                  <a:srgbClr val="1E293B"/>
                </a:solidFill>
                <a:latin typeface="Segoe UI"/>
              </a:rPr>
              <a:t>LTTS utilizes Hamilton-Jacobi reachability analysis and Control Barrier Functions (CBFs) to mathematically prove the robot cannot enter unsafe states.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($750k - $2.0M per Audit): </a:t>
            </a:r>
            <a:r>
              <a:rPr sz="1050">
                <a:solidFill>
                  <a:srgbClr val="1E293B"/>
                </a:solidFill>
                <a:latin typeface="Segoe UI"/>
              </a:rPr>
              <a:t>High-margin statutory compliance engagements producing certified Safety Dossiers for plant underwriters and regulatory authorities.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Regulatory Gatekeeper Role: </a:t>
            </a:r>
            <a:r>
              <a:rPr sz="1050">
                <a:solidFill>
                  <a:srgbClr val="1E293B"/>
                </a:solidFill>
                <a:latin typeface="Segoe UI"/>
              </a:rPr>
              <a:t>LTTS establishes itself as the mandatory certification authority between AI foundation model startups and industrial plant operators.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6D28D9"/>
                </a:solidFill>
                <a:latin typeface="Segoe UI"/>
              </a:rPr>
              <a:t>OFFERING 4 · LIFECYCLE MODEL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Brownfield Embodied MLOps &amp; Continuous Calibration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Performance Decay Problem: </a:t>
            </a:r>
            <a:r>
              <a:rPr sz="1050">
                <a:solidFill>
                  <a:srgbClr val="1E293B"/>
                </a:solidFill>
                <a:latin typeface="Segoe UI"/>
              </a:rPr>
              <a:t>In physical plants, policies degrade over time due to camera lens dust, mechanical gearbox backlash, shifting lighting, and changing vendor part tolerances.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Closed-Loop Edge Calibration: </a:t>
            </a:r>
            <a:r>
              <a:rPr sz="1050">
                <a:solidFill>
                  <a:srgbClr val="1E293B"/>
                </a:solidFill>
                <a:latin typeface="Segoe UI"/>
              </a:rPr>
              <a:t>LTTS deploys continuous edge telemetry pipelines that detect distribution drift, automatically recalibrate camera-to-robot extrinsics, and log failure corner-cases.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($300k - $1.0M ARR per Campus): </a:t>
            </a:r>
            <a:r>
              <a:rPr sz="1050">
                <a:solidFill>
                  <a:srgbClr val="1E293B"/>
                </a:solidFill>
                <a:latin typeface="Segoe UI"/>
              </a:rPr>
              <a:t>Recurring multi-year software and remote engineering support contracts with strict SLA uptime guarantees (&gt;99.5%).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Sticky Customer Lock-In: </a:t>
            </a:r>
            <a:r>
              <a:rPr sz="1050">
                <a:solidFill>
                  <a:srgbClr val="1E293B"/>
                </a:solidFill>
                <a:latin typeface="Segoe UI"/>
              </a:rPr>
              <a:t>Capturing plant telemetry creates an insurmountable operational data moat, preventing competitors from displacing LTTS once deployed.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Opportunities: Hybrid Incumbents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Why standalone AI startups fail without industrial automation incumbents and how LTTS bridges the gap.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INCUMBENT ENTRENCHMENT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Incumbent Iron Grip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Market Reality: </a:t>
            </a:r>
            <a:r>
              <a:rPr sz="1050">
                <a:solidFill>
                  <a:srgbClr val="1E293B"/>
                </a:solidFill>
                <a:latin typeface="Segoe UI"/>
              </a:rPr>
              <a:t>Siemens, Rockwell Automation, ABB, and Schneider Electric control 80%+ of factory floor automation systems globally.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Customer Trust &amp; Lifecycles: </a:t>
            </a:r>
            <a:r>
              <a:rPr sz="1050">
                <a:solidFill>
                  <a:srgbClr val="1E293B"/>
                </a:solidFill>
                <a:latin typeface="Segoe UI"/>
              </a:rPr>
              <a:t>Industrial enterprises operate on 20- to 30-year machine lifecycles. Plant managers will not rip and replace proven PLCs for experimental startup software.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Statutory Safety Ownership: </a:t>
            </a:r>
            <a:r>
              <a:rPr sz="1050">
                <a:solidFill>
                  <a:srgbClr val="1E293B"/>
                </a:solidFill>
                <a:latin typeface="Segoe UI"/>
              </a:rPr>
              <a:t>Incumbents own machine safety certifications, fieldbus standards (PROFINET, CIP Safety), and factory insurance relationships.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Startup Barrier: </a:t>
            </a:r>
            <a:r>
              <a:rPr sz="1050">
                <a:solidFill>
                  <a:srgbClr val="1E293B"/>
                </a:solidFill>
                <a:latin typeface="Segoe UI"/>
              </a:rPr>
              <a:t>Pure software startups cannot bypass the safety PLC layer; uncertified code is prohibited from touching live physical factory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HYBRID ALLIANCES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Hybrid Playbook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Siemens &amp; Microsoft Copilot: </a:t>
            </a:r>
            <a:r>
              <a:rPr sz="1050">
                <a:solidFill>
                  <a:srgbClr val="1E293B"/>
                </a:solidFill>
                <a:latin typeface="Segoe UI"/>
              </a:rPr>
              <a:t>Generative AI industrial copilot embedded directly into Siemens TIA Portal for automated PLC code generation and natural language debugging.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Alphabet Intrinsic: </a:t>
            </a:r>
            <a:r>
              <a:rPr sz="1050">
                <a:solidFill>
                  <a:srgbClr val="1E293B"/>
                </a:solidFill>
                <a:latin typeface="Segoe UI"/>
              </a:rPr>
              <a:t>Strategic alliance connecting Intrinsic Flowstate robotics AI platform with Siemens industrial automation hardware.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Rockwell &amp; NVIDIA Omniverse: </a:t>
            </a:r>
            <a:r>
              <a:rPr sz="1050">
                <a:solidFill>
                  <a:srgbClr val="1E293B"/>
                </a:solidFill>
                <a:latin typeface="Segoe UI"/>
              </a:rPr>
              <a:t>Integration of NVIDIA Isaac Sim and Omniverse with Rockwell Logix controllers for real-time virtual commissioning.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Structural Outcome: </a:t>
            </a:r>
            <a:r>
              <a:rPr sz="1050">
                <a:solidFill>
                  <a:srgbClr val="1E293B"/>
                </a:solidFill>
                <a:latin typeface="Segoe UI"/>
              </a:rPr>
              <a:t>Incumbents absorb AI capabilities into their existing hardware backbones, neutralizing standalone software disintermediation threats.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LTTS STRATEGIC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LTTS Strategic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Trusted Integrator: </a:t>
            </a:r>
            <a:r>
              <a:rPr sz="1050">
                <a:solidFill>
                  <a:srgbClr val="1E293B"/>
                </a:solidFill>
                <a:latin typeface="Segoe UI"/>
              </a:rPr>
              <a:t>LTTS operates as the neutral, certified systems engineering bridge possessing deep expertise in both AI models and legacy industrial PLCs.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Execution Moat: </a:t>
            </a:r>
            <a:r>
              <a:rPr sz="1050">
                <a:solidFill>
                  <a:srgbClr val="1E293B"/>
                </a:solidFill>
                <a:latin typeface="Segoe UI"/>
              </a:rPr>
              <a:t>Neither Silicon Valley AI labs (lack mechatronics bench) nor legacy plant electricians (lack deep learning talent) can bridge this chasm alone.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Co-Selling with Incumbents: </a:t>
            </a:r>
            <a:r>
              <a:rPr sz="1050">
                <a:solidFill>
                  <a:srgbClr val="1E293B"/>
                </a:solidFill>
                <a:latin typeface="Segoe UI"/>
              </a:rPr>
              <a:t>Partnering with Siemens and Rockwell channel partners to co-sell physical AI deployment services to Tier-1 automotive and aerospace OEMs.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Durable Value Capture: </a:t>
            </a:r>
            <a:r>
              <a:rPr sz="1050">
                <a:solidFill>
                  <a:srgbClr val="1E293B"/>
                </a:solidFill>
                <a:latin typeface="Segoe UI"/>
              </a:rPr>
              <a:t>LTTS captures high-margin deployment, V&amp;V, and ongoing maintenance revenue regardless of which foundation model wins.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High-Value Underserved Market Gaps &amp; Strategic Whitespaces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Four critical white-space engineering bottlenecks where tech giants cannot compete with LTTS's industrial bench.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GAP 1 ·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Real-Time Safety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AI models output asynchronous stochastic predictions at 100Hz; industrial actuators demand 1ms deterministic guarantees.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Zero off-the-shelf software safely bridges Python neural policies to real-time industrial fieldbuses.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Build certified bridge middleware wrapping neural commands with formal Control Barrier Functions (CBFs).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High-margin software IP licensing ($10k-$25k/robot/yr) across hundreds of plant cells.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3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3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GAP 2 · CONTACT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Contact-Calibrated Simulators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Standard physics simulators (MuJoCo, Isaac) suffer significant Sim-to-Real gaps during non-rigid contact.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Automakers cannot afford weeks of manual on-robot policy tuning for deformable cables, gaskets, and wiring.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Develop proprietary contact-calibrated simulation pipelines incorporating real material stress tensors.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Anchors multi-million-dollar Software-Defined Factory (SD-FaaS) digital twin engagements.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7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GAP 3 · BROWNFIELD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Brownfield Vision Retrofits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90%+ of manufacturing machinery is legacy equipment lacking modern digital APIs or clean air.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Frontier models trained on clean laboratory benchmarks fail under brownfield grime, oil mist, and vibration.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Package ruggedized edge-compute retrofit kits with vibration-invariant multi-modal sensor fusion.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Rapid deployment kits priced at $100k-$250k per legacy production cell.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88552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34856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GAP 4 · FLEET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Heterogeneous Fleet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Automotive plants operate mixed robot fleets (FANUC, KUKA, ABB) with conflicting kinematic controllers.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Foundation models cannot scale if each robot vendor requires a bespoke software integration stack.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Build a unified cross-embodiment abstraction layer standardizing policy execution across all robot brands.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Enterprise-wide fleet software licensing and recurring Embodied MLOps maintenance contracts.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2026–2030 Market Evolution Dynamics &amp; Strategic Wildcards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Four structural market transitions over the next 3-5 years and critical uncertainty factors to monitor.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3-5 YEAR INDUSTRY TRANSITION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Four Structural Market Transitions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1: Point AI Models -&gt; Unified VLA Backbones: </a:t>
            </a:r>
            <a:r>
              <a:rPr sz="1050">
                <a:solidFill>
                  <a:srgbClr val="1E293B"/>
                </a:solidFill>
                <a:latin typeface="Segoe UI"/>
              </a:rPr>
              <a:t>Transition from hundreds of narrow, bespoke vision models to unified Vision-Language-Action foundation models fine-tuned per manufacturing facility.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2: Hardware-Centric -&gt; Software-Defined Robotics: </a:t>
            </a:r>
            <a:r>
              <a:rPr sz="1050">
                <a:solidFill>
                  <a:srgbClr val="1E293B"/>
                </a:solidFill>
                <a:latin typeface="Segoe UI"/>
              </a:rPr>
              <a:t>Robot hardware frames commoditize; enterprise procurement decisions center entirely on simulation accuracy, safety software, and ease of PLC integration.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3: Greenfield Custom Cells -&gt; Brownfield Retrofit Kits: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 CapEx pivots away from building expensive new factories toward deploying non-invasive vision-action retrofit kits onto existing legacy production lines.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4: CapEx Equipment -&gt; Performance-Based SLAs: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 procurement transitions from $500k upfront robot purchases to outcome-based contracts ($/successful pick, $/inspected assembly) backed by uptime guarantees.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STRATEGIC UNCERTAINTY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Critical Market Wildcards &amp; Sensitivities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Geopolitical Compute Controls: </a:t>
            </a:r>
            <a:r>
              <a:rPr sz="1050">
                <a:solidFill>
                  <a:srgbClr val="1E293B"/>
                </a:solidFill>
                <a:latin typeface="Segoe UI"/>
              </a:rPr>
              <a:t>Export restrictions on high-end edge AI silicon (Jetson Thor) could fragment global deployments, forcing reliance on lower-power domestic edge chips and specialized quantization.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Statutory Liability Allocation: </a:t>
            </a:r>
            <a:r>
              <a:rPr sz="1050">
                <a:solidFill>
                  <a:srgbClr val="1E293B"/>
                </a:solidFill>
                <a:latin typeface="Segoe UI"/>
              </a:rPr>
              <a:t>Emerging EU AI Act and OSHA frameworks clarifying whether model developers, robot OEMs, or engineering systems integrators bear strict liability for physical worker injuries.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Sim-to-Real Fidelity Ceilings: </a:t>
            </a:r>
            <a:r>
              <a:rPr sz="1050">
                <a:solidFill>
                  <a:srgbClr val="1E293B"/>
                </a:solidFill>
                <a:latin typeface="Segoe UI"/>
              </a:rPr>
              <a:t>The risk that complex, non-rigid deformable physics (fabrics, rubber seals, wire harnesses) cannot be simulated accurately, capping synthetic data scaling benefits.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Foundation Model Open-Sourcing: </a:t>
            </a:r>
            <a:r>
              <a:rPr sz="1050">
                <a:solidFill>
                  <a:srgbClr val="1E293B"/>
                </a:solidFill>
                <a:latin typeface="Segoe UI"/>
              </a:rPr>
              <a:t>Rapid open-weight releases (mirroring Llama 3 in language) commoditizing proprietary foundation models, driving all commercial value into systems integration and domain engineering.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LTTS Strategic Priorities &amp; Phased Capital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 focused four-priority investment program totaling $8.3M phased against validated enterprise milestones.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PRIORITY 1 · Q1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Physical AI V&amp;V Practice
</a:t>
            </a:r>
            <a:r>
              <a:rPr sz="1100" b="1">
                <a:solidFill>
                  <a:srgbClr val="047857"/>
                </a:solidFill>
                <a:latin typeface="Segoe UI"/>
              </a:rPr>
              <a:t>Budget: $2.8M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Establish the premier third-party safety and reachability certification laboratory for industrial robotics.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Automated Safety Dossier Compiler; formal CBF reachability testing suite under ISO 13849 PL-e and IEC 61508.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Complete 10 enterprise safety audits generating $3.5M in high-margin consulting revenue in year one.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Unlocks client CapEx by providing mandatory safety certification dossiers for factory insurance underwriting.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3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3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PRIORITY 2 · 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Strategic PLC Alliances
</a:t>
            </a:r>
            <a:r>
              <a:rPr sz="1100" b="1">
                <a:solidFill>
                  <a:srgbClr val="0A58CA"/>
                </a:solidFill>
                <a:latin typeface="Segoe UI"/>
              </a:rPr>
              <a:t>Budget: $1.3M 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Formalize co-development partnerships with Siemens, Rockwell Automation, and Beckhoff.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Certified reference bridge middleware connecting neural policies to S7-1500 and ControlLogix backplanes.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Secure preferred integration partner status across 5 Tier-1 automotive and aerospace joint customer bids.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Leverages incumbent sales channels to access established global enterprise customer bases.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7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6D28D9"/>
                </a:solidFill>
                <a:latin typeface="Segoe UI"/>
              </a:rPr>
              <a:t>PRIORITY 3 · Q3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Synthetic Data Factory
</a:t>
            </a:r>
            <a:r>
              <a:rPr sz="1100" b="1">
                <a:solidFill>
                  <a:srgbClr val="6D28D9"/>
                </a:solidFill>
                <a:latin typeface="Segoe UI"/>
              </a:rPr>
              <a:t>Budget: $4.2M 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Establish dedicated GPU simulation cluster monetizing enterprise CAD/PLM assemblies (SD-FaaS).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64-GPU NVIDIA Omniverse cluster generating contact-calibrated simulation policies for client plants.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Secure 4 enterprise SD-FaaS contracts yielding $8.0M+ in recurring simulation and deployment revenue.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Transforms one-off integration projects into high-retention annual software recurring revenue.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88552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34856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PRIORITY 4 · ONGOING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Hybrid Talent Center of Excellence
</a:t>
            </a:r>
            <a:r>
              <a:rPr sz="1100" b="1">
                <a:solidFill>
                  <a:srgbClr val="002B49"/>
                </a:solidFill>
                <a:latin typeface="Segoe UI"/>
              </a:rPr>
              <a:t>Budget: $2.5M/yr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Build the world's leading hybrid robotics workforce combining controls engineering with deep learning.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Cross-train 250 existing mechatronics engineers in robotics AI; recruit 5 lead Ph.D. research scientists.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Deploy 250 billable hybrid engineers globally at premium enterprise billing rates ($180-$250/hr).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Overcomes the single largest bottleneck in physical AI: the acute shortage of hybrid systems engineers.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Integrated Strategic Roadmap &amp; Phased Capital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Comprehensive execution timeline, strategic capabilities, target deliverables, and capital deployment.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947672"/>
            <a:ext cx="969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4767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FOCUS &amp;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94767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TARGET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9567" y="1947672"/>
            <a:ext cx="1088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PHASED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86584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1: V&amp;V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386584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Q1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86584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Functional safety auditing, CBF evaluation &amp;
interval bound reachability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2386584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Automated Safety Dossier Compiler &amp;
certified lab testing under ISO 13849 / IEC 61508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2386584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$2.8M Phase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91256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2: PLC Alliances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3191256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A58CA"/>
                </a:solidFill>
                <a:latin typeface="Segoe UI"/>
              </a:rPr>
              <a:t>Q2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91256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Joint integration testbeds with Siemens S7-1500 &amp;
Rockwell ControlLogix architectures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3191256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Certified bridge middleware connecting
neural policies to industrial fieldbuses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3191256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$1.3M Phase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95927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3: Synthetic Data Factory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79" y="3995927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2B49"/>
                </a:solidFill>
                <a:latin typeface="Segoe UI"/>
              </a:rPr>
              <a:t>Q3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95927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Digital twin simulation (SD-FaaS) monetizing
enterprise CAD/PLM engineering assemblies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3995927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Dedicated 64-GPU Omniverse cluster generating
contact-calibrated simulation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995927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$4.2M Phase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00599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4: Hybrid Talent CoE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4800599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D28D9"/>
                </a:solidFill>
                <a:latin typeface="Segoe UI"/>
              </a:rPr>
              <a:t>Ongoing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800599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Cross-training mechatronics bench into robotics AI;
recruiting 5 lateral Ph.D. specialists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4800599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250-engineer hybrid workforce bridging
controls engineering with deep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4800599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$2.5M/yr Annual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23559"/>
            <a:ext cx="10725912" cy="594360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33288"/>
            <a:ext cx="103601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02B49"/>
                </a:solidFill>
                <a:latin typeface="Segoe UI"/>
              </a:rPr>
              <a:t>TOTAL 2027 PROGRAM INVESTMENT: </a:t>
            </a:r>
            <a:r>
              <a:rPr sz="1050">
                <a:solidFill>
                  <a:srgbClr val="1E293B"/>
                </a:solidFill>
                <a:latin typeface="Segoe UI"/>
              </a:rPr>
              <a:t>$8.3M Phased Capex ($2.8M V&amp;V + $1.3M Alliances + $4.2M Data Factory) + $2.5M/yr Ongoing CoE Baseline. Every dollar is directly anchored in customer revenue expansion.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0645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STRATEGIC CONCLUSION · BOARDROOM ACTION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Physical AI is the Future of Industrial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334155"/>
                </a:solidFill>
                <a:latin typeface="Segoe UI"/>
              </a:rPr>
              <a:t>LTTS should not manufacture robot frames nor train raw foundation models. </a:t>
            </a:r>
            <a:r>
              <a:rPr sz="1200" b="1">
                <a:solidFill>
                  <a:srgbClr val="0A58CA"/>
                </a:solidFill>
                <a:latin typeface="Segoe UI"/>
              </a:rPr>
              <a:t>The definitive opportunity is to become the indispensable engineering bridge that verifies, integrates, and deploys Physical AI safely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1. VERIFY (Q1 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Functional Safety Leadership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Build the gold-standard Physical AI V&amp;V practice with formal safety dossiers and CBF reachability testing under ISO 13849 / IEC 61508.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Unlocks corporate insurance and regulatory sign-off for enterprise robot deployments.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3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3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2. INTEGRATE (Q2 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PLC Bridge Middleware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Deploy certified PLC bridge middleware connecting frontier neural policies to Siemens S7-1500 and Rockwell ControlLogix architectures.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Guarantees deterministic safety interlocks on live plant machinery.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7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6D28D9"/>
                </a:solidFill>
                <a:latin typeface="Segoe UI"/>
              </a:rPr>
              <a:t>3. SCALE (Q3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Synthetic Data Factory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Launch the enterprise Synthetic Data Factory (SD-FaaS), monetizing proprietary customer CAD/PLM assets into continuous digital twins.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Converts one-time integration projects into recurring software revenue.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88552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6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4. EMPOWER (Ongoing)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Hybrid Engineering Bench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Cross-train 250 mechatronics engineers into hybrid Physical AI practitioners, securing global engineering services dominance.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Supplies the world's most capable industrial AI engineering bench.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The Math: Why LLMs Fail (Pearl's Ladder)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Deploying standard language models into robotics fails due to a fundamental representational mismatch.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RUNG 1 OF CAUSALITY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Association &amp; Observation
</a:t>
            </a:r>
            <a:r>
              <a:rPr sz="1050">
                <a:solidFill>
                  <a:srgbClr val="64748B"/>
                </a:solidFill>
                <a:latin typeface="Segoe UI"/>
              </a:rPr>
              <a:t>Where LLMs Operate (Static Semantic Space)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00400"/>
            <a:ext cx="86258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Standard language models operate strictly on observational correlations: P(Y | X). They predict the most probable next token based on statistical co-occurrences in historical training text corpora.
</a:t>
            </a:r>
            <a:r>
              <a:rPr sz="1050">
                <a:solidFill>
                  <a:srgbClr val="0F172A"/>
                </a:solidFill>
                <a:latin typeface="Segoe UI"/>
              </a:rPr>
              <a:t>Limitation: Passive observation cannot distinguish causal influence from spurious correlation. A language model knows 'smoke correlates with fire' but has no concept of physical mass, friction, or gravity.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1144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RUNG 2 OF CAUSALITY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Intervention &amp; Action
</a:t>
            </a:r>
            <a:r>
              <a:rPr sz="1050">
                <a:solidFill>
                  <a:srgbClr val="64748B"/>
                </a:solidFill>
                <a:latin typeface="Segoe UI"/>
              </a:rPr>
              <a:t>The Domain of Physical AI (Dynamic Closed-Loop)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4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3200400"/>
            <a:ext cx="1243584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81144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Physical control mandates causal intervention: P(Y | do(u)). A robot controller cannot merely guess tokens; it must predict precisely what physical state Y occurs when commanding a 15N torque u to an actuator.
</a:t>
            </a:r>
            <a:r>
              <a:rPr sz="1050">
                <a:solidFill>
                  <a:srgbClr val="0F172A"/>
                </a:solidFill>
                <a:latin typeface="Segoe UI"/>
              </a:rPr>
              <a:t>Requirement: Demands dedicated physical world models and closed-loop sensory feedback that map continuous control forces to kinematic motion under Newton's differential equations.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7888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RUNG 3 OF CAUSALITY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Counterfactuals &amp; Planning
</a:t>
            </a:r>
            <a:r>
              <a:rPr sz="1050">
                <a:solidFill>
                  <a:srgbClr val="64748B"/>
                </a:solidFill>
                <a:latin typeface="Segoe UI"/>
              </a:rPr>
              <a:t>The Benchmark for Certified Safety &amp; V&amp;V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3200400"/>
            <a:ext cx="140208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47888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Safe autonomous execution requires evaluating counterfactual alternatives: P(Yu | X', Y'). The system must compute: 'Given that obstacle X' was encountered, would command trajectory u have prevented collision?'
</a:t>
            </a:r>
            <a:r>
              <a:rPr sz="1050">
                <a:solidFill>
                  <a:srgbClr val="0F172A"/>
                </a:solidFill>
                <a:latin typeface="Segoe UI"/>
              </a:rPr>
              <a:t>Requirement: Essential for formal functional safety dossiers, reachability verification, and statutory insurance compliance in brownfield industrial plants.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Industrial AI vs. Physical AI &amp; The Kinematics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Closed-loop motor actuation creates an insurmountable domain engineering moat for software-only AI labs.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2B49"/>
                </a:solidFill>
                <a:latin typeface="Segoe UI"/>
              </a:rPr>
              <a:t>CONTROLS ENGINEERING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Analytical AI vs. Closed-Loop Physical AI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Industrial AI (Open-Loop &amp; Analytical): </a:t>
            </a:r>
            <a:r>
              <a:rPr sz="1050">
                <a:solidFill>
                  <a:srgbClr val="1E293B"/>
                </a:solidFill>
                <a:latin typeface="Segoe UI"/>
              </a:rPr>
              <a:t>Ingests SCADA telemetry, vibration logs, and optical inspection images to predict machine maintenance or classify defects. Operates in passive informational space; an algorithmic false positive results in a software alert, not a mechanical wreck.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Physical AI (Closed-Loop Kinematic Actuation): </a:t>
            </a:r>
            <a:r>
              <a:rPr sz="1050">
                <a:solidFill>
                  <a:srgbClr val="1E293B"/>
                </a:solidFill>
                <a:latin typeface="Segoe UI"/>
              </a:rPr>
              <a:t>Directly commands motor torques and joint positions in real time under Newton's differential equations. Algorithmic errors cause physical collisions, destroyed tooling, or worker injury. Requires sub-10ms hard real-time latency.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Coexistence, Not Replacement: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AI does not displace deterministic factory automation; it commands high-level adaptive manipulation while deterministic PLCs maintain strict safety interlocks.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Domain Engineering Moat: </a:t>
            </a:r>
            <a:r>
              <a:rPr sz="1050">
                <a:solidFill>
                  <a:srgbClr val="1E293B"/>
                </a:solidFill>
                <a:latin typeface="Segoe UI"/>
              </a:rPr>
              <a:t>Pure machine learning practitioners treat robots as abstract point masses; deploying neural policies into live factories mandates deep mechatronic controls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MECHATRONIC FORMALISMS &amp;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Jacobian Mapping &amp; Singularity Collapse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Manipulator Jacobian &amp; Inverse Kinematics Mapping:
</a:t>
            </a:r>
            <a:r>
              <a:rPr sz="1000">
                <a:solidFill>
                  <a:srgbClr val="64748B"/>
                </a:solidFill>
                <a:latin typeface="Segoe UI"/>
              </a:rPr>
              <a:t>The mapping from end-effector velocities to joint velocities is governed by Jacobian J(q):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3017520"/>
            <a:ext cx="4773168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090672"/>
            <a:ext cx="2493264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55664" y="37033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Yoshikawa Manipulability Collapse at Singularities:
</a:t>
            </a:r>
            <a:r>
              <a:rPr sz="1000">
                <a:solidFill>
                  <a:srgbClr val="64748B"/>
                </a:solidFill>
                <a:latin typeface="Segoe UI"/>
              </a:rPr>
              <a:t>Near kinematic singularities, manipulability collapses, demanding infinite velocity: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4251960"/>
            <a:ext cx="4773168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3" y="4325112"/>
            <a:ext cx="4002024" cy="3566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55664" y="493776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47857"/>
                </a:solidFill>
                <a:latin typeface="Segoe UI"/>
              </a:rPr>
              <a:t>The Mechatronic Solution (DLS Filtering):
</a:t>
            </a:r>
            <a:r>
              <a:rPr sz="1050">
                <a:solidFill>
                  <a:srgbClr val="1E293B"/>
                </a:solidFill>
                <a:latin typeface="Segoe UI"/>
              </a:rPr>
              <a:t>LTTS controls engineers insert Damped Least-Squares (DLS) inversion and singularity-avoidance gradient projection between neural policy outputs and joint servo drives. This prevents infinite torque demands, drive trips, and stripped gears.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Deterministic RTOS Timing &amp; Operational Data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Sub-millisecond jitter guarantees and the five-stage closed-loop data engine for continuous improvement.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HARD REAL-TIME ARCHITECTURE (&lt; 1MS)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Deterministic Sub-1ms RTOS Execution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Timing Hierarchy: </a:t>
            </a:r>
            <a:r>
              <a:rPr sz="1050">
                <a:solidFill>
                  <a:srgbClr val="1E293B"/>
                </a:solidFill>
                <a:latin typeface="Segoe UI"/>
              </a:rPr>
              <a:t>Factory safety interlocks operate at 1kHz (1ms cycle time), motor joint servo commutation at 500Hz (2ms), and high-level neural policy inference at 50Hz–100Hz (10–20ms).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Sub-Millisecond Jitter Tolerance (&lt; 1ms): </a:t>
            </a:r>
            <a:r>
              <a:rPr sz="1050">
                <a:solidFill>
                  <a:srgbClr val="1E293B"/>
                </a:solidFill>
                <a:latin typeface="Segoe UI"/>
              </a:rPr>
              <a:t>In high-speed assembly and machining cells, timing jitter exceeding 1ms creates dynamic phase lag, hunting oscillations, and emergency line shut-downs.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Dual-Kernel Real-Time OS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Deploying Linux PREEMPT_RT or QNX RTOS on edge compute platforms to strictly isolate non-deterministic Python neural inference from deterministic safety PLC threads.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Hardware Watchdog Governors: </a:t>
            </a:r>
            <a:r>
              <a:rPr sz="1050">
                <a:solidFill>
                  <a:srgbClr val="1E293B"/>
                </a:solidFill>
                <a:latin typeface="Segoe UI"/>
              </a:rPr>
              <a:t>LTTS implements hardware-level watchdog timers that automatically engage dynamic motor braking if neural inference fails to return a valid trajectory within the 10ms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CLOSED-LOOP DATA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The 5-Stage Operational Data Flywheel
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1. Live Plant Telemetry Logging: </a:t>
            </a:r>
            <a:r>
              <a:rPr sz="1050">
                <a:solidFill>
                  <a:srgbClr val="1E293B"/>
                </a:solidFill>
                <a:latin typeface="Segoe UI"/>
              </a:rPr>
              <a:t>Continuous edge circular-buffer recording of motor joint torques, encoder positions, tactile pressures, and synchronized camera feeds during production.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2. Anomaly &amp; Edge-Case Harvest: </a:t>
            </a:r>
            <a:r>
              <a:rPr sz="1050">
                <a:solidFill>
                  <a:srgbClr val="1E293B"/>
                </a:solidFill>
                <a:latin typeface="Segoe UI"/>
              </a:rPr>
              <a:t>Automated trigger filters isolating the 0.01% of unusual contact events, micro-slips, visual occlusions, and human safety boundary crossings.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3. Synthetic Simulation Variation: </a:t>
            </a:r>
            <a:r>
              <a:rPr sz="1050">
                <a:solidFill>
                  <a:srgbClr val="1E293B"/>
                </a:solidFill>
                <a:latin typeface="Segoe UI"/>
              </a:rPr>
              <a:t>Injecting real-world plant failures into NVIDIA Omniverse digital twins to automatically generate 10,000 synthetic variations across friction and lighting.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4. Policy Retraining &amp; CBF Reachability: </a:t>
            </a:r>
            <a:r>
              <a:rPr sz="1050">
                <a:solidFill>
                  <a:srgbClr val="1E293B"/>
                </a:solidFill>
                <a:latin typeface="Segoe UI"/>
              </a:rPr>
              <a:t>Retraining neural policy checkpoints on the augmented dataset, followed by automated Control Barrier Function (CBF) formal reachability verification.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5. Shadow Deployment &amp; Canary Gate: </a:t>
            </a:r>
            <a:r>
              <a:rPr sz="1050">
                <a:solidFill>
                  <a:srgbClr val="1E293B"/>
                </a:solidFill>
                <a:latin typeface="Segoe UI"/>
              </a:rPr>
              <a:t>Running updated policies in shadow mode alongside live production lines before gating full operational control authority to the robot.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Comprehensive Sources Index: Industry &amp; Research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Audited corporate disclosures, regulatory filings, peer-reviewed preprints, and official OEM pilot announcements.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COMMERCIAL &amp; CAPITAL DISCLOSURES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39"/>
            <a:ext cx="477316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Segoe UI"/>
              </a:rPr>
              <a:t>Primary Capital &amp; Corporate Disclosures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Wayve ($1.05B Series C): </a:t>
            </a:r>
            <a:r>
              <a:rPr sz="1000">
                <a:solidFill>
                  <a:srgbClr val="1E293B"/>
                </a:solidFill>
                <a:latin typeface="Segoe UI"/>
              </a:rPr>
              <a:t>Corporate Announcement (May 7, 2024). SoftBank, NVIDIA, Microsoft.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Figure AI ($675M Series B):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(Feb 29, 2024). Microsoft, OpenAI, NVIDIA, Bezos ($2.6B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Physical Intelligence ($400M Series A): </a:t>
            </a:r>
            <a:r>
              <a:rPr sz="1000">
                <a:solidFill>
                  <a:srgbClr val="1E293B"/>
                </a:solidFill>
                <a:latin typeface="Segoe UI"/>
              </a:rPr>
              <a:t>Company Disclosure (Nov 4, 2024). Bezos, Thrive, Lux ($2.4B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Skild AI ($300M Series A):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(Jul 9, 2024). Lightspeed, Coatue, SoftBank ($1.5B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Applied Intuition ($250M Series E):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(Mar 12, 2024). Lux Capital, Elad Gil, Porsche ($6.0B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Scale AI ($1.0B Series F): </a:t>
            </a:r>
            <a:r>
              <a:rPr sz="1000">
                <a:solidFill>
                  <a:srgbClr val="1E293B"/>
                </a:solidFill>
                <a:latin typeface="Segoe UI"/>
              </a:rPr>
              <a:t>Company Disclosure (May 21, 2024). Accel and strategic partners ($13.8B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Waymo Commercial Mileage: </a:t>
            </a:r>
            <a:r>
              <a:rPr sz="1000">
                <a:solidFill>
                  <a:srgbClr val="1E293B"/>
                </a:solidFill>
                <a:latin typeface="Segoe UI"/>
              </a:rPr>
              <a:t>Alphabet Q3 2024 Earnings Call (Oct 29, 2024). &gt;150k trips/wk, &gt;1M miles/wk.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Amazon / Covariant License: </a:t>
            </a:r>
            <a:r>
              <a:rPr sz="1000">
                <a:solidFill>
                  <a:srgbClr val="1E293B"/>
                </a:solidFill>
                <a:latin typeface="Segoe UI"/>
              </a:rPr>
              <a:t>Corporate Announcement (Aug 30, 2024). Founder hiring &amp; non-exclusive license.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RESEARCH &amp; TRIAL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77439"/>
            <a:ext cx="477316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Segoe UI"/>
              </a:rPr>
              <a:t>Research Literature &amp; Customer Pilot Benchmarks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Continuous Action Flow Matching: </a:t>
            </a:r>
            <a:r>
              <a:rPr sz="1000">
                <a:solidFill>
                  <a:srgbClr val="1E293B"/>
                </a:solidFill>
                <a:latin typeface="Segoe UI"/>
              </a:rPr>
              <a:t>Physical Intelligence Technical Report on π0 (Oct 2024, arXiv:2410.24164).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Egocentric Scaling Laws: </a:t>
            </a:r>
            <a:r>
              <a:rPr sz="1000">
                <a:solidFill>
                  <a:srgbClr val="1E293B"/>
                </a:solidFill>
                <a:latin typeface="Segoe UI"/>
              </a:rPr>
              <a:t>NVIDIA GEAR Research Report on EgoScale (Feb 2026, arXiv:2602.16710).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Pearl's Causal Hierarchy: </a:t>
            </a:r>
            <a:r>
              <a:rPr sz="1000">
                <a:solidFill>
                  <a:srgbClr val="1E293B"/>
                </a:solidFill>
                <a:latin typeface="Segoe UI"/>
              </a:rPr>
              <a:t>Judea Pearl, Causality: Models, Reasoning, and Inference, Cambridge Univ Press.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BMW Spartanburg Plant Trial: </a:t>
            </a:r>
            <a:r>
              <a:rPr sz="1000">
                <a:solidFill>
                  <a:srgbClr val="1E293B"/>
                </a:solidFill>
                <a:latin typeface="Segoe UI"/>
              </a:rPr>
              <a:t>BMW Group Press Release (Aug 2024). Figure 02 humanoid in sheet metal assembly.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Mercedes-Benz Apollo Pilot: </a:t>
            </a:r>
            <a:r>
              <a:rPr sz="1000">
                <a:solidFill>
                  <a:srgbClr val="1E293B"/>
                </a:solidFill>
                <a:latin typeface="Segoe UI"/>
              </a:rPr>
              <a:t>Mercedes-Benz &amp; Apptronik Agreement Announcement (Mar 15, 2024). Parts delivery.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DHL Boston Dynamics Deployment: </a:t>
            </a:r>
            <a:r>
              <a:rPr sz="1000">
                <a:solidFill>
                  <a:srgbClr val="1E293B"/>
                </a:solidFill>
                <a:latin typeface="Segoe UI"/>
              </a:rPr>
              <a:t>DHL Supply Chain Announcement (2024). Stretch mobile manipulators for containers.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Microsoft Copilot: </a:t>
            </a:r>
            <a:r>
              <a:rPr sz="1000">
                <a:solidFill>
                  <a:srgbClr val="1E293B"/>
                </a:solidFill>
                <a:latin typeface="Segoe UI"/>
              </a:rPr>
              <a:t>Siemens AG Press Release (2024). Industrial AI copilot inside Siemens TIA Portal.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Intrinsic Strategic Alliance: </a:t>
            </a:r>
            <a:r>
              <a:rPr sz="1000">
                <a:solidFill>
                  <a:srgbClr val="1E293B"/>
                </a:solidFill>
                <a:latin typeface="Segoe UI"/>
              </a:rPr>
              <a:t>Siemens &amp; Alphabet Intrinsic Announcement (2024). Robotics AI automation.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Adversarial Self-Critique Log &amp; Official Document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Complete audit record of 11 downgraded claims and formal executive sign-off for LTTS leadership.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58368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583680" cy="5486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20824"/>
            <a:ext cx="612648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ADVERSARIAL AUDIT LOG · 11 UNVERIFIED CLAIMS RETRACTED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61264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Segoe UI"/>
              </a:rPr>
              <a:t>Audit Governance: Downgraded Unverified Industry Extrapolations
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1. Ford Battery Scrap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42% scrap / $18M warranty savings at Rawsonville; not in audited SEC 10-Ks.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2. Airbus Hole Defects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&lt;2 PPM defect rate on A350 wings; unverified industry whitepaper extrapolation.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3. Amazon Mobile Fleet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Cited 750,000 robots; conflated legacy Kiva AGVs with modern AI AMRs (Proteus).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4. GE Vernova Outages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$380M saved across 1,200 turbines; vendor marketing modeled projection.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5. TSMC Lithography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2.1x yield accuracy; proprietary N3/N2 foundry trade secret not auditable.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6. Caterpillar Haulage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250M km zero-injury; vendor marketing copy rather than certified safety study.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7. Intuitive Surgical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40% surgeon strain reduction on da Vinci 5; uncontrolled ergonomic PR claim.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8. Symbotic Deployments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$500M+ Walmart deployment; conflated multi-year backlog with active AI software.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9. DHL Turnaround Time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trailer turn from 90 to 38 mins; site-level non-standardized pilot data.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10. Siemens Energy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45% valve failure reduction; unaudited whitepaper statistic without third-party audit.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11. Decorative Equations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Removed unconnected PINN loss functions and InfoNCE contrastive equations as academic padding.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0375" y="1874519"/>
            <a:ext cx="3877056" cy="4251960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0375" y="1874519"/>
            <a:ext cx="3877056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63255" y="2020824"/>
            <a:ext cx="351129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OFFICIAL DOCUMENT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5" y="2313432"/>
            <a:ext cx="3511296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2B49"/>
                </a:solidFill>
                <a:latin typeface="Segoe UI"/>
              </a:rPr>
              <a:t>Official Briefing Sign-Off Register
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Document ID: </a:t>
            </a:r>
            <a:r>
              <a:rPr sz="1050">
                <a:solidFill>
                  <a:srgbClr val="1E293B"/>
                </a:solidFill>
                <a:latin typeface="Segoe UI"/>
              </a:rPr>
              <a:t>LTTS-PAI-2026-MASTER-01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Release Version: </a:t>
            </a:r>
            <a:r>
              <a:rPr sz="1050">
                <a:solidFill>
                  <a:srgbClr val="1E293B"/>
                </a:solidFill>
                <a:latin typeface="Segoe UI"/>
              </a:rPr>
              <a:t>3.0 Master Executive Release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Classification: </a:t>
            </a:r>
            <a:r>
              <a:rPr sz="1050">
                <a:solidFill>
                  <a:srgbClr val="1E293B"/>
                </a:solidFill>
                <a:latin typeface="Segoe UI"/>
              </a:rPr>
              <a:t>Strictly Confidential &amp; Proprietary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Date of Issue: </a:t>
            </a:r>
            <a:r>
              <a:rPr sz="1050">
                <a:solidFill>
                  <a:srgbClr val="1E293B"/>
                </a:solidFill>
                <a:latin typeface="Segoe UI"/>
              </a:rPr>
              <a:t>September 2026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Review Status: </a:t>
            </a:r>
            <a:r>
              <a:rPr sz="1050">
                <a:solidFill>
                  <a:srgbClr val="1E293B"/>
                </a:solidFill>
                <a:latin typeface="Segoe UI"/>
              </a:rPr>
              <a:t>Peer-Reviewed &amp; Adversarially Audited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Prepared Exclusively For: </a:t>
            </a:r>
            <a:r>
              <a:rPr sz="1050">
                <a:solidFill>
                  <a:srgbClr val="0A58CA"/>
                </a:solidFill>
                <a:latin typeface="Segoe UI"/>
              </a:rPr>
              <a:t>Dr. Madhusudhan Singh
Executive Leadership, L&amp;T Technology Services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Primary Research Author: </a:t>
            </a:r>
            <a:r>
              <a:rPr sz="1050">
                <a:solidFill>
                  <a:srgbClr val="0A58CA"/>
                </a:solidFill>
                <a:latin typeface="Segoe UI"/>
              </a:rPr>
              <a:t>Adari Karthikeya
Physical AI Practice Research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Action Required: </a:t>
            </a:r>
            <a:r>
              <a:rPr sz="1050">
                <a:solidFill>
                  <a:srgbClr val="0A58CA"/>
                </a:solidFill>
                <a:latin typeface="Segoe UI"/>
              </a:rPr>
              <a:t>Executive Review &amp; Budget Authorization for Q1 2027 Strategic Program ($8.3M)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