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at a structural inflection point in the global economy. For the past five years, artificial intelligence has been confined to the screen. Today, we are bringing it into the physical world. This briefing outlines the exact mathematical and commercial architecture we will use to deploy physical AI at industrial scale.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capital expenditure supercycle behind AI is unprecedented. But we are currently operating under 'fragile trust.' Enterprises are buying in, but these systems still unpredictably fail in physical space. The gap between individual productivity and organizational transformation is a governance gap. The market will disproportionately reward whoever bridges this gap with verifiable capability.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where we are investing, we must look at how the learning signal has evolved. We have moved from human labels, to internet text, to inference-time reasoning. We are now entering the fourth epoch: Embodied Physical AI. Each epoch absorbed the previous one. Physical AI is not a new field bolted on; it is the absolute frontier where the remaining marginal capability lives.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assumption that sheer scale yields general intelligence is mathematically breaking down. The irreducible entropy floor 'E' does not move, and we are literally running out of internet text to train on. We have hit the compute wall, capped by gigawatt power availability. The lever for future capability is no longer raw pretraining capital; it is proprietary, physics-verified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industry has unified pretraining and test-time execution under a single compute budget. We are moving away from massive, sluggish models to heavily overtrained systems that deliberate at inference time—System Two reasoning. Raw intelligence is commoditizing rapidly. The defensible moat is no longer owning the largest model, but owning proprietary, physically verified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economic impact is staggering—projected at a $15.7 trillion GDP uplift by 2030. Notice where the impact is highest: Software and Manufacturing. Why? Because these fields offer closed-loop verifiability. If the code compiles, or the robot correctly picks up the part, the model gets an unambiguous success signal. This verifiable feedback loop is what we are capitalizing 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language model can write a fluent paragraph about a wrench slipping off a bolt. But it cannot predict the specific trajectory, torque, and friction required to turn that bolt in three-dimensional space. Text models are stuck on the 'Association' rung of Judea Pearl's ladder. Physical deployment requires 'Intervention' and 'Counterfactual' reasoning based on continuous physical dynamics.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Formally, we model physical environments as POMDPs. To make this computationally tractable, world models operate in a compressed latent space. The model compresses a live video feed, predicts what the state will become if it takes an action, and reconstructs that prediction. This allows the system to roll forward thousands of scenarios per second without rendering every pixel.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equation is the mathematical beating heart of Physical AI. Before a robotic arm moves, it imagines multiple futures. It calculates the expected value of every reward it can obtain across a given time horizon, strictly inside its own internal simulation. This is the definition of simulative reasoning.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currently three schools of thought. The Renderer school generates beautiful video but fails at strict physics. The Latent school is highly efficient and built for low-latency robotic control. The Spatial school uses explicitly engineered physics grids. Conflating video generators with engineering-grade world models is a massive strategic error. For $100M industrial deployments, we rely on the Spatial and Latent schools.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must be brutally honest about where these models fail. The first failure mode is autoregressive drift—errors compound over time until the simulation breaks down. The second is the executability gap. A generated video might look perfect, but if it ignores Coulomb friction, a robot executing that trajectory will crush the component it is trying to assemble.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Furthermore, if an encoder sees a tool it doesn't recognize, it will hallucinate it into something it does, silently poisoning the system. Or worse, 'Action Marginalization' occurs, where the model simply ignores human control inputs entirely. Finally, the sim-to-real gap guarantees that purely synthetic training is never enough. We must have a hybrid data strategy.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human data is running out, synthetic data is our connective tissue. But synthetic data is not a monolith. It exists on a spectrum from cheap self-play up to ASIC-grade formally verified data. A mature strategy does not treat all synthetic data equally; it uses formal verification where safety is critical.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feed a model its own unchecked output, its variance collapses to zero. It forgets reality. To prevent this, we deploy an 'Accumulate-and-Filter' strategy. We maintain a strict mathematical ratio—alpha—between real data and synthetically verified data. This equation is the foundational governance constraint of our entire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scale this without human labels? We use Group Relative Policy Optimization. The system generates multiple candidate trajectories. A strict physics engine acts as the verifier, grading them against the group average. The model teaches itself by recognizing which actions outperformed the mean. This is how we achieve massive scale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the executability gap we discussed earlier, we rely on Physics-Informed Neural Networks. By injecting a differential-operator penalty into the loss function, we force the AI's imagination to strictly obey the laws of thermodynamics, mass, and momentum. We are not generating convincing video; we are generating verified physics.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production environment, safety is paramount. We monitor real-time uncertainty using two metrics: Reconstruction Residual, which measures how well the model understands its input, and Inter-Seed Denoising Variance, which measures the model's own internal confidence. If either of these spike, the system pauses and flags the anomaly for review. It fails safely.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us to the operational architecture. We take real telemetry, calibrate the world model, generate millions of verified synthetic edge cases, deploy the zero-shot policy, and log the uncertainties to feed back into the loop. This closed-loop flywheel is our ultimate competitive moat. You can buy compute, but you cannot buy this operational data ecosystem.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we are shifting away from physical prototyping to highly scalable, verified computational simulation. We are automating our data pipelines and mandating rigorous physics verification at every step. This architecture accelerates time-to-market and establishes a durable position of technical leadership. This is how we execute the future of physical AI.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 Genesis of Physical Artificial Intelligence</a:t>
            </a:r>
          </a:p>
        </p:txBody>
      </p:sp>
      <p:sp>
        <p:nvSpPr>
          <p:cNvPr id="3" name="Subtitle 2"/>
          <p:cNvSpPr>
            <a:spLocks noGrp="1"/>
          </p:cNvSpPr>
          <p:nvPr>
            <p:ph type="subTitle" idx="1"/>
          </p:nvPr>
        </p:nvSpPr>
        <p:spPr/>
        <p:txBody>
          <a:bodyPr/>
          <a:lstStyle/>
          <a:p>
            <a:r>
              <a:t>Strategic Briefing &amp; The $100M Deployment Architecture</a:t>
            </a:r>
          </a:p>
          <a:p>
            <a:r>
              <a:t>Date: August 2026</a:t>
            </a:r>
          </a:p>
          <a:p>
            <a:r>
              <a:t>Confidential and Proprietary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Macro-Economic Surge</a:t>
            </a:r>
          </a:p>
        </p:txBody>
      </p:sp>
      <p:sp>
        <p:nvSpPr>
          <p:cNvPr id="3" name="Content Placeholder 2"/>
          <p:cNvSpPr>
            <a:spLocks noGrp="1"/>
          </p:cNvSpPr>
          <p:nvPr>
            <p:ph idx="1"/>
          </p:nvPr>
        </p:nvSpPr>
        <p:spPr/>
        <p:txBody>
          <a:bodyPr/>
          <a:lstStyle/>
          <a:p>
            <a:pPr>
              <a:defRPr b="1"/>
            </a:pPr>
            <a:r>
              <a:t>A Half-Trillion Dollar Supercycle and the Fragile Trust Paradox</a:t>
            </a:r>
          </a:p>
          <a:p>
            <a:pPr lvl="1"/>
            <a:r>
              <a:t>Worldwide AI Spending (2027): &gt; $512 Billion</a:t>
            </a:r>
          </a:p>
          <a:p>
            <a:pPr lvl="1"/>
            <a:r>
              <a:t>Revenue Impact: 88% of adopters report measurable revenue gains.</a:t>
            </a:r>
          </a:p>
          <a:p>
            <a:pPr lvl="1"/>
            <a:r>
              <a:t>Cost Impact: 87% report direct cost savings.</a:t>
            </a:r>
          </a:p>
          <a:p>
            <a:pPr lvl="1"/>
            <a:r>
              <a:t>The Paradox: Massive deployment coexists with systems that fail basic logical tasks.</a:t>
            </a:r>
          </a:p>
          <a:p>
            <a:pPr lvl="1"/>
            <a:r>
              <a:t>The Gap: 2/3 report productivity gains, but only 1/3 are reimagining business processes. Individual adoption outpaces enterprise governance (Shadow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Four Epochs of Machine Intelligence</a:t>
            </a:r>
          </a:p>
        </p:txBody>
      </p:sp>
      <p:sp>
        <p:nvSpPr>
          <p:cNvPr id="3" name="Content Placeholder 2"/>
          <p:cNvSpPr>
            <a:spLocks noGrp="1"/>
          </p:cNvSpPr>
          <p:nvPr>
            <p:ph idx="1"/>
          </p:nvPr>
        </p:nvSpPr>
        <p:spPr/>
        <p:txBody>
          <a:bodyPr/>
          <a:lstStyle/>
          <a:p>
            <a:pPr>
              <a:defRPr b="1"/>
            </a:pPr>
            <a:r>
              <a:t>From Static Pattern Recognition to Embodied Physical AI</a:t>
            </a:r>
          </a:p>
          <a:p>
            <a:pPr lvl="1"/>
            <a:r>
              <a:t>1. Supervised Discriminative (pre-2018): Human-annotated labels. Bottleneck: Labeling cost.</a:t>
            </a:r>
          </a:p>
          <a:p>
            <a:pPr lvl="1"/>
            <a:r>
              <a:t>2. Autoregressive Pretraining (2018-2023): Raw internet text. Bottleneck: Data &amp; compute volume.</a:t>
            </a:r>
          </a:p>
          <a:p>
            <a:pPr lvl="1"/>
            <a:r>
              <a:t>3. Test-Time Reasoning &amp; Search (2023-2025): Inference-time deliberation. Bottleneck: Inference compute cost.</a:t>
            </a:r>
          </a:p>
          <a:p>
            <a:pPr lvl="1"/>
            <a:r>
              <a:t>4. Embodied Physical AI (2025-present): Interaction &amp; simulation in 3D space. Bottleneck: Physically verified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Limits of Classical Scaling</a:t>
            </a:r>
          </a:p>
        </p:txBody>
      </p:sp>
      <p:sp>
        <p:nvSpPr>
          <p:cNvPr id="3" name="Content Placeholder 2"/>
          <p:cNvSpPr>
            <a:spLocks noGrp="1"/>
          </p:cNvSpPr>
          <p:nvPr>
            <p:ph idx="1"/>
          </p:nvPr>
        </p:nvSpPr>
        <p:spPr/>
        <p:txBody>
          <a:bodyPr/>
          <a:lstStyle/>
          <a:p>
            <a:pPr>
              <a:defRPr b="1"/>
            </a:pPr>
            <a:r>
              <a:t>The Data Exhaustion Crisis &amp; Compute Wall</a:t>
            </a:r>
          </a:p>
          <a:p>
            <a:pPr lvl="1"/>
            <a:r>
              <a:t>Kaplan / Chinchilla Scaling Law: L(N, D) = E + A/(N^a) + B/(D^b)</a:t>
            </a:r>
          </a:p>
          <a:p>
            <a:pPr lvl="1"/>
            <a:r>
              <a:t>Data Exhaustion: Public human-generated text (10^14 tokens) will be exhausted between 2027 and 2028.</a:t>
            </a:r>
          </a:p>
          <a:p>
            <a:pPr lvl="1"/>
            <a:r>
              <a:t>The Compute Wall: Gigawatt-scale grid constraints cap compute acceleration.</a:t>
            </a:r>
          </a:p>
          <a:p>
            <a:pPr lvl="1"/>
            <a:r>
              <a:t>Growth decelerates from 10x/yr to 3-4x/yr by 2028.</a:t>
            </a:r>
          </a:p>
          <a:p>
            <a:pPr lvl="1"/>
            <a:r>
              <a:t>Takeaway: Progress is migrating from a compute-bound regime to a data-bound and verification-bound regime.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Paradigm Shift in Compute Allocation</a:t>
            </a:r>
          </a:p>
        </p:txBody>
      </p:sp>
      <p:sp>
        <p:nvSpPr>
          <p:cNvPr id="3" name="Content Placeholder 2"/>
          <p:cNvSpPr>
            <a:spLocks noGrp="1"/>
          </p:cNvSpPr>
          <p:nvPr>
            <p:ph idx="1"/>
          </p:nvPr>
        </p:nvSpPr>
        <p:spPr/>
        <p:txBody>
          <a:bodyPr/>
          <a:lstStyle/>
          <a:p>
            <a:pPr>
              <a:defRPr b="1"/>
            </a:pPr>
            <a:r>
              <a:t>The Shift to Train-to-Test Scaling</a:t>
            </a:r>
          </a:p>
          <a:p>
            <a:pPr lvl="1"/>
            <a:r>
              <a:t>Unified Compute Budget: C_total = C_train + C_infer = 6ND + 2N_active * sum(T_q,k)</a:t>
            </a:r>
          </a:p>
          <a:p>
            <a:pPr lvl="1"/>
            <a:r>
              <a:t>System 1 vs. System 2:</a:t>
            </a:r>
          </a:p>
          <a:p>
            <a:pPr lvl="1"/>
            <a:r>
              <a:t> - System 1: Single reflexive forward pass (Fast, cheap, brittle).</a:t>
            </a:r>
          </a:p>
          <a:p>
            <a:pPr lvl="1"/>
            <a:r>
              <a:t> - System 2: Monte Carlo Tree Search, Process Reward Models, backtracking (Slow, self-correcting).</a:t>
            </a:r>
          </a:p>
          <a:p>
            <a:pPr lvl="1"/>
            <a:r>
              <a:t>Cost Collapse: Raw intelligence cost is deflating by &gt;90% annually.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Cross-Industry Sector Impact</a:t>
            </a:r>
          </a:p>
        </p:txBody>
      </p:sp>
      <p:sp>
        <p:nvSpPr>
          <p:cNvPr id="3" name="Content Placeholder 2"/>
          <p:cNvSpPr>
            <a:spLocks noGrp="1"/>
          </p:cNvSpPr>
          <p:nvPr>
            <p:ph idx="1"/>
          </p:nvPr>
        </p:nvSpPr>
        <p:spPr/>
        <p:txBody>
          <a:bodyPr/>
          <a:lstStyle/>
          <a:p>
            <a:pPr>
              <a:defRPr b="1"/>
            </a:pPr>
            <a:r>
              <a:t>Quantifying the ROI of Task-Level Automation</a:t>
            </a:r>
          </a:p>
          <a:p>
            <a:pPr lvl="1"/>
            <a:r>
              <a:t>Software Engineering: 55.8% task acceleration. (Closed-loop verifiability via compilers).</a:t>
            </a:r>
          </a:p>
          <a:p>
            <a:pPr lvl="1"/>
            <a:r>
              <a:t>Financial Services: 2.6x cross-industry average spending. High-volume, structured transaction automation.</a:t>
            </a:r>
          </a:p>
          <a:p>
            <a:pPr lvl="1"/>
            <a:r>
              <a:t>Healthcare &amp; Large Quantitative Models: 70% reduction in lead-optimization cycle time for early-stage drug candidates.</a:t>
            </a:r>
          </a:p>
          <a:p>
            <a:pPr lvl="1"/>
            <a:r>
              <a:t>Manufacturing &amp; Physical AI: 80% penetration projected by 2027. 80% reduction in industrial pilot setup time via simulation.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Beyond the Autoregressive Bottleneck</a:t>
            </a:r>
          </a:p>
        </p:txBody>
      </p:sp>
      <p:sp>
        <p:nvSpPr>
          <p:cNvPr id="3" name="Content Placeholder 2"/>
          <p:cNvSpPr>
            <a:spLocks noGrp="1"/>
          </p:cNvSpPr>
          <p:nvPr>
            <p:ph idx="1"/>
          </p:nvPr>
        </p:nvSpPr>
        <p:spPr/>
        <p:txBody>
          <a:bodyPr/>
          <a:lstStyle/>
          <a:p>
            <a:pPr>
              <a:defRPr b="1"/>
            </a:pPr>
            <a:r>
              <a:t>Grounding AI in Physical Space via Causal Reasoning</a:t>
            </a:r>
          </a:p>
          <a:p>
            <a:pPr lvl="1"/>
            <a:r>
              <a:t>Judea Pearl’s Causal Ladder:</a:t>
            </a:r>
          </a:p>
          <a:p>
            <a:pPr lvl="1"/>
            <a:r>
              <a:t> - 1. Association: Seeing and correlating (Language Models).</a:t>
            </a:r>
          </a:p>
          <a:p>
            <a:pPr lvl="1"/>
            <a:r>
              <a:t> - 2. Intervention: Doing and observing effects (Required for Robotics).</a:t>
            </a:r>
          </a:p>
          <a:p>
            <a:pPr lvl="1"/>
            <a:r>
              <a:t> - 3. Counterfactual: Imagining alternative scenarios.</a:t>
            </a:r>
          </a:p>
          <a:p>
            <a:pPr lvl="1"/>
            <a:r>
              <a:t>Continuous Dynamics Foundation: dx/dt = f(x, u, t)</a:t>
            </a:r>
          </a:p>
          <a:p>
            <a:pPr lvl="1"/>
            <a:r>
              <a:t>The Category Error: Deploying text-trained models into factory cells is a representational failure, not an engineering gap.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Formal Substrate of Physical AI</a:t>
            </a:r>
          </a:p>
        </p:txBody>
      </p:sp>
      <p:sp>
        <p:nvSpPr>
          <p:cNvPr id="3" name="Content Placeholder 2"/>
          <p:cNvSpPr>
            <a:spLocks noGrp="1"/>
          </p:cNvSpPr>
          <p:nvPr>
            <p:ph idx="1"/>
          </p:nvPr>
        </p:nvSpPr>
        <p:spPr/>
        <p:txBody>
          <a:bodyPr/>
          <a:lstStyle/>
          <a:p>
            <a:pPr>
              <a:defRPr b="1"/>
            </a:pPr>
            <a:r>
              <a:t>POMDPs and Latent World Models</a:t>
            </a:r>
          </a:p>
          <a:p>
            <a:pPr lvl="1"/>
            <a:r>
              <a:t>Partially Observable Markov Decision Process (POMDP):</a:t>
            </a:r>
          </a:p>
          <a:p>
            <a:pPr lvl="1"/>
            <a:r>
              <a:t> M = &lt;S, A, O, T, E, R, y&gt;</a:t>
            </a:r>
          </a:p>
          <a:p>
            <a:pPr lvl="1"/>
            <a:r>
              <a:t>Encoder, Transition, Decoder Formulation:</a:t>
            </a:r>
          </a:p>
          <a:p>
            <a:pPr lvl="1"/>
            <a:r>
              <a:t> z_t = E_psi(o_&lt;=t, a_&lt;t) --&gt; z^_t+1 ~ T^_theta(z^_t+1 | z_t, a_t) --&gt; o^_t+1 = D_phi(z^_t+1)</a:t>
            </a:r>
          </a:p>
          <a:p>
            <a:pPr lvl="1"/>
            <a:r>
              <a:t>The Mechanism: An encoder compresses reality into a latent state. A transition model predicts the future based on an action. A decoder reconstructs this into observable reality.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Simulative Reasoning</a:t>
            </a:r>
          </a:p>
        </p:txBody>
      </p:sp>
      <p:sp>
        <p:nvSpPr>
          <p:cNvPr id="3" name="Content Placeholder 2"/>
          <p:cNvSpPr>
            <a:spLocks noGrp="1"/>
          </p:cNvSpPr>
          <p:nvPr>
            <p:ph idx="1"/>
          </p:nvPr>
        </p:nvSpPr>
        <p:spPr/>
        <p:txBody>
          <a:bodyPr/>
          <a:lstStyle/>
          <a:p>
            <a:pPr>
              <a:defRPr b="1"/>
            </a:pPr>
            <a:r>
              <a:t>The Value Function Over Imagined Rollouts</a:t>
            </a:r>
          </a:p>
          <a:p>
            <a:pPr lvl="1"/>
            <a:r>
              <a:t>Value over Imagined Latent Rollouts:</a:t>
            </a:r>
          </a:p>
          <a:p>
            <a:pPr lvl="1"/>
            <a:r>
              <a:t> V^pi(z_t) = E_pi,T^_[ sum_{k=0}^H y^k r^_t+k + y^{H+1} V^w(z^_t+H+1) ]</a:t>
            </a:r>
          </a:p>
          <a:p>
            <a:pPr lvl="1"/>
            <a:r>
              <a:t>Core Concept: An agent carries an internal, discounted expectation of future rewards. It simulates a horizon H before ever committing an action in the real world.</a:t>
            </a:r>
          </a:p>
          <a:p>
            <a:pPr lvl="1"/>
            <a:r>
              <a:t>The Thesis: Intelligence requires an internal simulator of reality, not merely a predictor of the next word.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Contested Frontier: Three Schools of Thought</a:t>
            </a:r>
          </a:p>
        </p:txBody>
      </p:sp>
      <p:sp>
        <p:nvSpPr>
          <p:cNvPr id="3" name="Content Placeholder 2"/>
          <p:cNvSpPr>
            <a:spLocks noGrp="1"/>
          </p:cNvSpPr>
          <p:nvPr>
            <p:ph idx="1"/>
          </p:nvPr>
        </p:nvSpPr>
        <p:spPr/>
        <p:txBody>
          <a:bodyPr/>
          <a:lstStyle/>
          <a:p>
            <a:pPr>
              <a:defRPr b="1"/>
            </a:pPr>
            <a:r>
              <a:t>A Comparative Matrix of Technical Architectures</a:t>
            </a:r>
          </a:p>
          <a:p>
            <a:pPr lvl="1"/>
            <a:r>
              <a:t>1. Generative Simulators (Renderer School):</a:t>
            </a:r>
          </a:p>
          <a:p>
            <a:pPr lvl="1"/>
            <a:r>
              <a:t> - Exemplars: Sora, Genie, Oasis.</a:t>
            </a:r>
          </a:p>
          <a:p>
            <a:pPr lvl="1"/>
            <a:r>
              <a:t> - Flaw: High hallucination, learns physics only incidentally.</a:t>
            </a:r>
          </a:p>
          <a:p>
            <a:pPr lvl="1"/>
            <a:r>
              <a:t>2. Latent / JEPA School:</a:t>
            </a:r>
          </a:p>
          <a:p>
            <a:pPr lvl="1"/>
            <a:r>
              <a:t> - Exemplars: V-JEPA, DreamerV3.</a:t>
            </a:r>
          </a:p>
          <a:p>
            <a:pPr lvl="1"/>
            <a:r>
              <a:t> - Advantage: High data efficiency, very low latency (sub-5ms).</a:t>
            </a:r>
          </a:p>
          <a:p>
            <a:pPr lvl="1"/>
            <a:r>
              <a:t>3. Spatial / Engineered School:</a:t>
            </a:r>
          </a:p>
          <a:p>
            <a:pPr lvl="1"/>
            <a:r>
              <a:t> - Exemplars: Tesla Occupancy Nets, NVIDIA Cosmos/Isaac.</a:t>
            </a:r>
          </a:p>
          <a:p>
            <a:pPr lvl="1"/>
            <a:r>
              <a:t> - Advantage: Explicit physical constraints (PINNs); highly verifiable for industrial deployment.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Systemic Vulnerabilities (Part 1)</a:t>
            </a:r>
          </a:p>
        </p:txBody>
      </p:sp>
      <p:sp>
        <p:nvSpPr>
          <p:cNvPr id="3" name="Content Placeholder 2"/>
          <p:cNvSpPr>
            <a:spLocks noGrp="1"/>
          </p:cNvSpPr>
          <p:nvPr>
            <p:ph idx="1"/>
          </p:nvPr>
        </p:nvSpPr>
        <p:spPr/>
        <p:txBody>
          <a:bodyPr/>
          <a:lstStyle/>
          <a:p>
            <a:pPr>
              <a:defRPr b="1"/>
            </a:pPr>
            <a:r>
              <a:t>Canonical Failure Modes: Drift &amp; Executability</a:t>
            </a:r>
          </a:p>
          <a:p>
            <a:pPr lvl="1"/>
            <a:r>
              <a:t>Failure Mode 1: Compounding Autoregressive Drift</a:t>
            </a:r>
          </a:p>
          <a:p>
            <a:pPr lvl="1"/>
            <a:r>
              <a:t> E[||z^_T - z_T||] &lt;= O(T * e)</a:t>
            </a:r>
          </a:p>
          <a:p>
            <a:pPr lvl="1"/>
            <a:r>
              <a:t> - Impact: Small single-step errors snowball. Objects drift or are forgotten over long time horizons.</a:t>
            </a:r>
          </a:p>
          <a:p>
            <a:pPr lvl="1"/>
            <a:r>
              <a:t>Failure Mode 2: The Executability Gap</a:t>
            </a:r>
          </a:p>
          <a:p>
            <a:pPr lvl="1"/>
            <a:r>
              <a:t> - Physics Breakdown: Perceptual losses reward visuals, not physics. Models fail to obey contact dynamics like Coulomb friction (F_contact = u F_N).</a:t>
            </a:r>
          </a:p>
          <a:p>
            <a:pPr lvl="1"/>
            <a:r>
              <a:t> - Impact: Visually flawless video leads to shattered parts on the factory floor.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Systemic Vulnerabilities (Part 2)</a:t>
            </a:r>
          </a:p>
        </p:txBody>
      </p:sp>
      <p:sp>
        <p:nvSpPr>
          <p:cNvPr id="3" name="Content Placeholder 2"/>
          <p:cNvSpPr>
            <a:spLocks noGrp="1"/>
          </p:cNvSpPr>
          <p:nvPr>
            <p:ph idx="1"/>
          </p:nvPr>
        </p:nvSpPr>
        <p:spPr/>
        <p:txBody>
          <a:bodyPr/>
          <a:lstStyle/>
          <a:p>
            <a:pPr>
              <a:defRPr b="1"/>
            </a:pPr>
            <a:r>
              <a:t>Hallucination, Marginalization, and the Sim-to-Real Gap</a:t>
            </a:r>
          </a:p>
          <a:p>
            <a:pPr lvl="1"/>
            <a:r>
              <a:t>Failure Mode 3: Perceptual Hallucination</a:t>
            </a:r>
          </a:p>
          <a:p>
            <a:pPr lvl="1"/>
            <a:r>
              <a:t> z_q(x) = argmin_k ||E(x) - e_k||_2</a:t>
            </a:r>
          </a:p>
          <a:p>
            <a:pPr lvl="1"/>
            <a:r>
              <a:t> - Impact: Unfamiliar objects are forced into known codebook tokens, silently corrupting the simulation.</a:t>
            </a:r>
          </a:p>
          <a:p>
            <a:pPr lvl="1"/>
            <a:r>
              <a:t>Failure Mode 4: Action Marginalization</a:t>
            </a:r>
          </a:p>
          <a:p>
            <a:pPr lvl="1"/>
            <a:r>
              <a:t> E[||T^(z, a) - T^(z, shuffle(a))||^2] -&gt; 0</a:t>
            </a:r>
          </a:p>
          <a:p>
            <a:pPr lvl="1"/>
            <a:r>
              <a:t> - Impact: The model ignores control inputs and hallucinates an 'autopilot' sequence.</a:t>
            </a:r>
          </a:p>
          <a:p>
            <a:pPr lvl="1"/>
            <a:r>
              <a:t>Failure Mode 5: The Sim-to-Real Gap</a:t>
            </a:r>
          </a:p>
          <a:p>
            <a:pPr lvl="1"/>
            <a:r>
              <a:t> D_real != D_sim</a:t>
            </a:r>
          </a:p>
          <a:p>
            <a:pPr lvl="1"/>
            <a:r>
              <a:t> - Impact: Synthetic data cannot entirely replace real-world data due to sensor noise and long-tail variability.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Synthetic Data Taxonomy</a:t>
            </a:r>
          </a:p>
        </p:txBody>
      </p:sp>
      <p:sp>
        <p:nvSpPr>
          <p:cNvPr id="3" name="Content Placeholder 2"/>
          <p:cNvSpPr>
            <a:spLocks noGrp="1"/>
          </p:cNvSpPr>
          <p:nvPr>
            <p:ph idx="1"/>
          </p:nvPr>
        </p:nvSpPr>
        <p:spPr/>
        <p:txBody>
          <a:bodyPr/>
          <a:lstStyle/>
          <a:p>
            <a:pPr>
              <a:defRPr b="1"/>
            </a:pPr>
            <a:r>
              <a:t>Bridging Data Exhaustion with Manufactured Telemetry</a:t>
            </a:r>
          </a:p>
          <a:p>
            <a:pPr lvl="1"/>
            <a:r>
              <a:t>Tier 1: Model-generated reasoning traces (Self-play, tree search).</a:t>
            </a:r>
          </a:p>
          <a:p>
            <a:pPr lvl="1"/>
            <a:r>
              <a:t>Tier 2: Statistically grounded tabular data (Copulas, DP-GANs).</a:t>
            </a:r>
          </a:p>
          <a:p>
            <a:pPr lvl="1"/>
            <a:r>
              <a:t>Tier 3: Simulated spatial telemetry (3D Gaussian Splats, NeRFs).</a:t>
            </a:r>
          </a:p>
          <a:p>
            <a:pPr lvl="1"/>
            <a:r>
              <a:t>Tier 4: Formally verified data (Lean 4, SMT solvers, ASIC-grade verification).</a:t>
            </a:r>
          </a:p>
          <a:p>
            <a:pPr lvl="1"/>
            <a:r>
              <a:t>The Core Strategy: Match the data tier to the cost of being wrong in the downstream application.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Preventing Degradation</a:t>
            </a:r>
          </a:p>
        </p:txBody>
      </p:sp>
      <p:sp>
        <p:nvSpPr>
          <p:cNvPr id="3" name="Content Placeholder 2"/>
          <p:cNvSpPr>
            <a:spLocks noGrp="1"/>
          </p:cNvSpPr>
          <p:nvPr>
            <p:ph idx="1"/>
          </p:nvPr>
        </p:nvSpPr>
        <p:spPr/>
        <p:txBody>
          <a:bodyPr/>
          <a:lstStyle/>
          <a:p>
            <a:pPr>
              <a:defRPr b="1"/>
            </a:pPr>
            <a:r>
              <a:t>The Model Collapse Risk vs. Accumulate Strategy</a:t>
            </a:r>
          </a:p>
          <a:p>
            <a:pPr lvl="1"/>
            <a:r>
              <a:t>The Model Collapse Risk (Replace Strategy):</a:t>
            </a:r>
          </a:p>
          <a:p>
            <a:pPr lvl="1"/>
            <a:r>
              <a:t> lim_{n -&gt; inf} Var[X_n] = 0</a:t>
            </a:r>
          </a:p>
          <a:p>
            <a:pPr lvl="1"/>
            <a:r>
              <a:t> - Outcome: Unfiltered recursive training causes the model to collapse onto its own most likely modes, forgetting edge cases.</a:t>
            </a:r>
          </a:p>
          <a:p>
            <a:pPr lvl="1"/>
            <a:r>
              <a:t>The Accumulate-and-Filter Resolution:</a:t>
            </a:r>
          </a:p>
          <a:p>
            <a:pPr lvl="1"/>
            <a:r>
              <a:t> D_{n+1} = a D_real + (1 - a){ x ~ G | Verifier(x) = TRUE }</a:t>
            </a:r>
          </a:p>
          <a:p>
            <a:pPr lvl="1"/>
            <a:r>
              <a:t>Governance: Enforce an accumulation ratio (a) and a strict programmatic verifier.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Scalable Reasoning Optimization</a:t>
            </a:r>
          </a:p>
        </p:txBody>
      </p:sp>
      <p:sp>
        <p:nvSpPr>
          <p:cNvPr id="3" name="Content Placeholder 2"/>
          <p:cNvSpPr>
            <a:spLocks noGrp="1"/>
          </p:cNvSpPr>
          <p:nvPr>
            <p:ph idx="1"/>
          </p:nvPr>
        </p:nvSpPr>
        <p:spPr/>
        <p:txBody>
          <a:bodyPr/>
          <a:lstStyle/>
          <a:p>
            <a:pPr>
              <a:defRPr b="1"/>
            </a:pPr>
            <a:r>
              <a:t>Synthetic Reasoning via GRPO</a:t>
            </a:r>
          </a:p>
          <a:p>
            <a:pPr lvl="1"/>
            <a:r>
              <a:t>Group Relative Advantage Equation:</a:t>
            </a:r>
          </a:p>
          <a:p>
            <a:pPr lvl="1"/>
            <a:r>
              <a:t> A_i = (r_i - mean({r_1, ..., r_G})) / std({r_1, ..., r_G})</a:t>
            </a:r>
          </a:p>
          <a:p>
            <a:pPr lvl="1"/>
            <a:r>
              <a:t>The Mechanism: An automated verifier (code compiler, physics engine) calculates a candidate trajectory's relative advantage against the group average, normalized by standard deviation.</a:t>
            </a:r>
          </a:p>
          <a:p>
            <a:pPr lvl="1"/>
            <a:r>
              <a:t>The Result: The model learns step-by-step reasoning autonomously without expensive human grading or heavy critic networks.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Enforcing Physical Laws</a:t>
            </a:r>
          </a:p>
        </p:txBody>
      </p:sp>
      <p:sp>
        <p:nvSpPr>
          <p:cNvPr id="3" name="Content Placeholder 2"/>
          <p:cNvSpPr>
            <a:spLocks noGrp="1"/>
          </p:cNvSpPr>
          <p:nvPr>
            <p:ph idx="1"/>
          </p:nvPr>
        </p:nvSpPr>
        <p:spPr/>
        <p:txBody>
          <a:bodyPr/>
          <a:lstStyle/>
          <a:p>
            <a:pPr>
              <a:defRPr b="1"/>
            </a:pPr>
            <a:r>
              <a:t>Physics-Informed Neural Networks (PINNs)</a:t>
            </a:r>
          </a:p>
          <a:p>
            <a:pPr lvl="1"/>
            <a:r>
              <a:t>PINN Loss Augmentation:</a:t>
            </a:r>
          </a:p>
          <a:p>
            <a:pPr lvl="1"/>
            <a:r>
              <a:t> L_total = L_data + lambda_pinn || du/dt + N[u] - f ||^2</a:t>
            </a:r>
          </a:p>
          <a:p>
            <a:pPr lvl="1"/>
            <a:r>
              <a:t>The Mechanism: The differential-operator penalty N[u] forces the model’s generation to strictly obey physical laws (conservation of mass, energy, momentum).</a:t>
            </a:r>
          </a:p>
          <a:p>
            <a:pPr lvl="1"/>
            <a:r>
              <a:t>The Value: Closes the executability gap, guaranteeing that synthetic data is physically accurate for real-world robotic deployment.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Production Safety</a:t>
            </a:r>
          </a:p>
        </p:txBody>
      </p:sp>
      <p:sp>
        <p:nvSpPr>
          <p:cNvPr id="3" name="Content Placeholder 2"/>
          <p:cNvSpPr>
            <a:spLocks noGrp="1"/>
          </p:cNvSpPr>
          <p:nvPr>
            <p:ph idx="1"/>
          </p:nvPr>
        </p:nvSpPr>
        <p:spPr/>
        <p:txBody>
          <a:bodyPr/>
          <a:lstStyle/>
          <a:p>
            <a:pPr>
              <a:defRPr b="1"/>
            </a:pPr>
            <a:r>
              <a:t>Real-Time Uncertainty Diagnostics</a:t>
            </a:r>
          </a:p>
          <a:p>
            <a:pPr lvl="1"/>
            <a:r>
              <a:t>Reconstruction Residual (Input Uncertainty):</a:t>
            </a:r>
          </a:p>
          <a:p>
            <a:pPr lvl="1"/>
            <a:r>
              <a:t> E_recon(x) = ||x - D_phi(E_psi(x))||_2</a:t>
            </a:r>
          </a:p>
          <a:p>
            <a:pPr lvl="1"/>
            <a:r>
              <a:t>Inter-Seed Denoising Variance (Epistemic Uncertainty):</a:t>
            </a:r>
          </a:p>
          <a:p>
            <a:pPr lvl="1"/>
            <a:r>
              <a:t> sigma^2_seed(z^_t) = 1/(S-1) * sum_{s=1}^S ||z^_(s)_t - zbar_t||_2^2</a:t>
            </a:r>
          </a:p>
          <a:p>
            <a:pPr lvl="1"/>
            <a:r>
              <a:t>Action: Spikes in either value automatically flag the specific scenario as a blind spot, triggering human or formal review before downstream execution.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Deployment Architecture</a:t>
            </a:r>
          </a:p>
        </p:txBody>
      </p:sp>
      <p:sp>
        <p:nvSpPr>
          <p:cNvPr id="3" name="Content Placeholder 2"/>
          <p:cNvSpPr>
            <a:spLocks noGrp="1"/>
          </p:cNvSpPr>
          <p:nvPr>
            <p:ph idx="1"/>
          </p:nvPr>
        </p:nvSpPr>
        <p:spPr/>
        <p:txBody>
          <a:bodyPr/>
          <a:lstStyle/>
          <a:p>
            <a:pPr>
              <a:defRPr b="1"/>
            </a:pPr>
            <a:r>
              <a:t>The Closed-Loop Flywheel Architecture</a:t>
            </a:r>
          </a:p>
          <a:p>
            <a:pPr lvl="1"/>
            <a:r>
              <a:t>1. Telemetry: Sparse, real-world industrial data ingested.</a:t>
            </a:r>
          </a:p>
          <a:p>
            <a:pPr lvl="1"/>
            <a:r>
              <a:t>2. Calibration: World model anchored to real telemetry.</a:t>
            </a:r>
          </a:p>
          <a:p>
            <a:pPr lvl="1"/>
            <a:r>
              <a:t>3. Generation: Large-scale synthetic edge cases generated &amp; physics-verified (PINNs).</a:t>
            </a:r>
          </a:p>
          <a:p>
            <a:pPr lvl="1"/>
            <a:r>
              <a:t>4. Deployment: Zero-shot policy deployed to target environment.</a:t>
            </a:r>
          </a:p>
          <a:p>
            <a:pPr lvl="1"/>
            <a:r>
              <a:t>5. Logging: Uncertainty-flagged outcomes fed back to Stage 1.</a:t>
            </a:r>
          </a:p>
          <a:p>
            <a:pPr lvl="1"/>
            <a:r>
              <a:t>The Moat: Compute is commoditized; the closed-loop data flywheel is virtually impossible to replicate without operating experience.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Strategic Synthesis</a:t>
            </a:r>
          </a:p>
        </p:txBody>
      </p:sp>
      <p:sp>
        <p:nvSpPr>
          <p:cNvPr id="3" name="Content Placeholder 2"/>
          <p:cNvSpPr>
            <a:spLocks noGrp="1"/>
          </p:cNvSpPr>
          <p:nvPr>
            <p:ph idx="1"/>
          </p:nvPr>
        </p:nvSpPr>
        <p:spPr/>
        <p:txBody>
          <a:bodyPr/>
          <a:lstStyle/>
          <a:p>
            <a:pPr>
              <a:defRPr b="1"/>
            </a:pPr>
            <a:r>
              <a:t>Engineering World Models for Physical AI</a:t>
            </a:r>
          </a:p>
          <a:p>
            <a:pPr lvl="1"/>
            <a:r>
              <a:t>Engineering over Entertainment: We deploy physics-constrained world models, not consumer video generators.</a:t>
            </a:r>
          </a:p>
          <a:p>
            <a:pPr lvl="1"/>
            <a:r>
              <a:t>Automated Data Pipelines: Synthesizing data automates the cleaning of messy industrial sensor telemetry.</a:t>
            </a:r>
          </a:p>
          <a:p>
            <a:pPr lvl="1"/>
            <a:r>
              <a:t>Mandate Verification: Require demonstrated proof of long-horizon consistency and automated physics verification.</a:t>
            </a:r>
          </a:p>
          <a:p>
            <a:pPr lvl="1"/>
            <a:r>
              <a:t>The Ultimate ROI: Shift CapEx away from physical prototyping and manual annotation toward scalable, OpEx-driven computational simulation.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